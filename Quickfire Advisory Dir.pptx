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8"/>
  </p:notesMasterIdLst>
  <p:sldIdLst>
    <p:sldId id="256" r:id="rId3"/>
    <p:sldId id="257" r:id="rId4"/>
    <p:sldId id="258" r:id="rId5"/>
    <p:sldId id="259" r:id="rId6"/>
    <p:sldId id="260" r:id="rId7"/>
  </p:sldIdLst>
  <p:sldSz cx="9144000" cy="5143500" type="screen16x9"/>
  <p:notesSz cx="6858000" cy="9144000"/>
  <p:embeddedFontLst>
    <p:embeddedFont>
      <p:font typeface="Open Sans" panose="020B0606030504020204" pitchFamily="34"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3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89A5CF1-E36B-4095-8E12-8AE8D84A9F5F}">
  <a:tblStyle styleId="{789A5CF1-E36B-4095-8E12-8AE8D84A9F5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374" y="96"/>
      </p:cViewPr>
      <p:guideLst>
        <p:guide pos="432"/>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ac9be6121c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gac9be6121c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b4815db9ce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g2b4815db9ce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ea10373eba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ea10373eba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ea10373eba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ea10373eba_0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ea41e8914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2ea41e8914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5" name="Google Shape;65;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67" name="Google Shape;67;p15"/>
          <p:cNvPicPr preferRelativeResize="0"/>
          <p:nvPr/>
        </p:nvPicPr>
        <p:blipFill rotWithShape="1">
          <a:blip r:embed="rId2">
            <a:alphaModFix/>
          </a:blip>
          <a:srcRect t="2417" b="2417"/>
          <a:stretch/>
        </p:blipFill>
        <p:spPr>
          <a:xfrm>
            <a:off x="628650" y="4611722"/>
            <a:ext cx="881152" cy="45530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6"/>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1" name="Google Shape;71;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 name="Google Shape;73;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7"/>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8" name="Google Shape;78;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4" name="Google Shape;84;p18"/>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1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6" name="Google Shape;86;p18"/>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7" name="Google Shape;87;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3" name="Google Shape;103;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22"/>
          <p:cNvSpPr>
            <a:spLocks noGrp="1"/>
          </p:cNvSpPr>
          <p:nvPr>
            <p:ph type="pic" idx="2"/>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09" name="Google Shape;109;p22"/>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73" y="1467446"/>
            <a:ext cx="4358879" cy="1971675"/>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349573" y="-447079"/>
            <a:ext cx="4358879" cy="5800725"/>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8"/>
        <p:cNvGrpSpPr/>
        <p:nvPr/>
      </p:nvGrpSpPr>
      <p:grpSpPr>
        <a:xfrm>
          <a:off x="0" y="0"/>
          <a:ext cx="0" cy="0"/>
          <a:chOff x="0" y="0"/>
          <a:chExt cx="0" cy="0"/>
        </a:xfrm>
      </p:grpSpPr>
      <p:sp>
        <p:nvSpPr>
          <p:cNvPr id="129" name="Google Shape;129;p25"/>
          <p:cNvSpPr txBox="1">
            <a:spLocks noGrp="1"/>
          </p:cNvSpPr>
          <p:nvPr>
            <p:ph type="ctrTitle"/>
          </p:nvPr>
        </p:nvSpPr>
        <p:spPr>
          <a:xfrm>
            <a:off x="589050" y="2196250"/>
            <a:ext cx="8022000" cy="10419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lt1"/>
              </a:buClr>
              <a:buSzPts val="4500"/>
              <a:buFont typeface="Architects Daughter"/>
              <a:buNone/>
            </a:pPr>
            <a:r>
              <a:rPr lang="en">
                <a:solidFill>
                  <a:srgbClr val="002B64"/>
                </a:solidFill>
                <a:latin typeface="Open Sans"/>
                <a:ea typeface="Open Sans"/>
                <a:cs typeface="Open Sans"/>
                <a:sym typeface="Open Sans"/>
              </a:rPr>
              <a:t>Quickfire Advisory Directory</a:t>
            </a:r>
            <a:endParaRPr>
              <a:solidFill>
                <a:srgbClr val="002B64"/>
              </a:solidFill>
              <a:latin typeface="Open Sans"/>
              <a:ea typeface="Open Sans"/>
              <a:cs typeface="Open Sans"/>
              <a:sym typeface="Open Sans"/>
            </a:endParaRPr>
          </a:p>
        </p:txBody>
      </p:sp>
      <p:sp>
        <p:nvSpPr>
          <p:cNvPr id="130" name="Google Shape;130;p25"/>
          <p:cNvSpPr txBox="1">
            <a:spLocks noGrp="1"/>
          </p:cNvSpPr>
          <p:nvPr>
            <p:ph type="subTitle" idx="1"/>
          </p:nvPr>
        </p:nvSpPr>
        <p:spPr>
          <a:xfrm>
            <a:off x="1143000" y="3728576"/>
            <a:ext cx="6858000" cy="4980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lt1"/>
              </a:buClr>
              <a:buSzPts val="1800"/>
              <a:buNone/>
            </a:pPr>
            <a:r>
              <a:rPr lang="en" sz="2000">
                <a:solidFill>
                  <a:srgbClr val="434343"/>
                </a:solidFill>
                <a:latin typeface="Open Sans"/>
                <a:ea typeface="Open Sans"/>
                <a:cs typeface="Open Sans"/>
                <a:sym typeface="Open Sans"/>
              </a:rPr>
              <a:t>Where to start, what to look for…</a:t>
            </a:r>
            <a:endParaRPr sz="2000">
              <a:solidFill>
                <a:srgbClr val="434343"/>
              </a:solidFill>
              <a:latin typeface="Open Sans"/>
              <a:ea typeface="Open Sans"/>
              <a:cs typeface="Open Sans"/>
              <a:sym typeface="Open Sans"/>
            </a:endParaRPr>
          </a:p>
        </p:txBody>
      </p:sp>
      <p:sp>
        <p:nvSpPr>
          <p:cNvPr id="131" name="Google Shape;131;p25"/>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2" name="Google Shape;132;p25"/>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3" name="Google Shape;133;p25"/>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4" name="Google Shape;134;p25"/>
          <p:cNvSpPr/>
          <p:nvPr/>
        </p:nvSpPr>
        <p:spPr>
          <a:xfrm>
            <a:off x="49426" y="5004196"/>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135" name="Google Shape;135;p25"/>
          <p:cNvPicPr preferRelativeResize="0"/>
          <p:nvPr/>
        </p:nvPicPr>
        <p:blipFill rotWithShape="1">
          <a:blip r:embed="rId3">
            <a:alphaModFix/>
          </a:blip>
          <a:srcRect t="2417" b="2417"/>
          <a:stretch/>
        </p:blipFill>
        <p:spPr>
          <a:xfrm>
            <a:off x="3221124" y="631550"/>
            <a:ext cx="2757852" cy="1425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40" name="Google Shape;140;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2</a:t>
            </a:fld>
            <a:endParaRPr/>
          </a:p>
        </p:txBody>
      </p:sp>
      <p:sp>
        <p:nvSpPr>
          <p:cNvPr id="141" name="Google Shape;141;p26"/>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2" name="Google Shape;142;p26"/>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3" name="Google Shape;143;p26"/>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4" name="Google Shape;144;p26"/>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5" name="Google Shape;145;p26"/>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146" name="Google Shape;146;p26"/>
          <p:cNvGraphicFramePr/>
          <p:nvPr/>
        </p:nvGraphicFramePr>
        <p:xfrm>
          <a:off x="243150" y="179788"/>
          <a:ext cx="3000000" cy="3000000"/>
        </p:xfrm>
        <a:graphic>
          <a:graphicData uri="http://schemas.openxmlformats.org/drawingml/2006/table">
            <a:tbl>
              <a:tblPr>
                <a:noFill/>
                <a:tableStyleId>{789A5CF1-E36B-4095-8E12-8AE8D84A9F5F}</a:tableStyleId>
              </a:tblPr>
              <a:tblGrid>
                <a:gridCol w="1355450">
                  <a:extLst>
                    <a:ext uri="{9D8B030D-6E8A-4147-A177-3AD203B41FA5}">
                      <a16:colId xmlns:a16="http://schemas.microsoft.com/office/drawing/2014/main" val="20000"/>
                    </a:ext>
                  </a:extLst>
                </a:gridCol>
                <a:gridCol w="3548450">
                  <a:extLst>
                    <a:ext uri="{9D8B030D-6E8A-4147-A177-3AD203B41FA5}">
                      <a16:colId xmlns:a16="http://schemas.microsoft.com/office/drawing/2014/main" val="20001"/>
                    </a:ext>
                  </a:extLst>
                </a:gridCol>
                <a:gridCol w="2016625">
                  <a:extLst>
                    <a:ext uri="{9D8B030D-6E8A-4147-A177-3AD203B41FA5}">
                      <a16:colId xmlns:a16="http://schemas.microsoft.com/office/drawing/2014/main" val="20002"/>
                    </a:ext>
                  </a:extLst>
                </a:gridCol>
                <a:gridCol w="1730900">
                  <a:extLst>
                    <a:ext uri="{9D8B030D-6E8A-4147-A177-3AD203B41FA5}">
                      <a16:colId xmlns:a16="http://schemas.microsoft.com/office/drawing/2014/main" val="20003"/>
                    </a:ext>
                  </a:extLst>
                </a:gridCol>
              </a:tblGrid>
              <a:tr h="316450">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Template</a:t>
                      </a:r>
                      <a:endParaRPr>
                        <a:solidFill>
                          <a:srgbClr val="FFFFFF"/>
                        </a:solidFill>
                        <a:latin typeface="Open Sans"/>
                        <a:ea typeface="Open Sans"/>
                        <a:cs typeface="Open Sans"/>
                        <a:sym typeface="Open Sans"/>
                      </a:endParaRPr>
                    </a:p>
                  </a:txBody>
                  <a:tcPr marL="91425" marR="91425" marT="91425" marB="91425">
                    <a:solidFill>
                      <a:srgbClr val="00B1E0"/>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How it Helps</a:t>
                      </a:r>
                      <a:endParaRPr>
                        <a:solidFill>
                          <a:srgbClr val="FFFFFF"/>
                        </a:solidFill>
                        <a:latin typeface="Open Sans"/>
                        <a:ea typeface="Open Sans"/>
                        <a:cs typeface="Open Sans"/>
                        <a:sym typeface="Open Sans"/>
                      </a:endParaRPr>
                    </a:p>
                  </a:txBody>
                  <a:tcPr marL="91425" marR="91425" marT="91425" marB="91425">
                    <a:solidFill>
                      <a:srgbClr val="002B64"/>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What to Look For</a:t>
                      </a:r>
                      <a:endParaRPr>
                        <a:solidFill>
                          <a:srgbClr val="FFFFFF"/>
                        </a:solidFill>
                        <a:latin typeface="Open Sans"/>
                        <a:ea typeface="Open Sans"/>
                        <a:cs typeface="Open Sans"/>
                        <a:sym typeface="Open Sans"/>
                      </a:endParaRPr>
                    </a:p>
                  </a:txBody>
                  <a:tcPr marL="91425" marR="91425" marT="91425" marB="91425">
                    <a:solidFill>
                      <a:srgbClr val="7FD3F1"/>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Where it May Lead</a:t>
                      </a:r>
                      <a:endParaRPr>
                        <a:solidFill>
                          <a:srgbClr val="FFFFFF"/>
                        </a:solidFill>
                        <a:latin typeface="Open Sans"/>
                        <a:ea typeface="Open Sans"/>
                        <a:cs typeface="Open Sans"/>
                        <a:sym typeface="Open Sans"/>
                      </a:endParaRPr>
                    </a:p>
                  </a:txBody>
                  <a:tcPr marL="91425" marR="91425" marT="91425" marB="91425">
                    <a:solidFill>
                      <a:srgbClr val="434343"/>
                    </a:solidFill>
                  </a:tcPr>
                </a:tc>
                <a:extLst>
                  <a:ext uri="{0D108BD9-81ED-4DB2-BD59-A6C34878D82A}">
                    <a16:rowId xmlns:a16="http://schemas.microsoft.com/office/drawing/2014/main" val="10000"/>
                  </a:ext>
                </a:extLst>
              </a:tr>
              <a:tr h="715225">
                <a:tc>
                  <a:txBody>
                    <a:bodyPr/>
                    <a:lstStyle/>
                    <a:p>
                      <a:pPr marL="0" lvl="0" indent="0" algn="just" rtl="0">
                        <a:spcBef>
                          <a:spcPts val="0"/>
                        </a:spcBef>
                        <a:spcAft>
                          <a:spcPts val="0"/>
                        </a:spcAft>
                        <a:buNone/>
                      </a:pPr>
                      <a:r>
                        <a:rPr lang="en" sz="800">
                          <a:latin typeface="Open Sans"/>
                          <a:ea typeface="Open Sans"/>
                          <a:cs typeface="Open Sans"/>
                          <a:sym typeface="Open Sans"/>
                        </a:rPr>
                        <a:t>Growth Fundamentals Framework</a:t>
                      </a: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(Free-draw is best, Growth Curve Story is next best.)</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The Growth Fundamentals Curve is a superb way to create 'self relevance' for your clients. In a nutshell, it's the fastest (&amp; easiest) way to capture your clients attention, align your mutual understanding of their contextual position and assess their desire for change.</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Any client that can fog a mirror.</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Advisory services.</a:t>
                      </a:r>
                      <a:endParaRPr sz="80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715225">
                <a:tc>
                  <a:txBody>
                    <a:bodyPr/>
                    <a:lstStyle/>
                    <a:p>
                      <a:pPr marL="0" lvl="0" indent="0" algn="just" rtl="0">
                        <a:spcBef>
                          <a:spcPts val="0"/>
                        </a:spcBef>
                        <a:spcAft>
                          <a:spcPts val="0"/>
                        </a:spcAft>
                        <a:buNone/>
                      </a:pPr>
                      <a:r>
                        <a:rPr lang="en" sz="800">
                          <a:latin typeface="Open Sans"/>
                          <a:ea typeface="Open Sans"/>
                          <a:cs typeface="Open Sans"/>
                          <a:sym typeface="Open Sans"/>
                        </a:rPr>
                        <a:t>EOY Meeting</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This template and matching meeting script enables you to facilitate a Global and Local reference to support your meeting. These references give you ‘two bites at the cherry’ to secure additional services from your client, without high pressure tactics.</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Any client you’ve (historically) struggled to suggest additional services to.</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Advisory services.</a:t>
                      </a:r>
                      <a:endParaRPr sz="80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r h="715225">
                <a:tc>
                  <a:txBody>
                    <a:bodyPr/>
                    <a:lstStyle/>
                    <a:p>
                      <a:pPr marL="0" lvl="0" indent="0" algn="just" rtl="0">
                        <a:spcBef>
                          <a:spcPts val="0"/>
                        </a:spcBef>
                        <a:spcAft>
                          <a:spcPts val="0"/>
                        </a:spcAft>
                        <a:buNone/>
                      </a:pPr>
                      <a:r>
                        <a:rPr lang="en" sz="800">
                          <a:latin typeface="Open Sans"/>
                          <a:ea typeface="Open Sans"/>
                          <a:cs typeface="Open Sans"/>
                          <a:sym typeface="Open Sans"/>
                        </a:rPr>
                        <a:t>Working Capital Cycle</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This template often achieves an 'A-ha' moment for the client as they understand the 'money in movement' and 'use of profits' principles. This is THE BEST FOUNDATION discussion you can have with a business owner that fails to understand the importance of regularly reviewing their financial accounts / performance.</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Clients will make comments like “How come I have no money / big tax bill but don’t have any cash in the bank?”</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Regular management reporting</a:t>
                      </a:r>
                      <a:endParaRPr sz="80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3"/>
                  </a:ext>
                </a:extLst>
              </a:tr>
              <a:tr h="825275">
                <a:tc>
                  <a:txBody>
                    <a:bodyPr/>
                    <a:lstStyle/>
                    <a:p>
                      <a:pPr marL="0" lvl="0" indent="0" algn="just" rtl="0">
                        <a:spcBef>
                          <a:spcPts val="0"/>
                        </a:spcBef>
                        <a:spcAft>
                          <a:spcPts val="0"/>
                        </a:spcAft>
                        <a:buNone/>
                      </a:pPr>
                      <a:r>
                        <a:rPr lang="en" sz="800">
                          <a:latin typeface="Open Sans"/>
                          <a:ea typeface="Open Sans"/>
                          <a:cs typeface="Open Sans"/>
                          <a:sym typeface="Open Sans"/>
                        </a:rPr>
                        <a:t>8 Profit Levers</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This template encourages your client to 'walk the customer's journey' and recognise the 'mini decisions' required to gain their business and deliver (profitably) to their expectations. It's also a FUNDAMENTAL framework to identify business growth potential by incremental changes, rather than drastic movements.</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Clients show signs of ‘jumping-all-in’ on ideas like dropping prices/ putting them up vs customer loyalty programmes or new product lines WITHOUT exploring the impact of the idea on the rest of their business.</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Clr>
                          <a:schemeClr val="dk1"/>
                        </a:buClr>
                        <a:buSzPts val="1100"/>
                        <a:buFont typeface="Arial"/>
                        <a:buNone/>
                      </a:pPr>
                      <a:r>
                        <a:rPr lang="en" sz="800">
                          <a:solidFill>
                            <a:schemeClr val="dk1"/>
                          </a:solidFill>
                          <a:latin typeface="Open Sans"/>
                          <a:ea typeface="Open Sans"/>
                          <a:cs typeface="Open Sans"/>
                          <a:sym typeface="Open Sans"/>
                        </a:rPr>
                        <a:t>Regular management reporting</a:t>
                      </a:r>
                      <a:endParaRPr sz="80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4"/>
                  </a:ext>
                </a:extLst>
              </a:tr>
              <a:tr h="1265425">
                <a:tc>
                  <a:txBody>
                    <a:bodyPr/>
                    <a:lstStyle/>
                    <a:p>
                      <a:pPr marL="0" lvl="0" indent="0" algn="just" rtl="0">
                        <a:spcBef>
                          <a:spcPts val="0"/>
                        </a:spcBef>
                        <a:spcAft>
                          <a:spcPts val="0"/>
                        </a:spcAft>
                        <a:buNone/>
                      </a:pPr>
                      <a:r>
                        <a:rPr lang="en" sz="800">
                          <a:latin typeface="Open Sans"/>
                          <a:ea typeface="Open Sans"/>
                          <a:cs typeface="Open Sans"/>
                          <a:sym typeface="Open Sans"/>
                        </a:rPr>
                        <a:t>Deming’s Theory of Volatility</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This template discusses Deming’s Theory of Volatility - it encourages people to accept that business goes up and down and to learn to properly interpret the data they're reviewing. Use this template to explain the client’s cash volatility report so they can understand the vital importance of cash forecasts / budgets and regular cash management reviews. This tool is extremely helpful in identifying and supporting the calculation of required working capital; use it to aid in the application for finance and to help the owners get clear on the dangers of running the business too low in cash reserves.</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Clients show an overreaction to success or failure without taking the time to assess Causality vs Correlation vs Coincidence.</a:t>
                      </a:r>
                      <a:endParaRPr sz="800">
                        <a:latin typeface="Open Sans"/>
                        <a:ea typeface="Open Sans"/>
                        <a:cs typeface="Open Sans"/>
                        <a:sym typeface="Open Sans"/>
                      </a:endParaRPr>
                    </a:p>
                    <a:p>
                      <a:pPr marL="0" lvl="0" indent="0" algn="just" rtl="0">
                        <a:spcBef>
                          <a:spcPts val="0"/>
                        </a:spcBef>
                        <a:spcAft>
                          <a:spcPts val="0"/>
                        </a:spcAft>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‘Jumping from one chaos to another’ is what we’re seeking to avoid.</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Clr>
                          <a:schemeClr val="dk1"/>
                        </a:buClr>
                        <a:buSzPts val="1100"/>
                        <a:buFont typeface="Arial"/>
                        <a:buNone/>
                      </a:pPr>
                      <a:r>
                        <a:rPr lang="en" sz="800">
                          <a:solidFill>
                            <a:schemeClr val="dk1"/>
                          </a:solidFill>
                          <a:latin typeface="Open Sans"/>
                          <a:ea typeface="Open Sans"/>
                          <a:cs typeface="Open Sans"/>
                          <a:sym typeface="Open Sans"/>
                        </a:rPr>
                        <a:t>Regular management reporting</a:t>
                      </a:r>
                      <a:endParaRPr sz="80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0"/>
        <p:cNvGrpSpPr/>
        <p:nvPr/>
      </p:nvGrpSpPr>
      <p:grpSpPr>
        <a:xfrm>
          <a:off x="0" y="0"/>
          <a:ext cx="0" cy="0"/>
          <a:chOff x="0" y="0"/>
          <a:chExt cx="0" cy="0"/>
        </a:xfrm>
      </p:grpSpPr>
      <p:sp>
        <p:nvSpPr>
          <p:cNvPr id="151" name="Google Shape;151;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3</a:t>
            </a:fld>
            <a:endParaRPr/>
          </a:p>
        </p:txBody>
      </p:sp>
      <p:sp>
        <p:nvSpPr>
          <p:cNvPr id="152" name="Google Shape;152;p27"/>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3" name="Google Shape;153;p27"/>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4" name="Google Shape;154;p27"/>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5" name="Google Shape;155;p27"/>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6" name="Google Shape;156;p27"/>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157" name="Google Shape;157;p27"/>
          <p:cNvGraphicFramePr/>
          <p:nvPr/>
        </p:nvGraphicFramePr>
        <p:xfrm>
          <a:off x="243150" y="269200"/>
          <a:ext cx="3000000" cy="3000000"/>
        </p:xfrm>
        <a:graphic>
          <a:graphicData uri="http://schemas.openxmlformats.org/drawingml/2006/table">
            <a:tbl>
              <a:tblPr>
                <a:noFill/>
                <a:tableStyleId>{789A5CF1-E36B-4095-8E12-8AE8D84A9F5F}</a:tableStyleId>
              </a:tblPr>
              <a:tblGrid>
                <a:gridCol w="1355450">
                  <a:extLst>
                    <a:ext uri="{9D8B030D-6E8A-4147-A177-3AD203B41FA5}">
                      <a16:colId xmlns:a16="http://schemas.microsoft.com/office/drawing/2014/main" val="20000"/>
                    </a:ext>
                  </a:extLst>
                </a:gridCol>
                <a:gridCol w="2970275">
                  <a:extLst>
                    <a:ext uri="{9D8B030D-6E8A-4147-A177-3AD203B41FA5}">
                      <a16:colId xmlns:a16="http://schemas.microsoft.com/office/drawing/2014/main" val="20001"/>
                    </a:ext>
                  </a:extLst>
                </a:gridCol>
                <a:gridCol w="2162850">
                  <a:extLst>
                    <a:ext uri="{9D8B030D-6E8A-4147-A177-3AD203B41FA5}">
                      <a16:colId xmlns:a16="http://schemas.microsoft.com/office/drawing/2014/main" val="20002"/>
                    </a:ext>
                  </a:extLst>
                </a:gridCol>
                <a:gridCol w="2162850">
                  <a:extLst>
                    <a:ext uri="{9D8B030D-6E8A-4147-A177-3AD203B41FA5}">
                      <a16:colId xmlns:a16="http://schemas.microsoft.com/office/drawing/2014/main" val="20003"/>
                    </a:ext>
                  </a:extLst>
                </a:gridCol>
              </a:tblGrid>
              <a:tr h="448350">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Template</a:t>
                      </a:r>
                      <a:endParaRPr>
                        <a:solidFill>
                          <a:srgbClr val="FFFFFF"/>
                        </a:solidFill>
                        <a:latin typeface="Open Sans"/>
                        <a:ea typeface="Open Sans"/>
                        <a:cs typeface="Open Sans"/>
                        <a:sym typeface="Open Sans"/>
                      </a:endParaRPr>
                    </a:p>
                  </a:txBody>
                  <a:tcPr marL="91425" marR="91425" marT="91425" marB="91425">
                    <a:solidFill>
                      <a:srgbClr val="00B1E0"/>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How it Helps</a:t>
                      </a:r>
                      <a:endParaRPr>
                        <a:solidFill>
                          <a:srgbClr val="FFFFFF"/>
                        </a:solidFill>
                        <a:latin typeface="Open Sans"/>
                        <a:ea typeface="Open Sans"/>
                        <a:cs typeface="Open Sans"/>
                        <a:sym typeface="Open Sans"/>
                      </a:endParaRPr>
                    </a:p>
                  </a:txBody>
                  <a:tcPr marL="91425" marR="91425" marT="91425" marB="91425">
                    <a:solidFill>
                      <a:srgbClr val="002B64"/>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What to Look For</a:t>
                      </a:r>
                      <a:endParaRPr>
                        <a:solidFill>
                          <a:srgbClr val="FFFFFF"/>
                        </a:solidFill>
                        <a:latin typeface="Open Sans"/>
                        <a:ea typeface="Open Sans"/>
                        <a:cs typeface="Open Sans"/>
                        <a:sym typeface="Open Sans"/>
                      </a:endParaRPr>
                    </a:p>
                  </a:txBody>
                  <a:tcPr marL="91425" marR="91425" marT="91425" marB="91425">
                    <a:lnB w="9525" cap="flat" cmpd="sng">
                      <a:solidFill>
                        <a:srgbClr val="9E9E9E"/>
                      </a:solidFill>
                      <a:prstDash val="solid"/>
                      <a:round/>
                      <a:headEnd type="none" w="sm" len="sm"/>
                      <a:tailEnd type="none" w="sm" len="sm"/>
                    </a:lnB>
                    <a:solidFill>
                      <a:srgbClr val="7FD3F1"/>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Where it May Lead</a:t>
                      </a:r>
                      <a:endParaRPr>
                        <a:solidFill>
                          <a:srgbClr val="FFFFFF"/>
                        </a:solidFill>
                        <a:latin typeface="Open Sans"/>
                        <a:ea typeface="Open Sans"/>
                        <a:cs typeface="Open Sans"/>
                        <a:sym typeface="Open Sans"/>
                      </a:endParaRPr>
                    </a:p>
                  </a:txBody>
                  <a:tcPr marL="91425" marR="91425" marT="91425" marB="91425">
                    <a:lnB w="9525" cap="flat" cmpd="sng">
                      <a:solidFill>
                        <a:srgbClr val="9E9E9E"/>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1006925">
                <a:tc>
                  <a:txBody>
                    <a:bodyPr/>
                    <a:lstStyle/>
                    <a:p>
                      <a:pPr marL="0" lvl="0" indent="0" algn="just" rtl="0">
                        <a:spcBef>
                          <a:spcPts val="0"/>
                        </a:spcBef>
                        <a:spcAft>
                          <a:spcPts val="0"/>
                        </a:spcAft>
                        <a:buNone/>
                      </a:pPr>
                      <a:r>
                        <a:rPr lang="en" sz="800">
                          <a:latin typeface="Open Sans"/>
                          <a:ea typeface="Open Sans"/>
                          <a:cs typeface="Open Sans"/>
                          <a:sym typeface="Open Sans"/>
                        </a:rPr>
                        <a:t>Rubbish In - Rubbish Out</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This template focuses on the Chart of Accounts as a foundation for Reporting and Interpretation; it challenges the business owner to consider what's important for them to measure.</a:t>
                      </a:r>
                      <a:endParaRPr sz="800">
                        <a:latin typeface="Open Sans"/>
                        <a:ea typeface="Open Sans"/>
                        <a:cs typeface="Open Sans"/>
                        <a:sym typeface="Open Sans"/>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0"/>
                        </a:spcBef>
                        <a:spcAft>
                          <a:spcPts val="0"/>
                        </a:spcAft>
                        <a:buNone/>
                      </a:pPr>
                      <a:r>
                        <a:rPr lang="en" sz="800">
                          <a:latin typeface="Open Sans"/>
                          <a:ea typeface="Open Sans"/>
                          <a:cs typeface="Open Sans"/>
                          <a:sym typeface="Open Sans"/>
                        </a:rPr>
                        <a:t>Clients who don’t engage (much) around the numbers when you’re presenting their year end accounts.</a:t>
                      </a:r>
                      <a:endParaRPr sz="800">
                        <a:latin typeface="Open Sans"/>
                        <a:ea typeface="Open Sans"/>
                        <a:cs typeface="Open Sans"/>
                        <a:sym typeface="Open Sans"/>
                      </a:endParaRPr>
                    </a:p>
                    <a:p>
                      <a:pPr marL="0" lvl="0" indent="0" algn="just" rtl="0">
                        <a:spcBef>
                          <a:spcPts val="0"/>
                        </a:spcBef>
                        <a:spcAft>
                          <a:spcPts val="0"/>
                        </a:spcAft>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They discuss the end result but don’t relate specific business decisions to any (performance) metric in their accounts.</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 sz="800">
                          <a:latin typeface="Open Sans"/>
                          <a:ea typeface="Open Sans"/>
                          <a:cs typeface="Open Sans"/>
                          <a:sym typeface="Open Sans"/>
                        </a:rPr>
                        <a:t>Regular management reporting</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970100">
                <a:tc>
                  <a:txBody>
                    <a:bodyPr/>
                    <a:lstStyle/>
                    <a:p>
                      <a:pPr marL="0" lvl="0" indent="0" algn="just" rtl="0">
                        <a:spcBef>
                          <a:spcPts val="0"/>
                        </a:spcBef>
                        <a:spcAft>
                          <a:spcPts val="0"/>
                        </a:spcAft>
                        <a:buNone/>
                      </a:pPr>
                      <a:r>
                        <a:rPr lang="en" sz="800">
                          <a:latin typeface="Open Sans"/>
                          <a:ea typeface="Open Sans"/>
                          <a:cs typeface="Open Sans"/>
                          <a:sym typeface="Open Sans"/>
                        </a:rPr>
                        <a:t>(Relevant Industry)</a:t>
                      </a: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Revenue Model</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Revenue models aid in the calculation of activity and financial variables and serve to quantify the business owner’s expectations.</a:t>
                      </a:r>
                      <a:endParaRPr sz="800">
                        <a:latin typeface="Open Sans"/>
                        <a:ea typeface="Open Sans"/>
                        <a:cs typeface="Open Sans"/>
                        <a:sym typeface="Open Sans"/>
                      </a:endParaRPr>
                    </a:p>
                    <a:p>
                      <a:pPr marL="0" lvl="0" indent="0" algn="just" rtl="0">
                        <a:spcBef>
                          <a:spcPts val="0"/>
                        </a:spcBef>
                        <a:spcAft>
                          <a:spcPts val="0"/>
                        </a:spcAft>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From a facilitative point of view, Revenue Models shift the ‘burden of proof’ away from you (and your service solution) and back towards the client’s business model.</a:t>
                      </a:r>
                      <a:endParaRPr sz="800">
                        <a:latin typeface="Open Sans"/>
                        <a:ea typeface="Open Sans"/>
                        <a:cs typeface="Open Sans"/>
                        <a:sym typeface="Open Sans"/>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0"/>
                        </a:spcBef>
                        <a:spcAft>
                          <a:spcPts val="0"/>
                        </a:spcAft>
                        <a:buNone/>
                      </a:pPr>
                      <a:r>
                        <a:rPr lang="en" sz="800">
                          <a:latin typeface="Open Sans"/>
                          <a:ea typeface="Open Sans"/>
                          <a:cs typeface="Open Sans"/>
                          <a:sym typeface="Open Sans"/>
                        </a:rPr>
                        <a:t>As above</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 sz="800">
                          <a:latin typeface="Open Sans"/>
                          <a:ea typeface="Open Sans"/>
                          <a:cs typeface="Open Sans"/>
                          <a:sym typeface="Open Sans"/>
                        </a:rPr>
                        <a:t>Regular management reporting</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025325">
                <a:tc>
                  <a:txBody>
                    <a:bodyPr/>
                    <a:lstStyle/>
                    <a:p>
                      <a:pPr marL="0" lvl="0" indent="0" algn="just" rtl="0">
                        <a:spcBef>
                          <a:spcPts val="0"/>
                        </a:spcBef>
                        <a:spcAft>
                          <a:spcPts val="0"/>
                        </a:spcAft>
                        <a:buNone/>
                      </a:pPr>
                      <a:r>
                        <a:rPr lang="en" sz="800">
                          <a:latin typeface="Open Sans"/>
                          <a:ea typeface="Open Sans"/>
                          <a:cs typeface="Open Sans"/>
                          <a:sym typeface="Open Sans"/>
                        </a:rPr>
                        <a:t>Dashboard Discussions</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Clr>
                          <a:schemeClr val="dk1"/>
                        </a:buClr>
                        <a:buSzPts val="1100"/>
                        <a:buFont typeface="Arial"/>
                        <a:buNone/>
                      </a:pPr>
                      <a:r>
                        <a:rPr lang="en" sz="800">
                          <a:latin typeface="Open Sans"/>
                          <a:ea typeface="Open Sans"/>
                          <a:cs typeface="Open Sans"/>
                          <a:sym typeface="Open Sans"/>
                        </a:rPr>
                        <a:t>This template helps you to explore the different performance and activity ratio reports (available in the Advisor-e financial dashboard) with your clients.</a:t>
                      </a:r>
                      <a:endParaRPr sz="800">
                        <a:latin typeface="Open Sans"/>
                        <a:ea typeface="Open Sans"/>
                        <a:cs typeface="Open Sans"/>
                        <a:sym typeface="Open Sans"/>
                      </a:endParaRPr>
                    </a:p>
                    <a:p>
                      <a:pPr marL="0" lvl="0" indent="0" algn="just" rtl="0">
                        <a:spcBef>
                          <a:spcPts val="0"/>
                        </a:spcBef>
                        <a:spcAft>
                          <a:spcPts val="0"/>
                        </a:spcAft>
                        <a:buClr>
                          <a:schemeClr val="dk1"/>
                        </a:buClr>
                        <a:buSzPts val="1100"/>
                        <a:buFont typeface="Arial"/>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This page also includes the 7 Cash Drivers template which is another tool to help prepare your clients for financial management reporting services.</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As above</a:t>
                      </a:r>
                      <a:endParaRPr sz="800">
                        <a:latin typeface="Open Sans"/>
                        <a:ea typeface="Open Sans"/>
                        <a:cs typeface="Open Sans"/>
                        <a:sym typeface="Open Sans"/>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just" rtl="0">
                        <a:spcBef>
                          <a:spcPts val="0"/>
                        </a:spcBef>
                        <a:spcAft>
                          <a:spcPts val="0"/>
                        </a:spcAft>
                        <a:buNone/>
                      </a:pPr>
                      <a:r>
                        <a:rPr lang="en" sz="800">
                          <a:latin typeface="Open Sans"/>
                          <a:ea typeface="Open Sans"/>
                          <a:cs typeface="Open Sans"/>
                          <a:sym typeface="Open Sans"/>
                        </a:rPr>
                        <a:t>Regular management reporting</a:t>
                      </a:r>
                      <a:endParaRPr sz="800">
                        <a:latin typeface="Open Sans"/>
                        <a:ea typeface="Open Sans"/>
                        <a:cs typeface="Open Sans"/>
                        <a:sym typeface="Open Sans"/>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3"/>
                  </a:ext>
                </a:extLst>
              </a:tr>
              <a:tr h="924200">
                <a:tc>
                  <a:txBody>
                    <a:bodyPr/>
                    <a:lstStyle/>
                    <a:p>
                      <a:pPr marL="0" lvl="0" indent="0" algn="just" rtl="0">
                        <a:spcBef>
                          <a:spcPts val="0"/>
                        </a:spcBef>
                        <a:spcAft>
                          <a:spcPts val="0"/>
                        </a:spcAft>
                        <a:buNone/>
                      </a:pPr>
                      <a:r>
                        <a:rPr lang="en" sz="800">
                          <a:latin typeface="Open Sans"/>
                          <a:ea typeface="Open Sans"/>
                          <a:cs typeface="Open Sans"/>
                          <a:sym typeface="Open Sans"/>
                        </a:rPr>
                        <a:t>Ratio Analysis</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Clr>
                          <a:schemeClr val="dk1"/>
                        </a:buClr>
                        <a:buSzPts val="1100"/>
                        <a:buFont typeface="Arial"/>
                        <a:buNone/>
                      </a:pPr>
                      <a:r>
                        <a:rPr lang="en" sz="800">
                          <a:latin typeface="Open Sans"/>
                          <a:ea typeface="Open Sans"/>
                          <a:cs typeface="Open Sans"/>
                          <a:sym typeface="Open Sans"/>
                        </a:rPr>
                        <a:t>This template explores the plus and minus of benchmark data and raises the concerns about 'when data doesn't count'.  This template may also assist in developing KPI's.</a:t>
                      </a:r>
                      <a:endParaRPr sz="800">
                        <a:latin typeface="Open Sans"/>
                        <a:ea typeface="Open Sans"/>
                        <a:cs typeface="Open Sans"/>
                        <a:sym typeface="Open Sans"/>
                      </a:endParaRPr>
                    </a:p>
                    <a:p>
                      <a:pPr marL="0" lvl="0" indent="0" algn="just" rtl="0">
                        <a:spcBef>
                          <a:spcPts val="0"/>
                        </a:spcBef>
                        <a:spcAft>
                          <a:spcPts val="0"/>
                        </a:spcAft>
                        <a:buClr>
                          <a:schemeClr val="dk1"/>
                        </a:buClr>
                        <a:buSzPts val="1100"/>
                        <a:buFont typeface="Arial"/>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The same page includes a spreadsheet to introduce your client to the concept of Common Size trend analysis</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As above</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Clr>
                          <a:schemeClr val="dk1"/>
                        </a:buClr>
                        <a:buSzPts val="1100"/>
                        <a:buFont typeface="Arial"/>
                        <a:buNone/>
                      </a:pPr>
                      <a:r>
                        <a:rPr lang="en" sz="800">
                          <a:solidFill>
                            <a:schemeClr val="dk1"/>
                          </a:solidFill>
                          <a:latin typeface="Open Sans"/>
                          <a:ea typeface="Open Sans"/>
                          <a:cs typeface="Open Sans"/>
                          <a:sym typeface="Open Sans"/>
                        </a:rPr>
                        <a:t>Regular management reporting</a:t>
                      </a:r>
                      <a:endParaRPr sz="80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
        <p:cNvGrpSpPr/>
        <p:nvPr/>
      </p:nvGrpSpPr>
      <p:grpSpPr>
        <a:xfrm>
          <a:off x="0" y="0"/>
          <a:ext cx="0" cy="0"/>
          <a:chOff x="0" y="0"/>
          <a:chExt cx="0" cy="0"/>
        </a:xfrm>
      </p:grpSpPr>
      <p:sp>
        <p:nvSpPr>
          <p:cNvPr id="162" name="Google Shape;162;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a:t>
            </a:fld>
            <a:endParaRPr/>
          </a:p>
        </p:txBody>
      </p:sp>
      <p:sp>
        <p:nvSpPr>
          <p:cNvPr id="163" name="Google Shape;163;p28"/>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4" name="Google Shape;164;p28"/>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5" name="Google Shape;165;p28"/>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6" name="Google Shape;166;p28"/>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7" name="Google Shape;167;p28"/>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168" name="Google Shape;168;p28"/>
          <p:cNvGraphicFramePr/>
          <p:nvPr/>
        </p:nvGraphicFramePr>
        <p:xfrm>
          <a:off x="243150" y="264875"/>
          <a:ext cx="3000000" cy="3000000"/>
        </p:xfrm>
        <a:graphic>
          <a:graphicData uri="http://schemas.openxmlformats.org/drawingml/2006/table">
            <a:tbl>
              <a:tblPr>
                <a:noFill/>
                <a:tableStyleId>{789A5CF1-E36B-4095-8E12-8AE8D84A9F5F}</a:tableStyleId>
              </a:tblPr>
              <a:tblGrid>
                <a:gridCol w="1355450">
                  <a:extLst>
                    <a:ext uri="{9D8B030D-6E8A-4147-A177-3AD203B41FA5}">
                      <a16:colId xmlns:a16="http://schemas.microsoft.com/office/drawing/2014/main" val="20000"/>
                    </a:ext>
                  </a:extLst>
                </a:gridCol>
                <a:gridCol w="2970275">
                  <a:extLst>
                    <a:ext uri="{9D8B030D-6E8A-4147-A177-3AD203B41FA5}">
                      <a16:colId xmlns:a16="http://schemas.microsoft.com/office/drawing/2014/main" val="20001"/>
                    </a:ext>
                  </a:extLst>
                </a:gridCol>
                <a:gridCol w="2162850">
                  <a:extLst>
                    <a:ext uri="{9D8B030D-6E8A-4147-A177-3AD203B41FA5}">
                      <a16:colId xmlns:a16="http://schemas.microsoft.com/office/drawing/2014/main" val="20002"/>
                    </a:ext>
                  </a:extLst>
                </a:gridCol>
                <a:gridCol w="2162850">
                  <a:extLst>
                    <a:ext uri="{9D8B030D-6E8A-4147-A177-3AD203B41FA5}">
                      <a16:colId xmlns:a16="http://schemas.microsoft.com/office/drawing/2014/main" val="20003"/>
                    </a:ext>
                  </a:extLst>
                </a:gridCol>
              </a:tblGrid>
              <a:tr h="437575">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Template</a:t>
                      </a:r>
                      <a:endParaRPr>
                        <a:solidFill>
                          <a:srgbClr val="FFFFFF"/>
                        </a:solidFill>
                        <a:latin typeface="Open Sans"/>
                        <a:ea typeface="Open Sans"/>
                        <a:cs typeface="Open Sans"/>
                        <a:sym typeface="Open Sans"/>
                      </a:endParaRPr>
                    </a:p>
                  </a:txBody>
                  <a:tcPr marL="91425" marR="91425" marT="91425" marB="91425">
                    <a:solidFill>
                      <a:srgbClr val="00B1E0"/>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How it Helps</a:t>
                      </a:r>
                      <a:endParaRPr>
                        <a:solidFill>
                          <a:srgbClr val="FFFFFF"/>
                        </a:solidFill>
                        <a:latin typeface="Open Sans"/>
                        <a:ea typeface="Open Sans"/>
                        <a:cs typeface="Open Sans"/>
                        <a:sym typeface="Open Sans"/>
                      </a:endParaRPr>
                    </a:p>
                  </a:txBody>
                  <a:tcPr marL="91425" marR="91425" marT="91425" marB="91425">
                    <a:solidFill>
                      <a:srgbClr val="002B64"/>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What to Look For</a:t>
                      </a:r>
                      <a:endParaRPr>
                        <a:solidFill>
                          <a:srgbClr val="FFFFFF"/>
                        </a:solidFill>
                        <a:latin typeface="Open Sans"/>
                        <a:ea typeface="Open Sans"/>
                        <a:cs typeface="Open Sans"/>
                        <a:sym typeface="Open Sans"/>
                      </a:endParaRPr>
                    </a:p>
                  </a:txBody>
                  <a:tcPr marL="91425" marR="91425" marT="91425" marB="91425">
                    <a:lnB w="9525" cap="flat" cmpd="sng">
                      <a:solidFill>
                        <a:srgbClr val="9E9E9E"/>
                      </a:solidFill>
                      <a:prstDash val="solid"/>
                      <a:round/>
                      <a:headEnd type="none" w="sm" len="sm"/>
                      <a:tailEnd type="none" w="sm" len="sm"/>
                    </a:lnB>
                    <a:solidFill>
                      <a:srgbClr val="7FD3F1"/>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Where it May Lead</a:t>
                      </a:r>
                      <a:endParaRPr>
                        <a:solidFill>
                          <a:srgbClr val="FFFFFF"/>
                        </a:solidFill>
                        <a:latin typeface="Open Sans"/>
                        <a:ea typeface="Open Sans"/>
                        <a:cs typeface="Open Sans"/>
                        <a:sym typeface="Open Sans"/>
                      </a:endParaRPr>
                    </a:p>
                  </a:txBody>
                  <a:tcPr marL="91425" marR="91425" marT="91425" marB="91425">
                    <a:lnB w="9525" cap="flat" cmpd="sng">
                      <a:solidFill>
                        <a:srgbClr val="9E9E9E"/>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1191075">
                <a:tc>
                  <a:txBody>
                    <a:bodyPr/>
                    <a:lstStyle/>
                    <a:p>
                      <a:pPr marL="0" lvl="0" indent="0" algn="just" rtl="0">
                        <a:spcBef>
                          <a:spcPts val="0"/>
                        </a:spcBef>
                        <a:spcAft>
                          <a:spcPts val="0"/>
                        </a:spcAft>
                        <a:buNone/>
                      </a:pPr>
                      <a:r>
                        <a:rPr lang="en" sz="800">
                          <a:latin typeface="Open Sans"/>
                          <a:ea typeface="Open Sans"/>
                          <a:cs typeface="Open Sans"/>
                          <a:sym typeface="Open Sans"/>
                        </a:rPr>
                        <a:t>Loan Estimator</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solidFill>
                            <a:srgbClr val="363636"/>
                          </a:solidFill>
                          <a:highlight>
                            <a:srgbClr val="FFFFFF"/>
                          </a:highlight>
                          <a:latin typeface="Open Sans"/>
                          <a:ea typeface="Open Sans"/>
                          <a:cs typeface="Open Sans"/>
                          <a:sym typeface="Open Sans"/>
                        </a:rPr>
                        <a:t>This page allows your Client's Finance advisor/ Banker to complete a 'Summary Position' view of your mutual client's credit lines. </a:t>
                      </a:r>
                      <a:endParaRPr sz="800">
                        <a:solidFill>
                          <a:srgbClr val="363636"/>
                        </a:solidFill>
                        <a:highlight>
                          <a:srgbClr val="FFFFFF"/>
                        </a:highlight>
                        <a:latin typeface="Open Sans"/>
                        <a:ea typeface="Open Sans"/>
                        <a:cs typeface="Open Sans"/>
                        <a:sym typeface="Open Sans"/>
                      </a:endParaRPr>
                    </a:p>
                    <a:p>
                      <a:pPr marL="0" lvl="0" indent="0" algn="just" rtl="0">
                        <a:spcBef>
                          <a:spcPts val="0"/>
                        </a:spcBef>
                        <a:spcAft>
                          <a:spcPts val="0"/>
                        </a:spcAft>
                        <a:buNone/>
                      </a:pPr>
                      <a:endParaRPr sz="800">
                        <a:solidFill>
                          <a:srgbClr val="363636"/>
                        </a:solidFill>
                        <a:highlight>
                          <a:srgbClr val="FFFFFF"/>
                        </a:highlight>
                        <a:latin typeface="Open Sans"/>
                        <a:ea typeface="Open Sans"/>
                        <a:cs typeface="Open Sans"/>
                        <a:sym typeface="Open Sans"/>
                      </a:endParaRPr>
                    </a:p>
                    <a:p>
                      <a:pPr marL="0" lvl="0" indent="0" algn="just" rtl="0">
                        <a:spcBef>
                          <a:spcPts val="0"/>
                        </a:spcBef>
                        <a:spcAft>
                          <a:spcPts val="0"/>
                        </a:spcAft>
                        <a:buNone/>
                      </a:pPr>
                      <a:r>
                        <a:rPr lang="en" sz="800">
                          <a:solidFill>
                            <a:srgbClr val="363636"/>
                          </a:solidFill>
                          <a:highlight>
                            <a:srgbClr val="FFFFFF"/>
                          </a:highlight>
                          <a:latin typeface="Open Sans"/>
                          <a:ea typeface="Open Sans"/>
                          <a:cs typeface="Open Sans"/>
                          <a:sym typeface="Open Sans"/>
                        </a:rPr>
                        <a:t>Again, this model helps your client to understand which assets provide easy liquidity and aids in your discussion of weather wealth should be captured inside the business, or outside. (or both)</a:t>
                      </a:r>
                      <a:endParaRPr sz="700">
                        <a:latin typeface="Open Sans"/>
                        <a:ea typeface="Open Sans"/>
                        <a:cs typeface="Open Sans"/>
                        <a:sym typeface="Open Sans"/>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0"/>
                        </a:spcBef>
                        <a:spcAft>
                          <a:spcPts val="0"/>
                        </a:spcAft>
                        <a:buNone/>
                      </a:pPr>
                      <a:r>
                        <a:rPr lang="en" sz="800">
                          <a:latin typeface="Open Sans"/>
                          <a:ea typeface="Open Sans"/>
                          <a:cs typeface="Open Sans"/>
                          <a:sym typeface="Open Sans"/>
                        </a:rPr>
                        <a:t>Clients who explain they’re under financial duress and need to ‘go to the bank’ to secure finance.</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100"/>
                        <a:buFont typeface="Arial"/>
                        <a:buNone/>
                      </a:pPr>
                      <a:r>
                        <a:rPr lang="en" sz="800">
                          <a:solidFill>
                            <a:schemeClr val="dk1"/>
                          </a:solidFill>
                          <a:latin typeface="Open Sans"/>
                          <a:ea typeface="Open Sans"/>
                          <a:cs typeface="Open Sans"/>
                          <a:sym typeface="Open Sans"/>
                        </a:rPr>
                        <a:t>Regular management reporting</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330200">
                <a:tc>
                  <a:txBody>
                    <a:bodyPr/>
                    <a:lstStyle/>
                    <a:p>
                      <a:pPr marL="0" lvl="0" indent="0" algn="just" rtl="0">
                        <a:spcBef>
                          <a:spcPts val="0"/>
                        </a:spcBef>
                        <a:spcAft>
                          <a:spcPts val="0"/>
                        </a:spcAft>
                        <a:buNone/>
                      </a:pPr>
                      <a:r>
                        <a:rPr lang="en" sz="800">
                          <a:latin typeface="Open Sans"/>
                          <a:ea typeface="Open Sans"/>
                          <a:cs typeface="Open Sans"/>
                          <a:sym typeface="Open Sans"/>
                        </a:rPr>
                        <a:t>Customer Journey</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This template is a 'lite' version of other sales related documents and chooses to focus on the customer journey (from first awareness to decision to purchase) and a basic problem solving flowchart to help you find the source of your clients failing sales. </a:t>
                      </a:r>
                      <a:endParaRPr sz="800">
                        <a:latin typeface="Open Sans"/>
                        <a:ea typeface="Open Sans"/>
                        <a:cs typeface="Open Sans"/>
                        <a:sym typeface="Open Sans"/>
                      </a:endParaRPr>
                    </a:p>
                    <a:p>
                      <a:pPr marL="0" lvl="0" indent="0" algn="just" rtl="0">
                        <a:spcBef>
                          <a:spcPts val="0"/>
                        </a:spcBef>
                        <a:spcAft>
                          <a:spcPts val="0"/>
                        </a:spcAft>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You can use this document as a stand alone discussion (in less than 1 hr) or as an introduction to a more complete sales review if needed.</a:t>
                      </a:r>
                      <a:endParaRPr sz="800">
                        <a:latin typeface="Open Sans"/>
                        <a:ea typeface="Open Sans"/>
                        <a:cs typeface="Open Sans"/>
                        <a:sym typeface="Open Sans"/>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0"/>
                        </a:spcBef>
                        <a:spcAft>
                          <a:spcPts val="0"/>
                        </a:spcAft>
                        <a:buNone/>
                      </a:pPr>
                      <a:r>
                        <a:rPr lang="en" sz="800">
                          <a:latin typeface="Open Sans"/>
                          <a:ea typeface="Open Sans"/>
                          <a:cs typeface="Open Sans"/>
                          <a:sym typeface="Open Sans"/>
                        </a:rPr>
                        <a:t>Clients who are struggling to secure sales and wish to explore their options.</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800">
                          <a:latin typeface="Open Sans"/>
                          <a:ea typeface="Open Sans"/>
                          <a:cs typeface="Open Sans"/>
                          <a:sym typeface="Open Sans"/>
                        </a:rPr>
                        <a:t>Strategic Planning / Regular Development Meetings/ Advisory Board (level) Governance</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330200">
                <a:tc>
                  <a:txBody>
                    <a:bodyPr/>
                    <a:lstStyle/>
                    <a:p>
                      <a:pPr marL="0" lvl="0" indent="0" algn="l" rtl="0">
                        <a:spcBef>
                          <a:spcPts val="0"/>
                        </a:spcBef>
                        <a:spcAft>
                          <a:spcPts val="0"/>
                        </a:spcAft>
                        <a:buNone/>
                      </a:pPr>
                      <a:r>
                        <a:rPr lang="en" sz="800">
                          <a:latin typeface="Open Sans"/>
                          <a:ea typeface="Open Sans"/>
                          <a:cs typeface="Open Sans"/>
                          <a:sym typeface="Open Sans"/>
                        </a:rPr>
                        <a:t>Planning Outcomes Review</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Use this document to help sell the planning session but also, to make sure the planning framework is focused on the correct business OUTCOMES. </a:t>
                      </a:r>
                      <a:endParaRPr sz="800">
                        <a:latin typeface="Open Sans"/>
                        <a:ea typeface="Open Sans"/>
                        <a:cs typeface="Open Sans"/>
                        <a:sym typeface="Open Sans"/>
                      </a:endParaRPr>
                    </a:p>
                    <a:p>
                      <a:pPr marL="0" lvl="0" indent="0" algn="just" rtl="0">
                        <a:spcBef>
                          <a:spcPts val="0"/>
                        </a:spcBef>
                        <a:spcAft>
                          <a:spcPts val="0"/>
                        </a:spcAft>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This document examines the 4 main planning domains; Business Model, Strategic Orientation, Organisational Function and Sales &amp; Marketing.</a:t>
                      </a:r>
                      <a:endParaRPr sz="800">
                        <a:latin typeface="Open Sans"/>
                        <a:ea typeface="Open Sans"/>
                        <a:cs typeface="Open Sans"/>
                        <a:sym typeface="Open Sans"/>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0"/>
                        </a:spcBef>
                        <a:spcAft>
                          <a:spcPts val="0"/>
                        </a:spcAft>
                        <a:buNone/>
                      </a:pPr>
                      <a:r>
                        <a:rPr lang="en" sz="800">
                          <a:latin typeface="Open Sans"/>
                          <a:ea typeface="Open Sans"/>
                          <a:cs typeface="Open Sans"/>
                          <a:sym typeface="Open Sans"/>
                        </a:rPr>
                        <a:t>Clients who ask for a ‘planning session’ but when asked what their core ‘issue’ is, struggle to stay in (any) single lane. Meaning, they jump across business functions without showing clear cause/effect. </a:t>
                      </a:r>
                      <a:r>
                        <a:rPr lang="en" sz="800" b="1">
                          <a:latin typeface="Open Sans"/>
                          <a:ea typeface="Open Sans"/>
                          <a:cs typeface="Open Sans"/>
                          <a:sym typeface="Open Sans"/>
                        </a:rPr>
                        <a:t>In any event - taking the time to accurately scope the job will ALWAYS result in a better long term outcome for your clients.</a:t>
                      </a:r>
                      <a:endParaRPr sz="800" b="1">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dk1"/>
                          </a:solidFill>
                          <a:latin typeface="Open Sans"/>
                          <a:ea typeface="Open Sans"/>
                          <a:cs typeface="Open Sans"/>
                          <a:sym typeface="Open Sans"/>
                        </a:rPr>
                        <a:t>Strategic Planning/ Governance/ Management Reporting</a:t>
                      </a:r>
                      <a:endParaRPr sz="800">
                        <a:solidFill>
                          <a:schemeClr val="dk1"/>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2"/>
        <p:cNvGrpSpPr/>
        <p:nvPr/>
      </p:nvGrpSpPr>
      <p:grpSpPr>
        <a:xfrm>
          <a:off x="0" y="0"/>
          <a:ext cx="0" cy="0"/>
          <a:chOff x="0" y="0"/>
          <a:chExt cx="0" cy="0"/>
        </a:xfrm>
      </p:grpSpPr>
      <p:sp>
        <p:nvSpPr>
          <p:cNvPr id="173" name="Google Shape;173;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5</a:t>
            </a:fld>
            <a:endParaRPr/>
          </a:p>
        </p:txBody>
      </p:sp>
      <p:sp>
        <p:nvSpPr>
          <p:cNvPr id="174" name="Google Shape;174;p29"/>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75" name="Google Shape;175;p29"/>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76" name="Google Shape;176;p29"/>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77" name="Google Shape;177;p29"/>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78" name="Google Shape;178;p29"/>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179" name="Google Shape;179;p29"/>
          <p:cNvGraphicFramePr/>
          <p:nvPr/>
        </p:nvGraphicFramePr>
        <p:xfrm>
          <a:off x="243150" y="271025"/>
          <a:ext cx="3000000" cy="3000000"/>
        </p:xfrm>
        <a:graphic>
          <a:graphicData uri="http://schemas.openxmlformats.org/drawingml/2006/table">
            <a:tbl>
              <a:tblPr>
                <a:noFill/>
                <a:tableStyleId>{789A5CF1-E36B-4095-8E12-8AE8D84A9F5F}</a:tableStyleId>
              </a:tblPr>
              <a:tblGrid>
                <a:gridCol w="1355450">
                  <a:extLst>
                    <a:ext uri="{9D8B030D-6E8A-4147-A177-3AD203B41FA5}">
                      <a16:colId xmlns:a16="http://schemas.microsoft.com/office/drawing/2014/main" val="20000"/>
                    </a:ext>
                  </a:extLst>
                </a:gridCol>
                <a:gridCol w="2970275">
                  <a:extLst>
                    <a:ext uri="{9D8B030D-6E8A-4147-A177-3AD203B41FA5}">
                      <a16:colId xmlns:a16="http://schemas.microsoft.com/office/drawing/2014/main" val="20001"/>
                    </a:ext>
                  </a:extLst>
                </a:gridCol>
                <a:gridCol w="2162850">
                  <a:extLst>
                    <a:ext uri="{9D8B030D-6E8A-4147-A177-3AD203B41FA5}">
                      <a16:colId xmlns:a16="http://schemas.microsoft.com/office/drawing/2014/main" val="20002"/>
                    </a:ext>
                  </a:extLst>
                </a:gridCol>
                <a:gridCol w="2162850">
                  <a:extLst>
                    <a:ext uri="{9D8B030D-6E8A-4147-A177-3AD203B41FA5}">
                      <a16:colId xmlns:a16="http://schemas.microsoft.com/office/drawing/2014/main" val="20003"/>
                    </a:ext>
                  </a:extLst>
                </a:gridCol>
              </a:tblGrid>
              <a:tr h="443350">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Template</a:t>
                      </a:r>
                      <a:endParaRPr>
                        <a:solidFill>
                          <a:srgbClr val="FFFFFF"/>
                        </a:solidFill>
                        <a:latin typeface="Open Sans"/>
                        <a:ea typeface="Open Sans"/>
                        <a:cs typeface="Open Sans"/>
                        <a:sym typeface="Open Sans"/>
                      </a:endParaRPr>
                    </a:p>
                  </a:txBody>
                  <a:tcPr marL="91425" marR="91425" marT="91425" marB="91425">
                    <a:solidFill>
                      <a:srgbClr val="00B1E0"/>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How it Helps</a:t>
                      </a:r>
                      <a:endParaRPr>
                        <a:solidFill>
                          <a:srgbClr val="FFFFFF"/>
                        </a:solidFill>
                        <a:latin typeface="Open Sans"/>
                        <a:ea typeface="Open Sans"/>
                        <a:cs typeface="Open Sans"/>
                        <a:sym typeface="Open Sans"/>
                      </a:endParaRPr>
                    </a:p>
                  </a:txBody>
                  <a:tcPr marL="91425" marR="91425" marT="91425" marB="91425">
                    <a:solidFill>
                      <a:srgbClr val="002B64"/>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What to Look For</a:t>
                      </a:r>
                      <a:endParaRPr>
                        <a:solidFill>
                          <a:srgbClr val="FFFFFF"/>
                        </a:solidFill>
                        <a:latin typeface="Open Sans"/>
                        <a:ea typeface="Open Sans"/>
                        <a:cs typeface="Open Sans"/>
                        <a:sym typeface="Open Sans"/>
                      </a:endParaRPr>
                    </a:p>
                  </a:txBody>
                  <a:tcPr marL="91425" marR="91425" marT="91425" marB="91425">
                    <a:lnB w="9525" cap="flat" cmpd="sng">
                      <a:solidFill>
                        <a:srgbClr val="9E9E9E"/>
                      </a:solidFill>
                      <a:prstDash val="solid"/>
                      <a:round/>
                      <a:headEnd type="none" w="sm" len="sm"/>
                      <a:tailEnd type="none" w="sm" len="sm"/>
                    </a:lnB>
                    <a:solidFill>
                      <a:srgbClr val="7FD3F1"/>
                    </a:solidFill>
                  </a:tcPr>
                </a:tc>
                <a:tc>
                  <a:txBody>
                    <a:bodyPr/>
                    <a:lstStyle/>
                    <a:p>
                      <a:pPr marL="0" lvl="0" indent="0" algn="l" rtl="0">
                        <a:spcBef>
                          <a:spcPts val="0"/>
                        </a:spcBef>
                        <a:spcAft>
                          <a:spcPts val="0"/>
                        </a:spcAft>
                        <a:buNone/>
                      </a:pPr>
                      <a:r>
                        <a:rPr lang="en">
                          <a:solidFill>
                            <a:srgbClr val="FFFFFF"/>
                          </a:solidFill>
                          <a:latin typeface="Open Sans"/>
                          <a:ea typeface="Open Sans"/>
                          <a:cs typeface="Open Sans"/>
                          <a:sym typeface="Open Sans"/>
                        </a:rPr>
                        <a:t>Where it May Lead</a:t>
                      </a:r>
                      <a:endParaRPr>
                        <a:solidFill>
                          <a:srgbClr val="FFFFFF"/>
                        </a:solidFill>
                        <a:latin typeface="Open Sans"/>
                        <a:ea typeface="Open Sans"/>
                        <a:cs typeface="Open Sans"/>
                        <a:sym typeface="Open Sans"/>
                      </a:endParaRPr>
                    </a:p>
                  </a:txBody>
                  <a:tcPr marL="91425" marR="91425" marT="91425" marB="91425">
                    <a:lnB w="9525" cap="flat" cmpd="sng">
                      <a:solidFill>
                        <a:srgbClr val="9E9E9E"/>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1159575">
                <a:tc>
                  <a:txBody>
                    <a:bodyPr/>
                    <a:lstStyle/>
                    <a:p>
                      <a:pPr marL="0" lvl="0" indent="0" algn="just" rtl="0">
                        <a:spcBef>
                          <a:spcPts val="0"/>
                        </a:spcBef>
                        <a:spcAft>
                          <a:spcPts val="0"/>
                        </a:spcAft>
                        <a:buNone/>
                      </a:pPr>
                      <a:r>
                        <a:rPr lang="en" sz="800">
                          <a:latin typeface="Open Sans"/>
                          <a:ea typeface="Open Sans"/>
                          <a:cs typeface="Open Sans"/>
                          <a:sym typeface="Open Sans"/>
                        </a:rPr>
                        <a:t>Porter’s &amp; Pine</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The Porters 5 forces framework is an excellent model to guide a strategic review of your client's business. </a:t>
                      </a:r>
                      <a:endParaRPr sz="800">
                        <a:latin typeface="Open Sans"/>
                        <a:ea typeface="Open Sans"/>
                        <a:cs typeface="Open Sans"/>
                        <a:sym typeface="Open Sans"/>
                      </a:endParaRPr>
                    </a:p>
                    <a:p>
                      <a:pPr marL="0" lvl="0" indent="0" algn="just" rtl="0">
                        <a:spcBef>
                          <a:spcPts val="0"/>
                        </a:spcBef>
                        <a:spcAft>
                          <a:spcPts val="0"/>
                        </a:spcAft>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The Progression of Value (by Joseph Pine) is an excellent supporting framework for this same discussion.</a:t>
                      </a:r>
                      <a:endParaRPr sz="800">
                        <a:latin typeface="Open Sans"/>
                        <a:ea typeface="Open Sans"/>
                        <a:cs typeface="Open Sans"/>
                        <a:sym typeface="Open Sans"/>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0"/>
                        </a:spcBef>
                        <a:spcAft>
                          <a:spcPts val="0"/>
                        </a:spcAft>
                        <a:buNone/>
                      </a:pPr>
                      <a:r>
                        <a:rPr lang="en" sz="800">
                          <a:latin typeface="Open Sans"/>
                          <a:ea typeface="Open Sans"/>
                          <a:cs typeface="Open Sans"/>
                          <a:sym typeface="Open Sans"/>
                        </a:rPr>
                        <a:t>Clients who need to consider a ‘re-design of their business offer/solution’ as part of their drive toward more sales.</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100"/>
                        <a:buFont typeface="Arial"/>
                        <a:buNone/>
                      </a:pPr>
                      <a:r>
                        <a:rPr lang="en" sz="800">
                          <a:solidFill>
                            <a:schemeClr val="dk1"/>
                          </a:solidFill>
                          <a:latin typeface="Open Sans"/>
                          <a:ea typeface="Open Sans"/>
                          <a:cs typeface="Open Sans"/>
                          <a:sym typeface="Open Sans"/>
                        </a:rPr>
                        <a:t>Strategic Planning / Regular Development Meetings/ Advisory Board (level) Governance</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159575">
                <a:tc>
                  <a:txBody>
                    <a:bodyPr/>
                    <a:lstStyle/>
                    <a:p>
                      <a:pPr marL="0" lvl="0" indent="0" algn="just" rtl="0">
                        <a:spcBef>
                          <a:spcPts val="0"/>
                        </a:spcBef>
                        <a:spcAft>
                          <a:spcPts val="0"/>
                        </a:spcAft>
                        <a:buNone/>
                      </a:pPr>
                      <a:r>
                        <a:rPr lang="en" sz="800">
                          <a:latin typeface="Open Sans"/>
                          <a:ea typeface="Open Sans"/>
                          <a:cs typeface="Open Sans"/>
                          <a:sym typeface="Open Sans"/>
                        </a:rPr>
                        <a:t>Blue Ocean Strategy &amp;   8 Profit Levers</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This template explores the Profit Levers and Blue Ocean strategy as a means to help your client identify their 'competition / differentiation' points. </a:t>
                      </a:r>
                      <a:endParaRPr sz="800">
                        <a:latin typeface="Open Sans"/>
                        <a:ea typeface="Open Sans"/>
                        <a:cs typeface="Open Sans"/>
                        <a:sym typeface="Open Sans"/>
                      </a:endParaRPr>
                    </a:p>
                    <a:p>
                      <a:pPr marL="0" lvl="0" indent="0" algn="just" rtl="0">
                        <a:spcBef>
                          <a:spcPts val="0"/>
                        </a:spcBef>
                        <a:spcAft>
                          <a:spcPts val="0"/>
                        </a:spcAft>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It's a smaller document than the others found in this section so suits those pushed for time or just 'dipping their toes in' to the task of strategic planning.</a:t>
                      </a:r>
                      <a:endParaRPr sz="800">
                        <a:latin typeface="Open Sans"/>
                        <a:ea typeface="Open Sans"/>
                        <a:cs typeface="Open Sans"/>
                        <a:sym typeface="Open Sans"/>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0"/>
                        </a:spcBef>
                        <a:spcAft>
                          <a:spcPts val="0"/>
                        </a:spcAft>
                        <a:buNone/>
                      </a:pPr>
                      <a:r>
                        <a:rPr lang="en" sz="800">
                          <a:latin typeface="Open Sans"/>
                          <a:ea typeface="Open Sans"/>
                          <a:cs typeface="Open Sans"/>
                          <a:sym typeface="Open Sans"/>
                        </a:rPr>
                        <a:t>Clients who need to consider a ‘re-design of their business offer/solution’ as part of their drive toward more sales.</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 sz="800">
                          <a:solidFill>
                            <a:schemeClr val="dk1"/>
                          </a:solidFill>
                          <a:latin typeface="Open Sans"/>
                          <a:ea typeface="Open Sans"/>
                          <a:cs typeface="Open Sans"/>
                          <a:sym typeface="Open Sans"/>
                        </a:rPr>
                        <a:t>Strategic Planning / Regular Development Meetings/ Advisory Board (level) Governance</a:t>
                      </a:r>
                      <a:endParaRPr sz="800">
                        <a:solidFill>
                          <a:schemeClr val="dk1"/>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476075">
                <a:tc>
                  <a:txBody>
                    <a:bodyPr/>
                    <a:lstStyle/>
                    <a:p>
                      <a:pPr marL="0" lvl="0" indent="0" algn="just" rtl="0">
                        <a:spcBef>
                          <a:spcPts val="0"/>
                        </a:spcBef>
                        <a:spcAft>
                          <a:spcPts val="0"/>
                        </a:spcAft>
                        <a:buNone/>
                      </a:pPr>
                      <a:r>
                        <a:rPr lang="en" sz="800">
                          <a:latin typeface="Open Sans"/>
                          <a:ea typeface="Open Sans"/>
                          <a:cs typeface="Open Sans"/>
                          <a:sym typeface="Open Sans"/>
                        </a:rPr>
                        <a:t>Covid 19 ‘Client Pre- Meeting’</a:t>
                      </a:r>
                      <a:endParaRPr sz="800">
                        <a:latin typeface="Open Sans"/>
                        <a:ea typeface="Open Sans"/>
                        <a:cs typeface="Open Sans"/>
                        <a:sym typeface="Open Sans"/>
                      </a:endParaRPr>
                    </a:p>
                  </a:txBody>
                  <a:tcPr marL="91425" marR="91425" marT="91425" marB="91425"/>
                </a:tc>
                <a:tc>
                  <a:txBody>
                    <a:bodyPr/>
                    <a:lstStyle/>
                    <a:p>
                      <a:pPr marL="0" lvl="0" indent="0" algn="just" rtl="0">
                        <a:spcBef>
                          <a:spcPts val="0"/>
                        </a:spcBef>
                        <a:spcAft>
                          <a:spcPts val="0"/>
                        </a:spcAft>
                        <a:buNone/>
                      </a:pPr>
                      <a:r>
                        <a:rPr lang="en" sz="800">
                          <a:latin typeface="Open Sans"/>
                          <a:ea typeface="Open Sans"/>
                          <a:cs typeface="Open Sans"/>
                          <a:sym typeface="Open Sans"/>
                        </a:rPr>
                        <a:t>This page contains a video and a presentation that explains the way people cope with adversity. </a:t>
                      </a:r>
                      <a:endParaRPr sz="800">
                        <a:latin typeface="Open Sans"/>
                        <a:ea typeface="Open Sans"/>
                        <a:cs typeface="Open Sans"/>
                        <a:sym typeface="Open Sans"/>
                      </a:endParaRPr>
                    </a:p>
                    <a:p>
                      <a:pPr marL="0" lvl="0" indent="0" algn="just" rtl="0">
                        <a:spcBef>
                          <a:spcPts val="0"/>
                        </a:spcBef>
                        <a:spcAft>
                          <a:spcPts val="0"/>
                        </a:spcAft>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It's the most practical way you can serve the topic of 'Wellness' for a business person as it helps them identify their dominant coping style so they can 'catch themselves' when fixated. </a:t>
                      </a:r>
                      <a:endParaRPr sz="800">
                        <a:latin typeface="Open Sans"/>
                        <a:ea typeface="Open Sans"/>
                        <a:cs typeface="Open Sans"/>
                        <a:sym typeface="Open Sans"/>
                      </a:endParaRPr>
                    </a:p>
                    <a:p>
                      <a:pPr marL="0" lvl="0" indent="0" algn="just" rtl="0">
                        <a:spcBef>
                          <a:spcPts val="0"/>
                        </a:spcBef>
                        <a:spcAft>
                          <a:spcPts val="0"/>
                        </a:spcAft>
                        <a:buNone/>
                      </a:pPr>
                      <a:endParaRPr sz="800">
                        <a:latin typeface="Open Sans"/>
                        <a:ea typeface="Open Sans"/>
                        <a:cs typeface="Open Sans"/>
                        <a:sym typeface="Open Sans"/>
                      </a:endParaRPr>
                    </a:p>
                    <a:p>
                      <a:pPr marL="0" lvl="0" indent="0" algn="just" rtl="0">
                        <a:spcBef>
                          <a:spcPts val="0"/>
                        </a:spcBef>
                        <a:spcAft>
                          <a:spcPts val="0"/>
                        </a:spcAft>
                        <a:buNone/>
                      </a:pPr>
                      <a:r>
                        <a:rPr lang="en" sz="800">
                          <a:latin typeface="Open Sans"/>
                          <a:ea typeface="Open Sans"/>
                          <a:cs typeface="Open Sans"/>
                          <a:sym typeface="Open Sans"/>
                        </a:rPr>
                        <a:t>'Seeing themselves' is the critical first step in changing behaviour.</a:t>
                      </a:r>
                      <a:endParaRPr sz="800">
                        <a:latin typeface="Open Sans"/>
                        <a:ea typeface="Open Sans"/>
                        <a:cs typeface="Open Sans"/>
                        <a:sym typeface="Open Sans"/>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0"/>
                        </a:spcBef>
                        <a:spcAft>
                          <a:spcPts val="0"/>
                        </a:spcAft>
                        <a:buNone/>
                      </a:pPr>
                      <a:r>
                        <a:rPr lang="en" sz="800">
                          <a:latin typeface="Open Sans"/>
                          <a:ea typeface="Open Sans"/>
                          <a:cs typeface="Open Sans"/>
                          <a:sym typeface="Open Sans"/>
                        </a:rPr>
                        <a:t>Clients who explain they’re struggling in business - especially husband and wife teams.</a:t>
                      </a:r>
                      <a:endParaRPr sz="800">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dk1"/>
                          </a:solidFill>
                          <a:latin typeface="Open Sans"/>
                          <a:ea typeface="Open Sans"/>
                          <a:cs typeface="Open Sans"/>
                          <a:sym typeface="Open Sans"/>
                        </a:rPr>
                        <a:t>Strategic Planning/ Financial Management Reporting</a:t>
                      </a:r>
                      <a:endParaRPr sz="800">
                        <a:solidFill>
                          <a:schemeClr val="dk1"/>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1362</Words>
  <Application>Microsoft Office PowerPoint</Application>
  <PresentationFormat>On-screen Show (16:9)</PresentationFormat>
  <Paragraphs>108</Paragraphs>
  <Slides>5</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Architects Daughter</vt:lpstr>
      <vt:lpstr>Calibri</vt:lpstr>
      <vt:lpstr>Arial</vt:lpstr>
      <vt:lpstr>Open Sans</vt:lpstr>
      <vt:lpstr>Simple Light</vt:lpstr>
      <vt:lpstr>Office Theme</vt:lpstr>
      <vt:lpstr>Quickfire Advisory Directory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Mike Barnes</dc:creator>
  <cp:lastModifiedBy>Mike Barnes</cp:lastModifiedBy>
  <cp:revision>1</cp:revision>
  <dcterms:modified xsi:type="dcterms:W3CDTF">2026-03-29T22:17:50Z</dcterms:modified>
</cp:coreProperties>
</file>