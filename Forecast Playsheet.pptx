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8" r:id="rId2"/>
  </p:sldIdLst>
  <p:sldSz cx="12192000" cy="6858000"/>
  <p:notesSz cx="6858000" cy="9144000"/>
  <p:embeddedFontLst>
    <p:embeddedFont>
      <p:font typeface="Open Sans" panose="020B0606030504020204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198412-524F-4B45-B0B5-D2105002BE0C}">
  <a:tblStyle styleId="{58198412-524F-4B45-B0B5-D2105002BE0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3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d5e32944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dd5e32944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t="2417" b="2417"/>
          <a:stretch/>
        </p:blipFill>
        <p:spPr>
          <a:xfrm>
            <a:off x="813475" y="6166483"/>
            <a:ext cx="1207798" cy="624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1</a:t>
            </a:fld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65903" y="65903"/>
            <a:ext cx="12051900" cy="119700"/>
          </a:xfrm>
          <a:prstGeom prst="rect">
            <a:avLst/>
          </a:prstGeom>
          <a:solidFill>
            <a:srgbClr val="00B1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65903" y="6672262"/>
            <a:ext cx="772200" cy="119700"/>
          </a:xfrm>
          <a:prstGeom prst="rect">
            <a:avLst/>
          </a:prstGeom>
          <a:solidFill>
            <a:srgbClr val="00B1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2018269" y="6672262"/>
            <a:ext cx="10099500" cy="119700"/>
          </a:xfrm>
          <a:prstGeom prst="rect">
            <a:avLst/>
          </a:prstGeom>
          <a:solidFill>
            <a:srgbClr val="00B1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 rot="-5400000">
            <a:off x="8816830" y="3371361"/>
            <a:ext cx="6486600" cy="115200"/>
          </a:xfrm>
          <a:prstGeom prst="rect">
            <a:avLst/>
          </a:prstGeom>
          <a:solidFill>
            <a:srgbClr val="00B1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 rot="-5400000">
            <a:off x="-3119798" y="3371361"/>
            <a:ext cx="6486600" cy="115200"/>
          </a:xfrm>
          <a:prstGeom prst="rect">
            <a:avLst/>
          </a:prstGeom>
          <a:solidFill>
            <a:srgbClr val="00B1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>
            <a:spLocks noGrp="1"/>
          </p:cNvSpPr>
          <p:nvPr>
            <p:ph type="title"/>
          </p:nvPr>
        </p:nvSpPr>
        <p:spPr>
          <a:xfrm>
            <a:off x="350102" y="307513"/>
            <a:ext cx="11483400" cy="10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rchitects Daughter"/>
              <a:buNone/>
            </a:pPr>
            <a:r>
              <a:rPr lang="en-NZ" sz="2900">
                <a:solidFill>
                  <a:srgbClr val="002B64"/>
                </a:solidFill>
                <a:latin typeface="Open Sans"/>
                <a:ea typeface="Open Sans"/>
                <a:cs typeface="Open Sans"/>
                <a:sym typeface="Open Sans"/>
              </a:rPr>
              <a:t>Winning Forecasting or Management Reporting Engagements Decision Chart</a:t>
            </a:r>
            <a:endParaRPr sz="2900">
              <a:solidFill>
                <a:srgbClr val="002B6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30" name="Google Shape;130;p15"/>
          <p:cNvGraphicFramePr/>
          <p:nvPr/>
        </p:nvGraphicFramePr>
        <p:xfrm>
          <a:off x="364748" y="1434445"/>
          <a:ext cx="11454125" cy="4541600"/>
        </p:xfrm>
        <a:graphic>
          <a:graphicData uri="http://schemas.openxmlformats.org/drawingml/2006/table">
            <a:tbl>
              <a:tblPr firstRow="1" bandRow="1">
                <a:noFill/>
                <a:tableStyleId>{58198412-524F-4B45-B0B5-D2105002BE0C}</a:tableStyleId>
              </a:tblPr>
              <a:tblGrid>
                <a:gridCol w="86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1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11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8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Theme</a:t>
                      </a: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“Stuck in the Mud”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“The Knowledge Gap”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“The Wake Up Call”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“Eyes On The Prize”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“Test &amp; Learn”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3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0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Problem Description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Clients are ‘withdrawn’ from business development due to fatigue, fear of loss or lack of clarity &amp; belief.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Clients understand ‘money in vs money out’ in a linear fashion; they do not understand the true effects of time and discounting.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Clients accept ‘ups &amp; downs’ but don’t have any way of quantifying their range; leading to poor data conclusions.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Clients carry too many ideas in their ‘neck-top computer; they need a place to ‘unpack their thoughts’ so future moves become clear.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If clients view a financial forecast as a ‘static prediction’ they fall victim to feelings of judgement &amp; frustration. They miss the joy that comes from learning.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Solution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Create self relevance by identifying with a persona; let them ‘see themselves’ within the Heald matrix &amp; see that progress is easily within their reach.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Create the ah-ha moment; let clients see their business in cyclic terms. 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Client’s will then piece together the role of forecasting &amp; budgeting in their business.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Allow clients to see that a business is a system (collection of processes) &amp; that a reduction in volatility can only come after refining the business procedures.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Encourage clients to see problems &amp; opportunities as a series of ‘what-if’ events; logic supports ideas &amp; quantifies what’s needed to be successful.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3 way forecast combined with ‘revenue model sensitivity’ gives very strong clues as to what to expect going forward. 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Finally, the owner can feel in control</a:t>
                      </a: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Suggested Template</a:t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20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Heald Matrix</a:t>
                      </a:r>
                      <a:endParaRPr sz="11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A38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20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Working Capital Cycle</a:t>
                      </a:r>
                      <a:endParaRPr sz="11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A38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20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Volatility Model</a:t>
                      </a:r>
                      <a:endParaRPr sz="11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A38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20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Revenue Model</a:t>
                      </a:r>
                      <a:endParaRPr sz="11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A38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NZ" sz="120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Forecast &amp; Action Plan</a:t>
                      </a:r>
                      <a:endParaRPr sz="11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A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</Words>
  <Application>Microsoft Office PowerPoint</Application>
  <PresentationFormat>Widescreen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Open Sans</vt:lpstr>
      <vt:lpstr>Calibri</vt:lpstr>
      <vt:lpstr>Architects Daughter</vt:lpstr>
      <vt:lpstr>Arial</vt:lpstr>
      <vt:lpstr>Office Theme</vt:lpstr>
      <vt:lpstr>Winning Forecasting or Management Reporting Engagements Decision Chart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Mike Barnes</dc:creator>
  <cp:lastModifiedBy>Mike Barnes</cp:lastModifiedBy>
  <cp:revision>1</cp:revision>
  <dcterms:modified xsi:type="dcterms:W3CDTF">2026-04-07T04:04:34Z</dcterms:modified>
</cp:coreProperties>
</file>