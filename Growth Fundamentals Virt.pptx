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9"/>
  </p:notesMasterIdLst>
  <p:sldIdLst>
    <p:sldId id="256" r:id="rId3"/>
    <p:sldId id="260" r:id="rId4"/>
    <p:sldId id="257" r:id="rId5"/>
    <p:sldId id="259" r:id="rId6"/>
    <p:sldId id="262" r:id="rId7"/>
    <p:sldId id="263" r:id="rId8"/>
    <p:sldId id="264" r:id="rId9"/>
    <p:sldId id="265" r:id="rId10"/>
    <p:sldId id="258" r:id="rId11"/>
    <p:sldId id="267" r:id="rId12"/>
    <p:sldId id="268" r:id="rId13"/>
    <p:sldId id="275" r:id="rId14"/>
    <p:sldId id="276" r:id="rId15"/>
    <p:sldId id="272" r:id="rId16"/>
    <p:sldId id="273" r:id="rId17"/>
    <p:sldId id="274" r:id="rId18"/>
    <p:sldId id="269" r:id="rId19"/>
    <p:sldId id="270" r:id="rId20"/>
    <p:sldId id="279" r:id="rId21"/>
    <p:sldId id="278" r:id="rId22"/>
    <p:sldId id="292" r:id="rId23"/>
    <p:sldId id="287" r:id="rId24"/>
    <p:sldId id="288" r:id="rId25"/>
    <p:sldId id="289" r:id="rId26"/>
    <p:sldId id="290" r:id="rId27"/>
    <p:sldId id="291" r:id="rId28"/>
  </p:sldIdLst>
  <p:sldSz cx="9144000" cy="5143500" type="screen16x9"/>
  <p:notesSz cx="6858000" cy="9144000"/>
  <p:embeddedFontLst>
    <p:embeddedFont>
      <p:font typeface="Abel" panose="02000506030000020004" pitchFamily="2" charset="0"/>
      <p:regular r:id="rId30"/>
    </p:embeddedFont>
    <p:embeddedFont>
      <p:font typeface="Architects Daughter" panose="020B0604020202020204" charset="0"/>
      <p:regular r:id="rId31"/>
    </p:embeddedFont>
    <p:embeddedFont>
      <p:font typeface="Lato Light" panose="020F0302020204030203" pitchFamily="34" charset="0"/>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Poppins" panose="000005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45339CE-A403-4A82-A332-1DB77EED7D76}">
  <a:tblStyle styleId="{E45339CE-A403-4A82-A332-1DB77EED7D7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64C406C8-F60A-4623-B513-9F8DCA56EF3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336" y="1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0.fntdata"/><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4c09d043d9_2_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g4c09d043d9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ac611cbd90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ac611cbd90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4c09d043d9_2_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g4c09d043d9_2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ac611cbd9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ac611cbd9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ac611cbd90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gac611cbd90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ac611cbd90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ac611cbd90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ac611cbd90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ac611cbd90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ac611cbd90_0_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gac611cbd90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4c09d043d9_2_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4c09d043d9_2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ac611cbd90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gac611cbd90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ac611cbd90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73" name="Google Shape;273;gac611cbd90_0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ac611cbd90_0_1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1" name="Google Shape;371;gac611cbd90_0_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eed96c102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eed96c102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ac611cbd90_0_1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ac611cbd90_0_1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ac611cbd90_0_1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ac611cbd90_0_1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ac611cbd90_0_1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gac611cbd90_0_1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c611cbd90_0_1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gac611cbd90_0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ac611cbd90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ac611cbd90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c611cbd90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gac611cbd90_0_4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ac611cbd90_0_4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gac611cbd90_0_4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a:extLst>
            <a:ext uri="{FF2B5EF4-FFF2-40B4-BE49-F238E27FC236}">
              <a16:creationId xmlns:a16="http://schemas.microsoft.com/office/drawing/2014/main" id="{A3D2E4A2-E07D-B008-85E2-4A52C209F478}"/>
            </a:ext>
          </a:extLst>
        </p:cNvPr>
        <p:cNvGrpSpPr/>
        <p:nvPr/>
      </p:nvGrpSpPr>
      <p:grpSpPr>
        <a:xfrm>
          <a:off x="0" y="0"/>
          <a:ext cx="0" cy="0"/>
          <a:chOff x="0" y="0"/>
          <a:chExt cx="0" cy="0"/>
        </a:xfrm>
      </p:grpSpPr>
      <p:sp>
        <p:nvSpPr>
          <p:cNvPr id="456" name="Google Shape;456;gac611cbd90_0_428:notes">
            <a:extLst>
              <a:ext uri="{FF2B5EF4-FFF2-40B4-BE49-F238E27FC236}">
                <a16:creationId xmlns:a16="http://schemas.microsoft.com/office/drawing/2014/main" id="{529DF39E-73C3-6E83-9EFC-5FF27C44F73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57" name="Google Shape;457;gac611cbd90_0_428:notes">
            <a:extLst>
              <a:ext uri="{FF2B5EF4-FFF2-40B4-BE49-F238E27FC236}">
                <a16:creationId xmlns:a16="http://schemas.microsoft.com/office/drawing/2014/main" id="{6879FC33-D130-74EE-59D3-519241AE24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26212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ac611cbd90_0_2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ac611cbd90_0_2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d4def54d12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9" name="Google Shape;549;g3d4def54d1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d4def54d12_0_1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g3d4def54d12_0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ac611cbd90_0_2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3" name="Google Shape;613;gac611cbd90_0_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ac611cbd90_0_2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4" name="Google Shape;634;gac611cbd90_0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67" name="Google Shape;67;p15"/>
          <p:cNvPicPr preferRelativeResize="0"/>
          <p:nvPr/>
        </p:nvPicPr>
        <p:blipFill rotWithShape="1">
          <a:blip r:embed="rId2">
            <a:alphaModFix/>
          </a:blip>
          <a:srcRect t="2417" b="2417"/>
          <a:stretch/>
        </p:blipFill>
        <p:spPr>
          <a:xfrm>
            <a:off x="628649" y="4632716"/>
            <a:ext cx="885048" cy="45732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1" name="Google Shape;71;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7" name="Google Shape;87;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6"/>
            <a:ext cx="4358879" cy="1971675"/>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573" y="-447079"/>
            <a:ext cx="4358879" cy="5800725"/>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8"/>
        <p:cNvGrpSpPr/>
        <p:nvPr/>
      </p:nvGrpSpPr>
      <p:grpSpPr>
        <a:xfrm>
          <a:off x="0" y="0"/>
          <a:ext cx="0" cy="0"/>
          <a:chOff x="0" y="0"/>
          <a:chExt cx="0" cy="0"/>
        </a:xfrm>
      </p:grpSpPr>
      <p:sp>
        <p:nvSpPr>
          <p:cNvPr id="129" name="Google Shape;129;p25"/>
          <p:cNvSpPr txBox="1">
            <a:spLocks noGrp="1"/>
          </p:cNvSpPr>
          <p:nvPr>
            <p:ph type="ctrTitle"/>
          </p:nvPr>
        </p:nvSpPr>
        <p:spPr>
          <a:xfrm>
            <a:off x="240950" y="2210425"/>
            <a:ext cx="8655900" cy="15120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lt1"/>
              </a:buClr>
              <a:buSzPts val="4500"/>
              <a:buFont typeface="Architects Daughter"/>
              <a:buNone/>
            </a:pPr>
            <a:r>
              <a:rPr lang="en">
                <a:solidFill>
                  <a:srgbClr val="002B64"/>
                </a:solidFill>
                <a:latin typeface="Open Sans"/>
                <a:ea typeface="Open Sans"/>
                <a:cs typeface="Open Sans"/>
                <a:sym typeface="Open Sans"/>
              </a:rPr>
              <a:t>Growth Fundamentals </a:t>
            </a:r>
            <a:br>
              <a:rPr lang="en">
                <a:solidFill>
                  <a:srgbClr val="002B64"/>
                </a:solidFill>
                <a:latin typeface="Open Sans"/>
                <a:ea typeface="Open Sans"/>
                <a:cs typeface="Open Sans"/>
                <a:sym typeface="Open Sans"/>
              </a:rPr>
            </a:br>
            <a:r>
              <a:rPr lang="en">
                <a:solidFill>
                  <a:srgbClr val="002B64"/>
                </a:solidFill>
                <a:latin typeface="Open Sans"/>
                <a:ea typeface="Open Sans"/>
                <a:cs typeface="Open Sans"/>
                <a:sym typeface="Open Sans"/>
              </a:rPr>
              <a:t>Framework Philosophy</a:t>
            </a:r>
            <a:endParaRPr>
              <a:solidFill>
                <a:srgbClr val="002B64"/>
              </a:solidFill>
              <a:latin typeface="Open Sans"/>
              <a:ea typeface="Open Sans"/>
              <a:cs typeface="Open Sans"/>
              <a:sym typeface="Open Sans"/>
            </a:endParaRPr>
          </a:p>
        </p:txBody>
      </p:sp>
      <p:sp>
        <p:nvSpPr>
          <p:cNvPr id="130" name="Google Shape;130;p25"/>
          <p:cNvSpPr txBox="1">
            <a:spLocks noGrp="1"/>
          </p:cNvSpPr>
          <p:nvPr>
            <p:ph type="subTitle" idx="1"/>
          </p:nvPr>
        </p:nvSpPr>
        <p:spPr>
          <a:xfrm>
            <a:off x="1139925" y="3997553"/>
            <a:ext cx="6858000" cy="496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lt1"/>
              </a:buClr>
              <a:buSzPts val="1800"/>
              <a:buNone/>
            </a:pPr>
            <a:r>
              <a:rPr lang="en" sz="2000">
                <a:solidFill>
                  <a:srgbClr val="434343"/>
                </a:solidFill>
                <a:latin typeface="Open Sans"/>
                <a:ea typeface="Open Sans"/>
                <a:cs typeface="Open Sans"/>
                <a:sym typeface="Open Sans"/>
              </a:rPr>
              <a:t>The design behind the framework...</a:t>
            </a:r>
            <a:endParaRPr sz="2000">
              <a:solidFill>
                <a:srgbClr val="434343"/>
              </a:solidFill>
              <a:latin typeface="Open Sans"/>
              <a:ea typeface="Open Sans"/>
              <a:cs typeface="Open Sans"/>
              <a:sym typeface="Open Sans"/>
            </a:endParaRPr>
          </a:p>
        </p:txBody>
      </p:sp>
      <p:sp>
        <p:nvSpPr>
          <p:cNvPr id="131" name="Google Shape;131;p25"/>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2" name="Google Shape;132;p25"/>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3" name="Google Shape;133;p25"/>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 name="Google Shape;134;p25"/>
          <p:cNvSpPr/>
          <p:nvPr/>
        </p:nvSpPr>
        <p:spPr>
          <a:xfrm>
            <a:off x="49426" y="5004196"/>
            <a:ext cx="9038968" cy="89877"/>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35" name="Google Shape;135;p25"/>
          <p:cNvPicPr preferRelativeResize="0"/>
          <p:nvPr/>
        </p:nvPicPr>
        <p:blipFill rotWithShape="1">
          <a:blip r:embed="rId3">
            <a:alphaModFix/>
          </a:blip>
          <a:srcRect t="2417" b="2417"/>
          <a:stretch/>
        </p:blipFill>
        <p:spPr>
          <a:xfrm>
            <a:off x="3280875" y="722300"/>
            <a:ext cx="2576072" cy="1331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7"/>
        <p:cNvGrpSpPr/>
        <p:nvPr/>
      </p:nvGrpSpPr>
      <p:grpSpPr>
        <a:xfrm>
          <a:off x="0" y="0"/>
          <a:ext cx="0" cy="0"/>
          <a:chOff x="0" y="0"/>
          <a:chExt cx="0" cy="0"/>
        </a:xfrm>
      </p:grpSpPr>
      <p:pic>
        <p:nvPicPr>
          <p:cNvPr id="178" name="Google Shape;178;p29"/>
          <p:cNvPicPr preferRelativeResize="0"/>
          <p:nvPr/>
        </p:nvPicPr>
        <p:blipFill>
          <a:blip r:embed="rId3">
            <a:alphaModFix/>
          </a:blip>
          <a:stretch>
            <a:fillRect/>
          </a:stretch>
        </p:blipFill>
        <p:spPr>
          <a:xfrm>
            <a:off x="224300" y="182400"/>
            <a:ext cx="8686731" cy="4778803"/>
          </a:xfrm>
          <a:prstGeom prst="rect">
            <a:avLst/>
          </a:prstGeom>
          <a:noFill/>
          <a:ln>
            <a:noFill/>
          </a:ln>
        </p:spPr>
      </p:pic>
      <p:sp>
        <p:nvSpPr>
          <p:cNvPr id="179" name="Google Shape;179;p2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FFFFFF"/>
                </a:solidFill>
                <a:latin typeface="Open Sans"/>
                <a:ea typeface="Open Sans"/>
                <a:cs typeface="Open Sans"/>
                <a:sym typeface="Open Sans"/>
              </a:rPr>
              <a:t>Growth Fundamentals</a:t>
            </a:r>
            <a:br>
              <a:rPr lang="en" sz="2400" i="0" u="none" strike="noStrike" cap="none">
                <a:solidFill>
                  <a:srgbClr val="FFFFFF"/>
                </a:solidFill>
                <a:latin typeface="Open Sans"/>
                <a:ea typeface="Open Sans"/>
                <a:cs typeface="Open Sans"/>
                <a:sym typeface="Open Sans"/>
              </a:rPr>
            </a:br>
            <a:r>
              <a:rPr lang="en" sz="2400" i="0" u="none" strike="noStrike" cap="none">
                <a:solidFill>
                  <a:srgbClr val="FFFFFF"/>
                </a:solidFill>
                <a:latin typeface="Open Sans"/>
                <a:ea typeface="Open Sans"/>
                <a:cs typeface="Open Sans"/>
                <a:sym typeface="Open Sans"/>
              </a:rPr>
              <a:t>Framework</a:t>
            </a:r>
            <a:endParaRPr sz="2400" i="0" u="none" strike="noStrike" cap="none">
              <a:solidFill>
                <a:srgbClr val="FFFFFF"/>
              </a:solidFill>
              <a:latin typeface="Open Sans"/>
              <a:ea typeface="Open Sans"/>
              <a:cs typeface="Open Sans"/>
              <a:sym typeface="Open Sans"/>
            </a:endParaRPr>
          </a:p>
        </p:txBody>
      </p:sp>
      <p:sp>
        <p:nvSpPr>
          <p:cNvPr id="180" name="Google Shape;180;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a:t>
            </a:fld>
            <a:endParaRPr/>
          </a:p>
        </p:txBody>
      </p:sp>
      <p:sp>
        <p:nvSpPr>
          <p:cNvPr id="181" name="Google Shape;181;p29"/>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2" name="Google Shape;182;p29"/>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3" name="Google Shape;183;p29"/>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4" name="Google Shape;184;p29"/>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5" name="Google Shape;185;p29"/>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234775" y="230300"/>
            <a:ext cx="8340900" cy="6444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F4B081"/>
              </a:buClr>
              <a:buSzPts val="2400"/>
              <a:buFont typeface="Architects Daughter"/>
              <a:buNone/>
            </a:pPr>
            <a:r>
              <a:rPr lang="en" sz="2400" u="sng">
                <a:solidFill>
                  <a:srgbClr val="002B64"/>
                </a:solidFill>
                <a:latin typeface="Open Sans"/>
                <a:ea typeface="Open Sans"/>
                <a:cs typeface="Open Sans"/>
                <a:sym typeface="Open Sans"/>
              </a:rPr>
              <a:t>Growth</a:t>
            </a:r>
            <a:r>
              <a:rPr lang="en" sz="2400">
                <a:solidFill>
                  <a:srgbClr val="002B64"/>
                </a:solidFill>
                <a:latin typeface="Open Sans"/>
                <a:ea typeface="Open Sans"/>
                <a:cs typeface="Open Sans"/>
                <a:sym typeface="Open Sans"/>
              </a:rPr>
              <a:t> Fundamentals Philosophy</a:t>
            </a:r>
            <a:endParaRPr sz="2400">
              <a:solidFill>
                <a:srgbClr val="002B64"/>
              </a:solidFill>
              <a:latin typeface="Open Sans"/>
              <a:ea typeface="Open Sans"/>
              <a:cs typeface="Open Sans"/>
              <a:sym typeface="Open Sans"/>
            </a:endParaRPr>
          </a:p>
        </p:txBody>
      </p:sp>
      <p:sp>
        <p:nvSpPr>
          <p:cNvPr id="141" name="Google Shape;141;p2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3</a:t>
            </a:fld>
            <a:endParaRPr sz="1100"/>
          </a:p>
        </p:txBody>
      </p:sp>
      <p:sp>
        <p:nvSpPr>
          <p:cNvPr id="142" name="Google Shape;142;p26"/>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3" name="Google Shape;143;p26"/>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4" name="Google Shape;144;p26"/>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5" name="Google Shape;145;p26"/>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6" name="Google Shape;146;p26"/>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7" name="Google Shape;147;p26"/>
          <p:cNvSpPr txBox="1">
            <a:spLocks noGrp="1"/>
          </p:cNvSpPr>
          <p:nvPr>
            <p:ph type="body" idx="1"/>
          </p:nvPr>
        </p:nvSpPr>
        <p:spPr>
          <a:xfrm>
            <a:off x="234778" y="931288"/>
            <a:ext cx="8662085" cy="4019942"/>
          </a:xfrm>
          <a:prstGeom prst="rect">
            <a:avLst/>
          </a:prstGeom>
          <a:noFill/>
          <a:ln>
            <a:noFill/>
          </a:ln>
        </p:spPr>
        <p:txBody>
          <a:bodyPr spcFirstLastPara="1" wrap="square" lIns="68575" tIns="34275" rIns="68575" bIns="34275" anchor="t" anchorCtr="0">
            <a:noAutofit/>
          </a:bodyPr>
          <a:lstStyle/>
          <a:p>
            <a:pPr marL="0" lvl="0" indent="0" algn="l" rtl="0">
              <a:lnSpc>
                <a:spcPct val="70000"/>
              </a:lnSpc>
              <a:spcBef>
                <a:spcPts val="0"/>
              </a:spcBef>
              <a:spcAft>
                <a:spcPts val="0"/>
              </a:spcAft>
              <a:buClr>
                <a:srgbClr val="C4E0B2"/>
              </a:buClr>
              <a:buSzPts val="1000"/>
              <a:buNone/>
            </a:pPr>
            <a:r>
              <a:rPr lang="en" sz="1000" b="1">
                <a:solidFill>
                  <a:srgbClr val="434343"/>
                </a:solidFill>
                <a:latin typeface="Open Sans"/>
                <a:ea typeface="Open Sans"/>
                <a:cs typeface="Open Sans"/>
                <a:sym typeface="Open Sans"/>
              </a:rPr>
              <a:t>Fun-Da-Mental</a:t>
            </a:r>
            <a:r>
              <a:rPr lang="en" sz="1000">
                <a:solidFill>
                  <a:srgbClr val="434343"/>
                </a:solidFill>
                <a:latin typeface="Open Sans"/>
                <a:ea typeface="Open Sans"/>
                <a:cs typeface="Open Sans"/>
                <a:sym typeface="Open Sans"/>
              </a:rPr>
              <a:t>: </a:t>
            </a:r>
            <a:endParaRPr sz="1100">
              <a:solidFill>
                <a:srgbClr val="434343"/>
              </a:solidFill>
              <a:latin typeface="Open Sans"/>
              <a:ea typeface="Open Sans"/>
              <a:cs typeface="Open Sans"/>
              <a:sym typeface="Open Sans"/>
            </a:endParaRPr>
          </a:p>
          <a:p>
            <a:pPr marL="0" lvl="0" indent="0" algn="just" rtl="0">
              <a:lnSpc>
                <a:spcPct val="70000"/>
              </a:lnSpc>
              <a:spcBef>
                <a:spcPts val="800"/>
              </a:spcBef>
              <a:spcAft>
                <a:spcPts val="0"/>
              </a:spcAft>
              <a:buClr>
                <a:srgbClr val="C4E0B2"/>
              </a:buClr>
              <a:buSzPts val="1000"/>
              <a:buNone/>
            </a:pPr>
            <a:r>
              <a:rPr lang="en" sz="1000">
                <a:solidFill>
                  <a:srgbClr val="434343"/>
                </a:solidFill>
                <a:latin typeface="Open Sans"/>
                <a:ea typeface="Open Sans"/>
                <a:cs typeface="Open Sans"/>
                <a:sym typeface="Open Sans"/>
              </a:rPr>
              <a:t>...forming or relating to the most important part of something; serving as a basis supporting existence or determining essential structure or function. </a:t>
            </a:r>
            <a:r>
              <a:rPr lang="en" sz="600">
                <a:solidFill>
                  <a:srgbClr val="434343"/>
                </a:solidFill>
                <a:latin typeface="Open Sans"/>
                <a:ea typeface="Open Sans"/>
                <a:cs typeface="Open Sans"/>
                <a:sym typeface="Open Sans"/>
              </a:rPr>
              <a:t>(Webster Dictionary Source)</a:t>
            </a:r>
            <a:endParaRPr sz="1000">
              <a:solidFill>
                <a:srgbClr val="434343"/>
              </a:solidFill>
              <a:latin typeface="Open Sans"/>
              <a:ea typeface="Open Sans"/>
              <a:cs typeface="Open Sans"/>
              <a:sym typeface="Open Sans"/>
            </a:endParaRPr>
          </a:p>
          <a:p>
            <a:pPr marL="0" lvl="0" indent="0" algn="l" rtl="0">
              <a:lnSpc>
                <a:spcPct val="7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rgbClr val="FFFF00"/>
              </a:buClr>
              <a:buSzPts val="1000"/>
              <a:buNone/>
            </a:pPr>
            <a:r>
              <a:rPr lang="en" sz="1000">
                <a:solidFill>
                  <a:srgbClr val="434343"/>
                </a:solidFill>
                <a:latin typeface="Open Sans"/>
                <a:ea typeface="Open Sans"/>
                <a:cs typeface="Open Sans"/>
                <a:sym typeface="Open Sans"/>
              </a:rPr>
              <a:t>The following pages are designed to help you (the advisor) communicate the need for ‘fundamentals’ to be present in a business, prior to major steps of expansion. </a:t>
            </a:r>
            <a:endParaRPr sz="11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chemeClr val="lt1"/>
              </a:buClr>
              <a:buSzPts val="1000"/>
              <a:buNone/>
            </a:pPr>
            <a:r>
              <a:rPr lang="en" sz="1000">
                <a:solidFill>
                  <a:srgbClr val="434343"/>
                </a:solidFill>
                <a:latin typeface="Open Sans"/>
                <a:ea typeface="Open Sans"/>
                <a:cs typeface="Open Sans"/>
                <a:sym typeface="Open Sans"/>
              </a:rPr>
              <a:t>Human nature tends to push us towards the need for ‘new and fresh’; we’re quick to move on once we ‘know something’ but the key is to determine (at each business level) Do we truly understand it?, do we </a:t>
            </a:r>
            <a:r>
              <a:rPr lang="en" sz="1000" u="sng">
                <a:solidFill>
                  <a:srgbClr val="434343"/>
                </a:solidFill>
                <a:latin typeface="Open Sans"/>
                <a:ea typeface="Open Sans"/>
                <a:cs typeface="Open Sans"/>
                <a:sym typeface="Open Sans"/>
              </a:rPr>
              <a:t>do it </a:t>
            </a:r>
            <a:r>
              <a:rPr lang="en" sz="1000">
                <a:solidFill>
                  <a:srgbClr val="434343"/>
                </a:solidFill>
                <a:latin typeface="Open Sans"/>
                <a:ea typeface="Open Sans"/>
                <a:cs typeface="Open Sans"/>
                <a:sym typeface="Open Sans"/>
              </a:rPr>
              <a:t>consistently? And, are we doing it well? (Have we mastered it?)</a:t>
            </a:r>
            <a:endParaRPr sz="11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rgbClr val="9CC2E5"/>
              </a:buClr>
              <a:buSzPts val="1000"/>
              <a:buNone/>
            </a:pPr>
            <a:r>
              <a:rPr lang="en" sz="1000">
                <a:solidFill>
                  <a:srgbClr val="434343"/>
                </a:solidFill>
                <a:latin typeface="Open Sans"/>
                <a:ea typeface="Open Sans"/>
                <a:cs typeface="Open Sans"/>
                <a:sym typeface="Open Sans"/>
              </a:rPr>
              <a:t>What follows are our thoughts as to the Fundamentals that should be mastered and present within a business prior to new growth steps being taken. Please take the information and ‘make it your own’.</a:t>
            </a:r>
            <a:endParaRPr sz="11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rgbClr val="9CC2E5"/>
              </a:buClr>
              <a:buSzPts val="1000"/>
              <a:buNone/>
            </a:pPr>
            <a:r>
              <a:rPr lang="en" sz="1000">
                <a:solidFill>
                  <a:srgbClr val="434343"/>
                </a:solidFill>
                <a:latin typeface="Open Sans"/>
                <a:ea typeface="Open Sans"/>
                <a:cs typeface="Open Sans"/>
                <a:sym typeface="Open Sans"/>
              </a:rPr>
              <a:t>Change anything you like, but be ‘robust’ in your decision making as this will form the substance (foundation) of your delivery as an advisor.</a:t>
            </a:r>
            <a:endParaRPr sz="11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chemeClr val="lt1"/>
              </a:buClr>
              <a:buSzPts val="1000"/>
              <a:buNone/>
            </a:pPr>
            <a:r>
              <a:rPr lang="en" sz="1000">
                <a:solidFill>
                  <a:srgbClr val="434343"/>
                </a:solidFill>
                <a:latin typeface="Open Sans"/>
                <a:ea typeface="Open Sans"/>
                <a:cs typeface="Open Sans"/>
                <a:sym typeface="Open Sans"/>
              </a:rPr>
              <a:t>Good luck, and enjoy!</a:t>
            </a:r>
            <a:endParaRPr sz="1100">
              <a:solidFill>
                <a:srgbClr val="434343"/>
              </a:solidFill>
              <a:latin typeface="Open Sans"/>
              <a:ea typeface="Open Sans"/>
              <a:cs typeface="Open Sans"/>
              <a:sym typeface="Open Sans"/>
            </a:endParaRPr>
          </a:p>
          <a:p>
            <a:pPr marL="0" lvl="0" indent="0" algn="just" rtl="0">
              <a:lnSpc>
                <a:spcPct val="100000"/>
              </a:lnSpc>
              <a:spcBef>
                <a:spcPts val="800"/>
              </a:spcBef>
              <a:spcAft>
                <a:spcPts val="0"/>
              </a:spcAft>
              <a:buClr>
                <a:schemeClr val="lt1"/>
              </a:buClr>
              <a:buSzPts val="1500"/>
              <a:buNone/>
            </a:pPr>
            <a:r>
              <a:rPr lang="en" sz="1500">
                <a:solidFill>
                  <a:srgbClr val="434343"/>
                </a:solidFill>
                <a:latin typeface="Open Sans"/>
                <a:ea typeface="Open Sans"/>
                <a:cs typeface="Open Sans"/>
                <a:sym typeface="Open Sans"/>
              </a:rPr>
              <a:t>Mike &amp; David.</a:t>
            </a:r>
            <a:endParaRPr sz="1100">
              <a:solidFill>
                <a:srgbClr val="434343"/>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xfrm>
            <a:off x="203887" y="139303"/>
            <a:ext cx="8404500" cy="7419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002B64"/>
                </a:solidFill>
                <a:latin typeface="Open Sans"/>
                <a:ea typeface="Open Sans"/>
                <a:cs typeface="Open Sans"/>
                <a:sym typeface="Open Sans"/>
              </a:rPr>
              <a:t>The Concept of Growth Stage Fundamentals</a:t>
            </a:r>
            <a:endParaRPr sz="2400" i="0" u="none" strike="noStrike" cap="none">
              <a:solidFill>
                <a:srgbClr val="002B64"/>
              </a:solidFill>
              <a:latin typeface="Open Sans"/>
              <a:ea typeface="Open Sans"/>
              <a:cs typeface="Open Sans"/>
              <a:sym typeface="Open Sans"/>
            </a:endParaRPr>
          </a:p>
        </p:txBody>
      </p:sp>
      <p:sp>
        <p:nvSpPr>
          <p:cNvPr id="165" name="Google Shape;165;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a:t>
            </a:fld>
            <a:endParaRPr/>
          </a:p>
        </p:txBody>
      </p:sp>
      <p:sp>
        <p:nvSpPr>
          <p:cNvPr id="166" name="Google Shape;166;p28"/>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7" name="Google Shape;167;p28"/>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8" name="Google Shape;168;p28"/>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9" name="Google Shape;169;p28"/>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0" name="Google Shape;170;p28"/>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1" name="Google Shape;171;p28"/>
          <p:cNvSpPr txBox="1"/>
          <p:nvPr/>
        </p:nvSpPr>
        <p:spPr>
          <a:xfrm>
            <a:off x="277937" y="2025746"/>
            <a:ext cx="5651100" cy="24930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The curve is representative of both ‘gravitational forces’ in terms of </a:t>
            </a:r>
            <a:r>
              <a:rPr lang="en" sz="1100">
                <a:solidFill>
                  <a:srgbClr val="434343"/>
                </a:solidFill>
                <a:latin typeface="Open Sans"/>
                <a:ea typeface="Open Sans"/>
                <a:cs typeface="Open Sans"/>
                <a:sym typeface="Open Sans"/>
              </a:rPr>
              <a:t>its</a:t>
            </a:r>
            <a:r>
              <a:rPr lang="en" sz="1100" i="0" u="none" strike="noStrike" cap="none">
                <a:solidFill>
                  <a:srgbClr val="434343"/>
                </a:solidFill>
                <a:latin typeface="Open Sans"/>
                <a:ea typeface="Open Sans"/>
                <a:cs typeface="Open Sans"/>
                <a:sym typeface="Open Sans"/>
              </a:rPr>
              <a:t> shape and form and ‘frictional forces’ in terms of the colours used.</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The higher you climb on the curve, the greater the energy required; the greater the risks and the greater the resistant forces trying to pull you back down.</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Each ‘Growth Stage’ along the curve requires new </a:t>
            </a:r>
            <a:r>
              <a:rPr lang="en" sz="1100">
                <a:solidFill>
                  <a:srgbClr val="434343"/>
                </a:solidFill>
                <a:latin typeface="Open Sans"/>
                <a:ea typeface="Open Sans"/>
                <a:cs typeface="Open Sans"/>
                <a:sym typeface="Open Sans"/>
              </a:rPr>
              <a:t>Mindsets</a:t>
            </a:r>
            <a:r>
              <a:rPr lang="en" sz="1100" i="0" u="none" strike="noStrike" cap="none">
                <a:solidFill>
                  <a:srgbClr val="434343"/>
                </a:solidFill>
                <a:latin typeface="Open Sans"/>
                <a:ea typeface="Open Sans"/>
                <a:cs typeface="Open Sans"/>
                <a:sym typeface="Open Sans"/>
              </a:rPr>
              <a:t> (focus and confidence for example), Skill Sets, Resource and Actions (habits) in order to meet the challenges of business ‘at that level’.</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Growth is a philosophy; it’s a fundamental requirement of life but it only emerges AFTER the conditions and sustenance are present. You can’t work on growth; only the inputs that contribute to growth...</a:t>
            </a:r>
            <a:endParaRPr sz="1100" i="0" u="none" strike="noStrike" cap="none">
              <a:solidFill>
                <a:srgbClr val="434343"/>
              </a:solidFill>
              <a:latin typeface="Open Sans"/>
              <a:ea typeface="Open Sans"/>
              <a:cs typeface="Open Sans"/>
              <a:sym typeface="Open Sans"/>
            </a:endParaRPr>
          </a:p>
        </p:txBody>
      </p:sp>
      <p:pic>
        <p:nvPicPr>
          <p:cNvPr id="172" name="Google Shape;172;p28"/>
          <p:cNvPicPr preferRelativeResize="0"/>
          <p:nvPr/>
        </p:nvPicPr>
        <p:blipFill rotWithShape="1">
          <a:blip r:embed="rId3">
            <a:alphaModFix/>
          </a:blip>
          <a:srcRect/>
          <a:stretch/>
        </p:blipFill>
        <p:spPr>
          <a:xfrm>
            <a:off x="6261366" y="1675795"/>
            <a:ext cx="2408113" cy="3137608"/>
          </a:xfrm>
          <a:prstGeom prst="rect">
            <a:avLst/>
          </a:prstGeom>
          <a:noFill/>
          <a:ln>
            <a:noFill/>
          </a:ln>
        </p:spPr>
      </p:pic>
      <p:sp>
        <p:nvSpPr>
          <p:cNvPr id="173" name="Google Shape;173;p28"/>
          <p:cNvSpPr txBox="1"/>
          <p:nvPr/>
        </p:nvSpPr>
        <p:spPr>
          <a:xfrm>
            <a:off x="268048" y="934033"/>
            <a:ext cx="8601600" cy="10386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The life ‘Growth Stages’ of the business are placed on a ‘Sigmoid-type/Sine Wave-type’ Curve’ as it’s representative of the Regenerative, Recurring aspects of growth in all living things.</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Before expansion can occur, there must be a period of dormancy; of homeostasis. The organism must ‘re-group’ itself prior to expending its energy in pursuit of gain.</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1"/>
        <p:cNvGrpSpPr/>
        <p:nvPr/>
      </p:nvGrpSpPr>
      <p:grpSpPr>
        <a:xfrm>
          <a:off x="0" y="0"/>
          <a:ext cx="0" cy="0"/>
          <a:chOff x="0" y="0"/>
          <a:chExt cx="0" cy="0"/>
        </a:xfrm>
      </p:grpSpPr>
      <p:sp>
        <p:nvSpPr>
          <p:cNvPr id="202" name="Google Shape;202;p31"/>
          <p:cNvSpPr txBox="1">
            <a:spLocks noGrp="1"/>
          </p:cNvSpPr>
          <p:nvPr>
            <p:ph type="title"/>
          </p:nvPr>
        </p:nvSpPr>
        <p:spPr>
          <a:xfrm>
            <a:off x="216949" y="284050"/>
            <a:ext cx="8147100" cy="6444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002B64"/>
                </a:solidFill>
                <a:latin typeface="Open Sans"/>
                <a:ea typeface="Open Sans"/>
                <a:cs typeface="Open Sans"/>
                <a:sym typeface="Open Sans"/>
              </a:rPr>
              <a:t>What’s in the Name?</a:t>
            </a:r>
            <a:endParaRPr sz="2400" i="0" u="none" strike="noStrike" cap="none">
              <a:solidFill>
                <a:srgbClr val="002B64"/>
              </a:solidFill>
              <a:latin typeface="Open Sans"/>
              <a:ea typeface="Open Sans"/>
              <a:cs typeface="Open Sans"/>
              <a:sym typeface="Open Sans"/>
            </a:endParaRPr>
          </a:p>
        </p:txBody>
      </p:sp>
      <p:sp>
        <p:nvSpPr>
          <p:cNvPr id="203" name="Google Shape;203;p3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5</a:t>
            </a:fld>
            <a:endParaRPr/>
          </a:p>
        </p:txBody>
      </p:sp>
      <p:sp>
        <p:nvSpPr>
          <p:cNvPr id="204" name="Google Shape;204;p31"/>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5" name="Google Shape;205;p31"/>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6" name="Google Shape;206;p31"/>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7" name="Google Shape;207;p31"/>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8" name="Google Shape;208;p31"/>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09" name="Google Shape;209;p31"/>
          <p:cNvSpPr txBox="1">
            <a:spLocks noGrp="1"/>
          </p:cNvSpPr>
          <p:nvPr>
            <p:ph type="body" idx="1"/>
          </p:nvPr>
        </p:nvSpPr>
        <p:spPr>
          <a:xfrm>
            <a:off x="313500" y="1165450"/>
            <a:ext cx="8364300" cy="3452400"/>
          </a:xfrm>
          <a:prstGeom prst="rect">
            <a:avLst/>
          </a:prstGeom>
          <a:noFill/>
          <a:ln>
            <a:noFill/>
          </a:ln>
        </p:spPr>
        <p:txBody>
          <a:bodyPr spcFirstLastPara="1" wrap="square" lIns="68575" tIns="34275" rIns="68575" bIns="34275" anchor="t" anchorCtr="0">
            <a:noAutofit/>
          </a:bodyPr>
          <a:lstStyle/>
          <a:p>
            <a:pPr marL="215900" marR="0" lvl="0" indent="-209550" algn="just" rtl="0">
              <a:lnSpc>
                <a:spcPct val="90000"/>
              </a:lnSpc>
              <a:spcBef>
                <a:spcPts val="0"/>
              </a:spcBef>
              <a:spcAft>
                <a:spcPts val="0"/>
              </a:spcAft>
              <a:buClr>
                <a:srgbClr val="434343"/>
              </a:buClr>
              <a:buSzPts val="2100"/>
              <a:buFont typeface="Open Sans"/>
              <a:buChar char="•"/>
            </a:pPr>
            <a:r>
              <a:rPr lang="en" sz="2100" i="0" u="none" strike="noStrike" cap="none">
                <a:solidFill>
                  <a:srgbClr val="434343"/>
                </a:solidFill>
                <a:latin typeface="Open Sans"/>
                <a:ea typeface="Open Sans"/>
                <a:cs typeface="Open Sans"/>
                <a:sym typeface="Open Sans"/>
              </a:rPr>
              <a:t>Growth - (maintaining or developing) is often the key focus of business owners.</a:t>
            </a:r>
            <a:endParaRPr sz="1100">
              <a:solidFill>
                <a:srgbClr val="434343"/>
              </a:solidFill>
              <a:latin typeface="Open Sans"/>
              <a:ea typeface="Open Sans"/>
              <a:cs typeface="Open Sans"/>
              <a:sym typeface="Open Sans"/>
            </a:endParaRPr>
          </a:p>
          <a:p>
            <a:pPr marL="215900" marR="0" lvl="0" indent="-76200" algn="just" rtl="0">
              <a:lnSpc>
                <a:spcPct val="90000"/>
              </a:lnSpc>
              <a:spcBef>
                <a:spcPts val="800"/>
              </a:spcBef>
              <a:spcAft>
                <a:spcPts val="0"/>
              </a:spcAft>
              <a:buClr>
                <a:schemeClr val="dk1"/>
              </a:buClr>
              <a:buSzPts val="2100"/>
              <a:buFont typeface="Arial"/>
              <a:buNone/>
            </a:pPr>
            <a:endParaRPr sz="2100" i="0" u="none" strike="noStrike" cap="none">
              <a:solidFill>
                <a:srgbClr val="434343"/>
              </a:solidFill>
              <a:latin typeface="Open Sans"/>
              <a:ea typeface="Open Sans"/>
              <a:cs typeface="Open Sans"/>
              <a:sym typeface="Open Sans"/>
            </a:endParaRPr>
          </a:p>
          <a:p>
            <a:pPr marL="215900" marR="0" lvl="0" indent="-209550" algn="just" rtl="0">
              <a:lnSpc>
                <a:spcPct val="90000"/>
              </a:lnSpc>
              <a:spcBef>
                <a:spcPts val="800"/>
              </a:spcBef>
              <a:spcAft>
                <a:spcPts val="0"/>
              </a:spcAft>
              <a:buClr>
                <a:srgbClr val="434343"/>
              </a:buClr>
              <a:buSzPts val="2100"/>
              <a:buFont typeface="Open Sans"/>
              <a:buChar char="•"/>
            </a:pPr>
            <a:r>
              <a:rPr lang="en" sz="2100" i="0" u="none" strike="noStrike" cap="none">
                <a:solidFill>
                  <a:srgbClr val="434343"/>
                </a:solidFill>
                <a:latin typeface="Open Sans"/>
                <a:ea typeface="Open Sans"/>
                <a:cs typeface="Open Sans"/>
                <a:sym typeface="Open Sans"/>
              </a:rPr>
              <a:t>Fundamentals – (that which is) critical to support existence or determine essential structure or function.</a:t>
            </a:r>
            <a:endParaRPr sz="1100">
              <a:solidFill>
                <a:srgbClr val="434343"/>
              </a:solidFill>
              <a:latin typeface="Open Sans"/>
              <a:ea typeface="Open Sans"/>
              <a:cs typeface="Open Sans"/>
              <a:sym typeface="Open Sans"/>
            </a:endParaRPr>
          </a:p>
          <a:p>
            <a:pPr marL="215900" marR="0" lvl="0" indent="-76200" algn="just" rtl="0">
              <a:lnSpc>
                <a:spcPct val="90000"/>
              </a:lnSpc>
              <a:spcBef>
                <a:spcPts val="800"/>
              </a:spcBef>
              <a:spcAft>
                <a:spcPts val="0"/>
              </a:spcAft>
              <a:buClr>
                <a:schemeClr val="dk1"/>
              </a:buClr>
              <a:buSzPts val="2100"/>
              <a:buFont typeface="Arial"/>
              <a:buNone/>
            </a:pPr>
            <a:endParaRPr sz="2100" i="0" u="none" strike="noStrike" cap="none">
              <a:solidFill>
                <a:srgbClr val="434343"/>
              </a:solidFill>
              <a:latin typeface="Open Sans"/>
              <a:ea typeface="Open Sans"/>
              <a:cs typeface="Open Sans"/>
              <a:sym typeface="Open Sans"/>
            </a:endParaRPr>
          </a:p>
          <a:p>
            <a:pPr marL="215900" marR="0" lvl="0" indent="-209550" algn="just" rtl="0">
              <a:lnSpc>
                <a:spcPct val="90000"/>
              </a:lnSpc>
              <a:spcBef>
                <a:spcPts val="800"/>
              </a:spcBef>
              <a:spcAft>
                <a:spcPts val="0"/>
              </a:spcAft>
              <a:buClr>
                <a:srgbClr val="434343"/>
              </a:buClr>
              <a:buSzPts val="2100"/>
              <a:buFont typeface="Open Sans"/>
              <a:buChar char="•"/>
            </a:pPr>
            <a:r>
              <a:rPr lang="en" sz="2100" i="0" u="none" strike="noStrike" cap="none">
                <a:solidFill>
                  <a:srgbClr val="434343"/>
                </a:solidFill>
                <a:latin typeface="Open Sans"/>
                <a:ea typeface="Open Sans"/>
                <a:cs typeface="Open Sans"/>
                <a:sym typeface="Open Sans"/>
              </a:rPr>
              <a:t>Framework – the </a:t>
            </a:r>
            <a:r>
              <a:rPr lang="en" sz="2100" i="0" u="sng" strike="noStrike" cap="none">
                <a:solidFill>
                  <a:srgbClr val="434343"/>
                </a:solidFill>
                <a:latin typeface="Open Sans"/>
                <a:ea typeface="Open Sans"/>
                <a:cs typeface="Open Sans"/>
                <a:sym typeface="Open Sans"/>
              </a:rPr>
              <a:t>Designed Structure</a:t>
            </a:r>
            <a:r>
              <a:rPr lang="en" sz="2100" i="0" u="none" strike="noStrike" cap="none">
                <a:solidFill>
                  <a:srgbClr val="434343"/>
                </a:solidFill>
                <a:latin typeface="Open Sans"/>
                <a:ea typeface="Open Sans"/>
                <a:cs typeface="Open Sans"/>
                <a:sym typeface="Open Sans"/>
              </a:rPr>
              <a:t> that guides future actions or form.</a:t>
            </a:r>
            <a:endParaRPr sz="1100">
              <a:solidFill>
                <a:srgbClr val="434343"/>
              </a:solidFill>
              <a:latin typeface="Open Sans"/>
              <a:ea typeface="Open Sans"/>
              <a:cs typeface="Open Sans"/>
              <a:sym typeface="Open Sans"/>
            </a:endParaRPr>
          </a:p>
          <a:p>
            <a:pPr marL="177800" marR="0" lvl="0" indent="-114300" algn="just" rtl="0">
              <a:lnSpc>
                <a:spcPct val="90000"/>
              </a:lnSpc>
              <a:spcBef>
                <a:spcPts val="800"/>
              </a:spcBef>
              <a:spcAft>
                <a:spcPts val="0"/>
              </a:spcAft>
              <a:buClr>
                <a:schemeClr val="dk1"/>
              </a:buClr>
              <a:buSzPts val="1000"/>
              <a:buFont typeface="Arial"/>
              <a:buNone/>
            </a:pPr>
            <a:endParaRPr sz="10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216949" y="284050"/>
            <a:ext cx="8147100" cy="6444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9CC2E5"/>
              </a:buClr>
              <a:buSzPts val="2400"/>
              <a:buFont typeface="Architects Daughter"/>
              <a:buNone/>
            </a:pPr>
            <a:r>
              <a:rPr lang="en" sz="2400" i="0" u="none" strike="noStrike" cap="none">
                <a:solidFill>
                  <a:srgbClr val="002B64"/>
                </a:solidFill>
                <a:latin typeface="Open Sans"/>
                <a:ea typeface="Open Sans"/>
                <a:cs typeface="Open Sans"/>
                <a:sym typeface="Open Sans"/>
              </a:rPr>
              <a:t>Why do we Need a Framework?</a:t>
            </a:r>
            <a:endParaRPr sz="2400" i="0" u="none" strike="noStrike" cap="none">
              <a:solidFill>
                <a:srgbClr val="002B64"/>
              </a:solidFill>
              <a:latin typeface="Open Sans"/>
              <a:ea typeface="Open Sans"/>
              <a:cs typeface="Open Sans"/>
              <a:sym typeface="Open Sans"/>
            </a:endParaRPr>
          </a:p>
        </p:txBody>
      </p:sp>
      <p:sp>
        <p:nvSpPr>
          <p:cNvPr id="215" name="Google Shape;215;p3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6</a:t>
            </a:fld>
            <a:endParaRPr/>
          </a:p>
        </p:txBody>
      </p:sp>
      <p:sp>
        <p:nvSpPr>
          <p:cNvPr id="216" name="Google Shape;216;p32"/>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7" name="Google Shape;217;p32"/>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8" name="Google Shape;218;p32"/>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19" name="Google Shape;219;p32"/>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0" name="Google Shape;220;p32"/>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1" name="Google Shape;221;p32"/>
          <p:cNvSpPr txBox="1">
            <a:spLocks noGrp="1"/>
          </p:cNvSpPr>
          <p:nvPr>
            <p:ph type="body" idx="1"/>
          </p:nvPr>
        </p:nvSpPr>
        <p:spPr>
          <a:xfrm>
            <a:off x="622463" y="1600200"/>
            <a:ext cx="7886700" cy="2680200"/>
          </a:xfrm>
          <a:prstGeom prst="rect">
            <a:avLst/>
          </a:prstGeom>
          <a:noFill/>
          <a:ln>
            <a:noFill/>
          </a:ln>
        </p:spPr>
        <p:txBody>
          <a:bodyPr spcFirstLastPara="1" wrap="square" lIns="68575" tIns="34275" rIns="68575" bIns="34275" anchor="t" anchorCtr="0">
            <a:noAutofit/>
          </a:bodyPr>
          <a:lstStyle/>
          <a:p>
            <a:pPr marL="0" marR="0" lvl="0" indent="0" algn="just" rtl="0">
              <a:lnSpc>
                <a:spcPct val="150000"/>
              </a:lnSpc>
              <a:spcBef>
                <a:spcPts val="0"/>
              </a:spcBef>
              <a:spcAft>
                <a:spcPts val="0"/>
              </a:spcAft>
              <a:buClr>
                <a:srgbClr val="9CC2E5"/>
              </a:buClr>
              <a:buSzPts val="2600"/>
              <a:buFont typeface="Arial"/>
              <a:buNone/>
            </a:pPr>
            <a:r>
              <a:rPr lang="en" sz="2600" i="0" u="none" strike="noStrike" cap="none">
                <a:solidFill>
                  <a:srgbClr val="434343"/>
                </a:solidFill>
                <a:latin typeface="Open Sans"/>
                <a:ea typeface="Open Sans"/>
                <a:cs typeface="Open Sans"/>
                <a:sym typeface="Open Sans"/>
              </a:rPr>
              <a:t>Frameworks help to guide (and Capture) the thinking, the observation, the reflections and the actions of those striving for excellence.</a:t>
            </a:r>
            <a:endParaRPr sz="1100">
              <a:solidFill>
                <a:srgbClr val="434343"/>
              </a:solidFill>
              <a:latin typeface="Open Sans"/>
              <a:ea typeface="Open Sans"/>
              <a:cs typeface="Open Sans"/>
              <a:sym typeface="Open Sans"/>
            </a:endParaRPr>
          </a:p>
          <a:p>
            <a:pPr marL="0" marR="0" lvl="0" indent="0" algn="just" rtl="0">
              <a:lnSpc>
                <a:spcPct val="90000"/>
              </a:lnSpc>
              <a:spcBef>
                <a:spcPts val="800"/>
              </a:spcBef>
              <a:spcAft>
                <a:spcPts val="0"/>
              </a:spcAft>
              <a:buClr>
                <a:schemeClr val="dk1"/>
              </a:buClr>
              <a:buSzPts val="1000"/>
              <a:buFont typeface="Arial"/>
              <a:buNone/>
            </a:pPr>
            <a:endParaRPr sz="10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sp>
        <p:nvSpPr>
          <p:cNvPr id="226" name="Google Shape;226;p33"/>
          <p:cNvSpPr txBox="1">
            <a:spLocks noGrp="1"/>
          </p:cNvSpPr>
          <p:nvPr>
            <p:ph type="title"/>
          </p:nvPr>
        </p:nvSpPr>
        <p:spPr>
          <a:xfrm>
            <a:off x="216949" y="284050"/>
            <a:ext cx="8665800" cy="6444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9CC2E5"/>
              </a:buClr>
              <a:buSzPts val="2200"/>
              <a:buFont typeface="Architects Daughter"/>
              <a:buNone/>
            </a:pPr>
            <a:r>
              <a:rPr lang="en" sz="2200" i="0" u="none" strike="noStrike" cap="none">
                <a:solidFill>
                  <a:srgbClr val="002B64"/>
                </a:solidFill>
                <a:latin typeface="Open Sans"/>
                <a:ea typeface="Open Sans"/>
                <a:cs typeface="Open Sans"/>
                <a:sym typeface="Open Sans"/>
              </a:rPr>
              <a:t>What does the Framework DO for your Client?</a:t>
            </a:r>
            <a:endParaRPr sz="2200" i="0" u="none" strike="noStrike" cap="none">
              <a:solidFill>
                <a:srgbClr val="002B64"/>
              </a:solidFill>
              <a:latin typeface="Open Sans"/>
              <a:ea typeface="Open Sans"/>
              <a:cs typeface="Open Sans"/>
              <a:sym typeface="Open Sans"/>
            </a:endParaRPr>
          </a:p>
        </p:txBody>
      </p:sp>
      <p:sp>
        <p:nvSpPr>
          <p:cNvPr id="227" name="Google Shape;227;p3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7</a:t>
            </a:fld>
            <a:endParaRPr/>
          </a:p>
        </p:txBody>
      </p:sp>
      <p:sp>
        <p:nvSpPr>
          <p:cNvPr id="228" name="Google Shape;228;p33"/>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29" name="Google Shape;229;p33"/>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0" name="Google Shape;230;p33"/>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1" name="Google Shape;231;p33"/>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2" name="Google Shape;232;p33"/>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33" name="Google Shape;233;p33"/>
          <p:cNvSpPr txBox="1">
            <a:spLocks noGrp="1"/>
          </p:cNvSpPr>
          <p:nvPr>
            <p:ph type="body" idx="1"/>
          </p:nvPr>
        </p:nvSpPr>
        <p:spPr>
          <a:xfrm>
            <a:off x="622470" y="2703008"/>
            <a:ext cx="7886700" cy="15765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9CC2E5"/>
              </a:buClr>
              <a:buSzPts val="2600"/>
              <a:buFont typeface="Arial"/>
              <a:buNone/>
            </a:pPr>
            <a:r>
              <a:rPr lang="en" sz="2600" i="0" u="none" strike="noStrike" cap="none">
                <a:solidFill>
                  <a:srgbClr val="434343"/>
                </a:solidFill>
                <a:latin typeface="Open Sans"/>
                <a:ea typeface="Open Sans"/>
                <a:cs typeface="Open Sans"/>
                <a:sym typeface="Open Sans"/>
              </a:rPr>
              <a:t>(This is critical for both learning and developing the motivation to want to act)</a:t>
            </a:r>
            <a:endParaRPr sz="1100">
              <a:solidFill>
                <a:srgbClr val="434343"/>
              </a:solidFill>
              <a:latin typeface="Open Sans"/>
              <a:ea typeface="Open Sans"/>
              <a:cs typeface="Open Sans"/>
              <a:sym typeface="Open Sans"/>
            </a:endParaRPr>
          </a:p>
        </p:txBody>
      </p:sp>
      <p:sp>
        <p:nvSpPr>
          <p:cNvPr id="234" name="Google Shape;234;p33"/>
          <p:cNvSpPr/>
          <p:nvPr/>
        </p:nvSpPr>
        <p:spPr>
          <a:xfrm>
            <a:off x="2187044" y="1585432"/>
            <a:ext cx="4757700" cy="4617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02B64"/>
                </a:solidFill>
                <a:latin typeface="Open Sans"/>
                <a:ea typeface="Open Sans"/>
                <a:cs typeface="Open Sans"/>
                <a:sym typeface="Open Sans"/>
              </a:rPr>
              <a:t>Creates Self Relevance.</a:t>
            </a:r>
            <a:endParaRPr sz="1100" i="0" u="none" strike="noStrike" cap="none">
              <a:solidFill>
                <a:srgbClr val="002B64"/>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8"/>
        <p:cNvGrpSpPr/>
        <p:nvPr/>
      </p:nvGrpSpPr>
      <p:grpSpPr>
        <a:xfrm>
          <a:off x="0" y="0"/>
          <a:ext cx="0" cy="0"/>
          <a:chOff x="0" y="0"/>
          <a:chExt cx="0" cy="0"/>
        </a:xfrm>
      </p:grpSpPr>
      <p:sp>
        <p:nvSpPr>
          <p:cNvPr id="239" name="Google Shape;239;p34"/>
          <p:cNvSpPr txBox="1">
            <a:spLocks noGrp="1"/>
          </p:cNvSpPr>
          <p:nvPr>
            <p:ph type="title"/>
          </p:nvPr>
        </p:nvSpPr>
        <p:spPr>
          <a:xfrm>
            <a:off x="216949" y="284050"/>
            <a:ext cx="8665800" cy="6444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9CC2E5"/>
              </a:buClr>
              <a:buSzPts val="2200"/>
              <a:buFont typeface="Architects Daughter"/>
              <a:buNone/>
            </a:pPr>
            <a:r>
              <a:rPr lang="en" sz="2200" i="0" u="none" strike="noStrike" cap="none">
                <a:solidFill>
                  <a:srgbClr val="002B64"/>
                </a:solidFill>
                <a:latin typeface="Open Sans"/>
                <a:ea typeface="Open Sans"/>
                <a:cs typeface="Open Sans"/>
                <a:sym typeface="Open Sans"/>
              </a:rPr>
              <a:t>How does the Framework create Self Relevance?</a:t>
            </a:r>
            <a:endParaRPr sz="2200" i="0" u="none" strike="noStrike" cap="none">
              <a:solidFill>
                <a:srgbClr val="002B64"/>
              </a:solidFill>
              <a:latin typeface="Open Sans"/>
              <a:ea typeface="Open Sans"/>
              <a:cs typeface="Open Sans"/>
              <a:sym typeface="Open Sans"/>
            </a:endParaRPr>
          </a:p>
        </p:txBody>
      </p:sp>
      <p:sp>
        <p:nvSpPr>
          <p:cNvPr id="240" name="Google Shape;240;p3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8</a:t>
            </a:fld>
            <a:endParaRPr/>
          </a:p>
        </p:txBody>
      </p:sp>
      <p:sp>
        <p:nvSpPr>
          <p:cNvPr id="241" name="Google Shape;241;p34"/>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2" name="Google Shape;242;p34"/>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3" name="Google Shape;243;p34"/>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4" name="Google Shape;244;p34"/>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5" name="Google Shape;245;p34"/>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46" name="Google Shape;246;p34"/>
          <p:cNvSpPr txBox="1">
            <a:spLocks noGrp="1"/>
          </p:cNvSpPr>
          <p:nvPr>
            <p:ph type="body" idx="1"/>
          </p:nvPr>
        </p:nvSpPr>
        <p:spPr>
          <a:xfrm>
            <a:off x="315775" y="2703000"/>
            <a:ext cx="8428800" cy="15765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9CC2E5"/>
              </a:buClr>
              <a:buSzPts val="2600"/>
              <a:buFont typeface="Arial"/>
              <a:buNone/>
            </a:pPr>
            <a:r>
              <a:rPr lang="en" sz="2600" i="0" u="none" strike="noStrike" cap="none">
                <a:solidFill>
                  <a:srgbClr val="434343"/>
                </a:solidFill>
                <a:latin typeface="Open Sans"/>
                <a:ea typeface="Open Sans"/>
                <a:cs typeface="Open Sans"/>
                <a:sym typeface="Open Sans"/>
              </a:rPr>
              <a:t>(Recognition of ‘where you are’ based on knowing ‘where you’ve come from’ and ‘where you’re headed’)</a:t>
            </a:r>
            <a:endParaRPr sz="1100">
              <a:solidFill>
                <a:srgbClr val="434343"/>
              </a:solidFill>
              <a:latin typeface="Open Sans"/>
              <a:ea typeface="Open Sans"/>
              <a:cs typeface="Open Sans"/>
              <a:sym typeface="Open Sans"/>
            </a:endParaRPr>
          </a:p>
          <a:p>
            <a:pPr marL="0" marR="0" lvl="0" indent="0" algn="ctr" rtl="0">
              <a:lnSpc>
                <a:spcPct val="90000"/>
              </a:lnSpc>
              <a:spcBef>
                <a:spcPts val="800"/>
              </a:spcBef>
              <a:spcAft>
                <a:spcPts val="0"/>
              </a:spcAft>
              <a:buClr>
                <a:schemeClr val="dk1"/>
              </a:buClr>
              <a:buSzPts val="2600"/>
              <a:buFont typeface="Arial"/>
              <a:buNone/>
            </a:pPr>
            <a:endParaRPr sz="2600" i="0" u="none" strike="noStrike" cap="none">
              <a:solidFill>
                <a:srgbClr val="434343"/>
              </a:solidFill>
              <a:latin typeface="Open Sans"/>
              <a:ea typeface="Open Sans"/>
              <a:cs typeface="Open Sans"/>
              <a:sym typeface="Open Sans"/>
            </a:endParaRPr>
          </a:p>
        </p:txBody>
      </p:sp>
      <p:sp>
        <p:nvSpPr>
          <p:cNvPr id="247" name="Google Shape;247;p34"/>
          <p:cNvSpPr/>
          <p:nvPr/>
        </p:nvSpPr>
        <p:spPr>
          <a:xfrm>
            <a:off x="2672756" y="1585432"/>
            <a:ext cx="3786000" cy="4617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02B64"/>
                </a:solidFill>
                <a:latin typeface="Open Sans"/>
                <a:ea typeface="Open Sans"/>
                <a:cs typeface="Open Sans"/>
                <a:sym typeface="Open Sans"/>
              </a:rPr>
              <a:t>Establishes Context</a:t>
            </a:r>
            <a:endParaRPr sz="1100" i="0" u="none" strike="noStrike" cap="none">
              <a:solidFill>
                <a:srgbClr val="002B64"/>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339038" y="286820"/>
            <a:ext cx="8491454" cy="644468"/>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F4B081"/>
              </a:buClr>
              <a:buSzPts val="2200"/>
              <a:buFont typeface="Architects Daughter"/>
              <a:buNone/>
            </a:pPr>
            <a:r>
              <a:rPr lang="en" sz="2200" u="sng" dirty="0">
                <a:solidFill>
                  <a:srgbClr val="002B64"/>
                </a:solidFill>
                <a:latin typeface="Open Sans"/>
                <a:ea typeface="Open Sans"/>
                <a:cs typeface="Open Sans"/>
                <a:sym typeface="Open Sans"/>
              </a:rPr>
              <a:t>Growth</a:t>
            </a:r>
            <a:r>
              <a:rPr lang="en" sz="2200" dirty="0">
                <a:solidFill>
                  <a:srgbClr val="002B64"/>
                </a:solidFill>
                <a:latin typeface="Open Sans"/>
                <a:ea typeface="Open Sans"/>
                <a:cs typeface="Open Sans"/>
                <a:sym typeface="Open Sans"/>
              </a:rPr>
              <a:t> Fundamentals Framework </a:t>
            </a:r>
            <a:r>
              <a:rPr lang="en" sz="1800" dirty="0">
                <a:solidFill>
                  <a:srgbClr val="002B64"/>
                </a:solidFill>
                <a:latin typeface="Open Sans"/>
                <a:ea typeface="Open Sans"/>
                <a:cs typeface="Open Sans"/>
                <a:sym typeface="Open Sans"/>
              </a:rPr>
              <a:t>(Advisor component purpose)</a:t>
            </a:r>
            <a:endParaRPr sz="1800" dirty="0">
              <a:solidFill>
                <a:srgbClr val="002B64"/>
              </a:solidFill>
              <a:latin typeface="Open Sans"/>
              <a:ea typeface="Open Sans"/>
              <a:cs typeface="Open Sans"/>
              <a:sym typeface="Open Sans"/>
            </a:endParaRPr>
          </a:p>
        </p:txBody>
      </p:sp>
      <p:sp>
        <p:nvSpPr>
          <p:cNvPr id="153" name="Google Shape;153;p2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9</a:t>
            </a:fld>
            <a:endParaRPr sz="1100"/>
          </a:p>
        </p:txBody>
      </p:sp>
      <p:sp>
        <p:nvSpPr>
          <p:cNvPr id="154" name="Google Shape;154;p27"/>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5" name="Google Shape;155;p27"/>
          <p:cNvSpPr/>
          <p:nvPr/>
        </p:nvSpPr>
        <p:spPr>
          <a:xfrm>
            <a:off x="49427" y="5004196"/>
            <a:ext cx="579223"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 name="Google Shape;156;p27"/>
          <p:cNvSpPr/>
          <p:nvPr/>
        </p:nvSpPr>
        <p:spPr>
          <a:xfrm>
            <a:off x="1513702" y="5004196"/>
            <a:ext cx="7574692"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7" name="Google Shape;157;p27"/>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8" name="Google Shape;158;p27"/>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24C1C533-A9C5-D82F-D986-C364C36A679E}"/>
              </a:ext>
            </a:extLst>
          </p:cNvPr>
          <p:cNvGraphicFramePr>
            <a:graphicFrameLocks noGrp="1"/>
          </p:cNvGraphicFramePr>
          <p:nvPr>
            <p:extLst>
              <p:ext uri="{D42A27DB-BD31-4B8C-83A1-F6EECF244321}">
                <p14:modId xmlns:p14="http://schemas.microsoft.com/office/powerpoint/2010/main" val="603066096"/>
              </p:ext>
            </p:extLst>
          </p:nvPr>
        </p:nvGraphicFramePr>
        <p:xfrm>
          <a:off x="467680" y="1032167"/>
          <a:ext cx="8202460" cy="3180044"/>
        </p:xfrm>
        <a:graphic>
          <a:graphicData uri="http://schemas.openxmlformats.org/drawingml/2006/table">
            <a:tbl>
              <a:tblPr firstRow="1" bandRow="1">
                <a:tableStyleId>{E45339CE-A403-4A82-A332-1DB77EED7D76}</a:tableStyleId>
              </a:tblPr>
              <a:tblGrid>
                <a:gridCol w="4101230">
                  <a:extLst>
                    <a:ext uri="{9D8B030D-6E8A-4147-A177-3AD203B41FA5}">
                      <a16:colId xmlns:a16="http://schemas.microsoft.com/office/drawing/2014/main" val="3163899552"/>
                    </a:ext>
                  </a:extLst>
                </a:gridCol>
                <a:gridCol w="4101230">
                  <a:extLst>
                    <a:ext uri="{9D8B030D-6E8A-4147-A177-3AD203B41FA5}">
                      <a16:colId xmlns:a16="http://schemas.microsoft.com/office/drawing/2014/main" val="3925488010"/>
                    </a:ext>
                  </a:extLst>
                </a:gridCol>
              </a:tblGrid>
              <a:tr h="454292">
                <a:tc>
                  <a:txBody>
                    <a:bodyPr/>
                    <a:lstStyle/>
                    <a:p>
                      <a:r>
                        <a:rPr lang="en-NZ" sz="1600" dirty="0">
                          <a:latin typeface="Open Sans" panose="020B0606030504020204" pitchFamily="34" charset="0"/>
                          <a:ea typeface="Open Sans" panose="020B0606030504020204" pitchFamily="34" charset="0"/>
                          <a:cs typeface="Open Sans" panose="020B0606030504020204" pitchFamily="34" charset="0"/>
                        </a:rPr>
                        <a:t>Component</a:t>
                      </a:r>
                    </a:p>
                  </a:txBody>
                  <a:tcPr/>
                </a:tc>
                <a:tc>
                  <a:txBody>
                    <a:bodyPr/>
                    <a:lstStyle/>
                    <a:p>
                      <a:r>
                        <a:rPr lang="en-NZ" sz="1600" dirty="0">
                          <a:latin typeface="Open Sans" panose="020B0606030504020204" pitchFamily="34" charset="0"/>
                          <a:ea typeface="Open Sans" panose="020B0606030504020204" pitchFamily="34" charset="0"/>
                          <a:cs typeface="Open Sans" panose="020B0606030504020204" pitchFamily="34" charset="0"/>
                        </a:rPr>
                        <a:t>Advisor Purpose</a:t>
                      </a:r>
                    </a:p>
                  </a:txBody>
                  <a:tcPr/>
                </a:tc>
                <a:extLst>
                  <a:ext uri="{0D108BD9-81ED-4DB2-BD59-A6C34878D82A}">
                    <a16:rowId xmlns:a16="http://schemas.microsoft.com/office/drawing/2014/main" val="2291993417"/>
                  </a:ext>
                </a:extLst>
              </a:tr>
              <a:tr h="454292">
                <a:tc>
                  <a:txBody>
                    <a:bodyPr/>
                    <a:lstStyle/>
                    <a:p>
                      <a:r>
                        <a:rPr lang="en"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9 Growth Stages</a:t>
                      </a:r>
                      <a:endParaRPr lang="en-NZ" sz="16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Z"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Identify Current Position</a:t>
                      </a:r>
                    </a:p>
                  </a:txBody>
                  <a:tcPr/>
                </a:tc>
                <a:extLst>
                  <a:ext uri="{0D108BD9-81ED-4DB2-BD59-A6C34878D82A}">
                    <a16:rowId xmlns:a16="http://schemas.microsoft.com/office/drawing/2014/main" val="3957942956"/>
                  </a:ext>
                </a:extLst>
              </a:tr>
              <a:tr h="454292">
                <a:tc>
                  <a:txBody>
                    <a:bodyPr/>
                    <a:lstStyle/>
                    <a:p>
                      <a:r>
                        <a:rPr lang="en"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5 Layers of Complexity</a:t>
                      </a:r>
                      <a:endParaRPr lang="en-NZ" sz="16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Z"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Identify Dominant Psyche Error</a:t>
                      </a:r>
                    </a:p>
                  </a:txBody>
                  <a:tcPr/>
                </a:tc>
                <a:extLst>
                  <a:ext uri="{0D108BD9-81ED-4DB2-BD59-A6C34878D82A}">
                    <a16:rowId xmlns:a16="http://schemas.microsoft.com/office/drawing/2014/main" val="2404139573"/>
                  </a:ext>
                </a:extLst>
              </a:tr>
              <a:tr h="454292">
                <a:tc>
                  <a:txBody>
                    <a:bodyPr/>
                    <a:lstStyle/>
                    <a:p>
                      <a:r>
                        <a:rPr lang="en"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7 Growth Focus Tactics</a:t>
                      </a:r>
                      <a:endParaRPr lang="en-NZ" sz="16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Z"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Identify Next Tactical Focus</a:t>
                      </a:r>
                    </a:p>
                  </a:txBody>
                  <a:tcPr/>
                </a:tc>
                <a:extLst>
                  <a:ext uri="{0D108BD9-81ED-4DB2-BD59-A6C34878D82A}">
                    <a16:rowId xmlns:a16="http://schemas.microsoft.com/office/drawing/2014/main" val="2313556799"/>
                  </a:ext>
                </a:extLst>
              </a:tr>
              <a:tr h="454292">
                <a:tc>
                  <a:txBody>
                    <a:bodyPr/>
                    <a:lstStyle/>
                    <a:p>
                      <a:r>
                        <a:rPr lang="en"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Devil’s Toilet</a:t>
                      </a:r>
                      <a:endParaRPr lang="en-NZ" sz="16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Z"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Recognise Profit Plateau Levels</a:t>
                      </a:r>
                    </a:p>
                  </a:txBody>
                  <a:tcPr/>
                </a:tc>
                <a:extLst>
                  <a:ext uri="{0D108BD9-81ED-4DB2-BD59-A6C34878D82A}">
                    <a16:rowId xmlns:a16="http://schemas.microsoft.com/office/drawing/2014/main" val="1632027973"/>
                  </a:ext>
                </a:extLst>
              </a:tr>
              <a:tr h="454292">
                <a:tc>
                  <a:txBody>
                    <a:bodyPr/>
                    <a:lstStyle/>
                    <a:p>
                      <a:r>
                        <a:rPr lang="en"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Split Point</a:t>
                      </a:r>
                      <a:endParaRPr lang="en-NZ" sz="16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Z"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Recognise Missing Skill Sets</a:t>
                      </a:r>
                    </a:p>
                  </a:txBody>
                  <a:tcPr/>
                </a:tc>
                <a:extLst>
                  <a:ext uri="{0D108BD9-81ED-4DB2-BD59-A6C34878D82A}">
                    <a16:rowId xmlns:a16="http://schemas.microsoft.com/office/drawing/2014/main" val="799410337"/>
                  </a:ext>
                </a:extLst>
              </a:tr>
              <a:tr h="454292">
                <a:tc>
                  <a:txBody>
                    <a:bodyPr/>
                    <a:lstStyle/>
                    <a:p>
                      <a:r>
                        <a:rPr lang="en"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9 Growth Aspects</a:t>
                      </a:r>
                      <a:endParaRPr lang="en-NZ" sz="16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Z" sz="1600" dirty="0">
                          <a:solidFill>
                            <a:srgbClr val="434343"/>
                          </a:solidFill>
                          <a:latin typeface="Open Sans" panose="020B0606030504020204" pitchFamily="34" charset="0"/>
                          <a:ea typeface="Open Sans" panose="020B0606030504020204" pitchFamily="34" charset="0"/>
                          <a:cs typeface="Open Sans" panose="020B0606030504020204" pitchFamily="34" charset="0"/>
                          <a:sym typeface="Open Sans"/>
                        </a:rPr>
                        <a:t>Maintain Balanced Awareness</a:t>
                      </a:r>
                    </a:p>
                  </a:txBody>
                  <a:tcPr/>
                </a:tc>
                <a:extLst>
                  <a:ext uri="{0D108BD9-81ED-4DB2-BD59-A6C34878D82A}">
                    <a16:rowId xmlns:a16="http://schemas.microsoft.com/office/drawing/2014/main" val="179230236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3"/>
        <p:cNvGrpSpPr/>
        <p:nvPr/>
      </p:nvGrpSpPr>
      <p:grpSpPr>
        <a:xfrm>
          <a:off x="0" y="0"/>
          <a:ext cx="0" cy="0"/>
          <a:chOff x="0" y="0"/>
          <a:chExt cx="0" cy="0"/>
        </a:xfrm>
      </p:grpSpPr>
      <p:sp>
        <p:nvSpPr>
          <p:cNvPr id="264" name="Google Shape;264;p3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10</a:t>
            </a:fld>
            <a:endParaRPr/>
          </a:p>
        </p:txBody>
      </p:sp>
      <p:sp>
        <p:nvSpPr>
          <p:cNvPr id="265" name="Google Shape;265;p36"/>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6" name="Google Shape;266;p36"/>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7" name="Google Shape;267;p36"/>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8" name="Google Shape;268;p36"/>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69" name="Google Shape;269;p36"/>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270" name="Google Shape;270;p36"/>
          <p:cNvGraphicFramePr/>
          <p:nvPr>
            <p:extLst>
              <p:ext uri="{D42A27DB-BD31-4B8C-83A1-F6EECF244321}">
                <p14:modId xmlns:p14="http://schemas.microsoft.com/office/powerpoint/2010/main" val="961456905"/>
              </p:ext>
            </p:extLst>
          </p:nvPr>
        </p:nvGraphicFramePr>
        <p:xfrm>
          <a:off x="193238" y="164755"/>
          <a:ext cx="8736575" cy="4816840"/>
        </p:xfrm>
        <a:graphic>
          <a:graphicData uri="http://schemas.openxmlformats.org/drawingml/2006/table">
            <a:tbl>
              <a:tblPr firstRow="1" bandRow="1">
                <a:noFill/>
                <a:tableStyleId>{E45339CE-A403-4A82-A332-1DB77EED7D76}</a:tableStyleId>
              </a:tblPr>
              <a:tblGrid>
                <a:gridCol w="1982350">
                  <a:extLst>
                    <a:ext uri="{9D8B030D-6E8A-4147-A177-3AD203B41FA5}">
                      <a16:colId xmlns:a16="http://schemas.microsoft.com/office/drawing/2014/main" val="20000"/>
                    </a:ext>
                  </a:extLst>
                </a:gridCol>
                <a:gridCol w="6754225">
                  <a:extLst>
                    <a:ext uri="{9D8B030D-6E8A-4147-A177-3AD203B41FA5}">
                      <a16:colId xmlns:a16="http://schemas.microsoft.com/office/drawing/2014/main" val="20001"/>
                    </a:ext>
                  </a:extLst>
                </a:gridCol>
              </a:tblGrid>
              <a:tr h="28750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Open Sans"/>
                          <a:ea typeface="Open Sans"/>
                          <a:cs typeface="Open Sans"/>
                          <a:sym typeface="Open Sans"/>
                        </a:rPr>
                        <a:t>Growth Stage</a:t>
                      </a:r>
                      <a:endParaRPr sz="1100" u="none" strike="noStrike" cap="none" dirty="0">
                        <a:latin typeface="Open Sans"/>
                        <a:ea typeface="Open Sans"/>
                        <a:cs typeface="Open Sans"/>
                        <a:sym typeface="Open Sans"/>
                      </a:endParaRPr>
                    </a:p>
                  </a:txBody>
                  <a:tcPr marL="68600" marR="68600" marT="34300" marB="34300" anchor="ctr">
                    <a:solidFill>
                      <a:srgbClr val="595959"/>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latin typeface="Open Sans"/>
                          <a:ea typeface="Open Sans"/>
                          <a:cs typeface="Open Sans"/>
                          <a:sym typeface="Open Sans"/>
                        </a:rPr>
                        <a:t>Growth Stage Description</a:t>
                      </a:r>
                      <a:endParaRPr sz="1100" u="none" strike="noStrike" cap="none" dirty="0">
                        <a:latin typeface="Open Sans"/>
                        <a:ea typeface="Open Sans"/>
                        <a:cs typeface="Open Sans"/>
                        <a:sym typeface="Open Sans"/>
                      </a:endParaRPr>
                    </a:p>
                  </a:txBody>
                  <a:tcPr marL="68600" marR="68600" marT="34300" marB="34300" anchor="ctr">
                    <a:solidFill>
                      <a:srgbClr val="595959"/>
                    </a:solidFill>
                  </a:tcPr>
                </a:tc>
                <a:extLst>
                  <a:ext uri="{0D108BD9-81ED-4DB2-BD59-A6C34878D82A}">
                    <a16:rowId xmlns:a16="http://schemas.microsoft.com/office/drawing/2014/main" val="10000"/>
                  </a:ext>
                </a:extLst>
              </a:tr>
              <a:tr h="609450">
                <a:tc>
                  <a:txBody>
                    <a:bodyPr/>
                    <a:lstStyle/>
                    <a:p>
                      <a:pPr marL="0" marR="0" lvl="0" indent="0" algn="l" rtl="0">
                        <a:lnSpc>
                          <a:spcPct val="100000"/>
                        </a:lnSpc>
                        <a:spcBef>
                          <a:spcPts val="0"/>
                        </a:spcBef>
                        <a:spcAft>
                          <a:spcPts val="0"/>
                        </a:spcAft>
                        <a:buClr>
                          <a:schemeClr val="dk1"/>
                        </a:buClr>
                        <a:buSzPts val="1200"/>
                        <a:buFont typeface="Abel"/>
                        <a:buNone/>
                      </a:pPr>
                      <a:r>
                        <a:rPr lang="en" sz="1200" b="1" u="none" strike="noStrike" cap="none">
                          <a:latin typeface="Open Sans"/>
                          <a:ea typeface="Open Sans"/>
                          <a:cs typeface="Open Sans"/>
                          <a:sym typeface="Open Sans"/>
                        </a:rPr>
                        <a:t>Exit/Decline </a:t>
                      </a:r>
                      <a:endParaRPr sz="1100" u="none" strike="noStrike" cap="none">
                        <a:latin typeface="Open Sans"/>
                        <a:ea typeface="Open Sans"/>
                        <a:cs typeface="Open Sans"/>
                        <a:sym typeface="Open Sans"/>
                      </a:endParaRPr>
                    </a:p>
                  </a:txBody>
                  <a:tcPr marL="68600" marR="68600" marT="34300" marB="34300" anchor="ctr">
                    <a:solidFill>
                      <a:srgbClr val="BFBFBF"/>
                    </a:solidFill>
                  </a:tcPr>
                </a:tc>
                <a:tc>
                  <a:txBody>
                    <a:bodyPr/>
                    <a:lstStyle/>
                    <a:p>
                      <a:pPr marL="0" marR="0" lvl="0" indent="0" algn="just" rtl="0">
                        <a:lnSpc>
                          <a:spcPct val="100000"/>
                        </a:lnSpc>
                        <a:spcBef>
                          <a:spcPts val="0"/>
                        </a:spcBef>
                        <a:spcAft>
                          <a:spcPts val="0"/>
                        </a:spcAft>
                        <a:buClr>
                          <a:srgbClr val="000000"/>
                        </a:buClr>
                        <a:buSzPts val="1200"/>
                        <a:buFont typeface="Arial"/>
                        <a:buNone/>
                      </a:pPr>
                      <a:r>
                        <a:rPr lang="en" sz="1200" u="none" strike="noStrike" cap="none">
                          <a:latin typeface="Open Sans"/>
                          <a:ea typeface="Open Sans"/>
                          <a:cs typeface="Open Sans"/>
                          <a:sym typeface="Open Sans"/>
                        </a:rPr>
                        <a:t>The business owners realise their capital gain via ‘going-concern’ sale or MBO to ‘groomed staff’/Succession to family members. (If successful) OR  The business dwindles as the owner/s seek retirement. (If they missed the mark)</a:t>
                      </a:r>
                      <a:endParaRPr sz="1200" u="none" strike="noStrike" cap="none">
                        <a:latin typeface="Open Sans"/>
                        <a:ea typeface="Open Sans"/>
                        <a:cs typeface="Open Sans"/>
                        <a:sym typeface="Open Sans"/>
                      </a:endParaRPr>
                    </a:p>
                  </a:txBody>
                  <a:tcPr marL="68600" marR="68600" marT="34300" marB="34300" anchor="ctr">
                    <a:solidFill>
                      <a:srgbClr val="BFBFBF"/>
                    </a:solidFill>
                  </a:tcPr>
                </a:tc>
                <a:extLst>
                  <a:ext uri="{0D108BD9-81ED-4DB2-BD59-A6C34878D82A}">
                    <a16:rowId xmlns:a16="http://schemas.microsoft.com/office/drawing/2014/main" val="10001"/>
                  </a:ext>
                </a:extLst>
              </a:tr>
              <a:tr h="4971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lt1"/>
                          </a:solidFill>
                          <a:latin typeface="Open Sans"/>
                          <a:ea typeface="Open Sans"/>
                          <a:cs typeface="Open Sans"/>
                          <a:sym typeface="Open Sans"/>
                        </a:rPr>
                        <a:t>Maturity</a:t>
                      </a:r>
                      <a:endParaRPr sz="11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just" rtl="0">
                        <a:lnSpc>
                          <a:spcPct val="100000"/>
                        </a:lnSpc>
                        <a:spcBef>
                          <a:spcPts val="0"/>
                        </a:spcBef>
                        <a:spcAft>
                          <a:spcPts val="0"/>
                        </a:spcAft>
                        <a:buClr>
                          <a:schemeClr val="lt1"/>
                        </a:buClr>
                        <a:buSzPts val="1200"/>
                        <a:buFont typeface="Abel"/>
                        <a:buNone/>
                      </a:pPr>
                      <a:r>
                        <a:rPr lang="en" sz="1200" u="none" strike="noStrike" cap="none">
                          <a:solidFill>
                            <a:schemeClr val="lt1"/>
                          </a:solidFill>
                          <a:latin typeface="Open Sans"/>
                          <a:ea typeface="Open Sans"/>
                          <a:cs typeface="Open Sans"/>
                          <a:sym typeface="Open Sans"/>
                        </a:rPr>
                        <a:t>The business now commands a sizeable market-share and creates a ‘barrier to entry’ for any business looking to compete against it.</a:t>
                      </a:r>
                      <a:endParaRPr sz="1200" u="none" strike="noStrike" cap="none">
                        <a:solidFill>
                          <a:schemeClr val="lt1"/>
                        </a:solidFill>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2"/>
                  </a:ext>
                </a:extLst>
              </a:tr>
              <a:tr h="4971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lt1"/>
                          </a:solidFill>
                          <a:latin typeface="Open Sans"/>
                          <a:ea typeface="Open Sans"/>
                          <a:cs typeface="Open Sans"/>
                          <a:sym typeface="Open Sans"/>
                        </a:rPr>
                        <a:t>Leapfrog</a:t>
                      </a:r>
                      <a:endParaRPr sz="11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just" rtl="0">
                        <a:lnSpc>
                          <a:spcPct val="100000"/>
                        </a:lnSpc>
                        <a:spcBef>
                          <a:spcPts val="0"/>
                        </a:spcBef>
                        <a:spcAft>
                          <a:spcPts val="0"/>
                        </a:spcAft>
                        <a:buClr>
                          <a:schemeClr val="lt1"/>
                        </a:buClr>
                        <a:buSzPts val="1200"/>
                        <a:buFont typeface="Abel"/>
                        <a:buNone/>
                      </a:pPr>
                      <a:r>
                        <a:rPr lang="en" sz="1200" u="none" strike="noStrike" cap="none">
                          <a:solidFill>
                            <a:schemeClr val="lt1"/>
                          </a:solidFill>
                          <a:latin typeface="Open Sans"/>
                          <a:ea typeface="Open Sans"/>
                          <a:cs typeface="Open Sans"/>
                          <a:sym typeface="Open Sans"/>
                        </a:rPr>
                        <a:t>The business now enjoys the ability to purchase or merge with ‘like-minded’ competitors. Market share is now substantial...</a:t>
                      </a:r>
                      <a:endParaRPr sz="1100"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3"/>
                  </a:ext>
                </a:extLst>
              </a:tr>
              <a:tr h="4971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rgbClr val="002060"/>
                          </a:solidFill>
                          <a:latin typeface="Open Sans"/>
                          <a:ea typeface="Open Sans"/>
                          <a:cs typeface="Open Sans"/>
                          <a:sym typeface="Open Sans"/>
                        </a:rPr>
                        <a:t>Reach</a:t>
                      </a:r>
                      <a:endParaRPr sz="1100" u="none" strike="noStrike" cap="none">
                        <a:latin typeface="Open Sans"/>
                        <a:ea typeface="Open Sans"/>
                        <a:cs typeface="Open Sans"/>
                        <a:sym typeface="Open Sans"/>
                      </a:endParaRPr>
                    </a:p>
                  </a:txBody>
                  <a:tcPr marL="68600" marR="68600" marT="34300" marB="34300" anchor="ctr">
                    <a:solidFill>
                      <a:schemeClr val="accent2"/>
                    </a:solidFill>
                  </a:tcPr>
                </a:tc>
                <a:tc>
                  <a:txBody>
                    <a:bodyPr/>
                    <a:lstStyle/>
                    <a:p>
                      <a:pPr marL="0" marR="0" lvl="0" indent="0" algn="just" rtl="0">
                        <a:lnSpc>
                          <a:spcPct val="100000"/>
                        </a:lnSpc>
                        <a:spcBef>
                          <a:spcPts val="0"/>
                        </a:spcBef>
                        <a:spcAft>
                          <a:spcPts val="0"/>
                        </a:spcAft>
                        <a:buClr>
                          <a:srgbClr val="002060"/>
                        </a:buClr>
                        <a:buSzPts val="1200"/>
                        <a:buFont typeface="Abel"/>
                        <a:buNone/>
                      </a:pPr>
                      <a:r>
                        <a:rPr lang="en" sz="1200" u="none" strike="noStrike" cap="none">
                          <a:solidFill>
                            <a:srgbClr val="002060"/>
                          </a:solidFill>
                          <a:latin typeface="Open Sans"/>
                          <a:ea typeface="Open Sans"/>
                          <a:cs typeface="Open Sans"/>
                          <a:sym typeface="Open Sans"/>
                        </a:rPr>
                        <a:t>The business is now enjoying multiple locations as the ‘brand’ is beginning to spread. New (additional) products are also part of your world!</a:t>
                      </a:r>
                      <a:endParaRPr sz="1200" u="none" strike="noStrike" cap="none">
                        <a:solidFill>
                          <a:srgbClr val="002060"/>
                        </a:solidFill>
                        <a:latin typeface="Open Sans"/>
                        <a:ea typeface="Open Sans"/>
                        <a:cs typeface="Open Sans"/>
                        <a:sym typeface="Open Sans"/>
                      </a:endParaRPr>
                    </a:p>
                  </a:txBody>
                  <a:tcPr marL="68600" marR="68600" marT="34300" marB="34300" anchor="ctr">
                    <a:solidFill>
                      <a:schemeClr val="accent2"/>
                    </a:solidFill>
                  </a:tcPr>
                </a:tc>
                <a:extLst>
                  <a:ext uri="{0D108BD9-81ED-4DB2-BD59-A6C34878D82A}">
                    <a16:rowId xmlns:a16="http://schemas.microsoft.com/office/drawing/2014/main" val="10004"/>
                  </a:ext>
                </a:extLst>
              </a:tr>
              <a:tr h="4971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rgbClr val="002060"/>
                          </a:solidFill>
                          <a:latin typeface="Open Sans"/>
                          <a:ea typeface="Open Sans"/>
                          <a:cs typeface="Open Sans"/>
                          <a:sym typeface="Open Sans"/>
                        </a:rPr>
                        <a:t>Leverage</a:t>
                      </a:r>
                      <a:endParaRPr sz="1100" u="none" strike="noStrike" cap="none">
                        <a:latin typeface="Open Sans"/>
                        <a:ea typeface="Open Sans"/>
                        <a:cs typeface="Open Sans"/>
                        <a:sym typeface="Open Sans"/>
                      </a:endParaRPr>
                    </a:p>
                  </a:txBody>
                  <a:tcPr marL="68600" marR="68600" marT="34300" marB="34300" anchor="ctr">
                    <a:solidFill>
                      <a:schemeClr val="accent2"/>
                    </a:solidFill>
                  </a:tcPr>
                </a:tc>
                <a:tc>
                  <a:txBody>
                    <a:bodyPr/>
                    <a:lstStyle/>
                    <a:p>
                      <a:pPr marL="0" marR="0" lvl="0" indent="0" algn="just" rtl="0">
                        <a:lnSpc>
                          <a:spcPct val="100000"/>
                        </a:lnSpc>
                        <a:spcBef>
                          <a:spcPts val="0"/>
                        </a:spcBef>
                        <a:spcAft>
                          <a:spcPts val="0"/>
                        </a:spcAft>
                        <a:buClr>
                          <a:srgbClr val="002060"/>
                        </a:buClr>
                        <a:buSzPts val="1200"/>
                        <a:buFont typeface="Abel"/>
                        <a:buNone/>
                      </a:pPr>
                      <a:r>
                        <a:rPr lang="en" sz="1200" u="none" strike="noStrike" cap="none">
                          <a:solidFill>
                            <a:srgbClr val="002060"/>
                          </a:solidFill>
                          <a:latin typeface="Open Sans"/>
                          <a:ea typeface="Open Sans"/>
                          <a:cs typeface="Open Sans"/>
                          <a:sym typeface="Open Sans"/>
                        </a:rPr>
                        <a:t>The business can sustain the lifestyle of the owner/s without the owner/s being directly ‘hands-on’ on a daily basis.</a:t>
                      </a:r>
                      <a:endParaRPr sz="1100" u="none" strike="noStrike" cap="none">
                        <a:latin typeface="Open Sans"/>
                        <a:ea typeface="Open Sans"/>
                        <a:cs typeface="Open Sans"/>
                        <a:sym typeface="Open Sans"/>
                      </a:endParaRPr>
                    </a:p>
                  </a:txBody>
                  <a:tcPr marL="68600" marR="68600" marT="34300" marB="34300" anchor="ctr">
                    <a:solidFill>
                      <a:schemeClr val="accent2"/>
                    </a:solidFill>
                  </a:tcPr>
                </a:tc>
                <a:extLst>
                  <a:ext uri="{0D108BD9-81ED-4DB2-BD59-A6C34878D82A}">
                    <a16:rowId xmlns:a16="http://schemas.microsoft.com/office/drawing/2014/main" val="10005"/>
                  </a:ext>
                </a:extLst>
              </a:tr>
              <a:tr h="4971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Open Sans"/>
                          <a:ea typeface="Open Sans"/>
                          <a:cs typeface="Open Sans"/>
                          <a:sym typeface="Open Sans"/>
                        </a:rPr>
                        <a:t>Lifestyle</a:t>
                      </a:r>
                      <a:endParaRPr sz="1100" u="none" strike="noStrike" cap="none">
                        <a:latin typeface="Open Sans"/>
                        <a:ea typeface="Open Sans"/>
                        <a:cs typeface="Open Sans"/>
                        <a:sym typeface="Open Sans"/>
                      </a:endParaRPr>
                    </a:p>
                  </a:txBody>
                  <a:tcPr marL="68600" marR="68600" marT="34300" marB="34300" anchor="ctr">
                    <a:solidFill>
                      <a:srgbClr val="FFFF66"/>
                    </a:solidFill>
                  </a:tcPr>
                </a:tc>
                <a:tc>
                  <a:txBody>
                    <a:bodyPr/>
                    <a:lstStyle/>
                    <a:p>
                      <a:pPr marL="0" marR="0" lvl="0" indent="0" algn="just" rtl="0">
                        <a:lnSpc>
                          <a:spcPct val="100000"/>
                        </a:lnSpc>
                        <a:spcBef>
                          <a:spcPts val="0"/>
                        </a:spcBef>
                        <a:spcAft>
                          <a:spcPts val="0"/>
                        </a:spcAft>
                        <a:buClr>
                          <a:srgbClr val="FF0000"/>
                        </a:buClr>
                        <a:buSzPts val="1200"/>
                        <a:buFont typeface="Abel"/>
                        <a:buNone/>
                      </a:pPr>
                      <a:r>
                        <a:rPr lang="en" sz="1200" u="none" strike="noStrike" cap="none" dirty="0">
                          <a:solidFill>
                            <a:srgbClr val="FF0000"/>
                          </a:solidFill>
                          <a:latin typeface="Open Sans"/>
                          <a:ea typeface="Open Sans"/>
                          <a:cs typeface="Open Sans"/>
                          <a:sym typeface="Open Sans"/>
                        </a:rPr>
                        <a:t>The business makes enough profit to allow the owner/s to draw sufficient funds to meet their lifestyle and save money each month.</a:t>
                      </a:r>
                      <a:endParaRPr sz="1200" u="none" strike="noStrike" cap="none" dirty="0">
                        <a:solidFill>
                          <a:srgbClr val="FF0000"/>
                        </a:solidFill>
                        <a:latin typeface="Open Sans"/>
                        <a:ea typeface="Open Sans"/>
                        <a:cs typeface="Open Sans"/>
                        <a:sym typeface="Open Sans"/>
                      </a:endParaRPr>
                    </a:p>
                  </a:txBody>
                  <a:tcPr marL="68600" marR="68600" marT="34300" marB="34300" anchor="ctr">
                    <a:solidFill>
                      <a:srgbClr val="FFFF66"/>
                    </a:solidFill>
                  </a:tcPr>
                </a:tc>
                <a:extLst>
                  <a:ext uri="{0D108BD9-81ED-4DB2-BD59-A6C34878D82A}">
                    <a16:rowId xmlns:a16="http://schemas.microsoft.com/office/drawing/2014/main" val="10006"/>
                  </a:ext>
                </a:extLst>
              </a:tr>
              <a:tr h="4754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rgbClr val="3F3F3F"/>
                          </a:solidFill>
                          <a:latin typeface="Open Sans"/>
                          <a:ea typeface="Open Sans"/>
                          <a:cs typeface="Open Sans"/>
                          <a:sym typeface="Open Sans"/>
                        </a:rPr>
                        <a:t>Break-even</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just" rtl="0">
                        <a:lnSpc>
                          <a:spcPct val="100000"/>
                        </a:lnSpc>
                        <a:spcBef>
                          <a:spcPts val="0"/>
                        </a:spcBef>
                        <a:spcAft>
                          <a:spcPts val="0"/>
                        </a:spcAft>
                        <a:buClr>
                          <a:srgbClr val="3F3F3F"/>
                        </a:buClr>
                        <a:buSzPts val="1200"/>
                        <a:buFont typeface="Abel"/>
                        <a:buNone/>
                      </a:pPr>
                      <a:r>
                        <a:rPr lang="en" sz="1200" u="none" strike="noStrike" cap="none">
                          <a:solidFill>
                            <a:srgbClr val="3F3F3F"/>
                          </a:solidFill>
                          <a:latin typeface="Open Sans"/>
                          <a:ea typeface="Open Sans"/>
                          <a:cs typeface="Open Sans"/>
                          <a:sym typeface="Open Sans"/>
                        </a:rPr>
                        <a:t>The business makes enough money to cover costs.</a:t>
                      </a:r>
                      <a:endParaRPr sz="1200" u="none" strike="noStrike" cap="none">
                        <a:solidFill>
                          <a:srgbClr val="3F3F3F"/>
                        </a:solidFill>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7"/>
                  </a:ext>
                </a:extLst>
              </a:tr>
              <a:tr h="4754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rgbClr val="3F3F3F"/>
                          </a:solidFill>
                          <a:latin typeface="Open Sans"/>
                          <a:ea typeface="Open Sans"/>
                          <a:cs typeface="Open Sans"/>
                          <a:sym typeface="Open Sans"/>
                        </a:rPr>
                        <a:t>Launch</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just" rtl="0">
                        <a:lnSpc>
                          <a:spcPct val="100000"/>
                        </a:lnSpc>
                        <a:spcBef>
                          <a:spcPts val="0"/>
                        </a:spcBef>
                        <a:spcAft>
                          <a:spcPts val="0"/>
                        </a:spcAft>
                        <a:buClr>
                          <a:srgbClr val="3F3F3F"/>
                        </a:buClr>
                        <a:buSzPts val="1200"/>
                        <a:buFont typeface="Abel"/>
                        <a:buNone/>
                      </a:pPr>
                      <a:r>
                        <a:rPr lang="en" sz="1200" u="none" strike="noStrike" cap="none">
                          <a:solidFill>
                            <a:srgbClr val="3F3F3F"/>
                          </a:solidFill>
                          <a:latin typeface="Open Sans"/>
                          <a:ea typeface="Open Sans"/>
                          <a:cs typeface="Open Sans"/>
                          <a:sym typeface="Open Sans"/>
                        </a:rPr>
                        <a:t>Opening the doors and sharing your dream with the world!</a:t>
                      </a:r>
                      <a:endParaRPr sz="1200" u="none" strike="noStrike" cap="none">
                        <a:solidFill>
                          <a:srgbClr val="3F3F3F"/>
                        </a:solidFill>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8"/>
                  </a:ext>
                </a:extLst>
              </a:tr>
              <a:tr h="4754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rgbClr val="3F3F3F"/>
                          </a:solidFill>
                          <a:latin typeface="Open Sans"/>
                          <a:ea typeface="Open Sans"/>
                          <a:cs typeface="Open Sans"/>
                          <a:sym typeface="Open Sans"/>
                        </a:rPr>
                        <a:t>Design</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just" rtl="0">
                        <a:lnSpc>
                          <a:spcPct val="100000"/>
                        </a:lnSpc>
                        <a:spcBef>
                          <a:spcPts val="0"/>
                        </a:spcBef>
                        <a:spcAft>
                          <a:spcPts val="0"/>
                        </a:spcAft>
                        <a:buClr>
                          <a:srgbClr val="3F3F3F"/>
                        </a:buClr>
                        <a:buSzPts val="1200"/>
                        <a:buFont typeface="Abel"/>
                        <a:buNone/>
                      </a:pPr>
                      <a:r>
                        <a:rPr lang="en" sz="1200" u="none" strike="noStrike" cap="none" dirty="0">
                          <a:solidFill>
                            <a:srgbClr val="3F3F3F"/>
                          </a:solidFill>
                          <a:latin typeface="Open Sans"/>
                          <a:ea typeface="Open Sans"/>
                          <a:cs typeface="Open Sans"/>
                          <a:sym typeface="Open Sans"/>
                        </a:rPr>
                        <a:t>Developing your business concept, getting ready to</a:t>
                      </a:r>
                      <a:endParaRPr sz="1100" u="none" strike="noStrike" cap="none" dirty="0">
                        <a:latin typeface="Open Sans"/>
                        <a:ea typeface="Open Sans"/>
                        <a:cs typeface="Open Sans"/>
                        <a:sym typeface="Open Sans"/>
                      </a:endParaRPr>
                    </a:p>
                    <a:p>
                      <a:pPr marL="0" marR="0" lvl="0" indent="0" algn="just" rtl="0">
                        <a:lnSpc>
                          <a:spcPct val="100000"/>
                        </a:lnSpc>
                        <a:spcBef>
                          <a:spcPts val="0"/>
                        </a:spcBef>
                        <a:spcAft>
                          <a:spcPts val="0"/>
                        </a:spcAft>
                        <a:buClr>
                          <a:srgbClr val="3F3F3F"/>
                        </a:buClr>
                        <a:buSzPts val="1200"/>
                        <a:buFont typeface="Abel"/>
                        <a:buNone/>
                      </a:pPr>
                      <a:r>
                        <a:rPr lang="en" sz="1200" u="none" strike="noStrike" cap="none" dirty="0">
                          <a:solidFill>
                            <a:srgbClr val="3F3F3F"/>
                          </a:solidFill>
                          <a:latin typeface="Open Sans"/>
                          <a:ea typeface="Open Sans"/>
                          <a:cs typeface="Open Sans"/>
                          <a:sym typeface="Open Sans"/>
                        </a:rPr>
                        <a:t>leave your job!</a:t>
                      </a:r>
                      <a:endParaRPr sz="1200" u="none" strike="noStrike" cap="none" dirty="0">
                        <a:solidFill>
                          <a:srgbClr val="3F3F3F"/>
                        </a:solidFill>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4"/>
        <p:cNvGrpSpPr/>
        <p:nvPr/>
      </p:nvGrpSpPr>
      <p:grpSpPr>
        <a:xfrm>
          <a:off x="0" y="0"/>
          <a:ext cx="0" cy="0"/>
          <a:chOff x="0" y="0"/>
          <a:chExt cx="0" cy="0"/>
        </a:xfrm>
      </p:grpSpPr>
      <p:sp>
        <p:nvSpPr>
          <p:cNvPr id="275" name="Google Shape;275;p3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11</a:t>
            </a:fld>
            <a:endParaRPr/>
          </a:p>
        </p:txBody>
      </p:sp>
      <p:sp>
        <p:nvSpPr>
          <p:cNvPr id="276" name="Google Shape;276;p37"/>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7" name="Google Shape;277;p37"/>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8" name="Google Shape;278;p37"/>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79" name="Google Shape;279;p37"/>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0" name="Google Shape;280;p37"/>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281" name="Google Shape;281;p37"/>
          <p:cNvGraphicFramePr/>
          <p:nvPr>
            <p:extLst>
              <p:ext uri="{D42A27DB-BD31-4B8C-83A1-F6EECF244321}">
                <p14:modId xmlns:p14="http://schemas.microsoft.com/office/powerpoint/2010/main" val="66261855"/>
              </p:ext>
            </p:extLst>
          </p:nvPr>
        </p:nvGraphicFramePr>
        <p:xfrm>
          <a:off x="187693" y="202130"/>
          <a:ext cx="8756550" cy="4801405"/>
        </p:xfrm>
        <a:graphic>
          <a:graphicData uri="http://schemas.openxmlformats.org/drawingml/2006/table">
            <a:tbl>
              <a:tblPr firstRow="1" bandRow="1">
                <a:noFill/>
                <a:tableStyleId>{E45339CE-A403-4A82-A332-1DB77EED7D76}</a:tableStyleId>
              </a:tblPr>
              <a:tblGrid>
                <a:gridCol w="3660525">
                  <a:extLst>
                    <a:ext uri="{9D8B030D-6E8A-4147-A177-3AD203B41FA5}">
                      <a16:colId xmlns:a16="http://schemas.microsoft.com/office/drawing/2014/main" val="20000"/>
                    </a:ext>
                  </a:extLst>
                </a:gridCol>
                <a:gridCol w="1291950">
                  <a:extLst>
                    <a:ext uri="{9D8B030D-6E8A-4147-A177-3AD203B41FA5}">
                      <a16:colId xmlns:a16="http://schemas.microsoft.com/office/drawing/2014/main" val="20001"/>
                    </a:ext>
                  </a:extLst>
                </a:gridCol>
                <a:gridCol w="3804075">
                  <a:extLst>
                    <a:ext uri="{9D8B030D-6E8A-4147-A177-3AD203B41FA5}">
                      <a16:colId xmlns:a16="http://schemas.microsoft.com/office/drawing/2014/main" val="20002"/>
                    </a:ext>
                  </a:extLst>
                </a:gridCol>
              </a:tblGrid>
              <a:tr h="27415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Open Sans"/>
                          <a:ea typeface="Open Sans"/>
                          <a:cs typeface="Open Sans"/>
                          <a:sym typeface="Open Sans"/>
                        </a:rPr>
                        <a:t>What Got You Here...</a:t>
                      </a:r>
                      <a:endParaRPr sz="1100" u="none" strike="noStrike" cap="none">
                        <a:latin typeface="Open Sans"/>
                        <a:ea typeface="Open Sans"/>
                        <a:cs typeface="Open Sans"/>
                        <a:sym typeface="Open Sans"/>
                      </a:endParaRPr>
                    </a:p>
                  </a:txBody>
                  <a:tcPr marL="68600" marR="68600" marT="34300" marB="34300" anchor="ctr">
                    <a:solidFill>
                      <a:srgbClr val="595959"/>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200" u="none" strike="noStrike" cap="none" dirty="0">
                          <a:latin typeface="Open Sans"/>
                          <a:ea typeface="Open Sans"/>
                          <a:cs typeface="Open Sans"/>
                          <a:sym typeface="Open Sans"/>
                        </a:rPr>
                        <a:t>Growth Stage</a:t>
                      </a:r>
                      <a:endParaRPr sz="1200" u="none" strike="noStrike" cap="none" dirty="0">
                        <a:latin typeface="Open Sans"/>
                        <a:ea typeface="Open Sans"/>
                        <a:cs typeface="Open Sans"/>
                        <a:sym typeface="Open Sans"/>
                      </a:endParaRPr>
                    </a:p>
                  </a:txBody>
                  <a:tcPr marL="68600" marR="68600" marT="34300" marB="34300" anchor="ctr">
                    <a:solidFill>
                      <a:srgbClr val="59595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Open Sans"/>
                          <a:ea typeface="Open Sans"/>
                          <a:cs typeface="Open Sans"/>
                          <a:sym typeface="Open Sans"/>
                        </a:rPr>
                        <a:t>What Holds You Back...</a:t>
                      </a:r>
                      <a:endParaRPr sz="1400" u="none" strike="noStrike" cap="none">
                        <a:latin typeface="Open Sans"/>
                        <a:ea typeface="Open Sans"/>
                        <a:cs typeface="Open Sans"/>
                        <a:sym typeface="Open Sans"/>
                      </a:endParaRPr>
                    </a:p>
                  </a:txBody>
                  <a:tcPr marL="68600" marR="68600" marT="34300" marB="34300" anchor="ctr">
                    <a:solidFill>
                      <a:srgbClr val="595959"/>
                    </a:solidFill>
                  </a:tcPr>
                </a:tc>
                <a:extLst>
                  <a:ext uri="{0D108BD9-81ED-4DB2-BD59-A6C34878D82A}">
                    <a16:rowId xmlns:a16="http://schemas.microsoft.com/office/drawing/2014/main" val="10000"/>
                  </a:ext>
                </a:extLst>
              </a:tr>
              <a:tr h="46190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latin typeface="Open Sans"/>
                          <a:ea typeface="Open Sans"/>
                          <a:cs typeface="Open Sans"/>
                          <a:sym typeface="Open Sans"/>
                        </a:rPr>
                        <a:t>Recognition that either the business has ‘outgrown you’ or it’s opportunistic to realise the ‘good-will’ you’ve created with both customers and staff alike.</a:t>
                      </a:r>
                      <a:endParaRPr sz="1100" u="none" strike="noStrike" cap="none">
                        <a:latin typeface="Open Sans"/>
                        <a:ea typeface="Open Sans"/>
                        <a:cs typeface="Open Sans"/>
                        <a:sym typeface="Open Sans"/>
                      </a:endParaRPr>
                    </a:p>
                  </a:txBody>
                  <a:tcPr marL="68600" marR="68600" marT="34300" marB="34300" anchor="ctr">
                    <a:solidFill>
                      <a:srgbClr val="BFBFBF"/>
                    </a:solidFill>
                  </a:tcPr>
                </a:tc>
                <a:tc>
                  <a:txBody>
                    <a:bodyPr/>
                    <a:lstStyle/>
                    <a:p>
                      <a:pPr marL="0" marR="0" lvl="0" indent="0" algn="ctr" rtl="0">
                        <a:lnSpc>
                          <a:spcPct val="100000"/>
                        </a:lnSpc>
                        <a:spcBef>
                          <a:spcPts val="0"/>
                        </a:spcBef>
                        <a:spcAft>
                          <a:spcPts val="0"/>
                        </a:spcAft>
                        <a:buClr>
                          <a:schemeClr val="dk1"/>
                        </a:buClr>
                        <a:buSzPts val="1400"/>
                        <a:buFont typeface="Abel"/>
                        <a:buNone/>
                      </a:pPr>
                      <a:r>
                        <a:rPr lang="en" sz="1400" b="1" u="none" strike="noStrike" cap="none">
                          <a:latin typeface="Open Sans"/>
                          <a:ea typeface="Open Sans"/>
                          <a:cs typeface="Open Sans"/>
                          <a:sym typeface="Open Sans"/>
                        </a:rPr>
                        <a:t>Exit/Decline</a:t>
                      </a:r>
                      <a:endParaRPr sz="1100" u="none" strike="noStrike" cap="none">
                        <a:latin typeface="Open Sans"/>
                        <a:ea typeface="Open Sans"/>
                        <a:cs typeface="Open Sans"/>
                        <a:sym typeface="Open Sans"/>
                      </a:endParaRPr>
                    </a:p>
                  </a:txBody>
                  <a:tcPr marL="68600" marR="68600" marT="34300" marB="34300" anchor="ctr">
                    <a:solidFill>
                      <a:srgbClr val="BFBFBF"/>
                    </a:solidFill>
                  </a:tcPr>
                </a:tc>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latin typeface="Open Sans"/>
                          <a:ea typeface="Open Sans"/>
                          <a:cs typeface="Open Sans"/>
                          <a:sym typeface="Open Sans"/>
                        </a:rPr>
                        <a:t>Failure to have developed inherent value beyond that of your own personal involvement. Perhaps lack of vision for ‘life after business’..?</a:t>
                      </a:r>
                      <a:endParaRPr sz="1100" u="none" strike="noStrike" cap="none">
                        <a:latin typeface="Open Sans"/>
                        <a:ea typeface="Open Sans"/>
                        <a:cs typeface="Open Sans"/>
                        <a:sym typeface="Open Sans"/>
                      </a:endParaRPr>
                    </a:p>
                  </a:txBody>
                  <a:tcPr marL="68600" marR="68600" marT="34300" marB="34300" anchor="ctr">
                    <a:solidFill>
                      <a:srgbClr val="BFBFBF"/>
                    </a:solidFill>
                  </a:tcPr>
                </a:tc>
                <a:extLst>
                  <a:ext uri="{0D108BD9-81ED-4DB2-BD59-A6C34878D82A}">
                    <a16:rowId xmlns:a16="http://schemas.microsoft.com/office/drawing/2014/main" val="10001"/>
                  </a:ext>
                </a:extLst>
              </a:tr>
              <a:tr h="46190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chemeClr val="lt1"/>
                          </a:solidFill>
                          <a:latin typeface="Open Sans"/>
                          <a:ea typeface="Open Sans"/>
                          <a:cs typeface="Open Sans"/>
                          <a:sym typeface="Open Sans"/>
                        </a:rPr>
                        <a:t>Vision, Discipline and a willingness to adapt to the needs of your business and marketplace; combined with a sound knowledge of financial and business fundamentals.</a:t>
                      </a:r>
                      <a:endParaRPr sz="900" u="none" strike="noStrike" cap="none">
                        <a:solidFill>
                          <a:schemeClr val="lt1"/>
                        </a:solidFill>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latin typeface="Open Sans"/>
                          <a:ea typeface="Open Sans"/>
                          <a:cs typeface="Open Sans"/>
                          <a:sym typeface="Open Sans"/>
                        </a:rPr>
                        <a:t>Maturity</a:t>
                      </a:r>
                      <a:endParaRPr sz="11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just" rtl="0">
                        <a:lnSpc>
                          <a:spcPct val="100000"/>
                        </a:lnSpc>
                        <a:spcBef>
                          <a:spcPts val="0"/>
                        </a:spcBef>
                        <a:spcAft>
                          <a:spcPts val="0"/>
                        </a:spcAft>
                        <a:buClr>
                          <a:schemeClr val="lt1"/>
                        </a:buClr>
                        <a:buSzPts val="900"/>
                        <a:buFont typeface="Abel"/>
                        <a:buNone/>
                      </a:pPr>
                      <a:r>
                        <a:rPr lang="en" sz="900" u="none" strike="noStrike" cap="none">
                          <a:solidFill>
                            <a:schemeClr val="lt1"/>
                          </a:solidFill>
                          <a:latin typeface="Open Sans"/>
                          <a:ea typeface="Open Sans"/>
                          <a:cs typeface="Open Sans"/>
                          <a:sym typeface="Open Sans"/>
                        </a:rPr>
                        <a:t>Lack of financial management expertise; focus shifted from being customer centric to becoming absorbed with internal and ‘political’ issues. Lost ‘contact’ with the marketplace.</a:t>
                      </a:r>
                      <a:endParaRPr sz="1100"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2"/>
                  </a:ext>
                </a:extLst>
              </a:tr>
              <a:tr h="59335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chemeClr val="lt1"/>
                          </a:solidFill>
                          <a:latin typeface="Open Sans"/>
                          <a:ea typeface="Open Sans"/>
                          <a:cs typeface="Open Sans"/>
                          <a:sym typeface="Open Sans"/>
                        </a:rPr>
                        <a:t>Sound business model with clarity of your customer’s drivers and the opportunity for ancillary services/products. Opportunity to capture market share with alternative distribution.</a:t>
                      </a:r>
                      <a:endParaRPr sz="900" u="none" strike="noStrike" cap="none">
                        <a:solidFill>
                          <a:schemeClr val="lt1"/>
                        </a:solidFill>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lt1"/>
                          </a:solidFill>
                          <a:latin typeface="Open Sans"/>
                          <a:ea typeface="Open Sans"/>
                          <a:cs typeface="Open Sans"/>
                          <a:sym typeface="Open Sans"/>
                        </a:rPr>
                        <a:t>Leapfrog</a:t>
                      </a:r>
                      <a:endParaRPr sz="11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just" rtl="0">
                        <a:lnSpc>
                          <a:spcPct val="100000"/>
                        </a:lnSpc>
                        <a:spcBef>
                          <a:spcPts val="0"/>
                        </a:spcBef>
                        <a:spcAft>
                          <a:spcPts val="0"/>
                        </a:spcAft>
                        <a:buClr>
                          <a:schemeClr val="lt1"/>
                        </a:buClr>
                        <a:buSzPts val="900"/>
                        <a:buFont typeface="Abel"/>
                        <a:buNone/>
                      </a:pPr>
                      <a:r>
                        <a:rPr lang="en" sz="900" u="none" strike="noStrike" cap="none">
                          <a:solidFill>
                            <a:schemeClr val="lt1"/>
                          </a:solidFill>
                          <a:latin typeface="Open Sans"/>
                          <a:ea typeface="Open Sans"/>
                          <a:cs typeface="Open Sans"/>
                          <a:sym typeface="Open Sans"/>
                        </a:rPr>
                        <a:t>Lack of understanding of the ‘Epistemology’ behind your potential alliance or acquisition partner combined with fragile Governance protocols. (Perhaps numerics ‘just don’t add up’?)</a:t>
                      </a:r>
                      <a:endParaRPr sz="1100"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3"/>
                  </a:ext>
                </a:extLst>
              </a:tr>
              <a:tr h="46190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rgbClr val="002060"/>
                          </a:solidFill>
                          <a:latin typeface="Open Sans"/>
                          <a:ea typeface="Open Sans"/>
                          <a:cs typeface="Open Sans"/>
                          <a:sym typeface="Open Sans"/>
                        </a:rPr>
                        <a:t>Proven systems and market acceptance of product/service combined with brand awareness in local marketplace. Key staff capable of ‘stepping up’. </a:t>
                      </a:r>
                      <a:endParaRPr sz="1100" u="none" strike="noStrike" cap="none">
                        <a:latin typeface="Open Sans"/>
                        <a:ea typeface="Open Sans"/>
                        <a:cs typeface="Open Sans"/>
                        <a:sym typeface="Open Sans"/>
                      </a:endParaRPr>
                    </a:p>
                  </a:txBody>
                  <a:tcPr marL="68600" marR="68600" marT="34300" marB="34300" anchor="ctr">
                    <a:solidFill>
                      <a:schemeClr val="accent2"/>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2060"/>
                          </a:solidFill>
                          <a:latin typeface="Open Sans"/>
                          <a:ea typeface="Open Sans"/>
                          <a:cs typeface="Open Sans"/>
                          <a:sym typeface="Open Sans"/>
                        </a:rPr>
                        <a:t>Reach</a:t>
                      </a:r>
                      <a:endParaRPr sz="1100" u="none" strike="noStrike" cap="none">
                        <a:latin typeface="Open Sans"/>
                        <a:ea typeface="Open Sans"/>
                        <a:cs typeface="Open Sans"/>
                        <a:sym typeface="Open Sans"/>
                      </a:endParaRPr>
                    </a:p>
                  </a:txBody>
                  <a:tcPr marL="68600" marR="68600" marT="34300" marB="34300" anchor="ctr">
                    <a:solidFill>
                      <a:schemeClr val="accent2"/>
                    </a:solidFill>
                  </a:tcPr>
                </a:tc>
                <a:tc>
                  <a:txBody>
                    <a:bodyPr/>
                    <a:lstStyle/>
                    <a:p>
                      <a:pPr marL="0" marR="0" lvl="0" indent="0" algn="just" rtl="0">
                        <a:lnSpc>
                          <a:spcPct val="100000"/>
                        </a:lnSpc>
                        <a:spcBef>
                          <a:spcPts val="0"/>
                        </a:spcBef>
                        <a:spcAft>
                          <a:spcPts val="0"/>
                        </a:spcAft>
                        <a:buClr>
                          <a:srgbClr val="002060"/>
                        </a:buClr>
                        <a:buSzPts val="900"/>
                        <a:buFont typeface="Abel"/>
                        <a:buNone/>
                      </a:pPr>
                      <a:r>
                        <a:rPr lang="en" sz="900" u="none" strike="noStrike" cap="none">
                          <a:solidFill>
                            <a:srgbClr val="002060"/>
                          </a:solidFill>
                          <a:latin typeface="Open Sans"/>
                          <a:ea typeface="Open Sans"/>
                          <a:cs typeface="Open Sans"/>
                          <a:sym typeface="Open Sans"/>
                        </a:rPr>
                        <a:t>Lack of knowledge around ‘consumer dynamics’ as they relate to the new marketplace or product/service that you plan to adopt.</a:t>
                      </a:r>
                      <a:endParaRPr sz="1100" u="none" strike="noStrike" cap="none">
                        <a:latin typeface="Open Sans"/>
                        <a:ea typeface="Open Sans"/>
                        <a:cs typeface="Open Sans"/>
                        <a:sym typeface="Open Sans"/>
                      </a:endParaRPr>
                    </a:p>
                  </a:txBody>
                  <a:tcPr marL="68600" marR="68600" marT="34300" marB="34300" anchor="ctr">
                    <a:solidFill>
                      <a:schemeClr val="accent2"/>
                    </a:solidFill>
                  </a:tcPr>
                </a:tc>
                <a:extLst>
                  <a:ext uri="{0D108BD9-81ED-4DB2-BD59-A6C34878D82A}">
                    <a16:rowId xmlns:a16="http://schemas.microsoft.com/office/drawing/2014/main" val="10004"/>
                  </a:ext>
                </a:extLst>
              </a:tr>
              <a:tr h="55580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rgbClr val="002060"/>
                          </a:solidFill>
                          <a:latin typeface="Open Sans"/>
                          <a:ea typeface="Open Sans"/>
                          <a:cs typeface="Open Sans"/>
                          <a:sym typeface="Open Sans"/>
                        </a:rPr>
                        <a:t>Recognition of market demand (potential) and the need to meet it in order to stay competitive, combined with desire to have business less reliant on owner/s.</a:t>
                      </a:r>
                      <a:endParaRPr sz="900" u="none" strike="noStrike" cap="none">
                        <a:solidFill>
                          <a:srgbClr val="002060"/>
                        </a:solidFill>
                        <a:latin typeface="Open Sans"/>
                        <a:ea typeface="Open Sans"/>
                        <a:cs typeface="Open Sans"/>
                        <a:sym typeface="Open Sans"/>
                      </a:endParaRPr>
                    </a:p>
                  </a:txBody>
                  <a:tcPr marL="68600" marR="68600" marT="34300" marB="34300" anchor="ctr">
                    <a:solidFill>
                      <a:schemeClr val="accent2"/>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dirty="0">
                          <a:solidFill>
                            <a:srgbClr val="002060"/>
                          </a:solidFill>
                          <a:latin typeface="Open Sans"/>
                          <a:ea typeface="Open Sans"/>
                          <a:cs typeface="Open Sans"/>
                          <a:sym typeface="Open Sans"/>
                        </a:rPr>
                        <a:t>Leverage</a:t>
                      </a:r>
                      <a:endParaRPr sz="1100" u="none" strike="noStrike" cap="none" dirty="0">
                        <a:latin typeface="Open Sans"/>
                        <a:ea typeface="Open Sans"/>
                        <a:cs typeface="Open Sans"/>
                        <a:sym typeface="Open Sans"/>
                      </a:endParaRPr>
                    </a:p>
                  </a:txBody>
                  <a:tcPr marL="68600" marR="68600" marT="34300" marB="34300" anchor="ctr">
                    <a:solidFill>
                      <a:schemeClr val="accent2"/>
                    </a:solidFill>
                  </a:tcPr>
                </a:tc>
                <a:tc>
                  <a:txBody>
                    <a:bodyPr/>
                    <a:lstStyle/>
                    <a:p>
                      <a:pPr marL="0" marR="0" lvl="0" indent="0" algn="just" rtl="0">
                        <a:lnSpc>
                          <a:spcPct val="100000"/>
                        </a:lnSpc>
                        <a:spcBef>
                          <a:spcPts val="0"/>
                        </a:spcBef>
                        <a:spcAft>
                          <a:spcPts val="0"/>
                        </a:spcAft>
                        <a:buClr>
                          <a:srgbClr val="002060"/>
                        </a:buClr>
                        <a:buSzPts val="800"/>
                        <a:buFont typeface="Abel"/>
                        <a:buNone/>
                      </a:pPr>
                      <a:r>
                        <a:rPr lang="en" sz="800" u="none" strike="noStrike" cap="none">
                          <a:solidFill>
                            <a:srgbClr val="002060"/>
                          </a:solidFill>
                          <a:latin typeface="Open Sans"/>
                          <a:ea typeface="Open Sans"/>
                          <a:cs typeface="Open Sans"/>
                          <a:sym typeface="Open Sans"/>
                        </a:rPr>
                        <a:t>Lack of faith in Key Staff (may be well founded) combined with poor delegation/visibility/review procedures. Perhaps a reluctance to ‘let go’ or a business model built around the ‘specialist’ service provider model. Governance ethos is not yet ingrained throughout.</a:t>
                      </a:r>
                      <a:endParaRPr sz="800" u="none" strike="noStrike" cap="none">
                        <a:solidFill>
                          <a:srgbClr val="002060"/>
                        </a:solidFill>
                        <a:latin typeface="Open Sans"/>
                        <a:ea typeface="Open Sans"/>
                        <a:cs typeface="Open Sans"/>
                        <a:sym typeface="Open Sans"/>
                      </a:endParaRPr>
                    </a:p>
                  </a:txBody>
                  <a:tcPr marL="68600" marR="68600" marT="34300" marB="34300" anchor="ctr">
                    <a:solidFill>
                      <a:schemeClr val="accent2"/>
                    </a:solidFill>
                  </a:tcPr>
                </a:tc>
                <a:extLst>
                  <a:ext uri="{0D108BD9-81ED-4DB2-BD59-A6C34878D82A}">
                    <a16:rowId xmlns:a16="http://schemas.microsoft.com/office/drawing/2014/main" val="10005"/>
                  </a:ext>
                </a:extLst>
              </a:tr>
              <a:tr h="506275">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rgbClr val="FF0000"/>
                          </a:solidFill>
                          <a:latin typeface="Open Sans"/>
                          <a:ea typeface="Open Sans"/>
                          <a:cs typeface="Open Sans"/>
                          <a:sym typeface="Open Sans"/>
                        </a:rPr>
                        <a:t>A clear understanding of the value you offer your customers and the financial awareness of ‘what makes a difference &amp; what doesn’t’...</a:t>
                      </a:r>
                      <a:endParaRPr sz="1100" u="none" strike="noStrike" cap="none">
                        <a:latin typeface="Open Sans"/>
                        <a:ea typeface="Open Sans"/>
                        <a:cs typeface="Open Sans"/>
                        <a:sym typeface="Open Sans"/>
                      </a:endParaRPr>
                    </a:p>
                  </a:txBody>
                  <a:tcPr marL="68600" marR="68600" marT="34300" marB="34300" anchor="ctr">
                    <a:solidFill>
                      <a:srgbClr val="FFFF66"/>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FF0000"/>
                          </a:solidFill>
                          <a:latin typeface="Open Sans"/>
                          <a:ea typeface="Open Sans"/>
                          <a:cs typeface="Open Sans"/>
                          <a:sym typeface="Open Sans"/>
                        </a:rPr>
                        <a:t>Lifestyle</a:t>
                      </a:r>
                      <a:endParaRPr sz="1100" u="none" strike="noStrike" cap="none">
                        <a:latin typeface="Open Sans"/>
                        <a:ea typeface="Open Sans"/>
                        <a:cs typeface="Open Sans"/>
                        <a:sym typeface="Open Sans"/>
                      </a:endParaRPr>
                    </a:p>
                  </a:txBody>
                  <a:tcPr marL="68600" marR="68600" marT="34300" marB="34300" anchor="ctr">
                    <a:solidFill>
                      <a:srgbClr val="FFFF66"/>
                    </a:solidFill>
                  </a:tcPr>
                </a:tc>
                <a:tc>
                  <a:txBody>
                    <a:bodyPr/>
                    <a:lstStyle/>
                    <a:p>
                      <a:pPr marL="0" marR="0" lvl="0" indent="0" algn="just" rtl="0">
                        <a:lnSpc>
                          <a:spcPct val="100000"/>
                        </a:lnSpc>
                        <a:spcBef>
                          <a:spcPts val="0"/>
                        </a:spcBef>
                        <a:spcAft>
                          <a:spcPts val="0"/>
                        </a:spcAft>
                        <a:buClr>
                          <a:srgbClr val="FF0000"/>
                        </a:buClr>
                        <a:buSzPts val="900"/>
                        <a:buFont typeface="Abel"/>
                        <a:buNone/>
                      </a:pPr>
                      <a:r>
                        <a:rPr lang="en" sz="900" u="none" strike="noStrike" cap="none">
                          <a:solidFill>
                            <a:srgbClr val="FF0000"/>
                          </a:solidFill>
                          <a:latin typeface="Open Sans"/>
                          <a:ea typeface="Open Sans"/>
                          <a:cs typeface="Open Sans"/>
                          <a:sym typeface="Open Sans"/>
                        </a:rPr>
                        <a:t>Lack of clarity around your business numerics or lack of discipline in completing the tasks that matter, on time.</a:t>
                      </a:r>
                      <a:endParaRPr sz="1100" u="none" strike="noStrike" cap="none">
                        <a:latin typeface="Open Sans"/>
                        <a:ea typeface="Open Sans"/>
                        <a:cs typeface="Open Sans"/>
                        <a:sym typeface="Open Sans"/>
                      </a:endParaRPr>
                    </a:p>
                  </a:txBody>
                  <a:tcPr marL="68600" marR="68600" marT="34300" marB="34300" anchor="ctr">
                    <a:solidFill>
                      <a:srgbClr val="FFFF66"/>
                    </a:solidFill>
                  </a:tcPr>
                </a:tc>
                <a:extLst>
                  <a:ext uri="{0D108BD9-81ED-4DB2-BD59-A6C34878D82A}">
                    <a16:rowId xmlns:a16="http://schemas.microsoft.com/office/drawing/2014/main" val="10006"/>
                  </a:ext>
                </a:extLst>
              </a:tr>
              <a:tr h="45750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rgbClr val="3F3F3F"/>
                          </a:solidFill>
                          <a:latin typeface="Open Sans"/>
                          <a:ea typeface="Open Sans"/>
                          <a:cs typeface="Open Sans"/>
                          <a:sym typeface="Open Sans"/>
                        </a:rPr>
                        <a:t>Significant work and effort combined with a strong focus on customer delivery.</a:t>
                      </a:r>
                      <a:endParaRPr sz="900" u="none" strike="noStrike" cap="none">
                        <a:solidFill>
                          <a:srgbClr val="3F3F3F"/>
                        </a:solidFill>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3F3F3F"/>
                          </a:solidFill>
                          <a:latin typeface="Open Sans"/>
                          <a:ea typeface="Open Sans"/>
                          <a:cs typeface="Open Sans"/>
                          <a:sym typeface="Open Sans"/>
                        </a:rPr>
                        <a:t>Break-even</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just" rtl="0">
                        <a:lnSpc>
                          <a:spcPct val="100000"/>
                        </a:lnSpc>
                        <a:spcBef>
                          <a:spcPts val="0"/>
                        </a:spcBef>
                        <a:spcAft>
                          <a:spcPts val="0"/>
                        </a:spcAft>
                        <a:buClr>
                          <a:srgbClr val="3F3F3F"/>
                        </a:buClr>
                        <a:buSzPts val="900"/>
                        <a:buFont typeface="Abel"/>
                        <a:buNone/>
                      </a:pPr>
                      <a:r>
                        <a:rPr lang="en" sz="900" u="none" strike="noStrike" cap="none">
                          <a:solidFill>
                            <a:srgbClr val="3F3F3F"/>
                          </a:solidFill>
                          <a:latin typeface="Open Sans"/>
                          <a:ea typeface="Open Sans"/>
                          <a:cs typeface="Open Sans"/>
                          <a:sym typeface="Open Sans"/>
                        </a:rPr>
                        <a:t>Lack of financial management or sales/marketing basics, strained resources and fatigue...</a:t>
                      </a:r>
                      <a:endParaRPr sz="1100" u="none" strike="noStrike" cap="none">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7"/>
                  </a:ext>
                </a:extLst>
              </a:tr>
              <a:tr h="45750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rgbClr val="3F3F3F"/>
                          </a:solidFill>
                          <a:latin typeface="Open Sans"/>
                          <a:ea typeface="Open Sans"/>
                          <a:cs typeface="Open Sans"/>
                          <a:sym typeface="Open Sans"/>
                        </a:rPr>
                        <a:t>Determined to ‘have a go’ and armed with enough supporting information to believe ‘it’s possible’...</a:t>
                      </a:r>
                      <a:endParaRPr sz="900" u="none" strike="noStrike" cap="none">
                        <a:solidFill>
                          <a:srgbClr val="3F3F3F"/>
                        </a:solidFill>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3F3F3F"/>
                          </a:solidFill>
                          <a:latin typeface="Open Sans"/>
                          <a:ea typeface="Open Sans"/>
                          <a:cs typeface="Open Sans"/>
                          <a:sym typeface="Open Sans"/>
                        </a:rPr>
                        <a:t>Launch</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just" rtl="0">
                        <a:lnSpc>
                          <a:spcPct val="100000"/>
                        </a:lnSpc>
                        <a:spcBef>
                          <a:spcPts val="0"/>
                        </a:spcBef>
                        <a:spcAft>
                          <a:spcPts val="0"/>
                        </a:spcAft>
                        <a:buClr>
                          <a:srgbClr val="3F3F3F"/>
                        </a:buClr>
                        <a:buSzPts val="900"/>
                        <a:buFont typeface="Abel"/>
                        <a:buNone/>
                      </a:pPr>
                      <a:r>
                        <a:rPr lang="en" sz="900" u="none" strike="noStrike" cap="none">
                          <a:solidFill>
                            <a:srgbClr val="3F3F3F"/>
                          </a:solidFill>
                          <a:latin typeface="Open Sans"/>
                          <a:ea typeface="Open Sans"/>
                          <a:cs typeface="Open Sans"/>
                          <a:sym typeface="Open Sans"/>
                        </a:rPr>
                        <a:t>Realisation of the task enormity and financial risks of failure. Perhaps legitimate timing or resource obstacles.</a:t>
                      </a:r>
                      <a:endParaRPr sz="900" u="none" strike="noStrike" cap="none">
                        <a:solidFill>
                          <a:srgbClr val="3F3F3F"/>
                        </a:solidFill>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8"/>
                  </a:ext>
                </a:extLst>
              </a:tr>
              <a:tr h="508300">
                <a:tc>
                  <a:txBody>
                    <a:bodyPr/>
                    <a:lstStyle/>
                    <a:p>
                      <a:pPr marL="0" marR="0" lvl="0" indent="0" algn="just" rtl="0">
                        <a:lnSpc>
                          <a:spcPct val="100000"/>
                        </a:lnSpc>
                        <a:spcBef>
                          <a:spcPts val="0"/>
                        </a:spcBef>
                        <a:spcAft>
                          <a:spcPts val="0"/>
                        </a:spcAft>
                        <a:buClr>
                          <a:srgbClr val="000000"/>
                        </a:buClr>
                        <a:buSzPts val="900"/>
                        <a:buFont typeface="Arial"/>
                        <a:buNone/>
                      </a:pPr>
                      <a:r>
                        <a:rPr lang="en" sz="900" u="none" strike="noStrike" cap="none">
                          <a:solidFill>
                            <a:srgbClr val="3F3F3F"/>
                          </a:solidFill>
                          <a:latin typeface="Open Sans"/>
                          <a:ea typeface="Open Sans"/>
                          <a:cs typeface="Open Sans"/>
                          <a:sym typeface="Open Sans"/>
                        </a:rPr>
                        <a:t>Frustrated with current income, lack of autonomy or time freedom combined with the desire to ‘see what you’re capable of’...</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3F3F3F"/>
                          </a:solidFill>
                          <a:latin typeface="Open Sans"/>
                          <a:ea typeface="Open Sans"/>
                          <a:cs typeface="Open Sans"/>
                          <a:sym typeface="Open Sans"/>
                        </a:rPr>
                        <a:t>Design</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just" rtl="0">
                        <a:lnSpc>
                          <a:spcPct val="100000"/>
                        </a:lnSpc>
                        <a:spcBef>
                          <a:spcPts val="0"/>
                        </a:spcBef>
                        <a:spcAft>
                          <a:spcPts val="0"/>
                        </a:spcAft>
                        <a:buClr>
                          <a:srgbClr val="3F3F3F"/>
                        </a:buClr>
                        <a:buSzPts val="900"/>
                        <a:buFont typeface="Abel"/>
                        <a:buNone/>
                      </a:pPr>
                      <a:r>
                        <a:rPr lang="en" sz="900" u="none" strike="noStrike" cap="none" dirty="0">
                          <a:solidFill>
                            <a:srgbClr val="3F3F3F"/>
                          </a:solidFill>
                          <a:latin typeface="Open Sans"/>
                          <a:ea typeface="Open Sans"/>
                          <a:cs typeface="Open Sans"/>
                          <a:sym typeface="Open Sans"/>
                        </a:rPr>
                        <a:t>Current job security and fear of the unknown. Times of complete clarity and sense of purpose clashed with doubt and resource fears...</a:t>
                      </a:r>
                      <a:endParaRPr sz="1100" u="none" strike="noStrike" cap="none" dirty="0">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2"/>
        <p:cNvGrpSpPr/>
        <p:nvPr/>
      </p:nvGrpSpPr>
      <p:grpSpPr>
        <a:xfrm>
          <a:off x="0" y="0"/>
          <a:ext cx="0" cy="0"/>
          <a:chOff x="0" y="0"/>
          <a:chExt cx="0" cy="0"/>
        </a:xfrm>
      </p:grpSpPr>
      <p:sp>
        <p:nvSpPr>
          <p:cNvPr id="373" name="Google Shape;373;p4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12</a:t>
            </a:fld>
            <a:endParaRPr/>
          </a:p>
        </p:txBody>
      </p:sp>
      <p:sp>
        <p:nvSpPr>
          <p:cNvPr id="374" name="Google Shape;374;p44"/>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5" name="Google Shape;375;p44"/>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6" name="Google Shape;376;p44"/>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7" name="Google Shape;377;p44"/>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8" name="Google Shape;378;p44"/>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9" name="Google Shape;379;p44"/>
          <p:cNvSpPr txBox="1">
            <a:spLocks noGrp="1"/>
          </p:cNvSpPr>
          <p:nvPr>
            <p:ph type="title"/>
          </p:nvPr>
        </p:nvSpPr>
        <p:spPr>
          <a:xfrm>
            <a:off x="242650" y="170450"/>
            <a:ext cx="8641846" cy="5733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dirty="0">
                <a:solidFill>
                  <a:srgbClr val="002B64"/>
                </a:solidFill>
                <a:latin typeface="Open Sans"/>
                <a:ea typeface="Open Sans"/>
                <a:cs typeface="Open Sans"/>
                <a:sym typeface="Open Sans"/>
              </a:rPr>
              <a:t>The 5 Layers of Complexity </a:t>
            </a:r>
            <a:r>
              <a:rPr lang="en" sz="2400" dirty="0">
                <a:solidFill>
                  <a:srgbClr val="002B64"/>
                </a:solidFill>
                <a:latin typeface="Open Sans"/>
                <a:ea typeface="Open Sans"/>
                <a:cs typeface="Open Sans"/>
                <a:sym typeface="Open Sans"/>
              </a:rPr>
              <a:t>+ ‘The Common Psyche Error’</a:t>
            </a:r>
            <a:endParaRPr sz="2400" dirty="0">
              <a:solidFill>
                <a:srgbClr val="002B64"/>
              </a:solidFill>
              <a:latin typeface="Open Sans"/>
              <a:ea typeface="Open Sans"/>
              <a:cs typeface="Open Sans"/>
              <a:sym typeface="Open Sans"/>
            </a:endParaRPr>
          </a:p>
        </p:txBody>
      </p:sp>
      <p:graphicFrame>
        <p:nvGraphicFramePr>
          <p:cNvPr id="380" name="Google Shape;380;p44"/>
          <p:cNvGraphicFramePr/>
          <p:nvPr>
            <p:extLst>
              <p:ext uri="{D42A27DB-BD31-4B8C-83A1-F6EECF244321}">
                <p14:modId xmlns:p14="http://schemas.microsoft.com/office/powerpoint/2010/main" val="914127351"/>
              </p:ext>
            </p:extLst>
          </p:nvPr>
        </p:nvGraphicFramePr>
        <p:xfrm>
          <a:off x="242646" y="771524"/>
          <a:ext cx="8641850" cy="3855866"/>
        </p:xfrm>
        <a:graphic>
          <a:graphicData uri="http://schemas.openxmlformats.org/drawingml/2006/table">
            <a:tbl>
              <a:tblPr firstRow="1" bandRow="1">
                <a:noFill/>
                <a:tableStyleId>{E45339CE-A403-4A82-A332-1DB77EED7D76}</a:tableStyleId>
              </a:tblPr>
              <a:tblGrid>
                <a:gridCol w="1711414">
                  <a:extLst>
                    <a:ext uri="{9D8B030D-6E8A-4147-A177-3AD203B41FA5}">
                      <a16:colId xmlns:a16="http://schemas.microsoft.com/office/drawing/2014/main" val="20000"/>
                    </a:ext>
                  </a:extLst>
                </a:gridCol>
                <a:gridCol w="5026311">
                  <a:extLst>
                    <a:ext uri="{9D8B030D-6E8A-4147-A177-3AD203B41FA5}">
                      <a16:colId xmlns:a16="http://schemas.microsoft.com/office/drawing/2014/main" val="20001"/>
                    </a:ext>
                  </a:extLst>
                </a:gridCol>
                <a:gridCol w="1904125">
                  <a:extLst>
                    <a:ext uri="{9D8B030D-6E8A-4147-A177-3AD203B41FA5}">
                      <a16:colId xmlns:a16="http://schemas.microsoft.com/office/drawing/2014/main" val="20002"/>
                    </a:ext>
                  </a:extLst>
                </a:gridCol>
              </a:tblGrid>
              <a:tr h="412186">
                <a:tc>
                  <a:txBody>
                    <a:bodyPr/>
                    <a:lstStyle/>
                    <a:p>
                      <a:pPr marL="0" marR="0" lvl="0" indent="0" algn="ctr" rtl="0">
                        <a:lnSpc>
                          <a:spcPct val="100000"/>
                        </a:lnSpc>
                        <a:spcBef>
                          <a:spcPts val="0"/>
                        </a:spcBef>
                        <a:spcAft>
                          <a:spcPts val="0"/>
                        </a:spcAft>
                        <a:buClr>
                          <a:srgbClr val="000000"/>
                        </a:buClr>
                        <a:buSzPts val="1100"/>
                        <a:buFont typeface="Arial"/>
                        <a:buNone/>
                      </a:pPr>
                      <a:r>
                        <a:rPr lang="en-NZ" sz="1100" u="none" strike="noStrike" cap="none" dirty="0">
                          <a:latin typeface="Open Sans"/>
                          <a:ea typeface="Open Sans"/>
                          <a:cs typeface="Open Sans"/>
                          <a:sym typeface="Open Sans"/>
                        </a:rPr>
                        <a:t>Complexity Layer</a:t>
                      </a:r>
                      <a:endParaRPr sz="1100" u="none" strike="noStrike" cap="none" dirty="0">
                        <a:latin typeface="Open Sans"/>
                        <a:ea typeface="Open Sans"/>
                        <a:cs typeface="Open Sans"/>
                        <a:sym typeface="Open Sans"/>
                      </a:endParaRPr>
                    </a:p>
                  </a:txBody>
                  <a:tcPr marL="68600" marR="68600" marT="34300" marB="34300" anchor="ctr">
                    <a:solidFill>
                      <a:schemeClr val="tx2">
                        <a:lumMod val="25000"/>
                      </a:schemeClr>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NZ" sz="1100" u="none" strike="noStrike" cap="none" dirty="0">
                          <a:latin typeface="Open Sans"/>
                          <a:ea typeface="Open Sans"/>
                          <a:cs typeface="Open Sans"/>
                          <a:sym typeface="Open Sans"/>
                        </a:rPr>
                        <a:t>Layer Description</a:t>
                      </a:r>
                      <a:endParaRPr sz="1100" u="none" strike="noStrike" cap="none" dirty="0">
                        <a:latin typeface="Open Sans"/>
                        <a:ea typeface="Open Sans"/>
                        <a:cs typeface="Open Sans"/>
                        <a:sym typeface="Open Sans"/>
                      </a:endParaRPr>
                    </a:p>
                  </a:txBody>
                  <a:tcPr marL="68600" marR="68600" marT="34300" marB="34300" anchor="ctr">
                    <a:solidFill>
                      <a:schemeClr val="tx2">
                        <a:lumMod val="25000"/>
                      </a:schemeClr>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NZ" sz="1100" b="0" u="none" strike="noStrike" cap="none" dirty="0">
                          <a:solidFill>
                            <a:schemeClr val="bg1"/>
                          </a:solidFill>
                          <a:latin typeface="Open Sans"/>
                          <a:ea typeface="Open Sans"/>
                          <a:cs typeface="Open Sans"/>
                          <a:sym typeface="Open Sans"/>
                        </a:rPr>
                        <a:t>Common Psyche Error</a:t>
                      </a:r>
                      <a:endParaRPr sz="1100" b="0" u="none" strike="noStrike" cap="none" dirty="0">
                        <a:solidFill>
                          <a:schemeClr val="bg1"/>
                        </a:solidFill>
                        <a:latin typeface="Open Sans"/>
                        <a:ea typeface="Open Sans"/>
                        <a:cs typeface="Open Sans"/>
                        <a:sym typeface="Open Sans"/>
                      </a:endParaRPr>
                    </a:p>
                  </a:txBody>
                  <a:tcPr marL="68600" marR="68600" marT="34300" marB="34300" anchor="ctr">
                    <a:solidFill>
                      <a:schemeClr val="tx2">
                        <a:lumMod val="25000"/>
                      </a:schemeClr>
                    </a:solidFill>
                  </a:tcPr>
                </a:tc>
                <a:extLst>
                  <a:ext uri="{0D108BD9-81ED-4DB2-BD59-A6C34878D82A}">
                    <a16:rowId xmlns:a16="http://schemas.microsoft.com/office/drawing/2014/main" val="553721332"/>
                  </a:ext>
                </a:extLst>
              </a:tr>
              <a:tr h="688736">
                <a:tc>
                  <a:txBody>
                    <a:bodyPr/>
                    <a:lstStyle/>
                    <a:p>
                      <a:pPr marL="0" marR="0" lvl="0" indent="0" algn="ctr" rtl="0">
                        <a:lnSpc>
                          <a:spcPct val="100000"/>
                        </a:lnSpc>
                        <a:spcBef>
                          <a:spcPts val="0"/>
                        </a:spcBef>
                        <a:spcAft>
                          <a:spcPts val="0"/>
                        </a:spcAft>
                        <a:buClr>
                          <a:srgbClr val="000000"/>
                        </a:buClr>
                        <a:buSzPts val="1100"/>
                        <a:buFont typeface="Arial"/>
                        <a:buNone/>
                      </a:pPr>
                      <a:r>
                        <a:rPr lang="en" sz="1100" b="0" u="none" strike="noStrike" cap="none">
                          <a:solidFill>
                            <a:schemeClr val="dk1"/>
                          </a:solidFill>
                          <a:latin typeface="Open Sans"/>
                          <a:ea typeface="Open Sans"/>
                          <a:cs typeface="Open Sans"/>
                          <a:sym typeface="Open Sans"/>
                        </a:rPr>
                        <a:t>Succession</a:t>
                      </a:r>
                      <a:endParaRPr sz="1100" u="none" strike="noStrike" cap="none">
                        <a:latin typeface="Open Sans"/>
                        <a:ea typeface="Open Sans"/>
                        <a:cs typeface="Open Sans"/>
                        <a:sym typeface="Open Sans"/>
                      </a:endParaRPr>
                    </a:p>
                  </a:txBody>
                  <a:tcPr marL="68600" marR="68600" marT="34300" marB="34300" anchor="ctr">
                    <a:solidFill>
                      <a:srgbClr val="BFBFB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0" u="none" strike="noStrike" cap="none" dirty="0">
                          <a:solidFill>
                            <a:schemeClr val="dk1"/>
                          </a:solidFill>
                          <a:latin typeface="Open Sans"/>
                          <a:ea typeface="Open Sans"/>
                          <a:cs typeface="Open Sans"/>
                          <a:sym typeface="Open Sans"/>
                        </a:rPr>
                        <a:t>Principles that give rise to understanding</a:t>
                      </a:r>
                      <a:endParaRPr sz="110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b="0" u="none" strike="noStrike" cap="none" dirty="0">
                          <a:solidFill>
                            <a:schemeClr val="dk1"/>
                          </a:solidFill>
                          <a:latin typeface="Open Sans"/>
                          <a:ea typeface="Open Sans"/>
                          <a:cs typeface="Open Sans"/>
                          <a:sym typeface="Open Sans"/>
                        </a:rPr>
                        <a:t>The Separation of Value &amp; Worth.</a:t>
                      </a:r>
                      <a:endParaRPr sz="110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b="0" u="none" strike="noStrike" cap="none" dirty="0">
                          <a:solidFill>
                            <a:schemeClr val="dk1"/>
                          </a:solidFill>
                          <a:latin typeface="Open Sans"/>
                          <a:ea typeface="Open Sans"/>
                          <a:cs typeface="Open Sans"/>
                          <a:sym typeface="Open Sans"/>
                        </a:rPr>
                        <a:t>“Learning to get out of your own way”</a:t>
                      </a:r>
                      <a:endParaRPr sz="1100" u="none" strike="noStrike" cap="none" dirty="0">
                        <a:latin typeface="Open Sans"/>
                        <a:ea typeface="Open Sans"/>
                        <a:cs typeface="Open Sans"/>
                        <a:sym typeface="Open Sans"/>
                      </a:endParaRPr>
                    </a:p>
                  </a:txBody>
                  <a:tcPr marL="68600" marR="68600" marT="34300" marB="34300" anchor="ctr">
                    <a:solidFill>
                      <a:srgbClr val="BFBFB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0" u="none" strike="noStrike" cap="none" dirty="0">
                          <a:solidFill>
                            <a:schemeClr val="dk1"/>
                          </a:solidFill>
                          <a:latin typeface="Open Sans"/>
                          <a:ea typeface="Open Sans"/>
                          <a:cs typeface="Open Sans"/>
                          <a:sym typeface="Open Sans"/>
                        </a:rPr>
                        <a:t>(Trying to Avoid)</a:t>
                      </a:r>
                      <a:endParaRPr sz="110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b="0" u="none" strike="noStrike" cap="none" dirty="0">
                          <a:solidFill>
                            <a:schemeClr val="dk1"/>
                          </a:solidFill>
                          <a:latin typeface="Open Sans"/>
                          <a:ea typeface="Open Sans"/>
                          <a:cs typeface="Open Sans"/>
                          <a:sym typeface="Open Sans"/>
                        </a:rPr>
                        <a:t>Over-Identification</a:t>
                      </a:r>
                      <a:endParaRPr sz="1100" b="0" u="none" strike="noStrike" cap="none" dirty="0">
                        <a:solidFill>
                          <a:schemeClr val="dk1"/>
                        </a:solidFill>
                        <a:latin typeface="Open Sans"/>
                        <a:ea typeface="Open Sans"/>
                        <a:cs typeface="Open Sans"/>
                        <a:sym typeface="Open Sans"/>
                      </a:endParaRPr>
                    </a:p>
                  </a:txBody>
                  <a:tcPr marL="68600" marR="68600" marT="34300" marB="34300" anchor="ctr">
                    <a:solidFill>
                      <a:srgbClr val="BFBFBF"/>
                    </a:solidFill>
                  </a:tcPr>
                </a:tc>
                <a:extLst>
                  <a:ext uri="{0D108BD9-81ED-4DB2-BD59-A6C34878D82A}">
                    <a16:rowId xmlns:a16="http://schemas.microsoft.com/office/drawing/2014/main" val="10000"/>
                  </a:ext>
                </a:extLst>
              </a:tr>
              <a:tr h="688736">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lt1"/>
                          </a:solidFill>
                          <a:latin typeface="Open Sans"/>
                          <a:ea typeface="Open Sans"/>
                          <a:cs typeface="Open Sans"/>
                          <a:sym typeface="Open Sans"/>
                        </a:rPr>
                        <a:t>Expansion</a:t>
                      </a:r>
                      <a:endParaRPr sz="11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lt1"/>
                          </a:solidFill>
                          <a:latin typeface="Open Sans"/>
                          <a:ea typeface="Open Sans"/>
                          <a:cs typeface="Open Sans"/>
                          <a:sym typeface="Open Sans"/>
                        </a:rPr>
                        <a:t>Principles that give rise to understanding </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lt1"/>
                          </a:solidFill>
                          <a:latin typeface="Open Sans"/>
                          <a:ea typeface="Open Sans"/>
                          <a:cs typeface="Open Sans"/>
                          <a:sym typeface="Open Sans"/>
                        </a:rPr>
                        <a:t>the Chaos of Interdependency and Affect.</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lt1"/>
                          </a:solidFill>
                          <a:latin typeface="Open Sans"/>
                          <a:ea typeface="Open Sans"/>
                          <a:cs typeface="Open Sans"/>
                          <a:sym typeface="Open Sans"/>
                        </a:rPr>
                        <a:t>“There’s a fine line between Expansion and Explosion”</a:t>
                      </a:r>
                      <a:endParaRPr sz="11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lt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lt1"/>
                          </a:solidFill>
                          <a:latin typeface="Open Sans"/>
                          <a:ea typeface="Open Sans"/>
                          <a:cs typeface="Open Sans"/>
                          <a:sym typeface="Open Sans"/>
                        </a:rPr>
                        <a:t>Over-Exposure</a:t>
                      </a:r>
                      <a:endParaRPr sz="1100"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1"/>
                  </a:ext>
                </a:extLst>
              </a:tr>
              <a:tr h="688736">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Intelligence</a:t>
                      </a:r>
                      <a:endParaRPr sz="1100" u="none" strike="noStrike" cap="none">
                        <a:latin typeface="Open Sans"/>
                        <a:ea typeface="Open Sans"/>
                        <a:cs typeface="Open Sans"/>
                        <a:sym typeface="Open Sans"/>
                      </a:endParaRPr>
                    </a:p>
                  </a:txBody>
                  <a:tcPr marL="68600" marR="68600" marT="34300" marB="34300" anchor="ctr">
                    <a:solidFill>
                      <a:srgbClr val="EC5012"/>
                    </a:solidFill>
                  </a:tcPr>
                </a:tc>
                <a:tc>
                  <a:txBody>
                    <a:bodyPr/>
                    <a:lstStyle/>
                    <a:p>
                      <a:pPr marL="0" marR="0" lvl="0" indent="0" algn="ctr" rtl="0">
                        <a:lnSpc>
                          <a:spcPct val="100000"/>
                        </a:lnSpc>
                        <a:spcBef>
                          <a:spcPts val="0"/>
                        </a:spcBef>
                        <a:spcAft>
                          <a:spcPts val="0"/>
                        </a:spcAft>
                        <a:buClr>
                          <a:schemeClr val="dk1"/>
                        </a:buClr>
                        <a:buSzPts val="1100"/>
                        <a:buFont typeface="Abel"/>
                        <a:buNone/>
                      </a:pPr>
                      <a:r>
                        <a:rPr lang="en" sz="1100" u="none" strike="noStrike" cap="none" dirty="0">
                          <a:solidFill>
                            <a:schemeClr val="dk1"/>
                          </a:solidFill>
                          <a:latin typeface="Open Sans"/>
                          <a:ea typeface="Open Sans"/>
                          <a:cs typeface="Open Sans"/>
                          <a:sym typeface="Open Sans"/>
                        </a:rPr>
                        <a:t>Principles that give rise to Contextual Awareness</a:t>
                      </a:r>
                      <a:endParaRPr sz="110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chemeClr val="dk1"/>
                        </a:buClr>
                        <a:buSzPts val="1100"/>
                        <a:buFont typeface="Abel"/>
                        <a:buNone/>
                      </a:pPr>
                      <a:r>
                        <a:rPr lang="en" sz="1100" u="none" strike="noStrike" cap="none" dirty="0">
                          <a:solidFill>
                            <a:schemeClr val="dk1"/>
                          </a:solidFill>
                          <a:latin typeface="Open Sans"/>
                          <a:ea typeface="Open Sans"/>
                          <a:cs typeface="Open Sans"/>
                          <a:sym typeface="Open Sans"/>
                        </a:rPr>
                        <a:t>“Learning to Notice What You Don’t Know”</a:t>
                      </a:r>
                      <a:endParaRPr sz="1100" u="none" strike="noStrike" cap="none" dirty="0">
                        <a:latin typeface="Open Sans"/>
                        <a:ea typeface="Open Sans"/>
                        <a:cs typeface="Open Sans"/>
                        <a:sym typeface="Open Sans"/>
                      </a:endParaRPr>
                    </a:p>
                  </a:txBody>
                  <a:tcPr marL="68600" marR="68600" marT="34300" marB="34300" anchor="ctr">
                    <a:solidFill>
                      <a:srgbClr val="EC5012"/>
                    </a:solidFill>
                  </a:tcPr>
                </a:tc>
                <a:tc>
                  <a:txBody>
                    <a:bodyPr/>
                    <a:lstStyle/>
                    <a:p>
                      <a:pPr marL="0" marR="0" lvl="0" indent="0" algn="ctr" rtl="0">
                        <a:lnSpc>
                          <a:spcPct val="100000"/>
                        </a:lnSpc>
                        <a:spcBef>
                          <a:spcPts val="0"/>
                        </a:spcBef>
                        <a:spcAft>
                          <a:spcPts val="0"/>
                        </a:spcAft>
                        <a:buClr>
                          <a:schemeClr val="dk1"/>
                        </a:buClr>
                        <a:buSzPts val="1100"/>
                        <a:buFont typeface="Abel"/>
                        <a:buNone/>
                      </a:pPr>
                      <a:r>
                        <a:rPr lang="en" sz="1100" u="none" strike="noStrike" cap="none">
                          <a:solidFill>
                            <a:schemeClr val="dk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chemeClr val="dk1"/>
                        </a:buClr>
                        <a:buSzPts val="1100"/>
                        <a:buFont typeface="Abel"/>
                        <a:buNone/>
                      </a:pPr>
                      <a:r>
                        <a:rPr lang="en" sz="1100" u="none" strike="noStrike" cap="none">
                          <a:solidFill>
                            <a:schemeClr val="dk1"/>
                          </a:solidFill>
                          <a:latin typeface="Open Sans"/>
                          <a:ea typeface="Open Sans"/>
                          <a:cs typeface="Open Sans"/>
                          <a:sym typeface="Open Sans"/>
                        </a:rPr>
                        <a:t>Optimism Bias</a:t>
                      </a:r>
                      <a:endParaRPr sz="1100" u="none" strike="noStrike" cap="none">
                        <a:latin typeface="Open Sans"/>
                        <a:ea typeface="Open Sans"/>
                        <a:cs typeface="Open Sans"/>
                        <a:sym typeface="Open Sans"/>
                      </a:endParaRPr>
                    </a:p>
                  </a:txBody>
                  <a:tcPr marL="68600" marR="68600" marT="34300" marB="34300" anchor="ctr">
                    <a:solidFill>
                      <a:srgbClr val="EC5012"/>
                    </a:solidFill>
                  </a:tcPr>
                </a:tc>
                <a:extLst>
                  <a:ext uri="{0D108BD9-81ED-4DB2-BD59-A6C34878D82A}">
                    <a16:rowId xmlns:a16="http://schemas.microsoft.com/office/drawing/2014/main" val="10002"/>
                  </a:ext>
                </a:extLst>
              </a:tr>
              <a:tr h="688736">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Orientation</a:t>
                      </a:r>
                      <a:endParaRPr sz="1100" u="none" strike="noStrike" cap="none">
                        <a:latin typeface="Open Sans"/>
                        <a:ea typeface="Open Sans"/>
                        <a:cs typeface="Open Sans"/>
                        <a:sym typeface="Open Sans"/>
                      </a:endParaRPr>
                    </a:p>
                  </a:txBody>
                  <a:tcPr marL="68600" marR="68600" marT="34300" marB="34300" anchor="ctr">
                    <a:solidFill>
                      <a:srgbClr val="FFFF00"/>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dirty="0">
                          <a:solidFill>
                            <a:schemeClr val="dk1"/>
                          </a:solidFill>
                          <a:latin typeface="Open Sans"/>
                          <a:ea typeface="Open Sans"/>
                          <a:cs typeface="Open Sans"/>
                          <a:sym typeface="Open Sans"/>
                        </a:rPr>
                        <a:t>Principles that give rise to understanding </a:t>
                      </a:r>
                      <a:endParaRPr sz="110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dirty="0">
                          <a:solidFill>
                            <a:schemeClr val="dk1"/>
                          </a:solidFill>
                          <a:latin typeface="Open Sans"/>
                          <a:ea typeface="Open Sans"/>
                          <a:cs typeface="Open Sans"/>
                          <a:sym typeface="Open Sans"/>
                        </a:rPr>
                        <a:t>Your Purpose &amp; Meaning.</a:t>
                      </a:r>
                      <a:endParaRPr sz="110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dirty="0">
                          <a:solidFill>
                            <a:schemeClr val="dk1"/>
                          </a:solidFill>
                          <a:latin typeface="Open Sans"/>
                          <a:ea typeface="Open Sans"/>
                          <a:cs typeface="Open Sans"/>
                          <a:sym typeface="Open Sans"/>
                        </a:rPr>
                        <a:t>“Knowing Your Why &amp; How”</a:t>
                      </a:r>
                      <a:endParaRPr sz="1100" u="none" strike="noStrike" cap="none" dirty="0">
                        <a:latin typeface="Open Sans"/>
                        <a:ea typeface="Open Sans"/>
                        <a:cs typeface="Open Sans"/>
                        <a:sym typeface="Open Sans"/>
                      </a:endParaRPr>
                    </a:p>
                  </a:txBody>
                  <a:tcPr marL="68600" marR="68600" marT="34300" marB="34300" anchor="ctr">
                    <a:solidFill>
                      <a:srgbClr val="FFFF00"/>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Complacency</a:t>
                      </a:r>
                      <a:endParaRPr sz="1100" u="none" strike="noStrike" cap="none">
                        <a:latin typeface="Open Sans"/>
                        <a:ea typeface="Open Sans"/>
                        <a:cs typeface="Open Sans"/>
                        <a:sym typeface="Open Sans"/>
                      </a:endParaRPr>
                    </a:p>
                  </a:txBody>
                  <a:tcPr marL="68600" marR="68600" marT="34300" marB="34300" anchor="ctr">
                    <a:solidFill>
                      <a:srgbClr val="FFFF00"/>
                    </a:solidFill>
                  </a:tcPr>
                </a:tc>
                <a:extLst>
                  <a:ext uri="{0D108BD9-81ED-4DB2-BD59-A6C34878D82A}">
                    <a16:rowId xmlns:a16="http://schemas.microsoft.com/office/drawing/2014/main" val="10003"/>
                  </a:ext>
                </a:extLst>
              </a:tr>
              <a:tr h="688736">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Foundation</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Principles that give rise to understanding </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How things Work.</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chemeClr val="dk1"/>
                          </a:solidFill>
                          <a:latin typeface="Open Sans"/>
                          <a:ea typeface="Open Sans"/>
                          <a:cs typeface="Open Sans"/>
                          <a:sym typeface="Open Sans"/>
                        </a:rPr>
                        <a:t>“Being Curious – Open Heart &amp; Open Mind”</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dirty="0">
                          <a:solidFill>
                            <a:schemeClr val="dk1"/>
                          </a:solidFill>
                          <a:latin typeface="Open Sans"/>
                          <a:ea typeface="Open Sans"/>
                          <a:cs typeface="Open Sans"/>
                          <a:sym typeface="Open Sans"/>
                        </a:rPr>
                        <a:t>(Trying to Avoid)</a:t>
                      </a:r>
                      <a:endParaRPr sz="1100" u="none" strike="noStrike" cap="none" dirty="0">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100"/>
                        <a:buFont typeface="Arial"/>
                        <a:buNone/>
                      </a:pPr>
                      <a:r>
                        <a:rPr lang="en" sz="1100" u="none" strike="noStrike" cap="none" dirty="0">
                          <a:solidFill>
                            <a:schemeClr val="dk1"/>
                          </a:solidFill>
                          <a:latin typeface="Open Sans"/>
                          <a:ea typeface="Open Sans"/>
                          <a:cs typeface="Open Sans"/>
                          <a:sym typeface="Open Sans"/>
                        </a:rPr>
                        <a:t>Confirmation Bias</a:t>
                      </a:r>
                      <a:endParaRPr sz="1100" u="none" strike="noStrike" cap="none" dirty="0">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4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F4B081"/>
              </a:buClr>
              <a:buSzPts val="2400"/>
              <a:buFont typeface="Architects Daughter"/>
              <a:buNone/>
            </a:pPr>
            <a:r>
              <a:rPr lang="en" sz="2400">
                <a:solidFill>
                  <a:srgbClr val="FFFFFF"/>
                </a:solidFill>
                <a:latin typeface="Architects Daughter"/>
                <a:ea typeface="Architects Daughter"/>
                <a:cs typeface="Architects Daughter"/>
                <a:sym typeface="Architects Daughter"/>
              </a:rPr>
              <a:t>Psyche Error Drivers &amp; Manifestations</a:t>
            </a:r>
            <a:endParaRPr sz="2400" b="0" i="0" u="none" strike="noStrike" cap="none">
              <a:solidFill>
                <a:schemeClr val="lt1"/>
              </a:solidFill>
              <a:latin typeface="Architects Daughter"/>
              <a:ea typeface="Architects Daughter"/>
              <a:cs typeface="Architects Daughter"/>
              <a:sym typeface="Architects Daughter"/>
            </a:endParaRPr>
          </a:p>
        </p:txBody>
      </p:sp>
      <p:sp>
        <p:nvSpPr>
          <p:cNvPr id="386" name="Google Shape;386;p4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13</a:t>
            </a:fld>
            <a:endParaRPr/>
          </a:p>
        </p:txBody>
      </p:sp>
      <p:sp>
        <p:nvSpPr>
          <p:cNvPr id="387" name="Google Shape;387;p45"/>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8" name="Google Shape;388;p45"/>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89" name="Google Shape;389;p45"/>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0" name="Google Shape;390;p45"/>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1" name="Google Shape;391;p45"/>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392" name="Google Shape;392;p45"/>
          <p:cNvGraphicFramePr/>
          <p:nvPr/>
        </p:nvGraphicFramePr>
        <p:xfrm>
          <a:off x="183524" y="187658"/>
          <a:ext cx="8770700" cy="4746300"/>
        </p:xfrm>
        <a:graphic>
          <a:graphicData uri="http://schemas.openxmlformats.org/drawingml/2006/table">
            <a:tbl>
              <a:tblPr firstRow="1" bandRow="1">
                <a:noFill/>
                <a:tableStyleId>{E45339CE-A403-4A82-A332-1DB77EED7D76}</a:tableStyleId>
              </a:tblPr>
              <a:tblGrid>
                <a:gridCol w="1442450">
                  <a:extLst>
                    <a:ext uri="{9D8B030D-6E8A-4147-A177-3AD203B41FA5}">
                      <a16:colId xmlns:a16="http://schemas.microsoft.com/office/drawing/2014/main" val="20000"/>
                    </a:ext>
                  </a:extLst>
                </a:gridCol>
                <a:gridCol w="7328250">
                  <a:extLst>
                    <a:ext uri="{9D8B030D-6E8A-4147-A177-3AD203B41FA5}">
                      <a16:colId xmlns:a16="http://schemas.microsoft.com/office/drawing/2014/main" val="20001"/>
                    </a:ext>
                  </a:extLst>
                </a:gridCol>
              </a:tblGrid>
              <a:tr h="276700">
                <a:tc>
                  <a:txBody>
                    <a:bodyPr/>
                    <a:lstStyle/>
                    <a:p>
                      <a:pPr marL="0" marR="0" lvl="0" indent="0" algn="ctr" rtl="0">
                        <a:lnSpc>
                          <a:spcPct val="100000"/>
                        </a:lnSpc>
                        <a:spcBef>
                          <a:spcPts val="0"/>
                        </a:spcBef>
                        <a:spcAft>
                          <a:spcPts val="0"/>
                        </a:spcAft>
                        <a:buClr>
                          <a:srgbClr val="000000"/>
                        </a:buClr>
                        <a:buSzPts val="1200"/>
                        <a:buFont typeface="Arial"/>
                        <a:buNone/>
                      </a:pPr>
                      <a:r>
                        <a:rPr lang="en" sz="1200" b="0" u="none" strike="noStrike" cap="none">
                          <a:solidFill>
                            <a:schemeClr val="lt1"/>
                          </a:solidFill>
                          <a:latin typeface="Open Sans"/>
                          <a:ea typeface="Open Sans"/>
                          <a:cs typeface="Open Sans"/>
                          <a:sym typeface="Open Sans"/>
                        </a:rPr>
                        <a:t>Psyche Error</a:t>
                      </a:r>
                      <a:endParaRPr sz="1100" b="0" u="none" strike="noStrike" cap="none">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0" u="none" strike="noStrike" cap="none">
                          <a:solidFill>
                            <a:schemeClr val="lt1"/>
                          </a:solidFill>
                          <a:latin typeface="Open Sans"/>
                          <a:ea typeface="Open Sans"/>
                          <a:cs typeface="Open Sans"/>
                          <a:sym typeface="Open Sans"/>
                        </a:rPr>
                        <a:t>Drivers &amp; Manifestations</a:t>
                      </a:r>
                      <a:endParaRPr sz="1100" b="0" u="none" strike="noStrike" cap="none">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0"/>
                  </a:ext>
                </a:extLst>
              </a:tr>
              <a:tr h="95240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Open Sans"/>
                          <a:ea typeface="Open Sans"/>
                          <a:cs typeface="Open Sans"/>
                          <a:sym typeface="Open Sans"/>
                        </a:rPr>
                        <a:t>Role-Identification</a:t>
                      </a:r>
                      <a:endParaRPr sz="1100" u="none" strike="noStrike" cap="none">
                        <a:latin typeface="Open Sans"/>
                        <a:ea typeface="Open Sans"/>
                        <a:cs typeface="Open Sans"/>
                        <a:sym typeface="Open Sans"/>
                      </a:endParaRPr>
                    </a:p>
                  </a:txBody>
                  <a:tcPr marL="68600" marR="68600" marT="34300" marB="34300" anchor="ctr">
                    <a:solidFill>
                      <a:srgbClr val="BFBFBF"/>
                    </a:solidFill>
                  </a:tcPr>
                </a:tc>
                <a:tc>
                  <a:txBody>
                    <a:bodyPr/>
                    <a:lstStyle/>
                    <a:p>
                      <a:pPr marL="0" marR="0" lvl="0" indent="0" algn="just" rtl="0">
                        <a:lnSpc>
                          <a:spcPct val="100000"/>
                        </a:lnSpc>
                        <a:spcBef>
                          <a:spcPts val="0"/>
                        </a:spcBef>
                        <a:spcAft>
                          <a:spcPts val="0"/>
                        </a:spcAft>
                        <a:buClr>
                          <a:srgbClr val="000000"/>
                        </a:buClr>
                        <a:buSzPts val="900"/>
                        <a:buFont typeface="Arial"/>
                        <a:buNone/>
                      </a:pPr>
                      <a:r>
                        <a:rPr lang="en" sz="800" u="none" strike="noStrike" cap="none">
                          <a:solidFill>
                            <a:schemeClr val="dk1"/>
                          </a:solidFill>
                          <a:latin typeface="Open Sans"/>
                          <a:ea typeface="Open Sans"/>
                          <a:cs typeface="Open Sans"/>
                          <a:sym typeface="Open Sans"/>
                        </a:rPr>
                        <a:t>Identification is the psychological phenomenon by which people ‘Ascribes to oneself, the qualities or characteristics of another person’. Role Identification may involve the mimicking of a specific mentor or aspirational figure but it may also be the ‘acting out’ of the Ego to appear consistent with one’s own super ego ideals. In effect, people start acting how a ‘Boss’ should; in whatever they believe the circumstance requires. How they dress, what they drive, the way they treat subordinates etc. are all ‘manufactured’ to appear consistent with ‘appearances’. This manifests in poor decision making or the inability to ‘get out of their own way’ which is often viewed as being inauthentic. This is more evident during times of planned succession since the ‘business person’ has replaced the ‘person’ and the feelings of the ‘lost self’ are now very confronting. What will life after work look like? Who will value my opinion...?</a:t>
                      </a:r>
                      <a:endParaRPr sz="1000" u="none" strike="noStrike" cap="none">
                        <a:latin typeface="Open Sans"/>
                        <a:ea typeface="Open Sans"/>
                        <a:cs typeface="Open Sans"/>
                        <a:sym typeface="Open Sans"/>
                      </a:endParaRPr>
                    </a:p>
                  </a:txBody>
                  <a:tcPr marL="68600" marR="68600" marT="34300" marB="34300" anchor="ctr">
                    <a:solidFill>
                      <a:srgbClr val="BFBFBF"/>
                    </a:solidFill>
                  </a:tcPr>
                </a:tc>
                <a:extLst>
                  <a:ext uri="{0D108BD9-81ED-4DB2-BD59-A6C34878D82A}">
                    <a16:rowId xmlns:a16="http://schemas.microsoft.com/office/drawing/2014/main" val="10001"/>
                  </a:ext>
                </a:extLst>
              </a:tr>
              <a:tr h="95240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lt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lt1"/>
                          </a:solidFill>
                          <a:latin typeface="Open Sans"/>
                          <a:ea typeface="Open Sans"/>
                          <a:cs typeface="Open Sans"/>
                          <a:sym typeface="Open Sans"/>
                        </a:rPr>
                        <a:t>Over-Exposure</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lt1"/>
                          </a:solidFill>
                          <a:latin typeface="Open Sans"/>
                          <a:ea typeface="Open Sans"/>
                          <a:cs typeface="Open Sans"/>
                          <a:sym typeface="Open Sans"/>
                        </a:rPr>
                        <a:t>(Mere-Exposure Effect /</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lt1"/>
                          </a:solidFill>
                          <a:latin typeface="Open Sans"/>
                          <a:ea typeface="Open Sans"/>
                          <a:cs typeface="Open Sans"/>
                          <a:sym typeface="Open Sans"/>
                        </a:rPr>
                        <a:t>Familiarity Principle)</a:t>
                      </a:r>
                      <a:endParaRPr sz="11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just" rtl="0">
                        <a:lnSpc>
                          <a:spcPct val="100000"/>
                        </a:lnSpc>
                        <a:spcBef>
                          <a:spcPts val="0"/>
                        </a:spcBef>
                        <a:spcAft>
                          <a:spcPts val="0"/>
                        </a:spcAft>
                        <a:buClr>
                          <a:srgbClr val="000000"/>
                        </a:buClr>
                        <a:buSzPts val="900"/>
                        <a:buFont typeface="Arial"/>
                        <a:buNone/>
                      </a:pPr>
                      <a:r>
                        <a:rPr lang="en" sz="800" u="none" strike="noStrike" cap="none">
                          <a:solidFill>
                            <a:schemeClr val="lt1"/>
                          </a:solidFill>
                          <a:latin typeface="Open Sans"/>
                          <a:ea typeface="Open Sans"/>
                          <a:cs typeface="Open Sans"/>
                          <a:sym typeface="Open Sans"/>
                        </a:rPr>
                        <a:t>The mere-exposure effect is a psychological phenomenon by which people tend to develop a preference for things merely because they are familiar with them; this is sometimes called the familiarity principle. The effect is driven by a desire to allocate ‘Cathexis Energy’ towards new (current) or perceived (future) threats rather than challenging what is known. The known is safe (hence the term “better the devil you know...”) but the future represents fear or challenge; this is even more tiresome if you challenge the known at the same time! In business this is supported by the “this is how we’ve always done it” phrase. Additionally (in businesses with existing scale) it relates to an avoidance of commitment or attempts to minimise exposure. This manifests in actions of ‘Keeping What We Have’ rather than focusing on ‘Achieving What We Need’. </a:t>
                      </a:r>
                      <a:r>
                        <a:rPr lang="en" sz="800" i="1" u="none" strike="noStrike" cap="none">
                          <a:solidFill>
                            <a:schemeClr val="lt1"/>
                          </a:solidFill>
                          <a:latin typeface="Open Sans"/>
                          <a:ea typeface="Open Sans"/>
                          <a:cs typeface="Open Sans"/>
                          <a:sym typeface="Open Sans"/>
                        </a:rPr>
                        <a:t>(Nokia and Kodak are classic examples of this principle)</a:t>
                      </a:r>
                      <a:endParaRPr sz="1000"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2"/>
                  </a:ext>
                </a:extLst>
              </a:tr>
              <a:tr h="952400">
                <a:tc>
                  <a:txBody>
                    <a:bodyPr/>
                    <a:lstStyle/>
                    <a:p>
                      <a:pPr marL="0" marR="0" lvl="0" indent="0" algn="ctr" rtl="0">
                        <a:lnSpc>
                          <a:spcPct val="100000"/>
                        </a:lnSpc>
                        <a:spcBef>
                          <a:spcPts val="0"/>
                        </a:spcBef>
                        <a:spcAft>
                          <a:spcPts val="0"/>
                        </a:spcAft>
                        <a:buClr>
                          <a:schemeClr val="dk1"/>
                        </a:buClr>
                        <a:buSzPts val="1000"/>
                        <a:buFont typeface="Abel"/>
                        <a:buNone/>
                      </a:pPr>
                      <a:r>
                        <a:rPr lang="en" sz="1000" u="none" strike="noStrike" cap="none">
                          <a:solidFill>
                            <a:schemeClr val="dk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chemeClr val="dk1"/>
                        </a:buClr>
                        <a:buSzPts val="1000"/>
                        <a:buFont typeface="Abel"/>
                        <a:buNone/>
                      </a:pPr>
                      <a:r>
                        <a:rPr lang="en" sz="1000" u="none" strike="noStrike" cap="none">
                          <a:solidFill>
                            <a:schemeClr val="dk1"/>
                          </a:solidFill>
                          <a:latin typeface="Open Sans"/>
                          <a:ea typeface="Open Sans"/>
                          <a:cs typeface="Open Sans"/>
                          <a:sym typeface="Open Sans"/>
                        </a:rPr>
                        <a:t>Optimism Bias</a:t>
                      </a:r>
                      <a:endParaRPr sz="1100" u="none" strike="noStrike" cap="none">
                        <a:latin typeface="Open Sans"/>
                        <a:ea typeface="Open Sans"/>
                        <a:cs typeface="Open Sans"/>
                        <a:sym typeface="Open Sans"/>
                      </a:endParaRPr>
                    </a:p>
                  </a:txBody>
                  <a:tcPr marL="68600" marR="68600" marT="34300" marB="34300" anchor="ctr">
                    <a:solidFill>
                      <a:srgbClr val="EC5012"/>
                    </a:solidFill>
                  </a:tcPr>
                </a:tc>
                <a:tc>
                  <a:txBody>
                    <a:bodyPr/>
                    <a:lstStyle/>
                    <a:p>
                      <a:pPr marL="0" marR="0" lvl="0" indent="0" algn="just" rtl="0">
                        <a:lnSpc>
                          <a:spcPct val="100000"/>
                        </a:lnSpc>
                        <a:spcBef>
                          <a:spcPts val="0"/>
                        </a:spcBef>
                        <a:spcAft>
                          <a:spcPts val="0"/>
                        </a:spcAft>
                        <a:buClr>
                          <a:schemeClr val="dk1"/>
                        </a:buClr>
                        <a:buSzPts val="900"/>
                        <a:buFont typeface="Abel"/>
                        <a:buNone/>
                      </a:pPr>
                      <a:r>
                        <a:rPr lang="en" sz="800" u="none" strike="noStrike" cap="none">
                          <a:solidFill>
                            <a:schemeClr val="dk1"/>
                          </a:solidFill>
                          <a:latin typeface="Open Sans"/>
                          <a:ea typeface="Open Sans"/>
                          <a:cs typeface="Open Sans"/>
                          <a:sym typeface="Open Sans"/>
                        </a:rPr>
                        <a:t>Optimism is in response to life/death instinct which is born out of the thought processes of ‘mental time travel’. The ability to imagine the future is critical for our survival, it allows us to plan ahead, save food and resources for times of scarcity and endure hard work in anticipation of a future reward. However, the ability to view our long term future also allows us to consider our own death; so we’ve learnt to practice Hope &amp; Faith as a means of re-directing our mental energy. The negative manifestation of Optimism Bias is that we seek to delete all NEGATIVE information in an attempt to ‘hold on to what we’ve got’ EVEN IF IT SUPPORTS OUR EXISTING BELIEF. In effect, we can learn information but choose to ignore it even if we believe it to be true, if it threatens our attachments or security. (This differs from confirmation bias where we accept all information in support of current beliefs and act accordingly)</a:t>
                      </a:r>
                      <a:endParaRPr sz="800" u="none" strike="noStrike" cap="none">
                        <a:solidFill>
                          <a:schemeClr val="dk1"/>
                        </a:solidFill>
                        <a:latin typeface="Open Sans"/>
                        <a:ea typeface="Open Sans"/>
                        <a:cs typeface="Open Sans"/>
                        <a:sym typeface="Open Sans"/>
                      </a:endParaRPr>
                    </a:p>
                  </a:txBody>
                  <a:tcPr marL="68600" marR="68600" marT="34300" marB="34300" anchor="ctr">
                    <a:solidFill>
                      <a:srgbClr val="EC5012"/>
                    </a:solidFill>
                  </a:tcPr>
                </a:tc>
                <a:extLst>
                  <a:ext uri="{0D108BD9-81ED-4DB2-BD59-A6C34878D82A}">
                    <a16:rowId xmlns:a16="http://schemas.microsoft.com/office/drawing/2014/main" val="10003"/>
                  </a:ext>
                </a:extLst>
              </a:tr>
              <a:tr h="80620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Open Sans"/>
                          <a:ea typeface="Open Sans"/>
                          <a:cs typeface="Open Sans"/>
                          <a:sym typeface="Open Sans"/>
                        </a:rPr>
                        <a:t>Complacency</a:t>
                      </a:r>
                      <a:endParaRPr sz="1100" u="none" strike="noStrike" cap="none">
                        <a:latin typeface="Open Sans"/>
                        <a:ea typeface="Open Sans"/>
                        <a:cs typeface="Open Sans"/>
                        <a:sym typeface="Open Sans"/>
                      </a:endParaRPr>
                    </a:p>
                  </a:txBody>
                  <a:tcPr marL="68600" marR="68600" marT="34300" marB="34300" anchor="ctr">
                    <a:solidFill>
                      <a:srgbClr val="FFFF00"/>
                    </a:solidFill>
                  </a:tcPr>
                </a:tc>
                <a:tc>
                  <a:txBody>
                    <a:bodyPr/>
                    <a:lstStyle/>
                    <a:p>
                      <a:pPr marL="0" marR="0" lvl="0" indent="0" algn="just" rtl="0">
                        <a:lnSpc>
                          <a:spcPct val="100000"/>
                        </a:lnSpc>
                        <a:spcBef>
                          <a:spcPts val="0"/>
                        </a:spcBef>
                        <a:spcAft>
                          <a:spcPts val="0"/>
                        </a:spcAft>
                        <a:buClr>
                          <a:srgbClr val="000000"/>
                        </a:buClr>
                        <a:buSzPts val="900"/>
                        <a:buFont typeface="Arial"/>
                        <a:buNone/>
                      </a:pPr>
                      <a:r>
                        <a:rPr lang="en" sz="800" u="none" strike="noStrike" cap="none">
                          <a:solidFill>
                            <a:schemeClr val="dk1"/>
                          </a:solidFill>
                          <a:latin typeface="Open Sans"/>
                          <a:ea typeface="Open Sans"/>
                          <a:cs typeface="Open Sans"/>
                          <a:sym typeface="Open Sans"/>
                        </a:rPr>
                        <a:t>Complacency is driven by the mind’s (and body) requirement to recover after sustained periods of mental and physical exhaustion. Freud discussed the notion of Cathexis Energy (a combination of physical and emotional energy being consumed via neurotransmitter &amp; electrical activity) as being our life force or ‘Libidinal Energy’; it’s what drives us. From time to time we need to rest and in business this is often prevalent upon reaching a stage of perceived security. The negative manifestation of this is the inability to maintain attention and focus on the external environment or ‘proven’ internal processes; especially when owners seek to extract themselves from day to day activities. (which is entirely consistent with the next growth tactic – Leverage)</a:t>
                      </a:r>
                      <a:endParaRPr sz="1000" u="none" strike="noStrike" cap="none">
                        <a:latin typeface="Open Sans"/>
                        <a:ea typeface="Open Sans"/>
                        <a:cs typeface="Open Sans"/>
                        <a:sym typeface="Open Sans"/>
                      </a:endParaRPr>
                    </a:p>
                  </a:txBody>
                  <a:tcPr marL="68600" marR="68600" marT="34300" marB="34300" anchor="ctr">
                    <a:solidFill>
                      <a:srgbClr val="FFFF00"/>
                    </a:solidFill>
                  </a:tcPr>
                </a:tc>
                <a:extLst>
                  <a:ext uri="{0D108BD9-81ED-4DB2-BD59-A6C34878D82A}">
                    <a16:rowId xmlns:a16="http://schemas.microsoft.com/office/drawing/2014/main" val="10004"/>
                  </a:ext>
                </a:extLst>
              </a:tr>
              <a:tr h="80620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Open Sans"/>
                          <a:ea typeface="Open Sans"/>
                          <a:cs typeface="Open Sans"/>
                          <a:sym typeface="Open Sans"/>
                        </a:rPr>
                        <a:t>(Trying to Avoid)</a:t>
                      </a:r>
                      <a:endParaRPr sz="1100" u="none" strike="noStrike" cap="none">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Open Sans"/>
                          <a:ea typeface="Open Sans"/>
                          <a:cs typeface="Open Sans"/>
                          <a:sym typeface="Open Sans"/>
                        </a:rPr>
                        <a:t>Confirmation Bias</a:t>
                      </a:r>
                      <a:endParaRPr sz="1100" u="none" strike="noStrike" cap="none">
                        <a:latin typeface="Open Sans"/>
                        <a:ea typeface="Open Sans"/>
                        <a:cs typeface="Open Sans"/>
                        <a:sym typeface="Open Sans"/>
                      </a:endParaRPr>
                    </a:p>
                  </a:txBody>
                  <a:tcPr marL="68600" marR="68600" marT="34300" marB="34300" anchor="ctr">
                    <a:solidFill>
                      <a:srgbClr val="92D050"/>
                    </a:solidFill>
                  </a:tcPr>
                </a:tc>
                <a:tc>
                  <a:txBody>
                    <a:bodyPr/>
                    <a:lstStyle/>
                    <a:p>
                      <a:pPr marL="0" marR="0" lvl="0" indent="0" algn="just" rtl="0">
                        <a:lnSpc>
                          <a:spcPct val="100000"/>
                        </a:lnSpc>
                        <a:spcBef>
                          <a:spcPts val="0"/>
                        </a:spcBef>
                        <a:spcAft>
                          <a:spcPts val="0"/>
                        </a:spcAft>
                        <a:buClr>
                          <a:srgbClr val="000000"/>
                        </a:buClr>
                        <a:buSzPts val="900"/>
                        <a:buFont typeface="Arial"/>
                        <a:buNone/>
                      </a:pPr>
                      <a:r>
                        <a:rPr lang="en" sz="800" u="none" strike="noStrike" cap="none">
                          <a:solidFill>
                            <a:schemeClr val="dk1"/>
                          </a:solidFill>
                          <a:latin typeface="Open Sans"/>
                          <a:ea typeface="Open Sans"/>
                          <a:cs typeface="Open Sans"/>
                          <a:sym typeface="Open Sans"/>
                        </a:rPr>
                        <a:t>One of the key drivers of confirmation bias is ‘Cognitive Dissonance’. (reality not aligned with desires) In an attempt to avoid feeling anxiety we search for information (or shared views) to support our current view, so that we are less confronted by our ‘True Reality’. This manifests into us avoiding the truth and repeating same (or similar) mistakes (behaviour) whilst </a:t>
                      </a:r>
                      <a:r>
                        <a:rPr lang="en" sz="800">
                          <a:latin typeface="Open Sans"/>
                          <a:ea typeface="Open Sans"/>
                          <a:cs typeface="Open Sans"/>
                          <a:sym typeface="Open Sans"/>
                        </a:rPr>
                        <a:t>suppressing</a:t>
                      </a:r>
                      <a:r>
                        <a:rPr lang="en" sz="800" u="none" strike="noStrike" cap="none">
                          <a:solidFill>
                            <a:schemeClr val="dk1"/>
                          </a:solidFill>
                          <a:latin typeface="Open Sans"/>
                          <a:ea typeface="Open Sans"/>
                          <a:cs typeface="Open Sans"/>
                          <a:sym typeface="Open Sans"/>
                        </a:rPr>
                        <a:t> our growing fears. This is perfectly normal when establishing a business since we are taught that clarity and singular focus are essential elements of our own success; we can therefore be misguided into thinking that we’re not ignoring reality but instead, maintain focus on our goals. (This should be a clue since our goals are the same desires for which our reality is yet to be aligned...)</a:t>
                      </a:r>
                      <a:endParaRPr sz="1000" u="none" strike="noStrike" cap="none">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5"/>
        <p:cNvGrpSpPr/>
        <p:nvPr/>
      </p:nvGrpSpPr>
      <p:grpSpPr>
        <a:xfrm>
          <a:off x="0" y="0"/>
          <a:ext cx="0" cy="0"/>
          <a:chOff x="0" y="0"/>
          <a:chExt cx="0" cy="0"/>
        </a:xfrm>
      </p:grpSpPr>
      <p:sp>
        <p:nvSpPr>
          <p:cNvPr id="326" name="Google Shape;326;p41"/>
          <p:cNvSpPr/>
          <p:nvPr/>
        </p:nvSpPr>
        <p:spPr>
          <a:xfrm>
            <a:off x="175261" y="3651870"/>
            <a:ext cx="8761800" cy="1296000"/>
          </a:xfrm>
          <a:prstGeom prst="rect">
            <a:avLst/>
          </a:prstGeom>
          <a:solidFill>
            <a:schemeClr val="accent6"/>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7" name="Google Shape;327;p41"/>
          <p:cNvSpPr/>
          <p:nvPr/>
        </p:nvSpPr>
        <p:spPr>
          <a:xfrm>
            <a:off x="175261" y="3099616"/>
            <a:ext cx="8760900" cy="485400"/>
          </a:xfrm>
          <a:prstGeom prst="rect">
            <a:avLst/>
          </a:prstGeom>
          <a:solidFill>
            <a:schemeClr val="accent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8" name="Google Shape;328;p41"/>
          <p:cNvSpPr/>
          <p:nvPr/>
        </p:nvSpPr>
        <p:spPr>
          <a:xfrm>
            <a:off x="175261" y="1815667"/>
            <a:ext cx="8760900" cy="1242000"/>
          </a:xfrm>
          <a:prstGeom prst="rect">
            <a:avLst/>
          </a:prstGeom>
          <a:solidFill>
            <a:schemeClr val="accent2"/>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9" name="Google Shape;329;p41"/>
          <p:cNvSpPr/>
          <p:nvPr/>
        </p:nvSpPr>
        <p:spPr>
          <a:xfrm>
            <a:off x="6462211" y="681540"/>
            <a:ext cx="2468700" cy="1080000"/>
          </a:xfrm>
          <a:prstGeom prst="rect">
            <a:avLst/>
          </a:prstGeom>
          <a:solidFill>
            <a:srgbClr val="3F3F3F"/>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0" name="Google Shape;330;p41"/>
          <p:cNvSpPr/>
          <p:nvPr/>
        </p:nvSpPr>
        <p:spPr>
          <a:xfrm>
            <a:off x="175260" y="681540"/>
            <a:ext cx="7036200" cy="1080000"/>
          </a:xfrm>
          <a:prstGeom prst="rect">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1" name="Google Shape;331;p41"/>
          <p:cNvSpPr txBox="1">
            <a:spLocks noGrp="1"/>
          </p:cNvSpPr>
          <p:nvPr>
            <p:ph type="title"/>
          </p:nvPr>
        </p:nvSpPr>
        <p:spPr>
          <a:xfrm>
            <a:off x="175250" y="170450"/>
            <a:ext cx="4160700" cy="4308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b="1" i="0" u="none" strike="noStrike" cap="none">
                <a:solidFill>
                  <a:srgbClr val="FFFFFF"/>
                </a:solidFill>
                <a:latin typeface="Open Sans"/>
                <a:ea typeface="Open Sans"/>
                <a:cs typeface="Open Sans"/>
                <a:sym typeface="Open Sans"/>
              </a:rPr>
              <a:t>7 Growth Focus Tactics </a:t>
            </a:r>
            <a:endParaRPr sz="2300" b="1" i="0" u="none" strike="noStrike" cap="none">
              <a:solidFill>
                <a:srgbClr val="FFFFFF"/>
              </a:solidFill>
              <a:latin typeface="Open Sans"/>
              <a:ea typeface="Open Sans"/>
              <a:cs typeface="Open Sans"/>
              <a:sym typeface="Open Sans"/>
            </a:endParaRPr>
          </a:p>
        </p:txBody>
      </p:sp>
      <p:sp>
        <p:nvSpPr>
          <p:cNvPr id="332" name="Google Shape;332;p41"/>
          <p:cNvSpPr txBox="1"/>
          <p:nvPr/>
        </p:nvSpPr>
        <p:spPr>
          <a:xfrm>
            <a:off x="264051" y="4242175"/>
            <a:ext cx="1824900" cy="5541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dk1"/>
                </a:solidFill>
                <a:latin typeface="Open Sans"/>
                <a:ea typeface="Open Sans"/>
                <a:cs typeface="Open Sans"/>
                <a:sym typeface="Open Sans"/>
              </a:rPr>
              <a:t>Growth through Enthusiasm</a:t>
            </a:r>
            <a:endParaRPr sz="100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dk1"/>
                </a:solidFill>
                <a:latin typeface="Open Sans"/>
                <a:ea typeface="Open Sans"/>
                <a:cs typeface="Open Sans"/>
                <a:sym typeface="Open Sans"/>
              </a:rPr>
              <a:t>&amp; Creativity</a:t>
            </a:r>
            <a:endParaRPr sz="100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100" b="1" i="0" u="none" strike="noStrike" cap="none">
                <a:solidFill>
                  <a:schemeClr val="dk1"/>
                </a:solidFill>
                <a:latin typeface="Open Sans"/>
                <a:ea typeface="Open Sans"/>
                <a:cs typeface="Open Sans"/>
                <a:sym typeface="Open Sans"/>
              </a:rPr>
              <a:t>(Foundation)</a:t>
            </a:r>
            <a:endParaRPr sz="1100" i="0" u="none" strike="noStrike" cap="none">
              <a:solidFill>
                <a:srgbClr val="000000"/>
              </a:solidFill>
              <a:latin typeface="Open Sans"/>
              <a:ea typeface="Open Sans"/>
              <a:cs typeface="Open Sans"/>
              <a:sym typeface="Open Sans"/>
            </a:endParaRPr>
          </a:p>
        </p:txBody>
      </p:sp>
      <p:sp>
        <p:nvSpPr>
          <p:cNvPr id="333" name="Google Shape;333;p41"/>
          <p:cNvSpPr txBox="1"/>
          <p:nvPr/>
        </p:nvSpPr>
        <p:spPr>
          <a:xfrm>
            <a:off x="264050" y="3146100"/>
            <a:ext cx="2571900" cy="3924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dk1"/>
                </a:solidFill>
                <a:latin typeface="Open Sans"/>
                <a:ea typeface="Open Sans"/>
                <a:cs typeface="Open Sans"/>
                <a:sym typeface="Open Sans"/>
              </a:rPr>
              <a:t>Growth through Clarity &amp; Strategy</a:t>
            </a:r>
            <a:endParaRPr sz="100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b="1" i="0" u="none" strike="noStrike" cap="none">
                <a:solidFill>
                  <a:schemeClr val="dk1"/>
                </a:solidFill>
                <a:latin typeface="Open Sans"/>
                <a:ea typeface="Open Sans"/>
                <a:cs typeface="Open Sans"/>
                <a:sym typeface="Open Sans"/>
              </a:rPr>
              <a:t>(Orientation)</a:t>
            </a:r>
            <a:endParaRPr sz="1000" i="0" u="none" strike="noStrike" cap="none">
              <a:solidFill>
                <a:srgbClr val="000000"/>
              </a:solidFill>
              <a:latin typeface="Open Sans"/>
              <a:ea typeface="Open Sans"/>
              <a:cs typeface="Open Sans"/>
              <a:sym typeface="Open Sans"/>
            </a:endParaRPr>
          </a:p>
        </p:txBody>
      </p:sp>
      <p:sp>
        <p:nvSpPr>
          <p:cNvPr id="334" name="Google Shape;334;p41"/>
          <p:cNvSpPr txBox="1"/>
          <p:nvPr/>
        </p:nvSpPr>
        <p:spPr>
          <a:xfrm>
            <a:off x="264052" y="2437975"/>
            <a:ext cx="2013300" cy="5541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dk1"/>
                </a:solidFill>
                <a:latin typeface="Open Sans"/>
                <a:ea typeface="Open Sans"/>
                <a:cs typeface="Open Sans"/>
                <a:sym typeface="Open Sans"/>
              </a:rPr>
              <a:t>Growth through Delegation, </a:t>
            </a:r>
            <a:endParaRPr sz="100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dk1"/>
                </a:solidFill>
                <a:latin typeface="Open Sans"/>
                <a:ea typeface="Open Sans"/>
                <a:cs typeface="Open Sans"/>
                <a:sym typeface="Open Sans"/>
              </a:rPr>
              <a:t>Replication or Quantification</a:t>
            </a:r>
            <a:endParaRPr sz="100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b="1" i="0" u="none" strike="noStrike" cap="none">
                <a:solidFill>
                  <a:schemeClr val="dk1"/>
                </a:solidFill>
                <a:latin typeface="Open Sans"/>
                <a:ea typeface="Open Sans"/>
                <a:cs typeface="Open Sans"/>
                <a:sym typeface="Open Sans"/>
              </a:rPr>
              <a:t>(Intelligence)</a:t>
            </a:r>
            <a:endParaRPr sz="1000" i="0" u="none" strike="noStrike" cap="none">
              <a:solidFill>
                <a:srgbClr val="000000"/>
              </a:solidFill>
              <a:latin typeface="Open Sans"/>
              <a:ea typeface="Open Sans"/>
              <a:cs typeface="Open Sans"/>
              <a:sym typeface="Open Sans"/>
            </a:endParaRPr>
          </a:p>
        </p:txBody>
      </p:sp>
      <p:sp>
        <p:nvSpPr>
          <p:cNvPr id="335" name="Google Shape;335;p41"/>
          <p:cNvSpPr txBox="1"/>
          <p:nvPr/>
        </p:nvSpPr>
        <p:spPr>
          <a:xfrm>
            <a:off x="264051" y="1858600"/>
            <a:ext cx="2371500" cy="3924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dk1"/>
                </a:solidFill>
                <a:latin typeface="Open Sans"/>
                <a:ea typeface="Open Sans"/>
                <a:cs typeface="Open Sans"/>
                <a:sym typeface="Open Sans"/>
              </a:rPr>
              <a:t>Growth through Market Extension &amp; </a:t>
            </a:r>
            <a:endParaRPr sz="100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dk1"/>
                </a:solidFill>
                <a:latin typeface="Open Sans"/>
                <a:ea typeface="Open Sans"/>
                <a:cs typeface="Open Sans"/>
                <a:sym typeface="Open Sans"/>
              </a:rPr>
              <a:t>Product Divergence</a:t>
            </a:r>
            <a:endParaRPr sz="1000" i="0" u="none" strike="noStrike" cap="none">
              <a:solidFill>
                <a:srgbClr val="000000"/>
              </a:solidFill>
              <a:latin typeface="Open Sans"/>
              <a:ea typeface="Open Sans"/>
              <a:cs typeface="Open Sans"/>
              <a:sym typeface="Open Sans"/>
            </a:endParaRPr>
          </a:p>
        </p:txBody>
      </p:sp>
      <p:sp>
        <p:nvSpPr>
          <p:cNvPr id="336" name="Google Shape;336;p41"/>
          <p:cNvSpPr txBox="1"/>
          <p:nvPr/>
        </p:nvSpPr>
        <p:spPr>
          <a:xfrm>
            <a:off x="264052" y="1306975"/>
            <a:ext cx="2802600" cy="3924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lt1"/>
                </a:solidFill>
                <a:latin typeface="Open Sans"/>
                <a:ea typeface="Open Sans"/>
                <a:cs typeface="Open Sans"/>
                <a:sym typeface="Open Sans"/>
              </a:rPr>
              <a:t>Growth through Alliances &amp; Acquisition</a:t>
            </a:r>
            <a:endParaRPr sz="1000" i="0"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b="1" i="0" u="none" strike="noStrike" cap="none">
                <a:solidFill>
                  <a:schemeClr val="lt1"/>
                </a:solidFill>
                <a:latin typeface="Open Sans"/>
                <a:ea typeface="Open Sans"/>
                <a:cs typeface="Open Sans"/>
                <a:sym typeface="Open Sans"/>
              </a:rPr>
              <a:t>(Expansion)</a:t>
            </a:r>
            <a:endParaRPr sz="1000" i="0" u="none" strike="noStrike" cap="none">
              <a:solidFill>
                <a:srgbClr val="000000"/>
              </a:solidFill>
              <a:latin typeface="Open Sans"/>
              <a:ea typeface="Open Sans"/>
              <a:cs typeface="Open Sans"/>
              <a:sym typeface="Open Sans"/>
            </a:endParaRPr>
          </a:p>
        </p:txBody>
      </p:sp>
      <p:sp>
        <p:nvSpPr>
          <p:cNvPr id="337" name="Google Shape;337;p41"/>
          <p:cNvSpPr txBox="1"/>
          <p:nvPr/>
        </p:nvSpPr>
        <p:spPr>
          <a:xfrm>
            <a:off x="264051" y="732825"/>
            <a:ext cx="2371500" cy="231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lt1"/>
                </a:solidFill>
                <a:latin typeface="Open Sans"/>
                <a:ea typeface="Open Sans"/>
                <a:cs typeface="Open Sans"/>
                <a:sym typeface="Open Sans"/>
              </a:rPr>
              <a:t>Growth through Presence &amp; Scale</a:t>
            </a:r>
            <a:endParaRPr sz="1000" i="0" u="none" strike="noStrike" cap="none">
              <a:solidFill>
                <a:srgbClr val="000000"/>
              </a:solidFill>
              <a:latin typeface="Open Sans"/>
              <a:ea typeface="Open Sans"/>
              <a:cs typeface="Open Sans"/>
              <a:sym typeface="Open Sans"/>
            </a:endParaRPr>
          </a:p>
        </p:txBody>
      </p:sp>
      <p:sp>
        <p:nvSpPr>
          <p:cNvPr id="338" name="Google Shape;338;p41"/>
          <p:cNvSpPr txBox="1"/>
          <p:nvPr/>
        </p:nvSpPr>
        <p:spPr>
          <a:xfrm>
            <a:off x="7760800" y="848250"/>
            <a:ext cx="1135500" cy="5541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lt1"/>
                </a:solidFill>
                <a:latin typeface="Open Sans"/>
                <a:ea typeface="Open Sans"/>
                <a:cs typeface="Open Sans"/>
                <a:sym typeface="Open Sans"/>
              </a:rPr>
              <a:t>Growth through</a:t>
            </a:r>
            <a:endParaRPr sz="1000" i="0" u="none" strike="noStrike" cap="none">
              <a:solidFill>
                <a:schemeClr val="lt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i="0" u="none" strike="noStrike" cap="none">
                <a:solidFill>
                  <a:schemeClr val="lt1"/>
                </a:solidFill>
                <a:latin typeface="Open Sans"/>
                <a:ea typeface="Open Sans"/>
                <a:cs typeface="Open Sans"/>
                <a:sym typeface="Open Sans"/>
              </a:rPr>
              <a:t>Realisation</a:t>
            </a:r>
            <a:endParaRPr sz="1000" i="0" u="none" strike="noStrike" cap="none">
              <a:solidFill>
                <a:schemeClr val="lt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100"/>
              <a:buFont typeface="Arial"/>
              <a:buNone/>
            </a:pPr>
            <a:r>
              <a:rPr lang="en" sz="1000" b="1" i="0" u="none" strike="noStrike" cap="none">
                <a:solidFill>
                  <a:schemeClr val="lt1"/>
                </a:solidFill>
                <a:latin typeface="Open Sans"/>
                <a:ea typeface="Open Sans"/>
                <a:cs typeface="Open Sans"/>
                <a:sym typeface="Open Sans"/>
              </a:rPr>
              <a:t>(Succession)</a:t>
            </a:r>
            <a:endParaRPr sz="1000" i="0" u="none" strike="noStrike" cap="none">
              <a:solidFill>
                <a:schemeClr val="lt1"/>
              </a:solidFill>
              <a:latin typeface="Open Sans"/>
              <a:ea typeface="Open Sans"/>
              <a:cs typeface="Open Sans"/>
              <a:sym typeface="Open Sans"/>
            </a:endParaRPr>
          </a:p>
        </p:txBody>
      </p:sp>
      <p:sp>
        <p:nvSpPr>
          <p:cNvPr id="339" name="Google Shape;339;p41"/>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0" name="Google Shape;340;p41"/>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1" name="Google Shape;341;p41"/>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2" name="Google Shape;342;p41"/>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43" name="Google Shape;343;p41"/>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44" name="Google Shape;344;p41"/>
          <p:cNvPicPr preferRelativeResize="0"/>
          <p:nvPr/>
        </p:nvPicPr>
        <p:blipFill rotWithShape="1">
          <a:blip r:embed="rId4">
            <a:alphaModFix/>
          </a:blip>
          <a:srcRect/>
          <a:stretch/>
        </p:blipFill>
        <p:spPr>
          <a:xfrm>
            <a:off x="904575" y="-133600"/>
            <a:ext cx="7912850" cy="54046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8"/>
        <p:cNvGrpSpPr/>
        <p:nvPr/>
      </p:nvGrpSpPr>
      <p:grpSpPr>
        <a:xfrm>
          <a:off x="0" y="0"/>
          <a:ext cx="0" cy="0"/>
          <a:chOff x="0" y="0"/>
          <a:chExt cx="0" cy="0"/>
        </a:xfrm>
      </p:grpSpPr>
      <p:sp>
        <p:nvSpPr>
          <p:cNvPr id="349" name="Google Shape;349;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15</a:t>
            </a:fld>
            <a:endParaRPr/>
          </a:p>
        </p:txBody>
      </p:sp>
      <p:sp>
        <p:nvSpPr>
          <p:cNvPr id="350" name="Google Shape;350;p42"/>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1" name="Google Shape;351;p42"/>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2" name="Google Shape;352;p42"/>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3" name="Google Shape;353;p42"/>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4" name="Google Shape;354;p42"/>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5" name="Google Shape;355;p42"/>
          <p:cNvSpPr txBox="1">
            <a:spLocks noGrp="1"/>
          </p:cNvSpPr>
          <p:nvPr>
            <p:ph type="title"/>
          </p:nvPr>
        </p:nvSpPr>
        <p:spPr>
          <a:xfrm>
            <a:off x="200025" y="170450"/>
            <a:ext cx="6801600" cy="5115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dirty="0">
                <a:solidFill>
                  <a:srgbClr val="002B64"/>
                </a:solidFill>
                <a:latin typeface="Open Sans"/>
                <a:ea typeface="Open Sans"/>
                <a:cs typeface="Open Sans"/>
                <a:sym typeface="Open Sans"/>
              </a:rPr>
              <a:t>The 7 Growth Focus Tactics Explained...</a:t>
            </a:r>
            <a:endParaRPr sz="2400" i="0" u="none" strike="noStrike" cap="none" dirty="0">
              <a:solidFill>
                <a:srgbClr val="002B64"/>
              </a:solidFill>
              <a:latin typeface="Open Sans"/>
              <a:ea typeface="Open Sans"/>
              <a:cs typeface="Open Sans"/>
              <a:sym typeface="Open Sans"/>
            </a:endParaRPr>
          </a:p>
        </p:txBody>
      </p:sp>
      <p:graphicFrame>
        <p:nvGraphicFramePr>
          <p:cNvPr id="356" name="Google Shape;356;p42"/>
          <p:cNvGraphicFramePr/>
          <p:nvPr/>
        </p:nvGraphicFramePr>
        <p:xfrm>
          <a:off x="200025" y="714556"/>
          <a:ext cx="8743950" cy="4268325"/>
        </p:xfrm>
        <a:graphic>
          <a:graphicData uri="http://schemas.openxmlformats.org/drawingml/2006/table">
            <a:tbl>
              <a:tblPr firstRow="1" bandRow="1">
                <a:noFill/>
                <a:tableStyleId>{E45339CE-A403-4A82-A332-1DB77EED7D76}</a:tableStyleId>
              </a:tblPr>
              <a:tblGrid>
                <a:gridCol w="8743950">
                  <a:extLst>
                    <a:ext uri="{9D8B030D-6E8A-4147-A177-3AD203B41FA5}">
                      <a16:colId xmlns:a16="http://schemas.microsoft.com/office/drawing/2014/main" val="20000"/>
                    </a:ext>
                  </a:extLst>
                </a:gridCol>
              </a:tblGrid>
              <a:tr h="266025">
                <a:tc>
                  <a:txBody>
                    <a:bodyPr/>
                    <a:lstStyle/>
                    <a:p>
                      <a:pPr marL="0" marR="0" lvl="0" indent="0" algn="l" rtl="0">
                        <a:lnSpc>
                          <a:spcPct val="100000"/>
                        </a:lnSpc>
                        <a:spcBef>
                          <a:spcPts val="0"/>
                        </a:spcBef>
                        <a:spcAft>
                          <a:spcPts val="0"/>
                        </a:spcAft>
                        <a:buClr>
                          <a:srgbClr val="002060"/>
                        </a:buClr>
                        <a:buSzPts val="1200"/>
                        <a:buFont typeface="Abel"/>
                        <a:buNone/>
                      </a:pPr>
                      <a:r>
                        <a:rPr lang="en" sz="1200" u="none" strike="noStrike" cap="none">
                          <a:solidFill>
                            <a:srgbClr val="002060"/>
                          </a:solidFill>
                          <a:latin typeface="Open Sans"/>
                          <a:ea typeface="Open Sans"/>
                          <a:cs typeface="Open Sans"/>
                          <a:sym typeface="Open Sans"/>
                        </a:rPr>
                        <a:t>Growth through Market Extension &amp; Product Divergence</a:t>
                      </a:r>
                      <a:endParaRPr sz="1100" u="none" strike="noStrike" cap="none">
                        <a:latin typeface="Open Sans"/>
                        <a:ea typeface="Open Sans"/>
                        <a:cs typeface="Open Sans"/>
                        <a:sym typeface="Open Sans"/>
                      </a:endParaRPr>
                    </a:p>
                  </a:txBody>
                  <a:tcPr marL="68600" marR="68600" marT="34300" marB="34300" anchor="ctr">
                    <a:solidFill>
                      <a:srgbClr val="EC5012"/>
                    </a:solidFill>
                  </a:tcPr>
                </a:tc>
                <a:extLst>
                  <a:ext uri="{0D108BD9-81ED-4DB2-BD59-A6C34878D82A}">
                    <a16:rowId xmlns:a16="http://schemas.microsoft.com/office/drawing/2014/main" val="10000"/>
                  </a:ext>
                </a:extLst>
              </a:tr>
              <a:tr h="987925">
                <a:tc>
                  <a:txBody>
                    <a:bodyPr/>
                    <a:lstStyle/>
                    <a:p>
                      <a:pPr marL="0" marR="0" lvl="0" indent="0" algn="just" rtl="0">
                        <a:lnSpc>
                          <a:spcPct val="100000"/>
                        </a:lnSpc>
                        <a:spcBef>
                          <a:spcPts val="0"/>
                        </a:spcBef>
                        <a:spcAft>
                          <a:spcPts val="0"/>
                        </a:spcAft>
                        <a:buClr>
                          <a:srgbClr val="002060"/>
                        </a:buClr>
                        <a:buSzPts val="1000"/>
                        <a:buFont typeface="Abel"/>
                        <a:buNone/>
                      </a:pPr>
                      <a:r>
                        <a:rPr lang="en" sz="1000" u="none" strike="noStrike" cap="none">
                          <a:solidFill>
                            <a:srgbClr val="002060"/>
                          </a:solidFill>
                          <a:latin typeface="Open Sans"/>
                          <a:ea typeface="Open Sans"/>
                          <a:cs typeface="Open Sans"/>
                          <a:sym typeface="Open Sans"/>
                        </a:rPr>
                        <a:t>Market extension &amp; Product divergence is about ‘finding greater revenue to feed your machine’. It’s a natural consequence of your business expanding after you’ve Leveraged your activities,  via the steps explained in the previous level. All living things require ‘EXPANSION’ as part of their growth cycle; your business is no different. The inability to find additional ‘sustenance’ to meet your new ‘consumption requirements’ will, as in all living things, stunt your long term growth. This is a precarious stage as you are literally forced to confront new frontiers either in the form of new markets (physical) that are unknown to you, or, new products. This, combined with the previous LEVERAGE activities (prior) requires a major mind set shift for the business owner/s.</a:t>
                      </a:r>
                      <a:endParaRPr sz="1000" u="none" strike="noStrike" cap="none">
                        <a:solidFill>
                          <a:srgbClr val="002060"/>
                        </a:solidFill>
                        <a:latin typeface="Open Sans"/>
                        <a:ea typeface="Open Sans"/>
                        <a:cs typeface="Open Sans"/>
                        <a:sym typeface="Open Sans"/>
                      </a:endParaRPr>
                    </a:p>
                  </a:txBody>
                  <a:tcPr marL="68600" marR="68600" marT="34300" marB="34300">
                    <a:solidFill>
                      <a:srgbClr val="EC5012"/>
                    </a:solidFill>
                  </a:tcPr>
                </a:tc>
                <a:extLst>
                  <a:ext uri="{0D108BD9-81ED-4DB2-BD59-A6C34878D82A}">
                    <a16:rowId xmlns:a16="http://schemas.microsoft.com/office/drawing/2014/main" val="10001"/>
                  </a:ext>
                </a:extLst>
              </a:tr>
              <a:tr h="302750">
                <a:tc>
                  <a:txBody>
                    <a:bodyPr/>
                    <a:lstStyle/>
                    <a:p>
                      <a:pPr marL="0" marR="0" lvl="0" indent="0" algn="l" rtl="0">
                        <a:lnSpc>
                          <a:spcPct val="100000"/>
                        </a:lnSpc>
                        <a:spcBef>
                          <a:spcPts val="0"/>
                        </a:spcBef>
                        <a:spcAft>
                          <a:spcPts val="0"/>
                        </a:spcAft>
                        <a:buClr>
                          <a:srgbClr val="002060"/>
                        </a:buClr>
                        <a:buSzPts val="1200"/>
                        <a:buFont typeface="Abel"/>
                        <a:buNone/>
                      </a:pPr>
                      <a:r>
                        <a:rPr lang="en" sz="1200" b="1" u="none" strike="noStrike" cap="none">
                          <a:solidFill>
                            <a:srgbClr val="002060"/>
                          </a:solidFill>
                          <a:latin typeface="Open Sans"/>
                          <a:ea typeface="Open Sans"/>
                          <a:cs typeface="Open Sans"/>
                          <a:sym typeface="Open Sans"/>
                        </a:rPr>
                        <a:t>Growth through Delegation, Replication or Quantification</a:t>
                      </a:r>
                      <a:endParaRPr sz="1100" b="1" u="none" strike="noStrike" cap="none">
                        <a:latin typeface="Open Sans"/>
                        <a:ea typeface="Open Sans"/>
                        <a:cs typeface="Open Sans"/>
                        <a:sym typeface="Open Sans"/>
                      </a:endParaRPr>
                    </a:p>
                  </a:txBody>
                  <a:tcPr marL="68600" marR="68600" marT="34300" marB="34300" anchor="ctr">
                    <a:solidFill>
                      <a:srgbClr val="EC5012"/>
                    </a:solidFill>
                  </a:tcPr>
                </a:tc>
                <a:extLst>
                  <a:ext uri="{0D108BD9-81ED-4DB2-BD59-A6C34878D82A}">
                    <a16:rowId xmlns:a16="http://schemas.microsoft.com/office/drawing/2014/main" val="10002"/>
                  </a:ext>
                </a:extLst>
              </a:tr>
              <a:tr h="834750">
                <a:tc>
                  <a:txBody>
                    <a:bodyPr/>
                    <a:lstStyle/>
                    <a:p>
                      <a:pPr marL="0" marR="0" lvl="0" indent="0" algn="just" rtl="0">
                        <a:lnSpc>
                          <a:spcPct val="100000"/>
                        </a:lnSpc>
                        <a:spcBef>
                          <a:spcPts val="0"/>
                        </a:spcBef>
                        <a:spcAft>
                          <a:spcPts val="0"/>
                        </a:spcAft>
                        <a:buClr>
                          <a:srgbClr val="002060"/>
                        </a:buClr>
                        <a:buSzPts val="1000"/>
                        <a:buFont typeface="Abel"/>
                        <a:buNone/>
                      </a:pPr>
                      <a:r>
                        <a:rPr lang="en" sz="1000" u="none" strike="noStrike" cap="none">
                          <a:solidFill>
                            <a:srgbClr val="002060"/>
                          </a:solidFill>
                          <a:latin typeface="Open Sans"/>
                          <a:ea typeface="Open Sans"/>
                          <a:cs typeface="Open Sans"/>
                          <a:sym typeface="Open Sans"/>
                        </a:rPr>
                        <a:t>Delegation is the ability to dissect your activities/procedures such that a team member can complete </a:t>
                      </a:r>
                      <a:r>
                        <a:rPr lang="en" sz="1000" u="sng" strike="noStrike" cap="none">
                          <a:solidFill>
                            <a:srgbClr val="002060"/>
                          </a:solidFill>
                          <a:latin typeface="Open Sans"/>
                          <a:ea typeface="Open Sans"/>
                          <a:cs typeface="Open Sans"/>
                          <a:sym typeface="Open Sans"/>
                        </a:rPr>
                        <a:t>SOME</a:t>
                      </a:r>
                      <a:r>
                        <a:rPr lang="en" sz="1000" u="none" strike="noStrike" cap="none">
                          <a:solidFill>
                            <a:srgbClr val="002060"/>
                          </a:solidFill>
                          <a:latin typeface="Open Sans"/>
                          <a:ea typeface="Open Sans"/>
                          <a:cs typeface="Open Sans"/>
                          <a:sym typeface="Open Sans"/>
                        </a:rPr>
                        <a:t> of the process. Much like how a surgeon employs a nurse to deal with more minor applications, freeing the surgeon to do a greater number of complicated procedures. Replication is the ability for a team member to do </a:t>
                      </a:r>
                      <a:r>
                        <a:rPr lang="en" sz="1000" u="sng" strike="noStrike" cap="none">
                          <a:solidFill>
                            <a:srgbClr val="002060"/>
                          </a:solidFill>
                          <a:latin typeface="Open Sans"/>
                          <a:ea typeface="Open Sans"/>
                          <a:cs typeface="Open Sans"/>
                          <a:sym typeface="Open Sans"/>
                        </a:rPr>
                        <a:t>ALL</a:t>
                      </a:r>
                      <a:r>
                        <a:rPr lang="en" sz="1000" u="none" strike="noStrike" cap="none">
                          <a:solidFill>
                            <a:srgbClr val="002060"/>
                          </a:solidFill>
                          <a:latin typeface="Open Sans"/>
                          <a:ea typeface="Open Sans"/>
                          <a:cs typeface="Open Sans"/>
                          <a:sym typeface="Open Sans"/>
                        </a:rPr>
                        <a:t> of the task or, the ability to automate or reproduce an item with relative ease. Quantification is the ability to ‘magnify’ your value by multiplying the number of people you engage with or the fee you charge. (or both). You can of course, apply a combination of all 3 to achieve Leverage.</a:t>
                      </a:r>
                      <a:endParaRPr sz="1000" u="none" strike="noStrike" cap="none">
                        <a:solidFill>
                          <a:srgbClr val="002060"/>
                        </a:solidFill>
                        <a:latin typeface="Open Sans"/>
                        <a:ea typeface="Open Sans"/>
                        <a:cs typeface="Open Sans"/>
                        <a:sym typeface="Open Sans"/>
                      </a:endParaRPr>
                    </a:p>
                  </a:txBody>
                  <a:tcPr marL="68600" marR="68600" marT="34300" marB="34300" anchor="ctr">
                    <a:solidFill>
                      <a:srgbClr val="EC5012"/>
                    </a:solidFill>
                  </a:tcPr>
                </a:tc>
                <a:extLst>
                  <a:ext uri="{0D108BD9-81ED-4DB2-BD59-A6C34878D82A}">
                    <a16:rowId xmlns:a16="http://schemas.microsoft.com/office/drawing/2014/main" val="10003"/>
                  </a:ext>
                </a:extLst>
              </a:tr>
              <a:tr h="286300">
                <a:tc>
                  <a:txBody>
                    <a:bodyPr/>
                    <a:lstStyle/>
                    <a:p>
                      <a:pPr marL="0" marR="0" lvl="0" indent="0" algn="l" rtl="0">
                        <a:lnSpc>
                          <a:spcPct val="100000"/>
                        </a:lnSpc>
                        <a:spcBef>
                          <a:spcPts val="0"/>
                        </a:spcBef>
                        <a:spcAft>
                          <a:spcPts val="0"/>
                        </a:spcAft>
                        <a:buClr>
                          <a:srgbClr val="FF0000"/>
                        </a:buClr>
                        <a:buSzPts val="1200"/>
                        <a:buFont typeface="Abel"/>
                        <a:buNone/>
                      </a:pPr>
                      <a:r>
                        <a:rPr lang="en" sz="1200" b="1" u="none" strike="noStrike" cap="none">
                          <a:solidFill>
                            <a:srgbClr val="FF0000"/>
                          </a:solidFill>
                          <a:latin typeface="Open Sans"/>
                          <a:ea typeface="Open Sans"/>
                          <a:cs typeface="Open Sans"/>
                          <a:sym typeface="Open Sans"/>
                        </a:rPr>
                        <a:t>Growth through Clarity &amp; Strategy</a:t>
                      </a:r>
                      <a:endParaRPr sz="1100" b="1" u="none" strike="noStrike" cap="none">
                        <a:latin typeface="Open Sans"/>
                        <a:ea typeface="Open Sans"/>
                        <a:cs typeface="Open Sans"/>
                        <a:sym typeface="Open Sans"/>
                      </a:endParaRPr>
                    </a:p>
                  </a:txBody>
                  <a:tcPr marL="68600" marR="68600" marT="34300" marB="34300" anchor="ctr">
                    <a:solidFill>
                      <a:srgbClr val="FFFF66"/>
                    </a:solidFill>
                  </a:tcPr>
                </a:tc>
                <a:extLst>
                  <a:ext uri="{0D108BD9-81ED-4DB2-BD59-A6C34878D82A}">
                    <a16:rowId xmlns:a16="http://schemas.microsoft.com/office/drawing/2014/main" val="10004"/>
                  </a:ext>
                </a:extLst>
              </a:tr>
              <a:tr h="653125">
                <a:tc>
                  <a:txBody>
                    <a:bodyPr/>
                    <a:lstStyle/>
                    <a:p>
                      <a:pPr marL="0" marR="0" lvl="0" indent="0" algn="just" rtl="0">
                        <a:lnSpc>
                          <a:spcPct val="100000"/>
                        </a:lnSpc>
                        <a:spcBef>
                          <a:spcPts val="0"/>
                        </a:spcBef>
                        <a:spcAft>
                          <a:spcPts val="0"/>
                        </a:spcAft>
                        <a:buClr>
                          <a:srgbClr val="FF0000"/>
                        </a:buClr>
                        <a:buSzPts val="1000"/>
                        <a:buFont typeface="Abel"/>
                        <a:buNone/>
                      </a:pPr>
                      <a:r>
                        <a:rPr lang="en" sz="1000" u="none" strike="noStrike" cap="none">
                          <a:solidFill>
                            <a:srgbClr val="FF0000"/>
                          </a:solidFill>
                          <a:latin typeface="Open Sans"/>
                          <a:ea typeface="Open Sans"/>
                          <a:cs typeface="Open Sans"/>
                          <a:sym typeface="Open Sans"/>
                        </a:rPr>
                        <a:t>‘Clarity &amp; Strategy’ is about the business owner realising that ‘sometimes, less is more’. It’s about identifying the difference between being a great artisan vs. a great business owner and it’s the natural time for the owner/s to step back and reflect on past efforts, learn from the good and the bad, and identify the </a:t>
                      </a:r>
                      <a:r>
                        <a:rPr lang="en" sz="1000" u="sng" strike="noStrike" cap="none">
                          <a:solidFill>
                            <a:srgbClr val="FF0000"/>
                          </a:solidFill>
                          <a:latin typeface="Open Sans"/>
                          <a:ea typeface="Open Sans"/>
                          <a:cs typeface="Open Sans"/>
                          <a:sym typeface="Open Sans"/>
                        </a:rPr>
                        <a:t>new</a:t>
                      </a:r>
                      <a:r>
                        <a:rPr lang="en" sz="1000" u="none" strike="noStrike" cap="none">
                          <a:solidFill>
                            <a:srgbClr val="FF0000"/>
                          </a:solidFill>
                          <a:latin typeface="Open Sans"/>
                          <a:ea typeface="Open Sans"/>
                          <a:cs typeface="Open Sans"/>
                          <a:sym typeface="Open Sans"/>
                        </a:rPr>
                        <a:t> focus and activities required for the business to grow. It’s about thinking first, doing second.</a:t>
                      </a:r>
                      <a:endParaRPr sz="1000" u="none" strike="noStrike" cap="none">
                        <a:solidFill>
                          <a:srgbClr val="FF0000"/>
                        </a:solidFill>
                        <a:latin typeface="Open Sans"/>
                        <a:ea typeface="Open Sans"/>
                        <a:cs typeface="Open Sans"/>
                        <a:sym typeface="Open Sans"/>
                      </a:endParaRPr>
                    </a:p>
                  </a:txBody>
                  <a:tcPr marL="68600" marR="68600" marT="34300" marB="34300">
                    <a:solidFill>
                      <a:srgbClr val="FFFF66"/>
                    </a:solidFill>
                  </a:tcPr>
                </a:tc>
                <a:extLst>
                  <a:ext uri="{0D108BD9-81ED-4DB2-BD59-A6C34878D82A}">
                    <a16:rowId xmlns:a16="http://schemas.microsoft.com/office/drawing/2014/main" val="10005"/>
                  </a:ext>
                </a:extLst>
              </a:tr>
              <a:tr h="284325">
                <a:tc>
                  <a:txBody>
                    <a:bodyPr/>
                    <a:lstStyle/>
                    <a:p>
                      <a:pPr marL="0" marR="0" lvl="0" indent="0" algn="l" rtl="0">
                        <a:lnSpc>
                          <a:spcPct val="100000"/>
                        </a:lnSpc>
                        <a:spcBef>
                          <a:spcPts val="0"/>
                        </a:spcBef>
                        <a:spcAft>
                          <a:spcPts val="0"/>
                        </a:spcAft>
                        <a:buClr>
                          <a:srgbClr val="3F3F3F"/>
                        </a:buClr>
                        <a:buSzPts val="1200"/>
                        <a:buFont typeface="Abel"/>
                        <a:buNone/>
                      </a:pPr>
                      <a:r>
                        <a:rPr lang="en" sz="1200" b="1" u="none" strike="noStrike" cap="none">
                          <a:solidFill>
                            <a:srgbClr val="3F3F3F"/>
                          </a:solidFill>
                          <a:latin typeface="Open Sans"/>
                          <a:ea typeface="Open Sans"/>
                          <a:cs typeface="Open Sans"/>
                          <a:sym typeface="Open Sans"/>
                        </a:rPr>
                        <a:t>Growth through Enthusiasm &amp; Creativity</a:t>
                      </a:r>
                      <a:endParaRPr sz="1100" b="1" u="none" strike="noStrike" cap="none">
                        <a:latin typeface="Open Sans"/>
                        <a:ea typeface="Open Sans"/>
                        <a:cs typeface="Open Sans"/>
                        <a:sym typeface="Open Sans"/>
                      </a:endParaRPr>
                    </a:p>
                  </a:txBody>
                  <a:tcPr marL="68600" marR="68600" marT="34300" marB="34300" anchor="ctr">
                    <a:solidFill>
                      <a:srgbClr val="92D050"/>
                    </a:solidFill>
                  </a:tcPr>
                </a:tc>
                <a:extLst>
                  <a:ext uri="{0D108BD9-81ED-4DB2-BD59-A6C34878D82A}">
                    <a16:rowId xmlns:a16="http://schemas.microsoft.com/office/drawing/2014/main" val="10006"/>
                  </a:ext>
                </a:extLst>
              </a:tr>
              <a:tr h="653125">
                <a:tc>
                  <a:txBody>
                    <a:bodyPr/>
                    <a:lstStyle/>
                    <a:p>
                      <a:pPr marL="0" marR="0" lvl="0" indent="0" algn="just" rtl="0">
                        <a:lnSpc>
                          <a:spcPct val="100000"/>
                        </a:lnSpc>
                        <a:spcBef>
                          <a:spcPts val="0"/>
                        </a:spcBef>
                        <a:spcAft>
                          <a:spcPts val="0"/>
                        </a:spcAft>
                        <a:buClr>
                          <a:srgbClr val="3F3F3F"/>
                        </a:buClr>
                        <a:buSzPts val="1000"/>
                        <a:buFont typeface="Abel"/>
                        <a:buNone/>
                      </a:pPr>
                      <a:r>
                        <a:rPr lang="en" sz="1000" u="none" strike="noStrike" cap="none">
                          <a:solidFill>
                            <a:srgbClr val="3F3F3F"/>
                          </a:solidFill>
                          <a:latin typeface="Open Sans"/>
                          <a:ea typeface="Open Sans"/>
                          <a:cs typeface="Open Sans"/>
                          <a:sym typeface="Open Sans"/>
                        </a:rPr>
                        <a:t>‘Enthusiasm &amp; Creativity’ is all about the business owner ‘pushing hard’. It’s about having a general idea or vision for the business, but the focus is on ‘putting their head down and doing the hard yards’. This is an essential component for any business success as momentum (and subsequent learning via observation and reflection) can never be achieved without this focused effort. It’s about the ‘fun’ of being in business’.</a:t>
                      </a:r>
                      <a:endParaRPr sz="1000" u="none" strike="noStrike" cap="none">
                        <a:solidFill>
                          <a:srgbClr val="3F3F3F"/>
                        </a:solidFill>
                        <a:latin typeface="Open Sans"/>
                        <a:ea typeface="Open Sans"/>
                        <a:cs typeface="Open Sans"/>
                        <a:sym typeface="Open Sans"/>
                      </a:endParaRPr>
                    </a:p>
                  </a:txBody>
                  <a:tcPr marL="68600" marR="68600" marT="34300" marB="34300">
                    <a:solidFill>
                      <a:srgbClr val="92D050"/>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0"/>
        <p:cNvGrpSpPr/>
        <p:nvPr/>
      </p:nvGrpSpPr>
      <p:grpSpPr>
        <a:xfrm>
          <a:off x="0" y="0"/>
          <a:ext cx="0" cy="0"/>
          <a:chOff x="0" y="0"/>
          <a:chExt cx="0" cy="0"/>
        </a:xfrm>
      </p:grpSpPr>
      <p:sp>
        <p:nvSpPr>
          <p:cNvPr id="361" name="Google Shape;361;p4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16</a:t>
            </a:fld>
            <a:endParaRPr/>
          </a:p>
        </p:txBody>
      </p:sp>
      <p:sp>
        <p:nvSpPr>
          <p:cNvPr id="362" name="Google Shape;362;p43"/>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3" name="Google Shape;363;p43"/>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4" name="Google Shape;364;p43"/>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5" name="Google Shape;365;p43"/>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6" name="Google Shape;366;p43"/>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67" name="Google Shape;367;p43"/>
          <p:cNvSpPr txBox="1">
            <a:spLocks noGrp="1"/>
          </p:cNvSpPr>
          <p:nvPr>
            <p:ph type="title"/>
          </p:nvPr>
        </p:nvSpPr>
        <p:spPr>
          <a:xfrm>
            <a:off x="192875" y="170450"/>
            <a:ext cx="7239900" cy="560700"/>
          </a:xfrm>
          <a:prstGeom prst="rect">
            <a:avLst/>
          </a:prstGeom>
          <a:noFill/>
          <a:ln>
            <a:noFill/>
          </a:ln>
        </p:spPr>
        <p:txBody>
          <a:bodyPr spcFirstLastPara="1" wrap="square" lIns="68575" tIns="34275" rIns="68575" bIns="34275" anchor="ctr" anchorCtr="0">
            <a:noAutofit/>
          </a:bodyPr>
          <a:lstStyle/>
          <a:p>
            <a:pPr lvl="0">
              <a:buClr>
                <a:schemeClr val="lt1"/>
              </a:buClr>
              <a:buSzPts val="2400"/>
            </a:pPr>
            <a:r>
              <a:rPr lang="en" sz="2400" dirty="0">
                <a:solidFill>
                  <a:srgbClr val="002B64"/>
                </a:solidFill>
                <a:latin typeface="Open Sans"/>
                <a:ea typeface="Open Sans"/>
                <a:cs typeface="Open Sans"/>
                <a:sym typeface="Open Sans"/>
              </a:rPr>
              <a:t>The 7 Growth Focus Tactics Explained...</a:t>
            </a:r>
            <a:endParaRPr sz="2400" i="0" u="none" strike="noStrike" cap="none" dirty="0">
              <a:solidFill>
                <a:srgbClr val="002B64"/>
              </a:solidFill>
              <a:latin typeface="Open Sans"/>
              <a:ea typeface="Open Sans"/>
              <a:cs typeface="Open Sans"/>
              <a:sym typeface="Open Sans"/>
            </a:endParaRPr>
          </a:p>
        </p:txBody>
      </p:sp>
      <p:graphicFrame>
        <p:nvGraphicFramePr>
          <p:cNvPr id="368" name="Google Shape;368;p43"/>
          <p:cNvGraphicFramePr/>
          <p:nvPr/>
        </p:nvGraphicFramePr>
        <p:xfrm>
          <a:off x="192881" y="764381"/>
          <a:ext cx="8751075" cy="4183550"/>
        </p:xfrm>
        <a:graphic>
          <a:graphicData uri="http://schemas.openxmlformats.org/drawingml/2006/table">
            <a:tbl>
              <a:tblPr firstRow="1" bandRow="1">
                <a:noFill/>
                <a:tableStyleId>{E45339CE-A403-4A82-A332-1DB77EED7D76}</a:tableStyleId>
              </a:tblPr>
              <a:tblGrid>
                <a:gridCol w="8751075">
                  <a:extLst>
                    <a:ext uri="{9D8B030D-6E8A-4147-A177-3AD203B41FA5}">
                      <a16:colId xmlns:a16="http://schemas.microsoft.com/office/drawing/2014/main" val="20000"/>
                    </a:ext>
                  </a:extLst>
                </a:gridCol>
              </a:tblGrid>
              <a:tr h="356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Open Sans"/>
                          <a:ea typeface="Open Sans"/>
                          <a:cs typeface="Open Sans"/>
                          <a:sym typeface="Open Sans"/>
                        </a:rPr>
                        <a:t>Growth through Realisation of Investment in Self, Team and Business/Processes.</a:t>
                      </a:r>
                      <a:endParaRPr sz="1100" u="none" strike="noStrike" cap="none">
                        <a:latin typeface="Open Sans"/>
                        <a:ea typeface="Open Sans"/>
                        <a:cs typeface="Open Sans"/>
                        <a:sym typeface="Open Sans"/>
                      </a:endParaRPr>
                    </a:p>
                  </a:txBody>
                  <a:tcPr marL="68600" marR="68600" marT="34300" marB="34300" anchor="ctr">
                    <a:solidFill>
                      <a:srgbClr val="BFBFBF"/>
                    </a:solidFill>
                  </a:tcPr>
                </a:tc>
                <a:extLst>
                  <a:ext uri="{0D108BD9-81ED-4DB2-BD59-A6C34878D82A}">
                    <a16:rowId xmlns:a16="http://schemas.microsoft.com/office/drawing/2014/main" val="10000"/>
                  </a:ext>
                </a:extLst>
              </a:tr>
              <a:tr h="1056400">
                <a:tc>
                  <a:txBody>
                    <a:bodyPr/>
                    <a:lstStyle/>
                    <a:p>
                      <a:pPr marL="0" marR="0" lvl="0" indent="0" algn="just" rtl="0">
                        <a:lnSpc>
                          <a:spcPct val="100000"/>
                        </a:lnSpc>
                        <a:spcBef>
                          <a:spcPts val="0"/>
                        </a:spcBef>
                        <a:spcAft>
                          <a:spcPts val="0"/>
                        </a:spcAft>
                        <a:buClr>
                          <a:srgbClr val="000000"/>
                        </a:buClr>
                        <a:buSzPts val="1000"/>
                        <a:buFont typeface="Arial"/>
                        <a:buNone/>
                      </a:pPr>
                      <a:r>
                        <a:rPr lang="en" sz="1000" u="none" strike="noStrike" cap="none">
                          <a:latin typeface="Open Sans"/>
                          <a:ea typeface="Open Sans"/>
                          <a:cs typeface="Open Sans"/>
                          <a:sym typeface="Open Sans"/>
                        </a:rPr>
                        <a:t>All living things die in the end; it’s just the terms of the demise that’s ‘up for grabs’. Whilst exiting the business may not be seen as ‘Growth’ by some, it does in fact require significant </a:t>
                      </a:r>
                      <a:r>
                        <a:rPr lang="en" sz="1000" u="sng" strike="noStrike" cap="none">
                          <a:latin typeface="Open Sans"/>
                          <a:ea typeface="Open Sans"/>
                          <a:cs typeface="Open Sans"/>
                          <a:sym typeface="Open Sans"/>
                        </a:rPr>
                        <a:t>personal growth</a:t>
                      </a:r>
                      <a:r>
                        <a:rPr lang="en" sz="1000" u="none" strike="noStrike" cap="none">
                          <a:latin typeface="Open Sans"/>
                          <a:ea typeface="Open Sans"/>
                          <a:cs typeface="Open Sans"/>
                          <a:sym typeface="Open Sans"/>
                        </a:rPr>
                        <a:t> of the business owner to step out of an organisation that they personally identify with. The successful sale of a business is dependant on expectations of growth by at least one of the parties; the more demonstrable this is, the easier to quantify the value to both parties. Therein, growth must be as central to every aspect of business culture within the organisation as possible; you can’t ‘stage an impression of growth’ as you dress for sale, it must be part of everything you’ve ever done in your business.</a:t>
                      </a:r>
                      <a:endParaRPr sz="1000" u="none" strike="noStrike" cap="none">
                        <a:latin typeface="Open Sans"/>
                        <a:ea typeface="Open Sans"/>
                        <a:cs typeface="Open Sans"/>
                        <a:sym typeface="Open Sans"/>
                      </a:endParaRPr>
                    </a:p>
                  </a:txBody>
                  <a:tcPr marL="68600" marR="68600" marT="34300" marB="34300" anchor="ctr">
                    <a:solidFill>
                      <a:srgbClr val="BFBFBF"/>
                    </a:solidFill>
                  </a:tcPr>
                </a:tc>
                <a:extLst>
                  <a:ext uri="{0D108BD9-81ED-4DB2-BD59-A6C34878D82A}">
                    <a16:rowId xmlns:a16="http://schemas.microsoft.com/office/drawing/2014/main" val="10001"/>
                  </a:ext>
                </a:extLst>
              </a:tr>
              <a:tr h="338125">
                <a:tc>
                  <a:txBody>
                    <a:bodyPr/>
                    <a:lstStyle/>
                    <a:p>
                      <a:pPr marL="0" marR="0" lvl="0" indent="0" algn="l" rtl="0">
                        <a:lnSpc>
                          <a:spcPct val="100000"/>
                        </a:lnSpc>
                        <a:spcBef>
                          <a:spcPts val="0"/>
                        </a:spcBef>
                        <a:spcAft>
                          <a:spcPts val="0"/>
                        </a:spcAft>
                        <a:buClr>
                          <a:schemeClr val="lt1"/>
                        </a:buClr>
                        <a:buSzPts val="1200"/>
                        <a:buFont typeface="Abel"/>
                        <a:buNone/>
                      </a:pPr>
                      <a:r>
                        <a:rPr lang="en" sz="1200" b="1" u="none" strike="noStrike" cap="none">
                          <a:solidFill>
                            <a:schemeClr val="lt1"/>
                          </a:solidFill>
                          <a:latin typeface="Open Sans"/>
                          <a:ea typeface="Open Sans"/>
                          <a:cs typeface="Open Sans"/>
                          <a:sym typeface="Open Sans"/>
                        </a:rPr>
                        <a:t>Growth through Presence &amp; Scale</a:t>
                      </a:r>
                      <a:endParaRPr sz="1100" b="1"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2"/>
                  </a:ext>
                </a:extLst>
              </a:tr>
              <a:tr h="892900">
                <a:tc>
                  <a:txBody>
                    <a:bodyPr/>
                    <a:lstStyle/>
                    <a:p>
                      <a:pPr marL="0" marR="0" lvl="0" indent="0" algn="just" rtl="0">
                        <a:lnSpc>
                          <a:spcPct val="100000"/>
                        </a:lnSpc>
                        <a:spcBef>
                          <a:spcPts val="0"/>
                        </a:spcBef>
                        <a:spcAft>
                          <a:spcPts val="0"/>
                        </a:spcAft>
                        <a:buClr>
                          <a:schemeClr val="lt1"/>
                        </a:buClr>
                        <a:buSzPts val="1000"/>
                        <a:buFont typeface="Abel"/>
                        <a:buNone/>
                      </a:pPr>
                      <a:r>
                        <a:rPr lang="en" sz="1000" u="none" strike="noStrike" cap="none">
                          <a:solidFill>
                            <a:schemeClr val="lt1"/>
                          </a:solidFill>
                          <a:latin typeface="Open Sans"/>
                          <a:ea typeface="Open Sans"/>
                          <a:cs typeface="Open Sans"/>
                          <a:sym typeface="Open Sans"/>
                        </a:rPr>
                        <a:t>Presence &amp; Scale is the goal of many living beings; the perceived strength and security is alluring but again, with size and position comes increased attack from others that seek the resource you consume. Maintenance and consistency is key here, as is discipline and awareness as it’s easy to become complacent and arrogant. Communication lines are essential and requires that it flows ‘both ways’. This is the stage that a quality Chairman or CEO shows their form, connecting and aligning teams to ‘stay on alert’ is primary. (this is definitely not a time to relax)</a:t>
                      </a:r>
                      <a:endParaRPr sz="1100"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3"/>
                  </a:ext>
                </a:extLst>
              </a:tr>
              <a:tr h="319725">
                <a:tc>
                  <a:txBody>
                    <a:bodyPr/>
                    <a:lstStyle/>
                    <a:p>
                      <a:pPr marL="0" marR="0" lvl="0" indent="0" algn="l" rtl="0">
                        <a:lnSpc>
                          <a:spcPct val="100000"/>
                        </a:lnSpc>
                        <a:spcBef>
                          <a:spcPts val="0"/>
                        </a:spcBef>
                        <a:spcAft>
                          <a:spcPts val="0"/>
                        </a:spcAft>
                        <a:buClr>
                          <a:schemeClr val="lt1"/>
                        </a:buClr>
                        <a:buSzPts val="1200"/>
                        <a:buFont typeface="Abel"/>
                        <a:buNone/>
                      </a:pPr>
                      <a:r>
                        <a:rPr lang="en" sz="1200" b="1" u="none" strike="noStrike" cap="none">
                          <a:solidFill>
                            <a:schemeClr val="lt1"/>
                          </a:solidFill>
                          <a:latin typeface="Open Sans"/>
                          <a:ea typeface="Open Sans"/>
                          <a:cs typeface="Open Sans"/>
                          <a:sym typeface="Open Sans"/>
                        </a:rPr>
                        <a:t>Growth through Alliances &amp; Acquisition</a:t>
                      </a:r>
                      <a:endParaRPr sz="1100" b="1"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4"/>
                  </a:ext>
                </a:extLst>
              </a:tr>
              <a:tr h="1219875">
                <a:tc>
                  <a:txBody>
                    <a:bodyPr/>
                    <a:lstStyle/>
                    <a:p>
                      <a:pPr marL="0" marR="0" lvl="0" indent="0" algn="just" rtl="0">
                        <a:lnSpc>
                          <a:spcPct val="100000"/>
                        </a:lnSpc>
                        <a:spcBef>
                          <a:spcPts val="0"/>
                        </a:spcBef>
                        <a:spcAft>
                          <a:spcPts val="0"/>
                        </a:spcAft>
                        <a:buClr>
                          <a:schemeClr val="lt1"/>
                        </a:buClr>
                        <a:buSzPts val="1000"/>
                        <a:buFont typeface="Abel"/>
                        <a:buNone/>
                      </a:pPr>
                      <a:r>
                        <a:rPr lang="en" sz="1000" u="none" strike="noStrike" cap="none">
                          <a:solidFill>
                            <a:schemeClr val="lt1"/>
                          </a:solidFill>
                          <a:latin typeface="Open Sans"/>
                          <a:ea typeface="Open Sans"/>
                          <a:cs typeface="Open Sans"/>
                          <a:sym typeface="Open Sans"/>
                        </a:rPr>
                        <a:t>Alliances and Acquisition is well described by the term ‘Leapfrog’ as you’re effectively using the skills and resource (primarily distribution &amp; market penetration) to achieve the expansive growth necessary to meet current consumption or  future growth needs. Whilst the previous level provided threats of a ‘knowledge based nature’, this stage provides equally as disruptive threats in the form of ‘human nature’. Much like a marriage, these steps are surrounded by optimistic emotions and are far easier to ‘get into than to get out of’. Understanding the difference between compromising and collaborating is critical at this level; far too often people ‘go along to get along’ out of fear of damaging early relations. This simply sets the scene for future ‘personality clashes’ and ‘political games’.</a:t>
                      </a:r>
                      <a:endParaRPr sz="1000" u="none" strike="noStrike" cap="none">
                        <a:solidFill>
                          <a:schemeClr val="lt1"/>
                        </a:solidFill>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5"/>
        <p:cNvGrpSpPr/>
        <p:nvPr/>
      </p:nvGrpSpPr>
      <p:grpSpPr>
        <a:xfrm>
          <a:off x="0" y="0"/>
          <a:ext cx="0" cy="0"/>
          <a:chOff x="0" y="0"/>
          <a:chExt cx="0" cy="0"/>
        </a:xfrm>
      </p:grpSpPr>
      <p:sp>
        <p:nvSpPr>
          <p:cNvPr id="286" name="Google Shape;286;p38"/>
          <p:cNvSpPr txBox="1">
            <a:spLocks noGrp="1"/>
          </p:cNvSpPr>
          <p:nvPr>
            <p:ph type="title"/>
          </p:nvPr>
        </p:nvSpPr>
        <p:spPr>
          <a:xfrm>
            <a:off x="256450" y="170450"/>
            <a:ext cx="8258700" cy="7458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002B64"/>
                </a:solidFill>
                <a:latin typeface="Open Sans"/>
                <a:ea typeface="Open Sans"/>
                <a:cs typeface="Open Sans"/>
                <a:sym typeface="Open Sans"/>
              </a:rPr>
              <a:t>Growth Fundamentals – ‘The Devil’s Toilet’</a:t>
            </a:r>
            <a:endParaRPr sz="2400" i="0" u="none" strike="noStrike" cap="none">
              <a:solidFill>
                <a:srgbClr val="002B64"/>
              </a:solidFill>
              <a:latin typeface="Open Sans"/>
              <a:ea typeface="Open Sans"/>
              <a:cs typeface="Open Sans"/>
              <a:sym typeface="Open Sans"/>
            </a:endParaRPr>
          </a:p>
        </p:txBody>
      </p:sp>
      <p:sp>
        <p:nvSpPr>
          <p:cNvPr id="287" name="Google Shape;287;p3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17</a:t>
            </a:fld>
            <a:endParaRPr/>
          </a:p>
        </p:txBody>
      </p:sp>
      <p:sp>
        <p:nvSpPr>
          <p:cNvPr id="288" name="Google Shape;288;p38"/>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9" name="Google Shape;289;p38"/>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0" name="Google Shape;290;p38"/>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1" name="Google Shape;291;p38"/>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2" name="Google Shape;292;p38"/>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3" name="Google Shape;293;p38"/>
          <p:cNvSpPr txBox="1">
            <a:spLocks noGrp="1"/>
          </p:cNvSpPr>
          <p:nvPr>
            <p:ph type="body" idx="1"/>
          </p:nvPr>
        </p:nvSpPr>
        <p:spPr>
          <a:xfrm>
            <a:off x="256450" y="916250"/>
            <a:ext cx="4820400" cy="2646300"/>
          </a:xfrm>
          <a:prstGeom prst="rect">
            <a:avLst/>
          </a:prstGeom>
          <a:noFill/>
          <a:ln>
            <a:noFill/>
          </a:ln>
        </p:spPr>
        <p:txBody>
          <a:bodyPr spcFirstLastPara="1" wrap="square" lIns="68575" tIns="34275" rIns="68575" bIns="34275" anchor="t" anchorCtr="0">
            <a:noAutofit/>
          </a:bodyPr>
          <a:lstStyle/>
          <a:p>
            <a:pPr marL="0" lvl="0" indent="0" algn="just" rtl="0">
              <a:lnSpc>
                <a:spcPct val="115000"/>
              </a:lnSpc>
              <a:spcBef>
                <a:spcPts val="0"/>
              </a:spcBef>
              <a:spcAft>
                <a:spcPts val="0"/>
              </a:spcAft>
              <a:buClr>
                <a:schemeClr val="dk1"/>
              </a:buClr>
              <a:buSzPts val="800"/>
              <a:buFont typeface="Arial"/>
              <a:buNone/>
            </a:pPr>
            <a:r>
              <a:rPr lang="en" sz="1100">
                <a:solidFill>
                  <a:srgbClr val="434343"/>
                </a:solidFill>
                <a:latin typeface="Open Sans"/>
                <a:ea typeface="Open Sans"/>
                <a:cs typeface="Open Sans"/>
                <a:sym typeface="Open Sans"/>
              </a:rPr>
              <a:t>The ‘Devil’s Toilet’ is a well known rapid on the Zambezi river which requires careful navigation, else it will ‘suck you in backwards’ as you attempt to raft a course to avoid it.</a:t>
            </a:r>
            <a:endParaRPr sz="1100">
              <a:solidFill>
                <a:srgbClr val="434343"/>
              </a:solidFill>
              <a:latin typeface="Open Sans"/>
              <a:ea typeface="Open Sans"/>
              <a:cs typeface="Open Sans"/>
              <a:sym typeface="Open Sans"/>
            </a:endParaRPr>
          </a:p>
          <a:p>
            <a:pPr marL="0" lvl="0" indent="0" algn="just" rtl="0">
              <a:lnSpc>
                <a:spcPct val="115000"/>
              </a:lnSpc>
              <a:spcBef>
                <a:spcPts val="0"/>
              </a:spcBef>
              <a:spcAft>
                <a:spcPts val="0"/>
              </a:spcAft>
              <a:buClr>
                <a:schemeClr val="dk1"/>
              </a:buClr>
              <a:buSzPts val="800"/>
              <a:buFont typeface="Arial"/>
              <a:buNone/>
            </a:pPr>
            <a:r>
              <a:rPr lang="en" sz="1100">
                <a:solidFill>
                  <a:srgbClr val="434343"/>
                </a:solidFill>
                <a:latin typeface="Open Sans"/>
                <a:ea typeface="Open Sans"/>
                <a:cs typeface="Open Sans"/>
                <a:sym typeface="Open Sans"/>
              </a:rPr>
              <a:t>The ‘Devil’s Toilet’ in business growth terms is not unlike the Zambezi rapid... As you centre your attention on the path or tasks ahead you must remain aware of the ‘pulling and sucking forces’ that try to knock you off your chosen course.</a:t>
            </a:r>
            <a:endParaRPr sz="1100">
              <a:solidFill>
                <a:srgbClr val="434343"/>
              </a:solidFill>
              <a:latin typeface="Open Sans"/>
              <a:ea typeface="Open Sans"/>
              <a:cs typeface="Open Sans"/>
              <a:sym typeface="Open Sans"/>
            </a:endParaRPr>
          </a:p>
          <a:p>
            <a:pPr marL="0" lvl="0" indent="0" algn="just" rtl="0">
              <a:lnSpc>
                <a:spcPct val="115000"/>
              </a:lnSpc>
              <a:spcBef>
                <a:spcPts val="0"/>
              </a:spcBef>
              <a:spcAft>
                <a:spcPts val="0"/>
              </a:spcAft>
              <a:buClr>
                <a:schemeClr val="dk1"/>
              </a:buClr>
              <a:buSzPts val="800"/>
              <a:buFont typeface="Arial"/>
              <a:buNone/>
            </a:pPr>
            <a:endParaRPr sz="900">
              <a:solidFill>
                <a:srgbClr val="434343"/>
              </a:solidFill>
              <a:latin typeface="Open Sans"/>
              <a:ea typeface="Open Sans"/>
              <a:cs typeface="Open Sans"/>
              <a:sym typeface="Open Sans"/>
            </a:endParaRPr>
          </a:p>
          <a:p>
            <a:pPr marL="0" lvl="0" indent="0" algn="just" rtl="0">
              <a:lnSpc>
                <a:spcPct val="115000"/>
              </a:lnSpc>
              <a:spcBef>
                <a:spcPts val="0"/>
              </a:spcBef>
              <a:spcAft>
                <a:spcPts val="0"/>
              </a:spcAft>
              <a:buClr>
                <a:schemeClr val="dk1"/>
              </a:buClr>
              <a:buSzPts val="800"/>
              <a:buFont typeface="Arial"/>
              <a:buNone/>
            </a:pPr>
            <a:r>
              <a:rPr lang="en" sz="1100">
                <a:solidFill>
                  <a:srgbClr val="434343"/>
                </a:solidFill>
                <a:latin typeface="Open Sans"/>
                <a:ea typeface="Open Sans"/>
                <a:cs typeface="Open Sans"/>
                <a:sym typeface="Open Sans"/>
              </a:rPr>
              <a:t>Recognising that business growth involves elements of scale is critical to your success; we refer to them as Profit Plateau Levels and they’re like a series of rapids in that they don’t always appear ‘above the surface’. Just like the Zambezi river however, they will provide serious challenges that will confront you many times throughout your business journey.</a:t>
            </a:r>
            <a:endParaRPr sz="1000">
              <a:solidFill>
                <a:srgbClr val="434343"/>
              </a:solidFill>
              <a:latin typeface="Open Sans"/>
              <a:ea typeface="Open Sans"/>
              <a:cs typeface="Open Sans"/>
              <a:sym typeface="Open Sans"/>
            </a:endParaRPr>
          </a:p>
        </p:txBody>
      </p:sp>
      <p:pic>
        <p:nvPicPr>
          <p:cNvPr id="294" name="Google Shape;294;p38"/>
          <p:cNvPicPr preferRelativeResize="0"/>
          <p:nvPr/>
        </p:nvPicPr>
        <p:blipFill rotWithShape="1">
          <a:blip r:embed="rId3">
            <a:alphaModFix/>
          </a:blip>
          <a:srcRect/>
          <a:stretch/>
        </p:blipFill>
        <p:spPr>
          <a:xfrm>
            <a:off x="5141283" y="916290"/>
            <a:ext cx="3743226" cy="2646293"/>
          </a:xfrm>
          <a:prstGeom prst="rect">
            <a:avLst/>
          </a:prstGeom>
          <a:noFill/>
          <a:ln>
            <a:noFill/>
          </a:ln>
        </p:spPr>
      </p:pic>
      <p:sp>
        <p:nvSpPr>
          <p:cNvPr id="295" name="Google Shape;295;p38"/>
          <p:cNvSpPr txBox="1"/>
          <p:nvPr/>
        </p:nvSpPr>
        <p:spPr>
          <a:xfrm>
            <a:off x="243500" y="3686600"/>
            <a:ext cx="8640900" cy="10458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chemeClr val="dk1"/>
              </a:buClr>
              <a:buSzPts val="800"/>
              <a:buFont typeface="Arial"/>
              <a:buNone/>
            </a:pPr>
            <a:r>
              <a:rPr lang="en" sz="1100" i="0" u="none" strike="noStrike" cap="none">
                <a:solidFill>
                  <a:srgbClr val="434343"/>
                </a:solidFill>
                <a:latin typeface="Open Sans"/>
                <a:ea typeface="Open Sans"/>
                <a:cs typeface="Open Sans"/>
                <a:sym typeface="Open Sans"/>
              </a:rPr>
              <a:t>Each business stage could be viewed as another dangerous rapid but nowhere is this more treacherous than between the stages of ‘lifestyle to leverage’. A high degree of complacency can exist here; combined with the potential for fatigue from the significant effort required to achieve the ‘lifestyle’ level in the first place.</a:t>
            </a:r>
            <a:endParaRPr sz="11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800"/>
              <a:buFont typeface="Arial"/>
              <a:buNone/>
            </a:pPr>
            <a:r>
              <a:rPr lang="en" sz="1100" i="0" u="none" strike="noStrike" cap="none">
                <a:solidFill>
                  <a:srgbClr val="434343"/>
                </a:solidFill>
                <a:latin typeface="Open Sans"/>
                <a:ea typeface="Open Sans"/>
                <a:cs typeface="Open Sans"/>
                <a:sym typeface="Open Sans"/>
              </a:rPr>
              <a:t>When rafting the Zambezi you should ‘rest for lunch’ before attempting the Devil’s Toilet; the business equivalent is to ‘bank your profits’ and improve your systems before setting off for glory...</a:t>
            </a:r>
            <a:endParaRPr sz="11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p39"/>
          <p:cNvSpPr txBox="1">
            <a:spLocks noGrp="1"/>
          </p:cNvSpPr>
          <p:nvPr>
            <p:ph type="title"/>
          </p:nvPr>
        </p:nvSpPr>
        <p:spPr>
          <a:xfrm>
            <a:off x="261775" y="170450"/>
            <a:ext cx="7717500" cy="5946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i="0" u="none" strike="noStrike" cap="none">
                <a:solidFill>
                  <a:srgbClr val="002B64"/>
                </a:solidFill>
                <a:latin typeface="Open Sans"/>
                <a:ea typeface="Open Sans"/>
                <a:cs typeface="Open Sans"/>
                <a:sym typeface="Open Sans"/>
              </a:rPr>
              <a:t>Growth Fundamentals – ‘The Split Point’</a:t>
            </a:r>
            <a:endParaRPr sz="2400" i="0" u="none" strike="noStrike" cap="none">
              <a:solidFill>
                <a:srgbClr val="002B64"/>
              </a:solidFill>
              <a:latin typeface="Open Sans"/>
              <a:ea typeface="Open Sans"/>
              <a:cs typeface="Open Sans"/>
              <a:sym typeface="Open Sans"/>
            </a:endParaRPr>
          </a:p>
        </p:txBody>
      </p:sp>
      <p:sp>
        <p:nvSpPr>
          <p:cNvPr id="301" name="Google Shape;301;p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18</a:t>
            </a:fld>
            <a:endParaRPr/>
          </a:p>
        </p:txBody>
      </p:sp>
      <p:sp>
        <p:nvSpPr>
          <p:cNvPr id="302" name="Google Shape;302;p39"/>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3" name="Google Shape;303;p39"/>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4" name="Google Shape;304;p39"/>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5" name="Google Shape;305;p39"/>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6" name="Google Shape;306;p39"/>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7" name="Google Shape;307;p39"/>
          <p:cNvSpPr txBox="1">
            <a:spLocks noGrp="1"/>
          </p:cNvSpPr>
          <p:nvPr>
            <p:ph type="body" idx="1"/>
          </p:nvPr>
        </p:nvSpPr>
        <p:spPr>
          <a:xfrm>
            <a:off x="261775" y="851400"/>
            <a:ext cx="4772400" cy="2539200"/>
          </a:xfrm>
          <a:prstGeom prst="rect">
            <a:avLst/>
          </a:prstGeom>
          <a:noFill/>
          <a:ln>
            <a:noFill/>
          </a:ln>
        </p:spPr>
        <p:txBody>
          <a:bodyPr spcFirstLastPara="1" wrap="square" lIns="68575" tIns="34275" rIns="68575" bIns="34275" anchor="t" anchorCtr="0">
            <a:noAutofit/>
          </a:bodyPr>
          <a:lstStyle/>
          <a:p>
            <a:pPr marL="0" lvl="0" indent="0" algn="just" rtl="0">
              <a:lnSpc>
                <a:spcPct val="115000"/>
              </a:lnSpc>
              <a:spcBef>
                <a:spcPts val="0"/>
              </a:spcBef>
              <a:spcAft>
                <a:spcPts val="0"/>
              </a:spcAft>
              <a:buClr>
                <a:schemeClr val="dk1"/>
              </a:buClr>
              <a:buSzPts val="800"/>
              <a:buFont typeface="Arial"/>
              <a:buNone/>
            </a:pPr>
            <a:r>
              <a:rPr lang="en" sz="1100">
                <a:solidFill>
                  <a:srgbClr val="434343"/>
                </a:solidFill>
                <a:latin typeface="Open Sans"/>
                <a:ea typeface="Open Sans"/>
                <a:cs typeface="Open Sans"/>
                <a:sym typeface="Open Sans"/>
              </a:rPr>
              <a:t>‘The ‘Split Point’ is the stage at which your business suddenly becomes far greater than just you (the owner).</a:t>
            </a:r>
            <a:endParaRPr sz="1100">
              <a:solidFill>
                <a:srgbClr val="434343"/>
              </a:solidFill>
              <a:latin typeface="Open Sans"/>
              <a:ea typeface="Open Sans"/>
              <a:cs typeface="Open Sans"/>
              <a:sym typeface="Open Sans"/>
            </a:endParaRPr>
          </a:p>
          <a:p>
            <a:pPr marL="0" lvl="0" indent="0" algn="just" rtl="0">
              <a:lnSpc>
                <a:spcPct val="115000"/>
              </a:lnSpc>
              <a:spcBef>
                <a:spcPts val="0"/>
              </a:spcBef>
              <a:spcAft>
                <a:spcPts val="0"/>
              </a:spcAft>
              <a:buClr>
                <a:schemeClr val="dk1"/>
              </a:buClr>
              <a:buSzPts val="800"/>
              <a:buFont typeface="Arial"/>
              <a:buNone/>
            </a:pPr>
            <a:r>
              <a:rPr lang="en" sz="1100">
                <a:solidFill>
                  <a:srgbClr val="434343"/>
                </a:solidFill>
                <a:latin typeface="Open Sans"/>
                <a:ea typeface="Open Sans"/>
                <a:cs typeface="Open Sans"/>
                <a:sym typeface="Open Sans"/>
              </a:rPr>
              <a:t>This is the point when you realise that ‘what got you here, won’t get you there’ and you have to step aside and let the team around you drive the future stages of business growth.</a:t>
            </a:r>
            <a:endParaRPr sz="1100">
              <a:solidFill>
                <a:srgbClr val="434343"/>
              </a:solidFill>
              <a:latin typeface="Open Sans"/>
              <a:ea typeface="Open Sans"/>
              <a:cs typeface="Open Sans"/>
              <a:sym typeface="Open Sans"/>
            </a:endParaRPr>
          </a:p>
          <a:p>
            <a:pPr marL="0" lvl="0" indent="0" algn="just" rtl="0">
              <a:lnSpc>
                <a:spcPct val="115000"/>
              </a:lnSpc>
              <a:spcBef>
                <a:spcPts val="0"/>
              </a:spcBef>
              <a:spcAft>
                <a:spcPts val="0"/>
              </a:spcAft>
              <a:buClr>
                <a:schemeClr val="dk1"/>
              </a:buClr>
              <a:buSzPts val="800"/>
              <a:buFont typeface="Arial"/>
              <a:buNone/>
            </a:pPr>
            <a:r>
              <a:rPr lang="en" sz="1100">
                <a:solidFill>
                  <a:srgbClr val="434343"/>
                </a:solidFill>
                <a:latin typeface="Open Sans"/>
                <a:ea typeface="Open Sans"/>
                <a:cs typeface="Open Sans"/>
                <a:sym typeface="Open Sans"/>
              </a:rPr>
              <a:t>(Scary ain’t it!)</a:t>
            </a:r>
            <a:endParaRPr sz="1100">
              <a:solidFill>
                <a:srgbClr val="434343"/>
              </a:solidFill>
              <a:latin typeface="Open Sans"/>
              <a:ea typeface="Open Sans"/>
              <a:cs typeface="Open Sans"/>
              <a:sym typeface="Open Sans"/>
            </a:endParaRPr>
          </a:p>
          <a:p>
            <a:pPr marL="0" lvl="0" indent="0" algn="just" rtl="0">
              <a:lnSpc>
                <a:spcPct val="115000"/>
              </a:lnSpc>
              <a:spcBef>
                <a:spcPts val="0"/>
              </a:spcBef>
              <a:spcAft>
                <a:spcPts val="0"/>
              </a:spcAft>
              <a:buClr>
                <a:schemeClr val="dk1"/>
              </a:buClr>
              <a:buSzPts val="800"/>
              <a:buFont typeface="Arial"/>
              <a:buNone/>
            </a:pPr>
            <a:endParaRPr sz="600">
              <a:solidFill>
                <a:srgbClr val="434343"/>
              </a:solidFill>
              <a:latin typeface="Open Sans"/>
              <a:ea typeface="Open Sans"/>
              <a:cs typeface="Open Sans"/>
              <a:sym typeface="Open Sans"/>
            </a:endParaRPr>
          </a:p>
          <a:p>
            <a:pPr marL="0" lvl="0" indent="0" algn="just" rtl="0">
              <a:lnSpc>
                <a:spcPct val="115000"/>
              </a:lnSpc>
              <a:spcBef>
                <a:spcPts val="0"/>
              </a:spcBef>
              <a:spcAft>
                <a:spcPts val="0"/>
              </a:spcAft>
              <a:buClr>
                <a:schemeClr val="dk1"/>
              </a:buClr>
              <a:buSzPts val="800"/>
              <a:buFont typeface="Arial"/>
              <a:buNone/>
            </a:pPr>
            <a:r>
              <a:rPr lang="en" sz="1100">
                <a:solidFill>
                  <a:srgbClr val="434343"/>
                </a:solidFill>
                <a:latin typeface="Open Sans"/>
                <a:ea typeface="Open Sans"/>
                <a:cs typeface="Open Sans"/>
                <a:sym typeface="Open Sans"/>
              </a:rPr>
              <a:t>Many business owners travel through the ‘journey’ of ‘Dreamer’ to ‘Creator’ to ‘Technician’ to ‘Salesman” through to ‘Manager’ and eventually arrive at the lofty position of ‘Dog’s body’. The key is to recognise the skills needed of you in the ‘future business’ and to understand that in most cases, the answer does not lie in you doing everything for yourself.</a:t>
            </a:r>
            <a:endParaRPr sz="1100">
              <a:solidFill>
                <a:srgbClr val="434343"/>
              </a:solidFill>
              <a:latin typeface="Open Sans"/>
              <a:ea typeface="Open Sans"/>
              <a:cs typeface="Open Sans"/>
              <a:sym typeface="Open Sans"/>
            </a:endParaRPr>
          </a:p>
        </p:txBody>
      </p:sp>
      <p:sp>
        <p:nvSpPr>
          <p:cNvPr id="308" name="Google Shape;308;p39"/>
          <p:cNvSpPr txBox="1"/>
          <p:nvPr/>
        </p:nvSpPr>
        <p:spPr>
          <a:xfrm>
            <a:off x="261775" y="3443175"/>
            <a:ext cx="8606100" cy="13602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chemeClr val="dk1"/>
              </a:buClr>
              <a:buSzPts val="800"/>
              <a:buFont typeface="Arial"/>
              <a:buNone/>
            </a:pPr>
            <a:r>
              <a:rPr lang="en" sz="1100" i="0" u="none" strike="noStrike" cap="none">
                <a:solidFill>
                  <a:srgbClr val="434343"/>
                </a:solidFill>
                <a:latin typeface="Open Sans"/>
                <a:ea typeface="Open Sans"/>
                <a:cs typeface="Open Sans"/>
                <a:sym typeface="Open Sans"/>
              </a:rPr>
              <a:t>The trick then, is to know enough to be able to make informed decisions about who you hire and what you need them to do for your business. Thereafter,  your focus will shift from ‘Visionary’ to ‘Cheerleader’ as you realise the greatest impact you can have on your business is to get the best out of those around you.</a:t>
            </a:r>
            <a:endParaRPr sz="11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chemeClr val="dk1"/>
              </a:buClr>
              <a:buSzPts val="800"/>
              <a:buFont typeface="Arial"/>
              <a:buNone/>
            </a:pPr>
            <a:r>
              <a:rPr lang="en" sz="1100" i="0" u="none" strike="noStrike" cap="none">
                <a:solidFill>
                  <a:srgbClr val="434343"/>
                </a:solidFill>
                <a:latin typeface="Open Sans"/>
                <a:ea typeface="Open Sans"/>
                <a:cs typeface="Open Sans"/>
                <a:sym typeface="Open Sans"/>
              </a:rPr>
              <a:t>Remember always, the task has a value – the person doesn’t. What we mean by that is, a local supermarket can’t afford to pay $650 an hour to a guy who packs grocery bags, just because he’s qualified as a surgeon...</a:t>
            </a:r>
            <a:endParaRPr sz="11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800"/>
              <a:buFont typeface="Arial"/>
              <a:buNone/>
            </a:pPr>
            <a:r>
              <a:rPr lang="en" sz="1100" i="0" u="none" strike="noStrike" cap="none">
                <a:solidFill>
                  <a:srgbClr val="434343"/>
                </a:solidFill>
                <a:latin typeface="Open Sans"/>
                <a:ea typeface="Open Sans"/>
                <a:cs typeface="Open Sans"/>
                <a:sym typeface="Open Sans"/>
              </a:rPr>
              <a:t>Your job (as the owner) is to determine the priority (and the value) of the tasks required by your business...</a:t>
            </a:r>
            <a:endParaRPr sz="1100" i="0" u="none" strike="noStrike" cap="none">
              <a:solidFill>
                <a:srgbClr val="434343"/>
              </a:solidFill>
              <a:latin typeface="Open Sans"/>
              <a:ea typeface="Open Sans"/>
              <a:cs typeface="Open Sans"/>
              <a:sym typeface="Open Sans"/>
            </a:endParaRPr>
          </a:p>
        </p:txBody>
      </p:sp>
      <p:pic>
        <p:nvPicPr>
          <p:cNvPr id="309" name="Google Shape;309;p39"/>
          <p:cNvPicPr preferRelativeResize="0"/>
          <p:nvPr/>
        </p:nvPicPr>
        <p:blipFill rotWithShape="1">
          <a:blip r:embed="rId3">
            <a:alphaModFix/>
          </a:blip>
          <a:srcRect/>
          <a:stretch/>
        </p:blipFill>
        <p:spPr>
          <a:xfrm>
            <a:off x="5141550" y="851400"/>
            <a:ext cx="3669799" cy="25391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6"/>
        <p:cNvGrpSpPr/>
        <p:nvPr/>
      </p:nvGrpSpPr>
      <p:grpSpPr>
        <a:xfrm>
          <a:off x="0" y="0"/>
          <a:ext cx="0" cy="0"/>
          <a:chOff x="0" y="0"/>
          <a:chExt cx="0" cy="0"/>
        </a:xfrm>
      </p:grpSpPr>
      <p:sp>
        <p:nvSpPr>
          <p:cNvPr id="447" name="Google Shape;447;p4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19</a:t>
            </a:fld>
            <a:endParaRPr sz="1100"/>
          </a:p>
        </p:txBody>
      </p:sp>
      <p:sp>
        <p:nvSpPr>
          <p:cNvPr id="448" name="Google Shape;448;p48"/>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49" name="Google Shape;449;p48"/>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50" name="Google Shape;450;p48"/>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51" name="Google Shape;451;p48"/>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52" name="Google Shape;452;p48"/>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53" name="Google Shape;453;p48"/>
          <p:cNvSpPr txBox="1">
            <a:spLocks noGrp="1"/>
          </p:cNvSpPr>
          <p:nvPr>
            <p:ph type="title"/>
          </p:nvPr>
        </p:nvSpPr>
        <p:spPr>
          <a:xfrm>
            <a:off x="339038" y="293569"/>
            <a:ext cx="7886700" cy="7536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Explaining the 9 Growth Aspects</a:t>
            </a:r>
            <a:endParaRPr sz="2400">
              <a:solidFill>
                <a:srgbClr val="002B64"/>
              </a:solidFill>
              <a:latin typeface="Open Sans"/>
              <a:ea typeface="Open Sans"/>
              <a:cs typeface="Open Sans"/>
              <a:sym typeface="Open Sans"/>
            </a:endParaRPr>
          </a:p>
        </p:txBody>
      </p:sp>
      <p:sp>
        <p:nvSpPr>
          <p:cNvPr id="454" name="Google Shape;454;p48"/>
          <p:cNvSpPr txBox="1">
            <a:spLocks noGrp="1"/>
          </p:cNvSpPr>
          <p:nvPr>
            <p:ph type="body" idx="1"/>
          </p:nvPr>
        </p:nvSpPr>
        <p:spPr>
          <a:xfrm>
            <a:off x="339039" y="1382911"/>
            <a:ext cx="8337300" cy="2713500"/>
          </a:xfrm>
          <a:prstGeom prst="rect">
            <a:avLst/>
          </a:prstGeom>
          <a:noFill/>
          <a:ln>
            <a:noFill/>
          </a:ln>
        </p:spPr>
        <p:txBody>
          <a:bodyPr spcFirstLastPara="1" wrap="square" lIns="68575" tIns="34275" rIns="68575" bIns="34275" anchor="t" anchorCtr="0">
            <a:noAutofit/>
          </a:bodyPr>
          <a:lstStyle/>
          <a:p>
            <a:pPr marL="0" lvl="0" indent="0" algn="just" rtl="0">
              <a:lnSpc>
                <a:spcPct val="130000"/>
              </a:lnSpc>
              <a:spcBef>
                <a:spcPts val="0"/>
              </a:spcBef>
              <a:spcAft>
                <a:spcPts val="0"/>
              </a:spcAft>
              <a:buClr>
                <a:schemeClr val="lt1"/>
              </a:buClr>
              <a:buSzPts val="1700"/>
              <a:buNone/>
            </a:pPr>
            <a:r>
              <a:rPr lang="en" sz="1700">
                <a:solidFill>
                  <a:srgbClr val="434343"/>
                </a:solidFill>
                <a:latin typeface="Open Sans"/>
                <a:ea typeface="Open Sans"/>
                <a:cs typeface="Open Sans"/>
                <a:sym typeface="Open Sans"/>
              </a:rPr>
              <a:t>Each  of  the 9 ‘Growth Stages’ are  supported  by 9 ‘Growth Aspects’ to ensure that </a:t>
            </a:r>
            <a:r>
              <a:rPr lang="en" sz="1700" u="sng">
                <a:solidFill>
                  <a:srgbClr val="434343"/>
                </a:solidFill>
                <a:latin typeface="Open Sans"/>
                <a:ea typeface="Open Sans"/>
                <a:cs typeface="Open Sans"/>
                <a:sym typeface="Open Sans"/>
              </a:rPr>
              <a:t>at each level</a:t>
            </a:r>
            <a:r>
              <a:rPr lang="en" sz="1700">
                <a:solidFill>
                  <a:srgbClr val="434343"/>
                </a:solidFill>
                <a:latin typeface="Open Sans"/>
                <a:ea typeface="Open Sans"/>
                <a:cs typeface="Open Sans"/>
                <a:sym typeface="Open Sans"/>
              </a:rPr>
              <a:t>, the business objectives remain balanced and the business is not ‘overly consumed’ by the pursuit of improvement and ‘Growth.</a:t>
            </a:r>
            <a:endParaRPr sz="1100">
              <a:solidFill>
                <a:srgbClr val="434343"/>
              </a:solidFill>
              <a:latin typeface="Open Sans"/>
              <a:ea typeface="Open Sans"/>
              <a:cs typeface="Open Sans"/>
              <a:sym typeface="Open Sans"/>
            </a:endParaRPr>
          </a:p>
          <a:p>
            <a:pPr marL="0" lvl="0" indent="0" algn="just" rtl="0">
              <a:lnSpc>
                <a:spcPct val="130000"/>
              </a:lnSpc>
              <a:spcBef>
                <a:spcPts val="800"/>
              </a:spcBef>
              <a:spcAft>
                <a:spcPts val="0"/>
              </a:spcAft>
              <a:buClr>
                <a:schemeClr val="dk1"/>
              </a:buClr>
              <a:buSzPts val="1700"/>
              <a:buNone/>
            </a:pPr>
            <a:endParaRPr sz="1700">
              <a:solidFill>
                <a:srgbClr val="434343"/>
              </a:solidFill>
              <a:latin typeface="Open Sans"/>
              <a:ea typeface="Open Sans"/>
              <a:cs typeface="Open Sans"/>
              <a:sym typeface="Open Sans"/>
            </a:endParaRPr>
          </a:p>
          <a:p>
            <a:pPr marL="0" lvl="0" indent="0" algn="just" rtl="0">
              <a:lnSpc>
                <a:spcPct val="130000"/>
              </a:lnSpc>
              <a:spcBef>
                <a:spcPts val="800"/>
              </a:spcBef>
              <a:spcAft>
                <a:spcPts val="0"/>
              </a:spcAft>
              <a:buClr>
                <a:srgbClr val="FFD966"/>
              </a:buClr>
              <a:buSzPts val="1700"/>
              <a:buNone/>
            </a:pPr>
            <a:r>
              <a:rPr lang="en" sz="1700">
                <a:solidFill>
                  <a:srgbClr val="434343"/>
                </a:solidFill>
                <a:latin typeface="Open Sans"/>
                <a:ea typeface="Open Sans"/>
                <a:cs typeface="Open Sans"/>
                <a:sym typeface="Open Sans"/>
              </a:rPr>
              <a:t>(These are the tasks that still need to be completed effectively, AT EVERY STAGE of business growth)</a:t>
            </a:r>
            <a:endParaRPr sz="900">
              <a:solidFill>
                <a:srgbClr val="434343"/>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5"/>
        <p:cNvGrpSpPr/>
        <p:nvPr/>
      </p:nvGrpSpPr>
      <p:grpSpPr>
        <a:xfrm>
          <a:off x="0" y="0"/>
          <a:ext cx="0" cy="0"/>
          <a:chOff x="0" y="0"/>
          <a:chExt cx="0" cy="0"/>
        </a:xfrm>
      </p:grpSpPr>
      <p:pic>
        <p:nvPicPr>
          <p:cNvPr id="426" name="Google Shape;426;p47"/>
          <p:cNvPicPr preferRelativeResize="0"/>
          <p:nvPr/>
        </p:nvPicPr>
        <p:blipFill rotWithShape="1">
          <a:blip r:embed="rId3">
            <a:alphaModFix/>
          </a:blip>
          <a:srcRect/>
          <a:stretch/>
        </p:blipFill>
        <p:spPr>
          <a:xfrm>
            <a:off x="-678929" y="622325"/>
            <a:ext cx="6534726" cy="4381872"/>
          </a:xfrm>
          <a:prstGeom prst="rect">
            <a:avLst/>
          </a:prstGeom>
          <a:noFill/>
          <a:ln>
            <a:noFill/>
          </a:ln>
        </p:spPr>
      </p:pic>
      <p:sp>
        <p:nvSpPr>
          <p:cNvPr id="427" name="Google Shape;427;p47"/>
          <p:cNvSpPr txBox="1"/>
          <p:nvPr/>
        </p:nvSpPr>
        <p:spPr>
          <a:xfrm rot="-4159294">
            <a:off x="2312601" y="1274641"/>
            <a:ext cx="1364399" cy="484868"/>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Process</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Improvement</a:t>
            </a:r>
            <a:endParaRPr sz="1100" b="0" i="0" u="none" strike="noStrike" cap="none">
              <a:solidFill>
                <a:srgbClr val="000000"/>
              </a:solidFill>
              <a:latin typeface="Arial"/>
              <a:ea typeface="Arial"/>
              <a:cs typeface="Arial"/>
              <a:sym typeface="Arial"/>
            </a:endParaRPr>
          </a:p>
        </p:txBody>
      </p:sp>
      <p:sp>
        <p:nvSpPr>
          <p:cNvPr id="428" name="Google Shape;428;p47"/>
          <p:cNvSpPr txBox="1"/>
          <p:nvPr/>
        </p:nvSpPr>
        <p:spPr>
          <a:xfrm rot="-1767698">
            <a:off x="3042304" y="1964686"/>
            <a:ext cx="1415092" cy="276998"/>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Customer Focus</a:t>
            </a:r>
            <a:endParaRPr sz="1100" b="0" i="0" u="none" strike="noStrike" cap="none">
              <a:solidFill>
                <a:srgbClr val="000000"/>
              </a:solidFill>
              <a:latin typeface="Arial"/>
              <a:ea typeface="Arial"/>
              <a:cs typeface="Arial"/>
              <a:sym typeface="Arial"/>
            </a:endParaRPr>
          </a:p>
        </p:txBody>
      </p:sp>
      <p:sp>
        <p:nvSpPr>
          <p:cNvPr id="429" name="Google Shape;429;p47"/>
          <p:cNvSpPr txBox="1"/>
          <p:nvPr/>
        </p:nvSpPr>
        <p:spPr>
          <a:xfrm rot="319505">
            <a:off x="3434589" y="2879948"/>
            <a:ext cx="1095829" cy="276905"/>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Sales</a:t>
            </a:r>
            <a:endParaRPr sz="1100" b="0" i="0" u="none" strike="noStrike" cap="none">
              <a:solidFill>
                <a:srgbClr val="000000"/>
              </a:solidFill>
              <a:latin typeface="Arial"/>
              <a:ea typeface="Arial"/>
              <a:cs typeface="Arial"/>
              <a:sym typeface="Arial"/>
            </a:endParaRPr>
          </a:p>
        </p:txBody>
      </p:sp>
      <p:sp>
        <p:nvSpPr>
          <p:cNvPr id="430" name="Google Shape;430;p47"/>
          <p:cNvSpPr txBox="1"/>
          <p:nvPr/>
        </p:nvSpPr>
        <p:spPr>
          <a:xfrm rot="2894868">
            <a:off x="2895397" y="3731042"/>
            <a:ext cx="1130783" cy="277065"/>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Authenticity</a:t>
            </a:r>
            <a:endParaRPr sz="1100" b="0" i="0" u="none" strike="noStrike" cap="none">
              <a:solidFill>
                <a:srgbClr val="000000"/>
              </a:solidFill>
              <a:latin typeface="Arial"/>
              <a:ea typeface="Arial"/>
              <a:cs typeface="Arial"/>
              <a:sym typeface="Arial"/>
            </a:endParaRPr>
          </a:p>
        </p:txBody>
      </p:sp>
      <p:sp>
        <p:nvSpPr>
          <p:cNvPr id="431" name="Google Shape;431;p47"/>
          <p:cNvSpPr txBox="1"/>
          <p:nvPr/>
        </p:nvSpPr>
        <p:spPr>
          <a:xfrm rot="-5400000">
            <a:off x="1867275" y="3894525"/>
            <a:ext cx="1419900" cy="4848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Inventory &amp;</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 Equipment</a:t>
            </a:r>
            <a:endParaRPr sz="1100" b="0" i="0" u="none" strike="noStrike" cap="none">
              <a:solidFill>
                <a:srgbClr val="000000"/>
              </a:solidFill>
              <a:latin typeface="Arial"/>
              <a:ea typeface="Arial"/>
              <a:cs typeface="Arial"/>
              <a:sym typeface="Arial"/>
            </a:endParaRPr>
          </a:p>
        </p:txBody>
      </p:sp>
      <p:sp>
        <p:nvSpPr>
          <p:cNvPr id="432" name="Google Shape;432;p47"/>
          <p:cNvSpPr txBox="1"/>
          <p:nvPr/>
        </p:nvSpPr>
        <p:spPr>
          <a:xfrm rot="-2934648">
            <a:off x="1124385" y="3558590"/>
            <a:ext cx="1203682" cy="501584"/>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Team Focus</a:t>
            </a:r>
            <a:endParaRPr sz="1100" b="0" i="0" u="none" strike="noStrike" cap="none">
              <a:solidFill>
                <a:srgbClr val="000000"/>
              </a:solidFill>
              <a:latin typeface="Arial"/>
              <a:ea typeface="Arial"/>
              <a:cs typeface="Arial"/>
              <a:sym typeface="Arial"/>
            </a:endParaRPr>
          </a:p>
        </p:txBody>
      </p:sp>
      <p:sp>
        <p:nvSpPr>
          <p:cNvPr id="433" name="Google Shape;433;p47"/>
          <p:cNvSpPr txBox="1"/>
          <p:nvPr/>
        </p:nvSpPr>
        <p:spPr>
          <a:xfrm rot="-700270">
            <a:off x="649183" y="2926482"/>
            <a:ext cx="1147832" cy="276942"/>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Innovation</a:t>
            </a:r>
            <a:endParaRPr sz="1100" b="0" i="0" u="none" strike="noStrike" cap="none">
              <a:solidFill>
                <a:srgbClr val="000000"/>
              </a:solidFill>
              <a:latin typeface="Arial"/>
              <a:ea typeface="Arial"/>
              <a:cs typeface="Arial"/>
              <a:sym typeface="Arial"/>
            </a:endParaRPr>
          </a:p>
        </p:txBody>
      </p:sp>
      <p:sp>
        <p:nvSpPr>
          <p:cNvPr id="434" name="Google Shape;434;p47"/>
          <p:cNvSpPr txBox="1"/>
          <p:nvPr/>
        </p:nvSpPr>
        <p:spPr>
          <a:xfrm rot="2031133">
            <a:off x="828322" y="1967181"/>
            <a:ext cx="1146570" cy="27699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Governance</a:t>
            </a:r>
            <a:endParaRPr sz="1100" b="0" i="0" u="none" strike="noStrike" cap="none">
              <a:solidFill>
                <a:srgbClr val="000000"/>
              </a:solidFill>
              <a:latin typeface="Arial"/>
              <a:ea typeface="Arial"/>
              <a:cs typeface="Arial"/>
              <a:sym typeface="Arial"/>
            </a:endParaRPr>
          </a:p>
        </p:txBody>
      </p:sp>
      <p:sp>
        <p:nvSpPr>
          <p:cNvPr id="435" name="Google Shape;435;p47"/>
          <p:cNvSpPr txBox="1"/>
          <p:nvPr/>
        </p:nvSpPr>
        <p:spPr>
          <a:xfrm rot="4138581">
            <a:off x="1416957" y="1393262"/>
            <a:ext cx="1514411" cy="489727"/>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Calibri"/>
                <a:ea typeface="Calibri"/>
                <a:cs typeface="Calibri"/>
                <a:sym typeface="Calibri"/>
              </a:rPr>
              <a:t>Harmony / Balance</a:t>
            </a:r>
            <a:endParaRPr sz="1100" b="0" i="0" u="none" strike="noStrike" cap="none">
              <a:solidFill>
                <a:srgbClr val="000000"/>
              </a:solidFill>
              <a:latin typeface="Arial"/>
              <a:ea typeface="Arial"/>
              <a:cs typeface="Arial"/>
              <a:sym typeface="Arial"/>
            </a:endParaRPr>
          </a:p>
        </p:txBody>
      </p:sp>
      <p:sp>
        <p:nvSpPr>
          <p:cNvPr id="436" name="Google Shape;436;p47"/>
          <p:cNvSpPr txBox="1">
            <a:spLocks noGrp="1"/>
          </p:cNvSpPr>
          <p:nvPr>
            <p:ph type="title"/>
          </p:nvPr>
        </p:nvSpPr>
        <p:spPr>
          <a:xfrm>
            <a:off x="458400" y="160913"/>
            <a:ext cx="4216800" cy="505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The 9 Growth Aspects</a:t>
            </a:r>
            <a:endParaRPr sz="2400">
              <a:solidFill>
                <a:srgbClr val="002B64"/>
              </a:solidFill>
              <a:latin typeface="Open Sans"/>
              <a:ea typeface="Open Sans"/>
              <a:cs typeface="Open Sans"/>
              <a:sym typeface="Open Sans"/>
            </a:endParaRPr>
          </a:p>
        </p:txBody>
      </p:sp>
      <p:sp>
        <p:nvSpPr>
          <p:cNvPr id="437" name="Google Shape;437;p47"/>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38" name="Google Shape;438;p47"/>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39" name="Google Shape;439;p47"/>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40" name="Google Shape;440;p47"/>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41" name="Google Shape;441;p47"/>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442" name="Google Shape;442;p47"/>
          <p:cNvGraphicFramePr/>
          <p:nvPr/>
        </p:nvGraphicFramePr>
        <p:xfrm>
          <a:off x="4835187" y="216244"/>
          <a:ext cx="4108800" cy="4738680"/>
        </p:xfrm>
        <a:graphic>
          <a:graphicData uri="http://schemas.openxmlformats.org/drawingml/2006/table">
            <a:tbl>
              <a:tblPr firstRow="1" bandRow="1">
                <a:noFill/>
                <a:tableStyleId>{E45339CE-A403-4A82-A332-1DB77EED7D76}</a:tableStyleId>
              </a:tblPr>
              <a:tblGrid>
                <a:gridCol w="1234950">
                  <a:extLst>
                    <a:ext uri="{9D8B030D-6E8A-4147-A177-3AD203B41FA5}">
                      <a16:colId xmlns:a16="http://schemas.microsoft.com/office/drawing/2014/main" val="20000"/>
                    </a:ext>
                  </a:extLst>
                </a:gridCol>
                <a:gridCol w="2873850">
                  <a:extLst>
                    <a:ext uri="{9D8B030D-6E8A-4147-A177-3AD203B41FA5}">
                      <a16:colId xmlns:a16="http://schemas.microsoft.com/office/drawing/2014/main" val="20001"/>
                    </a:ext>
                  </a:extLst>
                </a:gridCol>
              </a:tblGrid>
              <a:tr h="413225">
                <a:tc>
                  <a:txBody>
                    <a:bodyPr/>
                    <a:lstStyle/>
                    <a:p>
                      <a:pPr marL="0" marR="0" lvl="0" indent="0" algn="l" rtl="0">
                        <a:lnSpc>
                          <a:spcPct val="100000"/>
                        </a:lnSpc>
                        <a:spcBef>
                          <a:spcPts val="0"/>
                        </a:spcBef>
                        <a:spcAft>
                          <a:spcPts val="0"/>
                        </a:spcAft>
                        <a:buClr>
                          <a:srgbClr val="000000"/>
                        </a:buClr>
                        <a:buSzPts val="1300"/>
                        <a:buFont typeface="Arial"/>
                        <a:buNone/>
                      </a:pPr>
                      <a:r>
                        <a:rPr lang="en" sz="1200" u="none" strike="noStrike" cap="none">
                          <a:latin typeface="Open Sans"/>
                          <a:ea typeface="Open Sans"/>
                          <a:cs typeface="Open Sans"/>
                          <a:sym typeface="Open Sans"/>
                        </a:rPr>
                        <a:t>Growth Aspect</a:t>
                      </a:r>
                      <a:endParaRPr sz="1000" u="none" strike="noStrike" cap="none">
                        <a:latin typeface="Open Sans"/>
                        <a:ea typeface="Open Sans"/>
                        <a:cs typeface="Open Sans"/>
                        <a:sym typeface="Open Sans"/>
                      </a:endParaRPr>
                    </a:p>
                  </a:txBody>
                  <a:tcPr marL="68600" marR="68600" marT="34300" marB="34300">
                    <a:solidFill>
                      <a:srgbClr val="3A3838"/>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sz="1200" u="none" strike="noStrike" cap="none">
                          <a:latin typeface="Open Sans"/>
                          <a:ea typeface="Open Sans"/>
                          <a:cs typeface="Open Sans"/>
                          <a:sym typeface="Open Sans"/>
                        </a:rPr>
                        <a:t>Aspect Description</a:t>
                      </a:r>
                      <a:endParaRPr sz="1000" u="none" strike="noStrike" cap="none">
                        <a:latin typeface="Open Sans"/>
                        <a:ea typeface="Open Sans"/>
                        <a:cs typeface="Open Sans"/>
                        <a:sym typeface="Open Sans"/>
                      </a:endParaRPr>
                    </a:p>
                  </a:txBody>
                  <a:tcPr marL="68600" marR="68600" marT="34300" marB="34300">
                    <a:solidFill>
                      <a:srgbClr val="3A3838"/>
                    </a:solidFill>
                  </a:tcPr>
                </a:tc>
                <a:extLst>
                  <a:ext uri="{0D108BD9-81ED-4DB2-BD59-A6C34878D82A}">
                    <a16:rowId xmlns:a16="http://schemas.microsoft.com/office/drawing/2014/main" val="10000"/>
                  </a:ext>
                </a:extLst>
              </a:tr>
              <a:tr h="464850">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Process Improvement</a:t>
                      </a:r>
                      <a:endParaRPr sz="1000" u="none" strike="noStrike" cap="none">
                        <a:latin typeface="Open Sans"/>
                        <a:ea typeface="Open Sans"/>
                        <a:cs typeface="Open Sans"/>
                        <a:sym typeface="Open Sans"/>
                      </a:endParaRPr>
                    </a:p>
                  </a:txBody>
                  <a:tcPr marL="68600" marR="68600" marT="34300" marB="34300" anchor="ctr">
                    <a:solidFill>
                      <a:schemeClr val="accent5"/>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Operations, Work In Progress, Transactional Volume, Quality Control, Internal Statistics &amp; Data Collection.</a:t>
                      </a:r>
                      <a:endParaRPr sz="900" u="none" strike="noStrike" cap="none">
                        <a:solidFill>
                          <a:schemeClr val="lt1"/>
                        </a:solidFill>
                        <a:latin typeface="Open Sans"/>
                        <a:ea typeface="Open Sans"/>
                        <a:cs typeface="Open Sans"/>
                        <a:sym typeface="Open Sans"/>
                      </a:endParaRPr>
                    </a:p>
                  </a:txBody>
                  <a:tcPr marL="68600" marR="68600" marT="34300" marB="34300" anchor="ctr">
                    <a:solidFill>
                      <a:schemeClr val="accent5"/>
                    </a:solidFill>
                  </a:tcPr>
                </a:tc>
                <a:extLst>
                  <a:ext uri="{0D108BD9-81ED-4DB2-BD59-A6C34878D82A}">
                    <a16:rowId xmlns:a16="http://schemas.microsoft.com/office/drawing/2014/main" val="10001"/>
                  </a:ext>
                </a:extLst>
              </a:tr>
              <a:tr h="4123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Customer Focus</a:t>
                      </a:r>
                      <a:endParaRPr sz="1000" u="none" strike="noStrike" cap="none">
                        <a:latin typeface="Open Sans"/>
                        <a:ea typeface="Open Sans"/>
                        <a:cs typeface="Open Sans"/>
                        <a:sym typeface="Open Sans"/>
                      </a:endParaRPr>
                    </a:p>
                  </a:txBody>
                  <a:tcPr marL="68600" marR="68600" marT="34300" marB="34300" anchor="ctr">
                    <a:solidFill>
                      <a:srgbClr val="FF0000"/>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Their Experience, (Our) Product / Service Delivery &amp; Development.</a:t>
                      </a:r>
                      <a:endParaRPr sz="1000" u="none" strike="noStrike" cap="none">
                        <a:latin typeface="Open Sans"/>
                        <a:ea typeface="Open Sans"/>
                        <a:cs typeface="Open Sans"/>
                        <a:sym typeface="Open Sans"/>
                      </a:endParaRPr>
                    </a:p>
                  </a:txBody>
                  <a:tcPr marL="68600" marR="68600" marT="34300" marB="34300" anchor="ctr">
                    <a:solidFill>
                      <a:srgbClr val="FF0000"/>
                    </a:solidFill>
                  </a:tcPr>
                </a:tc>
                <a:extLst>
                  <a:ext uri="{0D108BD9-81ED-4DB2-BD59-A6C34878D82A}">
                    <a16:rowId xmlns:a16="http://schemas.microsoft.com/office/drawing/2014/main" val="10002"/>
                  </a:ext>
                </a:extLst>
              </a:tr>
              <a:tr h="5016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Sales (Process)</a:t>
                      </a:r>
                      <a:endParaRPr sz="1000" u="none" strike="noStrike" cap="none">
                        <a:latin typeface="Open Sans"/>
                        <a:ea typeface="Open Sans"/>
                        <a:cs typeface="Open Sans"/>
                        <a:sym typeface="Open Sans"/>
                      </a:endParaRPr>
                    </a:p>
                  </a:txBody>
                  <a:tcPr marL="68600" marR="68600" marT="34300" marB="34300" anchor="ctr">
                    <a:solidFill>
                      <a:srgbClr val="548135"/>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Achieving Critical Revenue Objectives (consistently), Securing Resource, Managing Critical External Relations.</a:t>
                      </a:r>
                      <a:endParaRPr sz="900" u="none" strike="noStrike" cap="none">
                        <a:solidFill>
                          <a:schemeClr val="lt1"/>
                        </a:solidFill>
                        <a:latin typeface="Open Sans"/>
                        <a:ea typeface="Open Sans"/>
                        <a:cs typeface="Open Sans"/>
                        <a:sym typeface="Open Sans"/>
                      </a:endParaRPr>
                    </a:p>
                  </a:txBody>
                  <a:tcPr marL="68600" marR="68600" marT="34300" marB="34300" anchor="ctr">
                    <a:solidFill>
                      <a:srgbClr val="548135"/>
                    </a:solidFill>
                  </a:tcPr>
                </a:tc>
                <a:extLst>
                  <a:ext uri="{0D108BD9-81ED-4DB2-BD59-A6C34878D82A}">
                    <a16:rowId xmlns:a16="http://schemas.microsoft.com/office/drawing/2014/main" val="10003"/>
                  </a:ext>
                </a:extLst>
              </a:tr>
              <a:tr h="464850">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Authenticity</a:t>
                      </a:r>
                      <a:endParaRPr sz="1000" u="none" strike="noStrike" cap="none">
                        <a:latin typeface="Open Sans"/>
                        <a:ea typeface="Open Sans"/>
                        <a:cs typeface="Open Sans"/>
                        <a:sym typeface="Open Sans"/>
                      </a:endParaRPr>
                    </a:p>
                  </a:txBody>
                  <a:tcPr marL="68600" marR="68600" marT="34300" marB="34300" anchor="ctr">
                    <a:solidFill>
                      <a:srgbClr val="7030A0"/>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Values (Cultural), Marketing (</a:t>
                      </a:r>
                      <a:r>
                        <a:rPr lang="en" sz="900">
                          <a:solidFill>
                            <a:schemeClr val="lt1"/>
                          </a:solidFill>
                          <a:latin typeface="Open Sans"/>
                          <a:ea typeface="Open Sans"/>
                          <a:cs typeface="Open Sans"/>
                          <a:sym typeface="Open Sans"/>
                        </a:rPr>
                        <a:t>Outbound</a:t>
                      </a:r>
                      <a:r>
                        <a:rPr lang="en" sz="900" u="none" strike="noStrike" cap="none">
                          <a:solidFill>
                            <a:schemeClr val="lt1"/>
                          </a:solidFill>
                          <a:latin typeface="Open Sans"/>
                          <a:ea typeface="Open Sans"/>
                          <a:cs typeface="Open Sans"/>
                          <a:sym typeface="Open Sans"/>
                        </a:rPr>
                        <a:t> Messaging), Aesthetics, ‘Feel’ (Vibe/Morale), Packaging.</a:t>
                      </a:r>
                      <a:endParaRPr sz="900" u="none" strike="noStrike" cap="none">
                        <a:solidFill>
                          <a:schemeClr val="lt1"/>
                        </a:solidFill>
                        <a:latin typeface="Open Sans"/>
                        <a:ea typeface="Open Sans"/>
                        <a:cs typeface="Open Sans"/>
                        <a:sym typeface="Open Sans"/>
                      </a:endParaRPr>
                    </a:p>
                  </a:txBody>
                  <a:tcPr marL="68600" marR="68600" marT="34300" marB="34300" anchor="ctr">
                    <a:solidFill>
                      <a:srgbClr val="7030A0"/>
                    </a:solidFill>
                  </a:tcPr>
                </a:tc>
                <a:extLst>
                  <a:ext uri="{0D108BD9-81ED-4DB2-BD59-A6C34878D82A}">
                    <a16:rowId xmlns:a16="http://schemas.microsoft.com/office/drawing/2014/main" val="10004"/>
                  </a:ext>
                </a:extLst>
              </a:tr>
              <a:tr h="5016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Inventory &amp; Equipment</a:t>
                      </a:r>
                      <a:endParaRPr sz="1000" u="none" strike="noStrike" cap="none">
                        <a:latin typeface="Open Sans"/>
                        <a:ea typeface="Open Sans"/>
                        <a:cs typeface="Open Sans"/>
                        <a:sym typeface="Open Sans"/>
                      </a:endParaRPr>
                    </a:p>
                  </a:txBody>
                  <a:tcPr marL="68600" marR="68600" marT="34300" marB="34300" anchor="ctr">
                    <a:solidFill>
                      <a:srgbClr val="1F3864"/>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Consumable Stock, Materials or Supplies, Tools, Machinery, Vehicles, Non-Consumable Working Assets.</a:t>
                      </a:r>
                      <a:endParaRPr sz="1000" u="none" strike="noStrike" cap="none">
                        <a:latin typeface="Open Sans"/>
                        <a:ea typeface="Open Sans"/>
                        <a:cs typeface="Open Sans"/>
                        <a:sym typeface="Open Sans"/>
                      </a:endParaRPr>
                    </a:p>
                  </a:txBody>
                  <a:tcPr marL="68600" marR="68600" marT="34300" marB="34300" anchor="ctr">
                    <a:solidFill>
                      <a:srgbClr val="1F3864"/>
                    </a:solidFill>
                  </a:tcPr>
                </a:tc>
                <a:extLst>
                  <a:ext uri="{0D108BD9-81ED-4DB2-BD59-A6C34878D82A}">
                    <a16:rowId xmlns:a16="http://schemas.microsoft.com/office/drawing/2014/main" val="10005"/>
                  </a:ext>
                </a:extLst>
              </a:tr>
              <a:tr h="5016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Team Focus</a:t>
                      </a:r>
                      <a:endParaRPr sz="1000" u="none" strike="noStrike" cap="none">
                        <a:latin typeface="Open Sans"/>
                        <a:ea typeface="Open Sans"/>
                        <a:cs typeface="Open Sans"/>
                        <a:sym typeface="Open Sans"/>
                      </a:endParaRPr>
                    </a:p>
                  </a:txBody>
                  <a:tcPr marL="68600" marR="68600" marT="34300" marB="34300" anchor="ctr">
                    <a:solidFill>
                      <a:srgbClr val="EC5012"/>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Skills Development, Internal Communication, Change Management, Recruitment, Knowledge Management, Rewards/ Incentives.</a:t>
                      </a:r>
                      <a:endParaRPr sz="1000" u="none" strike="noStrike" cap="none">
                        <a:latin typeface="Open Sans"/>
                        <a:ea typeface="Open Sans"/>
                        <a:cs typeface="Open Sans"/>
                        <a:sym typeface="Open Sans"/>
                      </a:endParaRPr>
                    </a:p>
                  </a:txBody>
                  <a:tcPr marL="68600" marR="68600" marT="34300" marB="34300" anchor="ctr">
                    <a:solidFill>
                      <a:srgbClr val="EC5012"/>
                    </a:solidFill>
                  </a:tcPr>
                </a:tc>
                <a:extLst>
                  <a:ext uri="{0D108BD9-81ED-4DB2-BD59-A6C34878D82A}">
                    <a16:rowId xmlns:a16="http://schemas.microsoft.com/office/drawing/2014/main" val="10006"/>
                  </a:ext>
                </a:extLst>
              </a:tr>
              <a:tr h="4123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Innovation</a:t>
                      </a:r>
                      <a:endParaRPr sz="1000" u="none" strike="noStrike" cap="none">
                        <a:latin typeface="Open Sans"/>
                        <a:ea typeface="Open Sans"/>
                        <a:cs typeface="Open Sans"/>
                        <a:sym typeface="Open Sans"/>
                      </a:endParaRPr>
                    </a:p>
                  </a:txBody>
                  <a:tcPr marL="68600" marR="68600" marT="34300" marB="34300" anchor="ctr">
                    <a:solidFill>
                      <a:schemeClr val="accent5"/>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Technology, Disruption, (External) Research &amp; Development, Re-Invention.</a:t>
                      </a:r>
                      <a:endParaRPr sz="1000" u="none" strike="noStrike" cap="none">
                        <a:latin typeface="Open Sans"/>
                        <a:ea typeface="Open Sans"/>
                        <a:cs typeface="Open Sans"/>
                        <a:sym typeface="Open Sans"/>
                      </a:endParaRPr>
                    </a:p>
                  </a:txBody>
                  <a:tcPr marL="68600" marR="68600" marT="34300" marB="34300" anchor="ctr">
                    <a:solidFill>
                      <a:schemeClr val="accent5"/>
                    </a:solidFill>
                  </a:tcPr>
                </a:tc>
                <a:extLst>
                  <a:ext uri="{0D108BD9-81ED-4DB2-BD59-A6C34878D82A}">
                    <a16:rowId xmlns:a16="http://schemas.microsoft.com/office/drawing/2014/main" val="10007"/>
                  </a:ext>
                </a:extLst>
              </a:tr>
              <a:tr h="5991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Governance</a:t>
                      </a:r>
                      <a:endParaRPr sz="1000" u="none" strike="noStrike" cap="none">
                        <a:latin typeface="Open Sans"/>
                        <a:ea typeface="Open Sans"/>
                        <a:cs typeface="Open Sans"/>
                        <a:sym typeface="Open Sans"/>
                      </a:endParaRPr>
                    </a:p>
                  </a:txBody>
                  <a:tcPr marL="68600" marR="68600" marT="34300" marB="34300" anchor="ctr">
                    <a:solidFill>
                      <a:srgbClr val="00B050"/>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Vision, Strategic Planning, Sound Decision (Financial) Making Process, Leadership, Communication Lines, Financial Management, Risk Management.</a:t>
                      </a:r>
                      <a:endParaRPr sz="1000" u="none" strike="noStrike" cap="none">
                        <a:latin typeface="Open Sans"/>
                        <a:ea typeface="Open Sans"/>
                        <a:cs typeface="Open Sans"/>
                        <a:sym typeface="Open Sans"/>
                      </a:endParaRPr>
                    </a:p>
                  </a:txBody>
                  <a:tcPr marL="68600" marR="68600" marT="34300" marB="34300" anchor="ctr">
                    <a:solidFill>
                      <a:srgbClr val="00B050"/>
                    </a:solidFill>
                  </a:tcPr>
                </a:tc>
                <a:extLst>
                  <a:ext uri="{0D108BD9-81ED-4DB2-BD59-A6C34878D82A}">
                    <a16:rowId xmlns:a16="http://schemas.microsoft.com/office/drawing/2014/main" val="10008"/>
                  </a:ext>
                </a:extLst>
              </a:tr>
              <a:tr h="412375">
                <a:tc>
                  <a:txBody>
                    <a:bodyPr/>
                    <a:lstStyle/>
                    <a:p>
                      <a:pPr marL="0" marR="0" lvl="0" indent="0" algn="l"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Harmony / Balance</a:t>
                      </a:r>
                      <a:endParaRPr sz="1000" u="none" strike="noStrike" cap="none">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just" rtl="0">
                        <a:lnSpc>
                          <a:spcPct val="100000"/>
                        </a:lnSpc>
                        <a:spcBef>
                          <a:spcPts val="0"/>
                        </a:spcBef>
                        <a:spcAft>
                          <a:spcPts val="0"/>
                        </a:spcAft>
                        <a:buClr>
                          <a:srgbClr val="000000"/>
                        </a:buClr>
                        <a:buSzPts val="1000"/>
                        <a:buFont typeface="Arial"/>
                        <a:buNone/>
                      </a:pPr>
                      <a:r>
                        <a:rPr lang="en" sz="900" u="none" strike="noStrike" cap="none">
                          <a:solidFill>
                            <a:schemeClr val="lt1"/>
                          </a:solidFill>
                          <a:latin typeface="Open Sans"/>
                          <a:ea typeface="Open Sans"/>
                          <a:cs typeface="Open Sans"/>
                          <a:sym typeface="Open Sans"/>
                        </a:rPr>
                        <a:t>Removing Distractions, Health &amp; Fitness, ‘Well-Being’, Recovering (Financial also).</a:t>
                      </a:r>
                      <a:endParaRPr sz="1000" u="none" strike="noStrike" cap="none">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8">
          <a:extLst>
            <a:ext uri="{FF2B5EF4-FFF2-40B4-BE49-F238E27FC236}">
              <a16:creationId xmlns:a16="http://schemas.microsoft.com/office/drawing/2014/main" id="{EC30592E-3B08-2F3E-9EC9-6DAC6FD10844}"/>
            </a:ext>
          </a:extLst>
        </p:cNvPr>
        <p:cNvGrpSpPr/>
        <p:nvPr/>
      </p:nvGrpSpPr>
      <p:grpSpPr>
        <a:xfrm>
          <a:off x="0" y="0"/>
          <a:ext cx="0" cy="0"/>
          <a:chOff x="0" y="0"/>
          <a:chExt cx="0" cy="0"/>
        </a:xfrm>
      </p:grpSpPr>
      <p:sp>
        <p:nvSpPr>
          <p:cNvPr id="459" name="Google Shape;459;p49">
            <a:extLst>
              <a:ext uri="{FF2B5EF4-FFF2-40B4-BE49-F238E27FC236}">
                <a16:creationId xmlns:a16="http://schemas.microsoft.com/office/drawing/2014/main" id="{D8BA9FE5-3E06-418E-1302-9401F831D863}"/>
              </a:ext>
            </a:extLst>
          </p:cNvPr>
          <p:cNvSpPr txBox="1">
            <a:spLocks noGrp="1"/>
          </p:cNvSpPr>
          <p:nvPr>
            <p:ph type="title"/>
          </p:nvPr>
        </p:nvSpPr>
        <p:spPr>
          <a:xfrm>
            <a:off x="210075" y="203875"/>
            <a:ext cx="8501776" cy="5094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F4B081"/>
              </a:buClr>
              <a:buSzPts val="2400"/>
              <a:buFont typeface="Architects Daughter"/>
              <a:buNone/>
            </a:pPr>
            <a:r>
              <a:rPr lang="en" sz="2400" u="sng" dirty="0">
                <a:solidFill>
                  <a:srgbClr val="002B64"/>
                </a:solidFill>
                <a:latin typeface="Open Sans"/>
                <a:ea typeface="Open Sans"/>
                <a:cs typeface="Open Sans"/>
                <a:sym typeface="Open Sans"/>
              </a:rPr>
              <a:t>Growth</a:t>
            </a:r>
            <a:r>
              <a:rPr lang="en" sz="2400" dirty="0">
                <a:solidFill>
                  <a:srgbClr val="002B64"/>
                </a:solidFill>
                <a:latin typeface="Open Sans"/>
                <a:ea typeface="Open Sans"/>
                <a:cs typeface="Open Sans"/>
                <a:sym typeface="Open Sans"/>
              </a:rPr>
              <a:t> Fundamentals Framework </a:t>
            </a:r>
            <a:r>
              <a:rPr lang="en" sz="1800" dirty="0">
                <a:solidFill>
                  <a:srgbClr val="002B64"/>
                </a:solidFill>
                <a:latin typeface="Open Sans"/>
                <a:ea typeface="Open Sans"/>
                <a:cs typeface="Open Sans"/>
                <a:sym typeface="Open Sans"/>
              </a:rPr>
              <a:t>(Overlapping Components)</a:t>
            </a:r>
            <a:endParaRPr sz="1800" dirty="0">
              <a:solidFill>
                <a:srgbClr val="002B64"/>
              </a:solidFill>
              <a:latin typeface="Open Sans"/>
              <a:ea typeface="Open Sans"/>
              <a:cs typeface="Open Sans"/>
              <a:sym typeface="Open Sans"/>
            </a:endParaRPr>
          </a:p>
        </p:txBody>
      </p:sp>
      <p:sp>
        <p:nvSpPr>
          <p:cNvPr id="460" name="Google Shape;460;p49">
            <a:extLst>
              <a:ext uri="{FF2B5EF4-FFF2-40B4-BE49-F238E27FC236}">
                <a16:creationId xmlns:a16="http://schemas.microsoft.com/office/drawing/2014/main" id="{00FAFC5D-245D-E9B6-2C71-BF8B8B151CBA}"/>
              </a:ext>
            </a:extLst>
          </p:cNvPr>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 sz="1100"/>
              <a:t>21</a:t>
            </a:fld>
            <a:endParaRPr sz="1100" dirty="0"/>
          </a:p>
        </p:txBody>
      </p:sp>
      <p:sp>
        <p:nvSpPr>
          <p:cNvPr id="461" name="Google Shape;461;p49">
            <a:extLst>
              <a:ext uri="{FF2B5EF4-FFF2-40B4-BE49-F238E27FC236}">
                <a16:creationId xmlns:a16="http://schemas.microsoft.com/office/drawing/2014/main" id="{5451A0C7-2965-64F4-5DE8-CFEF4D809004}"/>
              </a:ext>
            </a:extLst>
          </p:cNvPr>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62" name="Google Shape;462;p49">
            <a:extLst>
              <a:ext uri="{FF2B5EF4-FFF2-40B4-BE49-F238E27FC236}">
                <a16:creationId xmlns:a16="http://schemas.microsoft.com/office/drawing/2014/main" id="{BE760BA1-64EF-1986-FE12-EDD26D9C1613}"/>
              </a:ext>
            </a:extLst>
          </p:cNvPr>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63" name="Google Shape;463;p49">
            <a:extLst>
              <a:ext uri="{FF2B5EF4-FFF2-40B4-BE49-F238E27FC236}">
                <a16:creationId xmlns:a16="http://schemas.microsoft.com/office/drawing/2014/main" id="{508AFE23-E806-0007-98A7-228E9BC538C8}"/>
              </a:ext>
            </a:extLst>
          </p:cNvPr>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64" name="Google Shape;464;p49">
            <a:extLst>
              <a:ext uri="{FF2B5EF4-FFF2-40B4-BE49-F238E27FC236}">
                <a16:creationId xmlns:a16="http://schemas.microsoft.com/office/drawing/2014/main" id="{24968026-7F9D-0A26-AFA8-6054FD60FA63}"/>
              </a:ext>
            </a:extLst>
          </p:cNvPr>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65" name="Google Shape;465;p49">
            <a:extLst>
              <a:ext uri="{FF2B5EF4-FFF2-40B4-BE49-F238E27FC236}">
                <a16:creationId xmlns:a16="http://schemas.microsoft.com/office/drawing/2014/main" id="{43FB5EB4-1BED-B482-85F4-533CED9034AB}"/>
              </a:ext>
            </a:extLst>
          </p:cNvPr>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466" name="Google Shape;466;p49">
            <a:extLst>
              <a:ext uri="{FF2B5EF4-FFF2-40B4-BE49-F238E27FC236}">
                <a16:creationId xmlns:a16="http://schemas.microsoft.com/office/drawing/2014/main" id="{DD35993A-6C9B-EA52-1C5F-C9E60A590E3C}"/>
              </a:ext>
            </a:extLst>
          </p:cNvPr>
          <p:cNvGraphicFramePr/>
          <p:nvPr>
            <p:extLst>
              <p:ext uri="{D42A27DB-BD31-4B8C-83A1-F6EECF244321}">
                <p14:modId xmlns:p14="http://schemas.microsoft.com/office/powerpoint/2010/main" val="389161408"/>
              </p:ext>
            </p:extLst>
          </p:nvPr>
        </p:nvGraphicFramePr>
        <p:xfrm>
          <a:off x="355601" y="791789"/>
          <a:ext cx="8356250" cy="4144770"/>
        </p:xfrm>
        <a:graphic>
          <a:graphicData uri="http://schemas.openxmlformats.org/drawingml/2006/table">
            <a:tbl>
              <a:tblPr firstRow="1" bandRow="1">
                <a:noFill/>
                <a:tableStyleId>{E45339CE-A403-4A82-A332-1DB77EED7D76}</a:tableStyleId>
              </a:tblPr>
              <a:tblGrid>
                <a:gridCol w="2026532">
                  <a:extLst>
                    <a:ext uri="{9D8B030D-6E8A-4147-A177-3AD203B41FA5}">
                      <a16:colId xmlns:a16="http://schemas.microsoft.com/office/drawing/2014/main" val="20000"/>
                    </a:ext>
                  </a:extLst>
                </a:gridCol>
                <a:gridCol w="3164859">
                  <a:extLst>
                    <a:ext uri="{9D8B030D-6E8A-4147-A177-3AD203B41FA5}">
                      <a16:colId xmlns:a16="http://schemas.microsoft.com/office/drawing/2014/main" val="1693744191"/>
                    </a:ext>
                  </a:extLst>
                </a:gridCol>
                <a:gridCol w="3164859">
                  <a:extLst>
                    <a:ext uri="{9D8B030D-6E8A-4147-A177-3AD203B41FA5}">
                      <a16:colId xmlns:a16="http://schemas.microsoft.com/office/drawing/2014/main" val="20001"/>
                    </a:ext>
                  </a:extLst>
                </a:gridCol>
              </a:tblGrid>
              <a:tr h="494225">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9 Growth Stages</a:t>
                      </a:r>
                      <a:endParaRPr sz="1100" u="none" strike="noStrike" cap="none"/>
                    </a:p>
                  </a:txBody>
                  <a:tcPr marL="68600" marR="68600" marT="34300" marB="34300">
                    <a:solidFill>
                      <a:srgbClr val="323F4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dirty="0"/>
                        <a:t>5 Complexity Layers</a:t>
                      </a:r>
                      <a:endParaRPr sz="1100" u="none" strike="noStrike" cap="none" dirty="0"/>
                    </a:p>
                    <a:p>
                      <a:pPr marL="0" marR="0" lvl="0" indent="0" algn="ctr" rtl="0">
                        <a:lnSpc>
                          <a:spcPct val="100000"/>
                        </a:lnSpc>
                        <a:spcBef>
                          <a:spcPts val="0"/>
                        </a:spcBef>
                        <a:spcAft>
                          <a:spcPts val="0"/>
                        </a:spcAft>
                        <a:buClr>
                          <a:srgbClr val="000000"/>
                        </a:buClr>
                        <a:buSzPts val="1400"/>
                        <a:buFont typeface="Arial"/>
                        <a:buNone/>
                      </a:pPr>
                      <a:r>
                        <a:rPr lang="en" sz="1400" u="none" strike="noStrike" cap="none" dirty="0"/>
                        <a:t>(+Psyche Errors)</a:t>
                      </a:r>
                      <a:endParaRPr sz="1100" u="none" strike="noStrike" cap="none" dirty="0"/>
                    </a:p>
                  </a:txBody>
                  <a:tcPr marL="68600" marR="68600" marT="34300" marB="34300">
                    <a:solidFill>
                      <a:srgbClr val="323F4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dirty="0"/>
                        <a:t>7 Growth Focus Tactics</a:t>
                      </a:r>
                      <a:endParaRPr sz="1100" u="none" strike="noStrike" cap="none" dirty="0"/>
                    </a:p>
                  </a:txBody>
                  <a:tcPr marL="68600" marR="68600" marT="34300" marB="34300">
                    <a:solidFill>
                      <a:srgbClr val="323F4F"/>
                    </a:solidFill>
                  </a:tcPr>
                </a:tc>
                <a:extLst>
                  <a:ext uri="{0D108BD9-81ED-4DB2-BD59-A6C34878D82A}">
                    <a16:rowId xmlns:a16="http://schemas.microsoft.com/office/drawing/2014/main" val="10000"/>
                  </a:ext>
                </a:extLst>
              </a:tr>
              <a:tr h="38085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1. Design</a:t>
                      </a:r>
                      <a:endParaRPr sz="1100" u="none" strike="noStrike" cap="none"/>
                    </a:p>
                  </a:txBody>
                  <a:tcPr marL="68600" marR="68600" marT="34300" marB="34300" anchor="ctr">
                    <a:gradFill>
                      <a:gsLst>
                        <a:gs pos="0">
                          <a:srgbClr val="4D6081"/>
                        </a:gs>
                        <a:gs pos="50000">
                          <a:srgbClr val="708BBB"/>
                        </a:gs>
                        <a:gs pos="100000">
                          <a:srgbClr val="87A7E0"/>
                        </a:gs>
                      </a:gsLst>
                      <a:lin ang="16200038" scaled="0"/>
                    </a:gradFill>
                  </a:tcPr>
                </a:tc>
                <a:tc rowSpan="3">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t>Foundation</a:t>
                      </a:r>
                      <a:endParaRPr sz="1100" u="none" strike="noStrike" cap="none" dirty="0"/>
                    </a:p>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t>(Confirmation Bias)</a:t>
                      </a:r>
                      <a:endParaRPr sz="1100" u="none" strike="noStrike" cap="none" dirty="0"/>
                    </a:p>
                  </a:txBody>
                  <a:tcPr marL="68600" marR="68600" marT="34300" marB="34300" anchor="ctr">
                    <a:solidFill>
                      <a:srgbClr val="92D050"/>
                    </a:solidFill>
                  </a:tcPr>
                </a:tc>
                <a:tc rowSpan="3">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dk1"/>
                          </a:solidFill>
                        </a:rPr>
                        <a:t>Enthusiasm</a:t>
                      </a:r>
                      <a:endParaRPr sz="1100" u="none" strike="noStrike" cap="none"/>
                    </a:p>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dk1"/>
                          </a:solidFill>
                        </a:rPr>
                        <a:t>&amp;</a:t>
                      </a:r>
                      <a:endParaRPr sz="1100" u="none" strike="noStrike" cap="none"/>
                    </a:p>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dk1"/>
                          </a:solidFill>
                        </a:rPr>
                        <a:t>Creativity</a:t>
                      </a:r>
                      <a:endParaRPr sz="1100" u="none" strike="noStrike" cap="none"/>
                    </a:p>
                  </a:txBody>
                  <a:tcPr marL="68600" marR="68600" marT="34300" marB="34300" anchor="ctr">
                    <a:solidFill>
                      <a:srgbClr val="92D050"/>
                    </a:solidFill>
                  </a:tcPr>
                </a:tc>
                <a:extLst>
                  <a:ext uri="{0D108BD9-81ED-4DB2-BD59-A6C34878D82A}">
                    <a16:rowId xmlns:a16="http://schemas.microsoft.com/office/drawing/2014/main" val="10001"/>
                  </a:ext>
                </a:extLst>
              </a:tr>
              <a:tr h="38085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2. Launch</a:t>
                      </a:r>
                      <a:endParaRPr sz="1100" u="none" strike="noStrike" cap="none"/>
                    </a:p>
                  </a:txBody>
                  <a:tcPr marL="68600" marR="68600" marT="34300" marB="34300" anchor="ctr">
                    <a:gradFill>
                      <a:gsLst>
                        <a:gs pos="0">
                          <a:srgbClr val="212C3B"/>
                        </a:gs>
                        <a:gs pos="50000">
                          <a:srgbClr val="304156"/>
                        </a:gs>
                        <a:gs pos="100000">
                          <a:srgbClr val="3A4E68"/>
                        </a:gs>
                      </a:gsLst>
                      <a:lin ang="16200038" scaled="0"/>
                    </a:gradFill>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10002"/>
                  </a:ext>
                </a:extLst>
              </a:tr>
              <a:tr h="38085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3. Break-even</a:t>
                      </a:r>
                      <a:endParaRPr sz="1100" u="none" strike="noStrike" cap="none"/>
                    </a:p>
                  </a:txBody>
                  <a:tcPr marL="68600" marR="68600" marT="34300" marB="34300" anchor="ctr">
                    <a:gradFill>
                      <a:gsLst>
                        <a:gs pos="0">
                          <a:srgbClr val="4D6081"/>
                        </a:gs>
                        <a:gs pos="50000">
                          <a:srgbClr val="708BBB"/>
                        </a:gs>
                        <a:gs pos="100000">
                          <a:srgbClr val="87A7E0"/>
                        </a:gs>
                      </a:gsLst>
                      <a:lin ang="16200038" scaled="0"/>
                    </a:gradFill>
                  </a:tcPr>
                </a:tc>
                <a:tc vMerge="1">
                  <a:txBody>
                    <a:bodyPr/>
                    <a:lstStyle/>
                    <a:p>
                      <a:endParaRPr lang="en-US" dirty="0"/>
                    </a:p>
                  </a:txBody>
                  <a:tcPr/>
                </a:tc>
                <a:tc vMerge="1">
                  <a:txBody>
                    <a:bodyPr/>
                    <a:lstStyle/>
                    <a:p>
                      <a:endParaRPr lang="en-US"/>
                    </a:p>
                  </a:txBody>
                  <a:tcPr/>
                </a:tc>
                <a:extLst>
                  <a:ext uri="{0D108BD9-81ED-4DB2-BD59-A6C34878D82A}">
                    <a16:rowId xmlns:a16="http://schemas.microsoft.com/office/drawing/2014/main" val="10003"/>
                  </a:ext>
                </a:extLst>
              </a:tr>
              <a:tr h="4363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4. Lifestyle</a:t>
                      </a:r>
                      <a:endParaRPr sz="1100" u="none" strike="noStrike" cap="none"/>
                    </a:p>
                  </a:txBody>
                  <a:tcPr marL="68600" marR="68600" marT="34300" marB="34300" anchor="ctr">
                    <a:gradFill>
                      <a:gsLst>
                        <a:gs pos="0">
                          <a:srgbClr val="212C3B"/>
                        </a:gs>
                        <a:gs pos="50000">
                          <a:srgbClr val="304156"/>
                        </a:gs>
                        <a:gs pos="100000">
                          <a:srgbClr val="3A4E68"/>
                        </a:gs>
                      </a:gsLst>
                      <a:lin ang="16200038" scaled="0"/>
                    </a:gradFill>
                  </a:tcPr>
                </a:tc>
                <a:tc>
                  <a:txBody>
                    <a:bodyPr/>
                    <a:lstStyle/>
                    <a:p>
                      <a:pPr marL="0" marR="0" lvl="0" indent="0" algn="ctr" rtl="0">
                        <a:lnSpc>
                          <a:spcPct val="100000"/>
                        </a:lnSpc>
                        <a:spcBef>
                          <a:spcPts val="0"/>
                        </a:spcBef>
                        <a:spcAft>
                          <a:spcPts val="0"/>
                        </a:spcAft>
                        <a:buClr>
                          <a:schemeClr val="dk1"/>
                        </a:buClr>
                        <a:buSzPts val="1200"/>
                        <a:buFont typeface="Calibri"/>
                        <a:buNone/>
                      </a:pPr>
                      <a:r>
                        <a:rPr lang="en" sz="1200" b="1" u="none" strike="noStrike" cap="none" dirty="0"/>
                        <a:t>Orientation</a:t>
                      </a:r>
                      <a:endParaRPr sz="1100" u="none" strike="noStrike" cap="none" dirty="0"/>
                    </a:p>
                    <a:p>
                      <a:pPr marL="0" marR="0" lvl="0" indent="0" algn="ctr" rtl="0">
                        <a:lnSpc>
                          <a:spcPct val="100000"/>
                        </a:lnSpc>
                        <a:spcBef>
                          <a:spcPts val="0"/>
                        </a:spcBef>
                        <a:spcAft>
                          <a:spcPts val="0"/>
                        </a:spcAft>
                        <a:buClr>
                          <a:schemeClr val="dk1"/>
                        </a:buClr>
                        <a:buSzPts val="1200"/>
                        <a:buFont typeface="Calibri"/>
                        <a:buNone/>
                      </a:pPr>
                      <a:r>
                        <a:rPr lang="en" sz="1200" b="1" u="none" strike="noStrike" cap="none" dirty="0"/>
                        <a:t>(Complacency)</a:t>
                      </a:r>
                      <a:endParaRPr sz="1100" u="none" strike="noStrike" cap="none" dirty="0"/>
                    </a:p>
                  </a:txBody>
                  <a:tcPr marL="68600" marR="68600" marT="34300" marB="34300" anchor="ctr">
                    <a:solidFill>
                      <a:srgbClr val="FFFF00"/>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dk1"/>
                          </a:solidFill>
                        </a:rPr>
                        <a:t>Clarity &amp; Strategy</a:t>
                      </a:r>
                      <a:endParaRPr sz="1100" u="none" strike="noStrike" cap="none"/>
                    </a:p>
                  </a:txBody>
                  <a:tcPr marL="68600" marR="68600" marT="34300" marB="34300" anchor="ctr">
                    <a:solidFill>
                      <a:srgbClr val="FFFF00"/>
                    </a:solidFill>
                  </a:tcPr>
                </a:tc>
                <a:extLst>
                  <a:ext uri="{0D108BD9-81ED-4DB2-BD59-A6C34878D82A}">
                    <a16:rowId xmlns:a16="http://schemas.microsoft.com/office/drawing/2014/main" val="10004"/>
                  </a:ext>
                </a:extLst>
              </a:tr>
              <a:tr h="4363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5. Leverage</a:t>
                      </a:r>
                      <a:endParaRPr sz="1100" u="none" strike="noStrike" cap="none"/>
                    </a:p>
                  </a:txBody>
                  <a:tcPr marL="68600" marR="68600" marT="34300" marB="34300" anchor="ctr">
                    <a:gradFill>
                      <a:gsLst>
                        <a:gs pos="0">
                          <a:srgbClr val="4D6081"/>
                        </a:gs>
                        <a:gs pos="50000">
                          <a:srgbClr val="708BBB"/>
                        </a:gs>
                        <a:gs pos="100000">
                          <a:srgbClr val="87A7E0"/>
                        </a:gs>
                      </a:gsLst>
                      <a:lin ang="16200038" scaled="0"/>
                    </a:gradFill>
                  </a:tcPr>
                </a:tc>
                <a:tc rowSpan="2">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chemeClr val="lt1"/>
                          </a:solidFill>
                        </a:rPr>
                        <a:t>Intelligence</a:t>
                      </a:r>
                      <a:endParaRPr sz="1100" u="none" strike="noStrike" cap="none" dirty="0"/>
                    </a:p>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chemeClr val="lt1"/>
                          </a:solidFill>
                        </a:rPr>
                        <a:t>(Optimism Bias)</a:t>
                      </a:r>
                      <a:endParaRPr sz="1100" u="none" strike="noStrike" cap="none" dirty="0"/>
                    </a:p>
                  </a:txBody>
                  <a:tcPr marL="68600" marR="68600" marT="34300" marB="34300" anchor="ctr">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lt1"/>
                          </a:solidFill>
                        </a:rPr>
                        <a:t>Delegation, Replication and Quantification</a:t>
                      </a:r>
                      <a:endParaRPr sz="1100" u="none" strike="noStrike" cap="none"/>
                    </a:p>
                  </a:txBody>
                  <a:tcPr marL="68600" marR="68600" marT="34300" marB="34300" anchor="ctr">
                    <a:solidFill>
                      <a:schemeClr val="accent2"/>
                    </a:solidFill>
                  </a:tcPr>
                </a:tc>
                <a:extLst>
                  <a:ext uri="{0D108BD9-81ED-4DB2-BD59-A6C34878D82A}">
                    <a16:rowId xmlns:a16="http://schemas.microsoft.com/office/drawing/2014/main" val="10005"/>
                  </a:ext>
                </a:extLst>
              </a:tr>
              <a:tr h="4363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6. Reach</a:t>
                      </a:r>
                      <a:endParaRPr sz="1100" u="none" strike="noStrike" cap="none"/>
                    </a:p>
                  </a:txBody>
                  <a:tcPr marL="68600" marR="68600" marT="34300" marB="34300" anchor="ctr">
                    <a:gradFill>
                      <a:gsLst>
                        <a:gs pos="0">
                          <a:srgbClr val="212C3B"/>
                        </a:gs>
                        <a:gs pos="50000">
                          <a:srgbClr val="304156"/>
                        </a:gs>
                        <a:gs pos="100000">
                          <a:srgbClr val="3A4E68"/>
                        </a:gs>
                      </a:gsLst>
                      <a:lin ang="16200038" scaled="0"/>
                    </a:gradFill>
                  </a:tcPr>
                </a:tc>
                <a:tc vMerge="1">
                  <a:txBody>
                    <a:bodyPr/>
                    <a:lstStyle/>
                    <a:p>
                      <a:endParaRPr lang="en-US" dirty="0"/>
                    </a:p>
                  </a:txBody>
                  <a:tcPr>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lt1"/>
                          </a:solidFill>
                        </a:rPr>
                        <a:t>Market Extension &amp; Product Divergence</a:t>
                      </a:r>
                      <a:endParaRPr sz="1100" u="none" strike="noStrike" cap="none"/>
                    </a:p>
                  </a:txBody>
                  <a:tcPr marL="68600" marR="68600" marT="34300" marB="34300" anchor="ctr">
                    <a:solidFill>
                      <a:schemeClr val="accent2"/>
                    </a:solidFill>
                  </a:tcPr>
                </a:tc>
                <a:extLst>
                  <a:ext uri="{0D108BD9-81ED-4DB2-BD59-A6C34878D82A}">
                    <a16:rowId xmlns:a16="http://schemas.microsoft.com/office/drawing/2014/main" val="10006"/>
                  </a:ext>
                </a:extLst>
              </a:tr>
              <a:tr h="38085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7. Leapfrog</a:t>
                      </a:r>
                      <a:endParaRPr sz="1100" u="none" strike="noStrike" cap="none"/>
                    </a:p>
                  </a:txBody>
                  <a:tcPr marL="68600" marR="68600" marT="34300" marB="34300" anchor="ctr">
                    <a:gradFill>
                      <a:gsLst>
                        <a:gs pos="0">
                          <a:srgbClr val="4D6081"/>
                        </a:gs>
                        <a:gs pos="50000">
                          <a:srgbClr val="708BBB"/>
                        </a:gs>
                        <a:gs pos="100000">
                          <a:srgbClr val="87A7E0"/>
                        </a:gs>
                      </a:gsLst>
                      <a:lin ang="16200038" scaled="0"/>
                    </a:gradFill>
                  </a:tcPr>
                </a:tc>
                <a:tc rowSpan="2">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chemeClr val="lt1"/>
                          </a:solidFill>
                        </a:rPr>
                        <a:t>Expansion</a:t>
                      </a:r>
                      <a:endParaRPr sz="1100" u="none" strike="noStrike" cap="none" dirty="0"/>
                    </a:p>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chemeClr val="lt1"/>
                          </a:solidFill>
                        </a:rPr>
                        <a:t>(Mere-Exposure Effect)</a:t>
                      </a:r>
                      <a:endParaRPr sz="1100" u="none" strike="noStrike" cap="none" dirty="0"/>
                    </a:p>
                  </a:txBody>
                  <a:tcPr marL="68600" marR="68600" marT="34300" marB="34300" anchor="ctr">
                    <a:solidFill>
                      <a:srgbClr val="FF0000"/>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chemeClr val="lt1"/>
                          </a:solidFill>
                        </a:rPr>
                        <a:t>Alliance &amp; Acquisition</a:t>
                      </a:r>
                      <a:endParaRPr sz="1100" u="none" strike="noStrike" cap="none" dirty="0"/>
                    </a:p>
                  </a:txBody>
                  <a:tcPr marL="68600" marR="68600" marT="34300" marB="34300" anchor="ctr">
                    <a:solidFill>
                      <a:srgbClr val="FF0000"/>
                    </a:solidFill>
                  </a:tcPr>
                </a:tc>
                <a:extLst>
                  <a:ext uri="{0D108BD9-81ED-4DB2-BD59-A6C34878D82A}">
                    <a16:rowId xmlns:a16="http://schemas.microsoft.com/office/drawing/2014/main" val="10007"/>
                  </a:ext>
                </a:extLst>
              </a:tr>
              <a:tr h="38085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lt1"/>
                          </a:solidFill>
                        </a:rPr>
                        <a:t>8. Maturity</a:t>
                      </a:r>
                      <a:endParaRPr sz="1100" u="none" strike="noStrike" cap="none"/>
                    </a:p>
                  </a:txBody>
                  <a:tcPr marL="68600" marR="68600" marT="34300" marB="34300" anchor="ctr">
                    <a:gradFill>
                      <a:gsLst>
                        <a:gs pos="0">
                          <a:srgbClr val="212C3B"/>
                        </a:gs>
                        <a:gs pos="50000">
                          <a:srgbClr val="304156"/>
                        </a:gs>
                        <a:gs pos="100000">
                          <a:srgbClr val="3A4E68"/>
                        </a:gs>
                      </a:gsLst>
                      <a:lin ang="16200038" scaled="0"/>
                    </a:gradFill>
                  </a:tcPr>
                </a:tc>
                <a:tc vMerge="1">
                  <a:txBody>
                    <a:bodyPr/>
                    <a:lstStyle/>
                    <a:p>
                      <a:endParaRPr lang="en-US" dirty="0"/>
                    </a:p>
                  </a:txBody>
                  <a:tcPr>
                    <a:solidFill>
                      <a:srgbClr val="FF0000"/>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chemeClr val="lt1"/>
                          </a:solidFill>
                        </a:rPr>
                        <a:t>Presence &amp; Scale</a:t>
                      </a:r>
                      <a:endParaRPr sz="1100" u="none" strike="noStrike" cap="none"/>
                    </a:p>
                  </a:txBody>
                  <a:tcPr marL="68600" marR="68600" marT="34300" marB="34300" anchor="ctr">
                    <a:solidFill>
                      <a:srgbClr val="FF0000"/>
                    </a:solidFill>
                  </a:tcPr>
                </a:tc>
                <a:extLst>
                  <a:ext uri="{0D108BD9-81ED-4DB2-BD59-A6C34878D82A}">
                    <a16:rowId xmlns:a16="http://schemas.microsoft.com/office/drawing/2014/main" val="10008"/>
                  </a:ext>
                </a:extLst>
              </a:tr>
              <a:tr h="4363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dk1"/>
                          </a:solidFill>
                        </a:rPr>
                        <a:t>9. Exit/Decline</a:t>
                      </a:r>
                      <a:endParaRPr sz="1100" u="none" strike="noStrike" cap="none"/>
                    </a:p>
                  </a:txBody>
                  <a:tcPr marL="68600" marR="68600" marT="34300" marB="34300" anchor="ctr">
                    <a:gradFill>
                      <a:gsLst>
                        <a:gs pos="0">
                          <a:srgbClr val="4D6081"/>
                        </a:gs>
                        <a:gs pos="50000">
                          <a:srgbClr val="708BBB"/>
                        </a:gs>
                        <a:gs pos="100000">
                          <a:srgbClr val="87A7E0"/>
                        </a:gs>
                      </a:gsLst>
                      <a:lin ang="16200038" scaled="0"/>
                    </a:gradFill>
                  </a:tcPr>
                </a:tc>
                <a:tc>
                  <a:txBody>
                    <a:bodyPr/>
                    <a:lstStyle/>
                    <a:p>
                      <a:pPr marL="0" marR="0" lvl="0" indent="0" algn="ctr" rtl="0">
                        <a:lnSpc>
                          <a:spcPct val="100000"/>
                        </a:lnSpc>
                        <a:spcBef>
                          <a:spcPts val="0"/>
                        </a:spcBef>
                        <a:spcAft>
                          <a:spcPts val="0"/>
                        </a:spcAft>
                        <a:buClr>
                          <a:schemeClr val="dk1"/>
                        </a:buClr>
                        <a:buSzPts val="1200"/>
                        <a:buFont typeface="Calibri"/>
                        <a:buNone/>
                      </a:pPr>
                      <a:r>
                        <a:rPr lang="en" sz="1200" b="1" u="none" strike="noStrike" cap="none" dirty="0"/>
                        <a:t>Succession</a:t>
                      </a:r>
                      <a:endParaRPr sz="1100" u="none" strike="noStrike" cap="none" dirty="0"/>
                    </a:p>
                    <a:p>
                      <a:pPr marL="0" marR="0" lvl="0" indent="0" algn="ctr" rtl="0">
                        <a:lnSpc>
                          <a:spcPct val="100000"/>
                        </a:lnSpc>
                        <a:spcBef>
                          <a:spcPts val="0"/>
                        </a:spcBef>
                        <a:spcAft>
                          <a:spcPts val="0"/>
                        </a:spcAft>
                        <a:buClr>
                          <a:schemeClr val="dk1"/>
                        </a:buClr>
                        <a:buSzPts val="1200"/>
                        <a:buFont typeface="Calibri"/>
                        <a:buNone/>
                      </a:pPr>
                      <a:r>
                        <a:rPr lang="en" sz="1200" b="1" u="none" strike="noStrike" cap="none" dirty="0"/>
                        <a:t>(Over Identification)</a:t>
                      </a:r>
                      <a:endParaRPr sz="1100" u="none" strike="noStrike" cap="none" dirty="0"/>
                    </a:p>
                  </a:txBody>
                  <a:tcPr marL="68600" marR="68600" marT="34300" marB="34300" anchor="ctr">
                    <a:solidFill>
                      <a:srgbClr val="A5A5A5"/>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dirty="0">
                          <a:solidFill>
                            <a:schemeClr val="dk1"/>
                          </a:solidFill>
                        </a:rPr>
                        <a:t>Realisation</a:t>
                      </a:r>
                      <a:endParaRPr sz="1100" u="none" strike="noStrike" cap="none" dirty="0"/>
                    </a:p>
                  </a:txBody>
                  <a:tcPr marL="68600" marR="68600" marT="34300" marB="34300" anchor="ctr">
                    <a:solidFill>
                      <a:srgbClr val="A5A5A5"/>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986569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7"/>
        <p:cNvGrpSpPr/>
        <p:nvPr/>
      </p:nvGrpSpPr>
      <p:grpSpPr>
        <a:xfrm>
          <a:off x="0" y="0"/>
          <a:ext cx="0" cy="0"/>
          <a:chOff x="0" y="0"/>
          <a:chExt cx="0" cy="0"/>
        </a:xfrm>
      </p:grpSpPr>
      <p:sp>
        <p:nvSpPr>
          <p:cNvPr id="538" name="Google Shape;538;p56"/>
          <p:cNvSpPr txBox="1">
            <a:spLocks noGrp="1"/>
          </p:cNvSpPr>
          <p:nvPr>
            <p:ph type="title"/>
          </p:nvPr>
        </p:nvSpPr>
        <p:spPr>
          <a:xfrm>
            <a:off x="203876" y="139300"/>
            <a:ext cx="8170200" cy="4725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9CC2E5"/>
              </a:buClr>
              <a:buSzPts val="1900"/>
              <a:buFont typeface="Architects Daughter"/>
              <a:buNone/>
            </a:pPr>
            <a:r>
              <a:rPr lang="en" sz="1900" i="0" u="none" strike="noStrike" cap="none">
                <a:solidFill>
                  <a:srgbClr val="002B64"/>
                </a:solidFill>
                <a:latin typeface="Open Sans"/>
                <a:ea typeface="Open Sans"/>
                <a:cs typeface="Open Sans"/>
                <a:sym typeface="Open Sans"/>
              </a:rPr>
              <a:t>Lite Fundamentals vs. Growth Fundamentals Framework</a:t>
            </a:r>
            <a:endParaRPr sz="1900" i="0" u="none" strike="noStrike" cap="none">
              <a:solidFill>
                <a:srgbClr val="002B64"/>
              </a:solidFill>
              <a:latin typeface="Open Sans"/>
              <a:ea typeface="Open Sans"/>
              <a:cs typeface="Open Sans"/>
              <a:sym typeface="Open Sans"/>
            </a:endParaRPr>
          </a:p>
        </p:txBody>
      </p:sp>
      <p:sp>
        <p:nvSpPr>
          <p:cNvPr id="539" name="Google Shape;539;p5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22</a:t>
            </a:fld>
            <a:endParaRPr/>
          </a:p>
        </p:txBody>
      </p:sp>
      <p:sp>
        <p:nvSpPr>
          <p:cNvPr id="540" name="Google Shape;540;p56"/>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41" name="Google Shape;541;p56"/>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42" name="Google Shape;542;p56"/>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43" name="Google Shape;543;p56"/>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44" name="Google Shape;544;p56"/>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545" name="Google Shape;545;p56"/>
          <p:cNvSpPr/>
          <p:nvPr/>
        </p:nvSpPr>
        <p:spPr>
          <a:xfrm>
            <a:off x="222950" y="923050"/>
            <a:ext cx="8691900" cy="36981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A: The Growth Fundamentals Framework is more comprehensive and therein, more complicated. The ‘Full’ version is designed to assist the consultant to establish a common framework for multiple advisers to provide assistance to the client, on a layered (leveraged) basis. The ‘Full’ version is supported by an online ‘tool-box’ that contains more than 100 templates and of course, requires considerable effort for an adviser to become familiar with. Additionally, the Growth Fundamentals Framework includes the 9 Growth Aspects which provides an extensive investigation of the Operational Objectives of the business to ensure a balanced, holistic approach to growth.</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The sales process for the ‘Full’ version is based on a total needs basis and is aimed at larger, more complex business circumstances. The sales process generally involves 3-5 meetings, takes upwards of 10 hours to complete and is seeking work in the $30k+ fee range.</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r>
              <a:rPr lang="en" sz="1100" i="0" u="none" strike="noStrike" cap="none">
                <a:solidFill>
                  <a:srgbClr val="434343"/>
                </a:solidFill>
                <a:latin typeface="Open Sans"/>
                <a:ea typeface="Open Sans"/>
                <a:cs typeface="Open Sans"/>
                <a:sym typeface="Open Sans"/>
              </a:rPr>
              <a:t>The ‘Lite’ version is based on the same ‘contextual’ theory but is focused on limiting the scope of the engagement. The engagement scope is limited for 3 key reasons;</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457200" marR="0" lvl="0" indent="-298450" algn="just" rtl="0">
              <a:lnSpc>
                <a:spcPct val="100000"/>
              </a:lnSpc>
              <a:spcBef>
                <a:spcPts val="0"/>
              </a:spcBef>
              <a:spcAft>
                <a:spcPts val="0"/>
              </a:spcAft>
              <a:buClr>
                <a:srgbClr val="434343"/>
              </a:buClr>
              <a:buSzPts val="1100"/>
              <a:buFont typeface="Open Sans"/>
              <a:buAutoNum type="arabicPeriod"/>
            </a:pPr>
            <a:r>
              <a:rPr lang="en" sz="1100" i="0" u="none" strike="noStrike" cap="none">
                <a:solidFill>
                  <a:srgbClr val="434343"/>
                </a:solidFill>
                <a:latin typeface="Open Sans"/>
                <a:ea typeface="Open Sans"/>
                <a:cs typeface="Open Sans"/>
                <a:sym typeface="Open Sans"/>
              </a:rPr>
              <a:t>Maintains the focused ‘domains for discussion’ to make it easier (and therefore more effective) for both the adviser and client. This enables advisers to become active with their clients in just 3 weeks.</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None/>
            </a:pPr>
            <a:endParaRPr sz="1100" i="0" u="none" strike="noStrike" cap="none">
              <a:solidFill>
                <a:srgbClr val="434343"/>
              </a:solidFill>
              <a:latin typeface="Open Sans"/>
              <a:ea typeface="Open Sans"/>
              <a:cs typeface="Open Sans"/>
              <a:sym typeface="Open Sans"/>
            </a:endParaRPr>
          </a:p>
          <a:p>
            <a:pPr marL="457200" marR="0" lvl="0" indent="-298450" algn="just" rtl="0">
              <a:lnSpc>
                <a:spcPct val="100000"/>
              </a:lnSpc>
              <a:spcBef>
                <a:spcPts val="0"/>
              </a:spcBef>
              <a:spcAft>
                <a:spcPts val="0"/>
              </a:spcAft>
              <a:buClr>
                <a:srgbClr val="434343"/>
              </a:buClr>
              <a:buSzPts val="1100"/>
              <a:buFont typeface="Open Sans"/>
              <a:buAutoNum type="arabicPeriod"/>
            </a:pPr>
            <a:r>
              <a:rPr lang="en" sz="1100" i="0" u="none" strike="noStrike" cap="none">
                <a:solidFill>
                  <a:srgbClr val="434343"/>
                </a:solidFill>
                <a:latin typeface="Open Sans"/>
                <a:ea typeface="Open Sans"/>
                <a:cs typeface="Open Sans"/>
                <a:sym typeface="Open Sans"/>
              </a:rPr>
              <a:t>Reduces the sales process to just 1 meeting and lowers the fee range to clients that could not afford the ‘full’ service suite.</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None/>
            </a:pPr>
            <a:endParaRPr sz="1100" i="0" u="none" strike="noStrike" cap="none">
              <a:solidFill>
                <a:srgbClr val="434343"/>
              </a:solidFill>
              <a:latin typeface="Open Sans"/>
              <a:ea typeface="Open Sans"/>
              <a:cs typeface="Open Sans"/>
              <a:sym typeface="Open Sans"/>
            </a:endParaRPr>
          </a:p>
          <a:p>
            <a:pPr marL="457200" marR="0" lvl="0" indent="-298450" algn="just" rtl="0">
              <a:lnSpc>
                <a:spcPct val="100000"/>
              </a:lnSpc>
              <a:spcBef>
                <a:spcPts val="0"/>
              </a:spcBef>
              <a:spcAft>
                <a:spcPts val="0"/>
              </a:spcAft>
              <a:buClr>
                <a:srgbClr val="434343"/>
              </a:buClr>
              <a:buSzPts val="1100"/>
              <a:buFont typeface="Open Sans"/>
              <a:buAutoNum type="arabicPeriod"/>
            </a:pPr>
            <a:r>
              <a:rPr lang="en" sz="1100" i="0" u="none" strike="noStrike" cap="none">
                <a:solidFill>
                  <a:srgbClr val="434343"/>
                </a:solidFill>
                <a:latin typeface="Open Sans"/>
                <a:ea typeface="Open Sans"/>
                <a:cs typeface="Open Sans"/>
                <a:sym typeface="Open Sans"/>
              </a:rPr>
              <a:t>Builds the confidence and experience of both the adviser and client as it establishes a framework for working together over many years to come. In time, the ‘Full’ version may well be applied.</a:t>
            </a:r>
            <a:endParaRPr sz="1100" i="0" u="none" strike="noStrike" cap="none">
              <a:solidFill>
                <a:srgbClr val="434343"/>
              </a:solidFill>
              <a:latin typeface="Open Sans"/>
              <a:ea typeface="Open Sans"/>
              <a:cs typeface="Open Sans"/>
              <a:sym typeface="Open Sans"/>
            </a:endParaRPr>
          </a:p>
        </p:txBody>
      </p:sp>
      <p:sp>
        <p:nvSpPr>
          <p:cNvPr id="546" name="Google Shape;546;p56"/>
          <p:cNvSpPr/>
          <p:nvPr/>
        </p:nvSpPr>
        <p:spPr>
          <a:xfrm>
            <a:off x="222950" y="611650"/>
            <a:ext cx="8672700" cy="3114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100"/>
              <a:buFont typeface="Arial"/>
              <a:buNone/>
            </a:pPr>
            <a:r>
              <a:rPr lang="en" sz="1100" b="1" i="0" u="none" strike="noStrike" cap="none">
                <a:solidFill>
                  <a:srgbClr val="002B64"/>
                </a:solidFill>
                <a:latin typeface="Open Sans"/>
                <a:ea typeface="Open Sans"/>
                <a:cs typeface="Open Sans"/>
                <a:sym typeface="Open Sans"/>
              </a:rPr>
              <a:t>Q: What’s the difference between the Growth Fundamentals Framework and the ‘Lite’ Fundamentals Framework?</a:t>
            </a:r>
            <a:endParaRPr sz="1100" b="1" i="0" u="none" strike="noStrike" cap="none">
              <a:solidFill>
                <a:srgbClr val="002B64"/>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0"/>
        <p:cNvGrpSpPr/>
        <p:nvPr/>
      </p:nvGrpSpPr>
      <p:grpSpPr>
        <a:xfrm>
          <a:off x="0" y="0"/>
          <a:ext cx="0" cy="0"/>
          <a:chOff x="0" y="0"/>
          <a:chExt cx="0" cy="0"/>
        </a:xfrm>
      </p:grpSpPr>
      <p:cxnSp>
        <p:nvCxnSpPr>
          <p:cNvPr id="551" name="Google Shape;551;p57"/>
          <p:cNvCxnSpPr>
            <a:endCxn id="552" idx="0"/>
          </p:cNvCxnSpPr>
          <p:nvPr/>
        </p:nvCxnSpPr>
        <p:spPr>
          <a:xfrm>
            <a:off x="2517975" y="2967796"/>
            <a:ext cx="1345800" cy="4200"/>
          </a:xfrm>
          <a:prstGeom prst="straightConnector1">
            <a:avLst/>
          </a:prstGeom>
          <a:noFill/>
          <a:ln w="38100" cap="flat" cmpd="sng">
            <a:solidFill>
              <a:srgbClr val="F4B081"/>
            </a:solidFill>
            <a:prstDash val="solid"/>
            <a:miter lim="800000"/>
            <a:headEnd type="oval" w="med" len="med"/>
            <a:tailEnd type="none" w="sm" len="sm"/>
          </a:ln>
        </p:spPr>
      </p:cxnSp>
      <p:cxnSp>
        <p:nvCxnSpPr>
          <p:cNvPr id="553" name="Google Shape;553;p57"/>
          <p:cNvCxnSpPr>
            <a:endCxn id="554" idx="0"/>
          </p:cNvCxnSpPr>
          <p:nvPr/>
        </p:nvCxnSpPr>
        <p:spPr>
          <a:xfrm flipH="1">
            <a:off x="5282927" y="2966300"/>
            <a:ext cx="1343100" cy="5700"/>
          </a:xfrm>
          <a:prstGeom prst="straightConnector1">
            <a:avLst/>
          </a:prstGeom>
          <a:noFill/>
          <a:ln w="38100" cap="flat" cmpd="sng">
            <a:solidFill>
              <a:schemeClr val="accent1"/>
            </a:solidFill>
            <a:prstDash val="solid"/>
            <a:miter lim="800000"/>
            <a:headEnd type="oval" w="med" len="med"/>
            <a:tailEnd type="none" w="sm" len="sm"/>
          </a:ln>
        </p:spPr>
      </p:cxnSp>
      <p:sp>
        <p:nvSpPr>
          <p:cNvPr id="555" name="Google Shape;555;p57"/>
          <p:cNvSpPr/>
          <p:nvPr/>
        </p:nvSpPr>
        <p:spPr>
          <a:xfrm>
            <a:off x="5247867" y="1728854"/>
            <a:ext cx="1378188" cy="185922"/>
          </a:xfrm>
          <a:custGeom>
            <a:avLst/>
            <a:gdLst/>
            <a:ahLst/>
            <a:cxnLst/>
            <a:rect l="l" t="t" r="r" b="b"/>
            <a:pathLst>
              <a:path w="21600" h="21600" extrusionOk="0">
                <a:moveTo>
                  <a:pt x="0" y="21600"/>
                </a:moveTo>
                <a:lnTo>
                  <a:pt x="2914" y="0"/>
                </a:lnTo>
                <a:lnTo>
                  <a:pt x="21600" y="0"/>
                </a:lnTo>
              </a:path>
            </a:pathLst>
          </a:custGeom>
          <a:noFill/>
          <a:ln w="38100" cap="flat" cmpd="sng">
            <a:solidFill>
              <a:srgbClr val="92D050"/>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56" name="Google Shape;556;p57"/>
          <p:cNvSpPr/>
          <p:nvPr/>
        </p:nvSpPr>
        <p:spPr>
          <a:xfrm rot="10800000" flipH="1">
            <a:off x="5247867" y="4070565"/>
            <a:ext cx="1378188" cy="185922"/>
          </a:xfrm>
          <a:custGeom>
            <a:avLst/>
            <a:gdLst/>
            <a:ahLst/>
            <a:cxnLst/>
            <a:rect l="l" t="t" r="r" b="b"/>
            <a:pathLst>
              <a:path w="21600" h="21600" extrusionOk="0">
                <a:moveTo>
                  <a:pt x="0" y="21600"/>
                </a:moveTo>
                <a:lnTo>
                  <a:pt x="2914" y="0"/>
                </a:lnTo>
                <a:lnTo>
                  <a:pt x="21600" y="0"/>
                </a:lnTo>
              </a:path>
            </a:pathLst>
          </a:custGeom>
          <a:noFill/>
          <a:ln w="38100" cap="flat" cmpd="sng">
            <a:solidFill>
              <a:srgbClr val="00B0F0"/>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57" name="Google Shape;557;p57"/>
          <p:cNvSpPr/>
          <p:nvPr/>
        </p:nvSpPr>
        <p:spPr>
          <a:xfrm>
            <a:off x="2517975" y="1728854"/>
            <a:ext cx="1378188" cy="185922"/>
          </a:xfrm>
          <a:custGeom>
            <a:avLst/>
            <a:gdLst/>
            <a:ahLst/>
            <a:cxnLst/>
            <a:rect l="l" t="t" r="r" b="b"/>
            <a:pathLst>
              <a:path w="21600" h="21600" extrusionOk="0">
                <a:moveTo>
                  <a:pt x="21600" y="21600"/>
                </a:moveTo>
                <a:lnTo>
                  <a:pt x="18686" y="0"/>
                </a:lnTo>
                <a:lnTo>
                  <a:pt x="0" y="0"/>
                </a:lnTo>
              </a:path>
            </a:pathLst>
          </a:custGeom>
          <a:noFill/>
          <a:ln w="38100" cap="flat" cmpd="sng">
            <a:solidFill>
              <a:srgbClr val="00B050"/>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58" name="Google Shape;558;p57"/>
          <p:cNvSpPr/>
          <p:nvPr/>
        </p:nvSpPr>
        <p:spPr>
          <a:xfrm>
            <a:off x="2517975" y="4070577"/>
            <a:ext cx="1378188" cy="185922"/>
          </a:xfrm>
          <a:custGeom>
            <a:avLst/>
            <a:gdLst/>
            <a:ahLst/>
            <a:cxnLst/>
            <a:rect l="l" t="t" r="r" b="b"/>
            <a:pathLst>
              <a:path w="21600" h="21600" extrusionOk="0">
                <a:moveTo>
                  <a:pt x="21600" y="0"/>
                </a:moveTo>
                <a:lnTo>
                  <a:pt x="18686" y="21600"/>
                </a:lnTo>
                <a:lnTo>
                  <a:pt x="0" y="21600"/>
                </a:lnTo>
              </a:path>
            </a:pathLst>
          </a:custGeom>
          <a:noFill/>
          <a:ln w="38100" cap="flat" cmpd="sng">
            <a:solidFill>
              <a:schemeClr val="accent2"/>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59" name="Google Shape;559;p57"/>
          <p:cNvSpPr/>
          <p:nvPr/>
        </p:nvSpPr>
        <p:spPr>
          <a:xfrm>
            <a:off x="3148805" y="1335413"/>
            <a:ext cx="1422630" cy="1643004"/>
          </a:xfrm>
          <a:custGeom>
            <a:avLst/>
            <a:gdLst/>
            <a:ahLst/>
            <a:cxnLst/>
            <a:rect l="l" t="t" r="r" b="b"/>
            <a:pathLst>
              <a:path w="21600" h="21600" extrusionOk="0">
                <a:moveTo>
                  <a:pt x="21600" y="0"/>
                </a:moveTo>
                <a:lnTo>
                  <a:pt x="0" y="10802"/>
                </a:lnTo>
                <a:lnTo>
                  <a:pt x="21600" y="21600"/>
                </a:lnTo>
                <a:lnTo>
                  <a:pt x="21600" y="0"/>
                </a:lnTo>
                <a:close/>
              </a:path>
            </a:pathLst>
          </a:custGeom>
          <a:solidFill>
            <a:srgbClr val="00B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52" name="Google Shape;552;p57"/>
          <p:cNvSpPr/>
          <p:nvPr/>
        </p:nvSpPr>
        <p:spPr>
          <a:xfrm>
            <a:off x="3152305" y="2150740"/>
            <a:ext cx="1422900" cy="1642842"/>
          </a:xfrm>
          <a:custGeom>
            <a:avLst/>
            <a:gdLst/>
            <a:ahLst/>
            <a:cxnLst/>
            <a:rect l="l" t="t" r="r" b="b"/>
            <a:pathLst>
              <a:path w="21600" h="21600" extrusionOk="0">
                <a:moveTo>
                  <a:pt x="0" y="0"/>
                </a:moveTo>
                <a:lnTo>
                  <a:pt x="4" y="21600"/>
                </a:lnTo>
                <a:lnTo>
                  <a:pt x="21600" y="10801"/>
                </a:lnTo>
                <a:lnTo>
                  <a:pt x="0" y="0"/>
                </a:lnTo>
                <a:close/>
              </a:path>
            </a:pathLst>
          </a:custGeom>
          <a:solidFill>
            <a:srgbClr val="F4B08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60" name="Google Shape;560;p57"/>
          <p:cNvSpPr/>
          <p:nvPr/>
        </p:nvSpPr>
        <p:spPr>
          <a:xfrm>
            <a:off x="3148805" y="2969374"/>
            <a:ext cx="1422630" cy="1643004"/>
          </a:xfrm>
          <a:custGeom>
            <a:avLst/>
            <a:gdLst/>
            <a:ahLst/>
            <a:cxnLst/>
            <a:rect l="l" t="t" r="r" b="b"/>
            <a:pathLst>
              <a:path w="21600" h="21600" extrusionOk="0">
                <a:moveTo>
                  <a:pt x="21600" y="21600"/>
                </a:moveTo>
                <a:lnTo>
                  <a:pt x="0" y="10798"/>
                </a:lnTo>
                <a:lnTo>
                  <a:pt x="21600" y="0"/>
                </a:lnTo>
                <a:lnTo>
                  <a:pt x="21600" y="21600"/>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61" name="Google Shape;561;p57"/>
          <p:cNvSpPr/>
          <p:nvPr/>
        </p:nvSpPr>
        <p:spPr>
          <a:xfrm>
            <a:off x="4575176" y="1335413"/>
            <a:ext cx="1422630" cy="1643004"/>
          </a:xfrm>
          <a:custGeom>
            <a:avLst/>
            <a:gdLst/>
            <a:ahLst/>
            <a:cxnLst/>
            <a:rect l="l" t="t" r="r" b="b"/>
            <a:pathLst>
              <a:path w="21600" h="21600" extrusionOk="0">
                <a:moveTo>
                  <a:pt x="0" y="0"/>
                </a:moveTo>
                <a:lnTo>
                  <a:pt x="21600" y="10802"/>
                </a:lnTo>
                <a:lnTo>
                  <a:pt x="0" y="21600"/>
                </a:lnTo>
                <a:lnTo>
                  <a:pt x="0" y="0"/>
                </a:lnTo>
                <a:close/>
              </a:path>
            </a:pathLst>
          </a:custGeom>
          <a:solidFill>
            <a:srgbClr val="92D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54" name="Google Shape;554;p57"/>
          <p:cNvSpPr/>
          <p:nvPr/>
        </p:nvSpPr>
        <p:spPr>
          <a:xfrm>
            <a:off x="4571431" y="2150740"/>
            <a:ext cx="1422900" cy="1642842"/>
          </a:xfrm>
          <a:custGeom>
            <a:avLst/>
            <a:gdLst/>
            <a:ahLst/>
            <a:cxnLst/>
            <a:rect l="l" t="t" r="r" b="b"/>
            <a:pathLst>
              <a:path w="21600" h="21600" extrusionOk="0">
                <a:moveTo>
                  <a:pt x="21600" y="0"/>
                </a:moveTo>
                <a:lnTo>
                  <a:pt x="21596" y="21600"/>
                </a:lnTo>
                <a:lnTo>
                  <a:pt x="0" y="10801"/>
                </a:lnTo>
                <a:lnTo>
                  <a:pt x="21600" y="0"/>
                </a:lnTo>
                <a:close/>
              </a:path>
            </a:pathLst>
          </a:custGeom>
          <a:solidFill>
            <a:schemeClr val="accen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62" name="Google Shape;562;p57"/>
          <p:cNvSpPr/>
          <p:nvPr/>
        </p:nvSpPr>
        <p:spPr>
          <a:xfrm>
            <a:off x="4575176" y="2969374"/>
            <a:ext cx="1422630" cy="1643004"/>
          </a:xfrm>
          <a:custGeom>
            <a:avLst/>
            <a:gdLst/>
            <a:ahLst/>
            <a:cxnLst/>
            <a:rect l="l" t="t" r="r" b="b"/>
            <a:pathLst>
              <a:path w="21600" h="21600" extrusionOk="0">
                <a:moveTo>
                  <a:pt x="0" y="21600"/>
                </a:moveTo>
                <a:lnTo>
                  <a:pt x="21600" y="10798"/>
                </a:lnTo>
                <a:lnTo>
                  <a:pt x="0" y="0"/>
                </a:lnTo>
                <a:lnTo>
                  <a:pt x="0" y="21600"/>
                </a:lnTo>
                <a:close/>
              </a:path>
            </a:pathLst>
          </a:custGeom>
          <a:solidFill>
            <a:srgbClr val="00B0F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63" name="Google Shape;563;p57"/>
          <p:cNvSpPr/>
          <p:nvPr/>
        </p:nvSpPr>
        <p:spPr>
          <a:xfrm>
            <a:off x="3859995" y="2156908"/>
            <a:ext cx="1422900" cy="1643004"/>
          </a:xfrm>
          <a:custGeom>
            <a:avLst/>
            <a:gdLst/>
            <a:ahLst/>
            <a:cxnLst/>
            <a:rect l="l" t="t" r="r" b="b"/>
            <a:pathLst>
              <a:path w="21600" h="21600" extrusionOk="0">
                <a:moveTo>
                  <a:pt x="10800" y="0"/>
                </a:moveTo>
                <a:lnTo>
                  <a:pt x="21600" y="5400"/>
                </a:lnTo>
                <a:lnTo>
                  <a:pt x="21600" y="16200"/>
                </a:lnTo>
                <a:lnTo>
                  <a:pt x="10800" y="21600"/>
                </a:lnTo>
                <a:lnTo>
                  <a:pt x="0" y="16200"/>
                </a:lnTo>
                <a:lnTo>
                  <a:pt x="0" y="5400"/>
                </a:lnTo>
                <a:close/>
              </a:path>
            </a:pathLst>
          </a:custGeom>
          <a:solidFill>
            <a:srgbClr val="FFFFFF">
              <a:alpha val="498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564" name="Google Shape;564;p57"/>
          <p:cNvSpPr txBox="1"/>
          <p:nvPr/>
        </p:nvSpPr>
        <p:spPr>
          <a:xfrm>
            <a:off x="6711324" y="1596399"/>
            <a:ext cx="1683000" cy="190500"/>
          </a:xfrm>
          <a:prstGeom prst="rect">
            <a:avLst/>
          </a:prstGeom>
          <a:noFill/>
          <a:ln>
            <a:noFill/>
          </a:ln>
        </p:spPr>
        <p:txBody>
          <a:bodyPr spcFirstLastPara="1" wrap="square" lIns="34275" tIns="17150" rIns="34275" bIns="17150" anchor="t" anchorCtr="0">
            <a:noAutofit/>
          </a:bodyPr>
          <a:lstStyle/>
          <a:p>
            <a:pPr marL="0" marR="0" lvl="0" indent="0" algn="l" rtl="0">
              <a:lnSpc>
                <a:spcPct val="145833"/>
              </a:lnSpc>
              <a:spcBef>
                <a:spcPts val="0"/>
              </a:spcBef>
              <a:spcAft>
                <a:spcPts val="0"/>
              </a:spcAft>
              <a:buClr>
                <a:srgbClr val="92D050"/>
              </a:buClr>
              <a:buSzPts val="900"/>
              <a:buFont typeface="Arial"/>
              <a:buNone/>
            </a:pPr>
            <a:r>
              <a:rPr lang="en" sz="900" i="0" u="none" strike="noStrike" cap="none">
                <a:solidFill>
                  <a:srgbClr val="92D050"/>
                </a:solidFill>
                <a:latin typeface="Open Sans"/>
                <a:ea typeface="Open Sans"/>
                <a:cs typeface="Open Sans"/>
                <a:sym typeface="Open Sans"/>
              </a:rPr>
              <a:t>Knowing What Matters.</a:t>
            </a:r>
            <a:endParaRPr sz="900" i="0" u="none" strike="noStrike" cap="none">
              <a:solidFill>
                <a:srgbClr val="92D050"/>
              </a:solidFill>
              <a:latin typeface="Open Sans"/>
              <a:ea typeface="Open Sans"/>
              <a:cs typeface="Open Sans"/>
              <a:sym typeface="Open Sans"/>
            </a:endParaRPr>
          </a:p>
        </p:txBody>
      </p:sp>
      <p:sp>
        <p:nvSpPr>
          <p:cNvPr id="565" name="Google Shape;565;p57"/>
          <p:cNvSpPr txBox="1"/>
          <p:nvPr/>
        </p:nvSpPr>
        <p:spPr>
          <a:xfrm>
            <a:off x="6715837" y="1354069"/>
            <a:ext cx="1507800" cy="254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i="0" u="none" strike="noStrike" cap="none">
                <a:solidFill>
                  <a:srgbClr val="92D050"/>
                </a:solidFill>
                <a:latin typeface="Poppins"/>
                <a:ea typeface="Poppins"/>
                <a:cs typeface="Poppins"/>
                <a:sym typeface="Poppins"/>
              </a:rPr>
              <a:t>Lite Data</a:t>
            </a:r>
            <a:endParaRPr sz="1100"/>
          </a:p>
        </p:txBody>
      </p:sp>
      <p:sp>
        <p:nvSpPr>
          <p:cNvPr id="566" name="Google Shape;566;p57"/>
          <p:cNvSpPr txBox="1"/>
          <p:nvPr/>
        </p:nvSpPr>
        <p:spPr>
          <a:xfrm>
            <a:off x="6711324" y="2823880"/>
            <a:ext cx="1683000" cy="379500"/>
          </a:xfrm>
          <a:prstGeom prst="rect">
            <a:avLst/>
          </a:prstGeom>
          <a:noFill/>
          <a:ln>
            <a:noFill/>
          </a:ln>
        </p:spPr>
        <p:txBody>
          <a:bodyPr spcFirstLastPara="1" wrap="square" lIns="34275" tIns="17150" rIns="34275" bIns="17150" anchor="t" anchorCtr="0">
            <a:noAutofit/>
          </a:bodyPr>
          <a:lstStyle/>
          <a:p>
            <a:pPr marL="0" marR="0" lvl="0" indent="0" algn="l" rtl="0">
              <a:lnSpc>
                <a:spcPct val="120000"/>
              </a:lnSpc>
              <a:spcBef>
                <a:spcPts val="0"/>
              </a:spcBef>
              <a:spcAft>
                <a:spcPts val="0"/>
              </a:spcAft>
              <a:buClr>
                <a:srgbClr val="0070C0"/>
              </a:buClr>
              <a:buSzPts val="900"/>
              <a:buFont typeface="Arial"/>
              <a:buNone/>
            </a:pPr>
            <a:r>
              <a:rPr lang="en" sz="900" u="none">
                <a:solidFill>
                  <a:srgbClr val="4A86E8"/>
                </a:solidFill>
                <a:latin typeface="Open Sans"/>
                <a:ea typeface="Open Sans"/>
                <a:cs typeface="Open Sans"/>
                <a:sym typeface="Open Sans"/>
              </a:rPr>
              <a:t>Who You Want to Speak to, </a:t>
            </a:r>
            <a:endParaRPr sz="1100">
              <a:solidFill>
                <a:srgbClr val="4A86E8"/>
              </a:solidFill>
              <a:latin typeface="Open Sans"/>
              <a:ea typeface="Open Sans"/>
              <a:cs typeface="Open Sans"/>
              <a:sym typeface="Open Sans"/>
            </a:endParaRPr>
          </a:p>
          <a:p>
            <a:pPr marL="0" marR="0" lvl="0" indent="0" algn="l" rtl="0">
              <a:lnSpc>
                <a:spcPct val="120000"/>
              </a:lnSpc>
              <a:spcBef>
                <a:spcPts val="200"/>
              </a:spcBef>
              <a:spcAft>
                <a:spcPts val="0"/>
              </a:spcAft>
              <a:buClr>
                <a:srgbClr val="0070C0"/>
              </a:buClr>
              <a:buSzPts val="900"/>
              <a:buFont typeface="Arial"/>
              <a:buNone/>
            </a:pPr>
            <a:r>
              <a:rPr lang="en" sz="900" u="none">
                <a:solidFill>
                  <a:srgbClr val="4A86E8"/>
                </a:solidFill>
                <a:latin typeface="Open Sans"/>
                <a:ea typeface="Open Sans"/>
                <a:cs typeface="Open Sans"/>
                <a:sym typeface="Open Sans"/>
              </a:rPr>
              <a:t>What You Want to Say.</a:t>
            </a:r>
            <a:endParaRPr sz="900" u="none">
              <a:solidFill>
                <a:srgbClr val="4A86E8"/>
              </a:solidFill>
              <a:latin typeface="Open Sans"/>
              <a:ea typeface="Open Sans"/>
              <a:cs typeface="Open Sans"/>
              <a:sym typeface="Open Sans"/>
            </a:endParaRPr>
          </a:p>
        </p:txBody>
      </p:sp>
      <p:sp>
        <p:nvSpPr>
          <p:cNvPr id="567" name="Google Shape;567;p57"/>
          <p:cNvSpPr txBox="1"/>
          <p:nvPr/>
        </p:nvSpPr>
        <p:spPr>
          <a:xfrm>
            <a:off x="6715839" y="2581556"/>
            <a:ext cx="1683000" cy="254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a:solidFill>
                  <a:schemeClr val="accent1"/>
                </a:solidFill>
                <a:latin typeface="Poppins"/>
                <a:ea typeface="Poppins"/>
                <a:cs typeface="Poppins"/>
                <a:sym typeface="Poppins"/>
              </a:rPr>
              <a:t>Lite Marketing</a:t>
            </a:r>
            <a:endParaRPr sz="1100"/>
          </a:p>
        </p:txBody>
      </p:sp>
      <p:sp>
        <p:nvSpPr>
          <p:cNvPr id="568" name="Google Shape;568;p57"/>
          <p:cNvSpPr txBox="1"/>
          <p:nvPr/>
        </p:nvSpPr>
        <p:spPr>
          <a:xfrm>
            <a:off x="6711324" y="4135503"/>
            <a:ext cx="1683000" cy="190500"/>
          </a:xfrm>
          <a:prstGeom prst="rect">
            <a:avLst/>
          </a:prstGeom>
          <a:noFill/>
          <a:ln>
            <a:noFill/>
          </a:ln>
        </p:spPr>
        <p:txBody>
          <a:bodyPr spcFirstLastPara="1" wrap="square" lIns="34275" tIns="17150" rIns="34275" bIns="17150" anchor="t" anchorCtr="0">
            <a:noAutofit/>
          </a:bodyPr>
          <a:lstStyle/>
          <a:p>
            <a:pPr marL="0" marR="0" lvl="0" indent="0" algn="l" rtl="0">
              <a:lnSpc>
                <a:spcPct val="145833"/>
              </a:lnSpc>
              <a:spcBef>
                <a:spcPts val="0"/>
              </a:spcBef>
              <a:spcAft>
                <a:spcPts val="0"/>
              </a:spcAft>
              <a:buClr>
                <a:srgbClr val="00B0F0"/>
              </a:buClr>
              <a:buSzPts val="900"/>
              <a:buFont typeface="Arial"/>
              <a:buNone/>
            </a:pPr>
            <a:r>
              <a:rPr lang="en" sz="900" u="none">
                <a:solidFill>
                  <a:srgbClr val="00B0F0"/>
                </a:solidFill>
                <a:latin typeface="Open Sans"/>
                <a:ea typeface="Open Sans"/>
                <a:cs typeface="Open Sans"/>
                <a:sym typeface="Open Sans"/>
              </a:rPr>
              <a:t>Winning Business</a:t>
            </a:r>
            <a:endParaRPr sz="900" u="none">
              <a:solidFill>
                <a:srgbClr val="00B0F0"/>
              </a:solidFill>
              <a:latin typeface="Open Sans"/>
              <a:ea typeface="Open Sans"/>
              <a:cs typeface="Open Sans"/>
              <a:sym typeface="Open Sans"/>
            </a:endParaRPr>
          </a:p>
        </p:txBody>
      </p:sp>
      <p:sp>
        <p:nvSpPr>
          <p:cNvPr id="569" name="Google Shape;569;p57"/>
          <p:cNvSpPr txBox="1"/>
          <p:nvPr/>
        </p:nvSpPr>
        <p:spPr>
          <a:xfrm>
            <a:off x="6715839" y="3893175"/>
            <a:ext cx="1281900" cy="254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a:solidFill>
                  <a:srgbClr val="00B0F0"/>
                </a:solidFill>
                <a:latin typeface="Poppins"/>
                <a:ea typeface="Poppins"/>
                <a:cs typeface="Poppins"/>
                <a:sym typeface="Poppins"/>
              </a:rPr>
              <a:t>Lite Sales</a:t>
            </a:r>
            <a:endParaRPr sz="1100"/>
          </a:p>
        </p:txBody>
      </p:sp>
      <p:sp>
        <p:nvSpPr>
          <p:cNvPr id="570" name="Google Shape;570;p57"/>
          <p:cNvSpPr txBox="1"/>
          <p:nvPr/>
        </p:nvSpPr>
        <p:spPr>
          <a:xfrm>
            <a:off x="628424" y="1596400"/>
            <a:ext cx="1805400" cy="363600"/>
          </a:xfrm>
          <a:prstGeom prst="rect">
            <a:avLst/>
          </a:prstGeom>
          <a:noFill/>
          <a:ln>
            <a:noFill/>
          </a:ln>
        </p:spPr>
        <p:txBody>
          <a:bodyPr spcFirstLastPara="1" wrap="square" lIns="34275" tIns="17150" rIns="34275" bIns="17150" anchor="t" anchorCtr="0">
            <a:noAutofit/>
          </a:bodyPr>
          <a:lstStyle/>
          <a:p>
            <a:pPr marL="0" marR="0" lvl="0" indent="0" algn="r" rtl="0">
              <a:lnSpc>
                <a:spcPct val="145833"/>
              </a:lnSpc>
              <a:spcBef>
                <a:spcPts val="0"/>
              </a:spcBef>
              <a:spcAft>
                <a:spcPts val="0"/>
              </a:spcAft>
              <a:buClr>
                <a:srgbClr val="00B050"/>
              </a:buClr>
              <a:buSzPts val="900"/>
              <a:buFont typeface="Arial"/>
              <a:buNone/>
            </a:pPr>
            <a:r>
              <a:rPr lang="en" sz="900" u="none">
                <a:solidFill>
                  <a:srgbClr val="00B050"/>
                </a:solidFill>
                <a:latin typeface="Open Sans"/>
                <a:ea typeface="Open Sans"/>
                <a:cs typeface="Open Sans"/>
                <a:sym typeface="Open Sans"/>
              </a:rPr>
              <a:t>Aligning Owner Expectations with the Business Model</a:t>
            </a:r>
            <a:r>
              <a:rPr lang="en" sz="900" u="none">
                <a:solidFill>
                  <a:schemeClr val="dk2"/>
                </a:solidFill>
                <a:latin typeface="Open Sans"/>
                <a:ea typeface="Open Sans"/>
                <a:cs typeface="Open Sans"/>
                <a:sym typeface="Open Sans"/>
              </a:rPr>
              <a:t>.</a:t>
            </a:r>
            <a:endParaRPr sz="900" u="none">
              <a:solidFill>
                <a:schemeClr val="dk2"/>
              </a:solidFill>
              <a:latin typeface="Open Sans"/>
              <a:ea typeface="Open Sans"/>
              <a:cs typeface="Open Sans"/>
              <a:sym typeface="Open Sans"/>
            </a:endParaRPr>
          </a:p>
        </p:txBody>
      </p:sp>
      <p:sp>
        <p:nvSpPr>
          <p:cNvPr id="571" name="Google Shape;571;p57"/>
          <p:cNvSpPr txBox="1"/>
          <p:nvPr/>
        </p:nvSpPr>
        <p:spPr>
          <a:xfrm>
            <a:off x="929099" y="1354069"/>
            <a:ext cx="1507800" cy="2541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200" b="1">
                <a:solidFill>
                  <a:srgbClr val="00B050"/>
                </a:solidFill>
                <a:latin typeface="Poppins"/>
                <a:ea typeface="Poppins"/>
                <a:cs typeface="Poppins"/>
                <a:sym typeface="Poppins"/>
              </a:rPr>
              <a:t>Lite Planning</a:t>
            </a:r>
            <a:endParaRPr sz="1100"/>
          </a:p>
        </p:txBody>
      </p:sp>
      <p:sp>
        <p:nvSpPr>
          <p:cNvPr id="572" name="Google Shape;572;p57"/>
          <p:cNvSpPr txBox="1"/>
          <p:nvPr/>
        </p:nvSpPr>
        <p:spPr>
          <a:xfrm>
            <a:off x="750835" y="2823880"/>
            <a:ext cx="1683000" cy="391500"/>
          </a:xfrm>
          <a:prstGeom prst="rect">
            <a:avLst/>
          </a:prstGeom>
          <a:noFill/>
          <a:ln>
            <a:noFill/>
          </a:ln>
        </p:spPr>
        <p:txBody>
          <a:bodyPr spcFirstLastPara="1" wrap="square" lIns="34275" tIns="17150" rIns="34275" bIns="17150" anchor="t" anchorCtr="0">
            <a:noAutofit/>
          </a:bodyPr>
          <a:lstStyle/>
          <a:p>
            <a:pPr marL="0" marR="0" lvl="0" indent="0" algn="r" rtl="0">
              <a:lnSpc>
                <a:spcPct val="145833"/>
              </a:lnSpc>
              <a:spcBef>
                <a:spcPts val="0"/>
              </a:spcBef>
              <a:spcAft>
                <a:spcPts val="0"/>
              </a:spcAft>
              <a:buClr>
                <a:srgbClr val="F4B081"/>
              </a:buClr>
              <a:buSzPts val="900"/>
              <a:buFont typeface="Arial"/>
              <a:buNone/>
            </a:pPr>
            <a:r>
              <a:rPr lang="en" sz="900" u="none">
                <a:solidFill>
                  <a:srgbClr val="E69138"/>
                </a:solidFill>
                <a:latin typeface="Open Sans"/>
                <a:ea typeface="Open Sans"/>
                <a:cs typeface="Open Sans"/>
                <a:sym typeface="Open Sans"/>
              </a:rPr>
              <a:t>Making Improvements, </a:t>
            </a:r>
            <a:endParaRPr sz="1100">
              <a:solidFill>
                <a:srgbClr val="E69138"/>
              </a:solidFill>
              <a:latin typeface="Open Sans"/>
              <a:ea typeface="Open Sans"/>
              <a:cs typeface="Open Sans"/>
              <a:sym typeface="Open Sans"/>
            </a:endParaRPr>
          </a:p>
          <a:p>
            <a:pPr marL="0" marR="0" lvl="0" indent="0" algn="r" rtl="0">
              <a:lnSpc>
                <a:spcPct val="145833"/>
              </a:lnSpc>
              <a:spcBef>
                <a:spcPts val="200"/>
              </a:spcBef>
              <a:spcAft>
                <a:spcPts val="0"/>
              </a:spcAft>
              <a:buClr>
                <a:srgbClr val="F4B081"/>
              </a:buClr>
              <a:buSzPts val="900"/>
              <a:buFont typeface="Arial"/>
              <a:buNone/>
            </a:pPr>
            <a:r>
              <a:rPr lang="en" sz="900" u="none">
                <a:solidFill>
                  <a:srgbClr val="E69138"/>
                </a:solidFill>
                <a:latin typeface="Open Sans"/>
                <a:ea typeface="Open Sans"/>
                <a:cs typeface="Open Sans"/>
                <a:sym typeface="Open Sans"/>
              </a:rPr>
              <a:t>Step by Step.</a:t>
            </a:r>
            <a:endParaRPr sz="900" u="none">
              <a:solidFill>
                <a:srgbClr val="E69138"/>
              </a:solidFill>
              <a:latin typeface="Open Sans"/>
              <a:ea typeface="Open Sans"/>
              <a:cs typeface="Open Sans"/>
              <a:sym typeface="Open Sans"/>
            </a:endParaRPr>
          </a:p>
        </p:txBody>
      </p:sp>
      <p:sp>
        <p:nvSpPr>
          <p:cNvPr id="573" name="Google Shape;573;p57"/>
          <p:cNvSpPr txBox="1"/>
          <p:nvPr/>
        </p:nvSpPr>
        <p:spPr>
          <a:xfrm>
            <a:off x="1013849" y="2581556"/>
            <a:ext cx="1422900" cy="2541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200" b="1">
                <a:solidFill>
                  <a:srgbClr val="F4B081"/>
                </a:solidFill>
                <a:latin typeface="Poppins"/>
                <a:ea typeface="Poppins"/>
                <a:cs typeface="Poppins"/>
                <a:sym typeface="Poppins"/>
              </a:rPr>
              <a:t>Lite Process</a:t>
            </a:r>
            <a:endParaRPr sz="1100"/>
          </a:p>
        </p:txBody>
      </p:sp>
      <p:sp>
        <p:nvSpPr>
          <p:cNvPr id="574" name="Google Shape;574;p57"/>
          <p:cNvSpPr txBox="1"/>
          <p:nvPr/>
        </p:nvSpPr>
        <p:spPr>
          <a:xfrm>
            <a:off x="750835" y="4135503"/>
            <a:ext cx="1683000" cy="363600"/>
          </a:xfrm>
          <a:prstGeom prst="rect">
            <a:avLst/>
          </a:prstGeom>
          <a:noFill/>
          <a:ln>
            <a:noFill/>
          </a:ln>
        </p:spPr>
        <p:txBody>
          <a:bodyPr spcFirstLastPara="1" wrap="square" lIns="34275" tIns="17150" rIns="34275" bIns="17150" anchor="t" anchorCtr="0">
            <a:noAutofit/>
          </a:bodyPr>
          <a:lstStyle/>
          <a:p>
            <a:pPr marL="0" marR="0" lvl="0" indent="0" algn="r" rtl="0">
              <a:lnSpc>
                <a:spcPct val="145833"/>
              </a:lnSpc>
              <a:spcBef>
                <a:spcPts val="0"/>
              </a:spcBef>
              <a:spcAft>
                <a:spcPts val="0"/>
              </a:spcAft>
              <a:buClr>
                <a:schemeClr val="accent2"/>
              </a:buClr>
              <a:buSzPts val="900"/>
              <a:buFont typeface="Arial"/>
              <a:buNone/>
            </a:pPr>
            <a:r>
              <a:rPr lang="en" sz="900" u="none">
                <a:solidFill>
                  <a:srgbClr val="B45F06"/>
                </a:solidFill>
                <a:latin typeface="Open Sans"/>
                <a:ea typeface="Open Sans"/>
                <a:cs typeface="Open Sans"/>
                <a:sym typeface="Open Sans"/>
              </a:rPr>
              <a:t>Getting the Most Out of the People You’ve Got.</a:t>
            </a:r>
            <a:endParaRPr sz="900" u="none">
              <a:solidFill>
                <a:srgbClr val="B45F06"/>
              </a:solidFill>
              <a:latin typeface="Open Sans"/>
              <a:ea typeface="Open Sans"/>
              <a:cs typeface="Open Sans"/>
              <a:sym typeface="Open Sans"/>
            </a:endParaRPr>
          </a:p>
        </p:txBody>
      </p:sp>
      <p:sp>
        <p:nvSpPr>
          <p:cNvPr id="575" name="Google Shape;575;p57"/>
          <p:cNvSpPr txBox="1"/>
          <p:nvPr/>
        </p:nvSpPr>
        <p:spPr>
          <a:xfrm>
            <a:off x="953398" y="3893175"/>
            <a:ext cx="1483500" cy="2541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200" b="1">
                <a:solidFill>
                  <a:schemeClr val="accent2"/>
                </a:solidFill>
                <a:latin typeface="Poppins"/>
                <a:ea typeface="Poppins"/>
                <a:cs typeface="Poppins"/>
                <a:sym typeface="Poppins"/>
              </a:rPr>
              <a:t>Lite People</a:t>
            </a:r>
            <a:endParaRPr sz="1100"/>
          </a:p>
        </p:txBody>
      </p:sp>
      <p:sp>
        <p:nvSpPr>
          <p:cNvPr id="576" name="Google Shape;576;p57"/>
          <p:cNvSpPr/>
          <p:nvPr/>
        </p:nvSpPr>
        <p:spPr>
          <a:xfrm>
            <a:off x="49427" y="5004196"/>
            <a:ext cx="57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7" name="Google Shape;577;p57"/>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8" name="Google Shape;578;p57"/>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9" name="Google Shape;579;p57"/>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80" name="Google Shape;580;p57"/>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81" name="Google Shape;581;p57"/>
          <p:cNvSpPr txBox="1"/>
          <p:nvPr/>
        </p:nvSpPr>
        <p:spPr>
          <a:xfrm>
            <a:off x="135825" y="4604200"/>
            <a:ext cx="8839500" cy="3915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lt1"/>
              </a:buClr>
              <a:buSzPts val="2400"/>
              <a:buFont typeface="Architects Daughter"/>
              <a:buNone/>
            </a:pPr>
            <a:r>
              <a:rPr lang="en" sz="2400" u="none">
                <a:solidFill>
                  <a:srgbClr val="002B64"/>
                </a:solidFill>
                <a:latin typeface="Open Sans"/>
                <a:ea typeface="Open Sans"/>
                <a:cs typeface="Open Sans"/>
                <a:sym typeface="Open Sans"/>
              </a:rPr>
              <a:t>The Lite Fundamentals Components</a:t>
            </a:r>
            <a:endParaRPr sz="2400" u="none">
              <a:solidFill>
                <a:srgbClr val="002B64"/>
              </a:solidFill>
              <a:latin typeface="Open Sans"/>
              <a:ea typeface="Open Sans"/>
              <a:cs typeface="Open Sans"/>
              <a:sym typeface="Open Sans"/>
            </a:endParaRPr>
          </a:p>
        </p:txBody>
      </p:sp>
      <p:sp>
        <p:nvSpPr>
          <p:cNvPr id="582" name="Google Shape;582;p57"/>
          <p:cNvSpPr/>
          <p:nvPr/>
        </p:nvSpPr>
        <p:spPr>
          <a:xfrm rot="-1841210">
            <a:off x="3627225" y="1157337"/>
            <a:ext cx="1075154" cy="22288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800">
                <a:solidFill>
                  <a:schemeClr val="lt1"/>
                </a:solidFill>
                <a:latin typeface="Poppins"/>
                <a:ea typeface="Poppins"/>
                <a:cs typeface="Poppins"/>
                <a:sym typeface="Poppins"/>
              </a:rPr>
              <a:t>Get Organised</a:t>
            </a:r>
            <a:endParaRPr sz="1100"/>
          </a:p>
        </p:txBody>
      </p:sp>
      <p:sp>
        <p:nvSpPr>
          <p:cNvPr id="583" name="Google Shape;583;p57"/>
          <p:cNvSpPr/>
          <p:nvPr/>
        </p:nvSpPr>
        <p:spPr>
          <a:xfrm rot="1822123">
            <a:off x="4445871" y="1165707"/>
            <a:ext cx="1079985" cy="22294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Get Organised</a:t>
            </a:r>
            <a:endParaRPr sz="1100"/>
          </a:p>
        </p:txBody>
      </p:sp>
      <p:sp>
        <p:nvSpPr>
          <p:cNvPr id="584" name="Google Shape;584;p57"/>
          <p:cNvSpPr/>
          <p:nvPr/>
        </p:nvSpPr>
        <p:spPr>
          <a:xfrm rot="-5400000">
            <a:off x="5693436" y="3347997"/>
            <a:ext cx="1080300" cy="222900"/>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Get the Job</a:t>
            </a:r>
            <a:endParaRPr sz="1100"/>
          </a:p>
        </p:txBody>
      </p:sp>
      <p:sp>
        <p:nvSpPr>
          <p:cNvPr id="585" name="Google Shape;585;p57"/>
          <p:cNvSpPr/>
          <p:nvPr/>
        </p:nvSpPr>
        <p:spPr>
          <a:xfrm rot="-1784811">
            <a:off x="5282701" y="4068403"/>
            <a:ext cx="1080479" cy="222928"/>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Get the Job</a:t>
            </a:r>
            <a:endParaRPr sz="1100"/>
          </a:p>
        </p:txBody>
      </p:sp>
      <p:sp>
        <p:nvSpPr>
          <p:cNvPr id="586" name="Google Shape;586;p57"/>
          <p:cNvSpPr/>
          <p:nvPr/>
        </p:nvSpPr>
        <p:spPr>
          <a:xfrm rot="1792982">
            <a:off x="2781547" y="4062023"/>
            <a:ext cx="1080222" cy="222817"/>
          </a:xfrm>
          <a:prstGeom prst="rect">
            <a:avLst/>
          </a:prstGeom>
          <a:solidFill>
            <a:srgbClr val="C55A1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Do the Job</a:t>
            </a:r>
            <a:endParaRPr sz="1100"/>
          </a:p>
        </p:txBody>
      </p:sp>
      <p:sp>
        <p:nvSpPr>
          <p:cNvPr id="587" name="Google Shape;587;p57"/>
          <p:cNvSpPr/>
          <p:nvPr/>
        </p:nvSpPr>
        <p:spPr>
          <a:xfrm rot="5400000">
            <a:off x="2372796" y="3350194"/>
            <a:ext cx="1080300" cy="222900"/>
          </a:xfrm>
          <a:prstGeom prst="rect">
            <a:avLst/>
          </a:prstGeom>
          <a:solidFill>
            <a:srgbClr val="C55A1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Do the Job</a:t>
            </a:r>
            <a:endParaRPr sz="1100"/>
          </a:p>
        </p:txBody>
      </p:sp>
      <p:sp>
        <p:nvSpPr>
          <p:cNvPr id="588" name="Google Shape;588;p57"/>
          <p:cNvSpPr/>
          <p:nvPr/>
        </p:nvSpPr>
        <p:spPr>
          <a:xfrm>
            <a:off x="3371999" y="2844897"/>
            <a:ext cx="267001" cy="267012"/>
          </a:xfrm>
          <a:custGeom>
            <a:avLst/>
            <a:gdLst/>
            <a:ahLst/>
            <a:cxnLst/>
            <a:rect l="l" t="t" r="r" b="b"/>
            <a:pathLst>
              <a:path w="589" h="590" extrusionOk="0">
                <a:moveTo>
                  <a:pt x="294" y="192"/>
                </a:moveTo>
                <a:lnTo>
                  <a:pt x="294" y="192"/>
                </a:lnTo>
                <a:cubicBezTo>
                  <a:pt x="235" y="192"/>
                  <a:pt x="191" y="236"/>
                  <a:pt x="191" y="295"/>
                </a:cubicBezTo>
                <a:cubicBezTo>
                  <a:pt x="191" y="339"/>
                  <a:pt x="235" y="383"/>
                  <a:pt x="294" y="383"/>
                </a:cubicBezTo>
                <a:cubicBezTo>
                  <a:pt x="353" y="383"/>
                  <a:pt x="397" y="339"/>
                  <a:pt x="397" y="295"/>
                </a:cubicBezTo>
                <a:cubicBezTo>
                  <a:pt x="397" y="236"/>
                  <a:pt x="353" y="192"/>
                  <a:pt x="294" y="192"/>
                </a:cubicBezTo>
                <a:close/>
                <a:moveTo>
                  <a:pt x="294" y="354"/>
                </a:moveTo>
                <a:lnTo>
                  <a:pt x="294" y="354"/>
                </a:lnTo>
                <a:cubicBezTo>
                  <a:pt x="265" y="354"/>
                  <a:pt x="235" y="324"/>
                  <a:pt x="235" y="295"/>
                </a:cubicBezTo>
                <a:cubicBezTo>
                  <a:pt x="235" y="251"/>
                  <a:pt x="265" y="236"/>
                  <a:pt x="294" y="236"/>
                </a:cubicBezTo>
                <a:cubicBezTo>
                  <a:pt x="324" y="236"/>
                  <a:pt x="353" y="251"/>
                  <a:pt x="353" y="295"/>
                </a:cubicBezTo>
                <a:cubicBezTo>
                  <a:pt x="353" y="324"/>
                  <a:pt x="324" y="354"/>
                  <a:pt x="294" y="354"/>
                </a:cubicBezTo>
                <a:close/>
                <a:moveTo>
                  <a:pt x="574" y="354"/>
                </a:moveTo>
                <a:lnTo>
                  <a:pt x="574" y="354"/>
                </a:lnTo>
                <a:cubicBezTo>
                  <a:pt x="529" y="339"/>
                  <a:pt x="529" y="339"/>
                  <a:pt x="529" y="339"/>
                </a:cubicBezTo>
                <a:cubicBezTo>
                  <a:pt x="529" y="324"/>
                  <a:pt x="529" y="309"/>
                  <a:pt x="529" y="295"/>
                </a:cubicBezTo>
                <a:cubicBezTo>
                  <a:pt x="529" y="280"/>
                  <a:pt x="529" y="265"/>
                  <a:pt x="529" y="251"/>
                </a:cubicBezTo>
                <a:cubicBezTo>
                  <a:pt x="574" y="221"/>
                  <a:pt x="574" y="221"/>
                  <a:pt x="574" y="221"/>
                </a:cubicBezTo>
                <a:cubicBezTo>
                  <a:pt x="588" y="206"/>
                  <a:pt x="588" y="192"/>
                  <a:pt x="588" y="163"/>
                </a:cubicBezTo>
                <a:cubicBezTo>
                  <a:pt x="544" y="104"/>
                  <a:pt x="544" y="104"/>
                  <a:pt x="544" y="104"/>
                </a:cubicBezTo>
                <a:cubicBezTo>
                  <a:pt x="529" y="74"/>
                  <a:pt x="515" y="74"/>
                  <a:pt x="485" y="89"/>
                </a:cubicBezTo>
                <a:cubicBezTo>
                  <a:pt x="441" y="118"/>
                  <a:pt x="441" y="118"/>
                  <a:pt x="441" y="118"/>
                </a:cubicBezTo>
                <a:cubicBezTo>
                  <a:pt x="426" y="89"/>
                  <a:pt x="397" y="74"/>
                  <a:pt x="367" y="74"/>
                </a:cubicBezTo>
                <a:cubicBezTo>
                  <a:pt x="367" y="30"/>
                  <a:pt x="367" y="30"/>
                  <a:pt x="367" y="30"/>
                </a:cubicBezTo>
                <a:cubicBezTo>
                  <a:pt x="367" y="15"/>
                  <a:pt x="353" y="0"/>
                  <a:pt x="338" y="0"/>
                </a:cubicBezTo>
                <a:cubicBezTo>
                  <a:pt x="250" y="0"/>
                  <a:pt x="250" y="0"/>
                  <a:pt x="250" y="0"/>
                </a:cubicBezTo>
                <a:cubicBezTo>
                  <a:pt x="235" y="0"/>
                  <a:pt x="220" y="15"/>
                  <a:pt x="220" y="30"/>
                </a:cubicBezTo>
                <a:cubicBezTo>
                  <a:pt x="220" y="74"/>
                  <a:pt x="220" y="74"/>
                  <a:pt x="220" y="74"/>
                </a:cubicBezTo>
                <a:cubicBezTo>
                  <a:pt x="191" y="74"/>
                  <a:pt x="162" y="89"/>
                  <a:pt x="147" y="118"/>
                </a:cubicBezTo>
                <a:cubicBezTo>
                  <a:pt x="103" y="89"/>
                  <a:pt x="103" y="89"/>
                  <a:pt x="103" y="89"/>
                </a:cubicBezTo>
                <a:cubicBezTo>
                  <a:pt x="73" y="74"/>
                  <a:pt x="58" y="74"/>
                  <a:pt x="44" y="104"/>
                </a:cubicBezTo>
                <a:cubicBezTo>
                  <a:pt x="0" y="163"/>
                  <a:pt x="0" y="163"/>
                  <a:pt x="0" y="163"/>
                </a:cubicBezTo>
                <a:cubicBezTo>
                  <a:pt x="0" y="192"/>
                  <a:pt x="0" y="206"/>
                  <a:pt x="14" y="221"/>
                </a:cubicBezTo>
                <a:cubicBezTo>
                  <a:pt x="58" y="251"/>
                  <a:pt x="58" y="251"/>
                  <a:pt x="58" y="251"/>
                </a:cubicBezTo>
                <a:cubicBezTo>
                  <a:pt x="58" y="265"/>
                  <a:pt x="58" y="280"/>
                  <a:pt x="58" y="295"/>
                </a:cubicBezTo>
                <a:cubicBezTo>
                  <a:pt x="58" y="309"/>
                  <a:pt x="58" y="324"/>
                  <a:pt x="58" y="339"/>
                </a:cubicBezTo>
                <a:cubicBezTo>
                  <a:pt x="14" y="354"/>
                  <a:pt x="14" y="354"/>
                  <a:pt x="14" y="354"/>
                </a:cubicBezTo>
                <a:cubicBezTo>
                  <a:pt x="0" y="368"/>
                  <a:pt x="0" y="398"/>
                  <a:pt x="0" y="413"/>
                </a:cubicBezTo>
                <a:cubicBezTo>
                  <a:pt x="44" y="486"/>
                  <a:pt x="44" y="486"/>
                  <a:pt x="44" y="486"/>
                </a:cubicBezTo>
                <a:cubicBezTo>
                  <a:pt x="58" y="501"/>
                  <a:pt x="73" y="501"/>
                  <a:pt x="103" y="501"/>
                </a:cubicBezTo>
                <a:cubicBezTo>
                  <a:pt x="147" y="472"/>
                  <a:pt x="147" y="472"/>
                  <a:pt x="147" y="472"/>
                </a:cubicBezTo>
                <a:cubicBezTo>
                  <a:pt x="162" y="486"/>
                  <a:pt x="191" y="501"/>
                  <a:pt x="220" y="516"/>
                </a:cubicBezTo>
                <a:cubicBezTo>
                  <a:pt x="220" y="545"/>
                  <a:pt x="220" y="545"/>
                  <a:pt x="220" y="545"/>
                </a:cubicBezTo>
                <a:cubicBezTo>
                  <a:pt x="220" y="560"/>
                  <a:pt x="235" y="589"/>
                  <a:pt x="250" y="589"/>
                </a:cubicBezTo>
                <a:cubicBezTo>
                  <a:pt x="338" y="589"/>
                  <a:pt x="338" y="589"/>
                  <a:pt x="338" y="589"/>
                </a:cubicBezTo>
                <a:cubicBezTo>
                  <a:pt x="353" y="589"/>
                  <a:pt x="367" y="560"/>
                  <a:pt x="367" y="545"/>
                </a:cubicBezTo>
                <a:cubicBezTo>
                  <a:pt x="367" y="516"/>
                  <a:pt x="367" y="516"/>
                  <a:pt x="367" y="516"/>
                </a:cubicBezTo>
                <a:cubicBezTo>
                  <a:pt x="397" y="501"/>
                  <a:pt x="426" y="486"/>
                  <a:pt x="441" y="472"/>
                </a:cubicBezTo>
                <a:cubicBezTo>
                  <a:pt x="485" y="501"/>
                  <a:pt x="485" y="501"/>
                  <a:pt x="485" y="501"/>
                </a:cubicBezTo>
                <a:cubicBezTo>
                  <a:pt x="515" y="501"/>
                  <a:pt x="529" y="501"/>
                  <a:pt x="544" y="486"/>
                </a:cubicBezTo>
                <a:cubicBezTo>
                  <a:pt x="588" y="413"/>
                  <a:pt x="588" y="413"/>
                  <a:pt x="588" y="413"/>
                </a:cubicBezTo>
                <a:cubicBezTo>
                  <a:pt x="588" y="398"/>
                  <a:pt x="588" y="368"/>
                  <a:pt x="574" y="354"/>
                </a:cubicBezTo>
                <a:close/>
                <a:moveTo>
                  <a:pt x="544" y="413"/>
                </a:moveTo>
                <a:lnTo>
                  <a:pt x="544" y="413"/>
                </a:lnTo>
                <a:cubicBezTo>
                  <a:pt x="515" y="442"/>
                  <a:pt x="515" y="442"/>
                  <a:pt x="515" y="442"/>
                </a:cubicBezTo>
                <a:cubicBezTo>
                  <a:pt x="515" y="457"/>
                  <a:pt x="500" y="457"/>
                  <a:pt x="500" y="457"/>
                </a:cubicBezTo>
                <a:cubicBezTo>
                  <a:pt x="441" y="427"/>
                  <a:pt x="441" y="427"/>
                  <a:pt x="441" y="427"/>
                </a:cubicBezTo>
                <a:cubicBezTo>
                  <a:pt x="412" y="457"/>
                  <a:pt x="382" y="472"/>
                  <a:pt x="338" y="486"/>
                </a:cubicBezTo>
                <a:cubicBezTo>
                  <a:pt x="338" y="530"/>
                  <a:pt x="338" y="530"/>
                  <a:pt x="338" y="530"/>
                </a:cubicBezTo>
                <a:cubicBezTo>
                  <a:pt x="338" y="530"/>
                  <a:pt x="324" y="545"/>
                  <a:pt x="309" y="545"/>
                </a:cubicBezTo>
                <a:cubicBezTo>
                  <a:pt x="279" y="545"/>
                  <a:pt x="279" y="545"/>
                  <a:pt x="279" y="545"/>
                </a:cubicBezTo>
                <a:cubicBezTo>
                  <a:pt x="265" y="545"/>
                  <a:pt x="250" y="530"/>
                  <a:pt x="250" y="530"/>
                </a:cubicBezTo>
                <a:cubicBezTo>
                  <a:pt x="250" y="486"/>
                  <a:pt x="250" y="486"/>
                  <a:pt x="250" y="486"/>
                </a:cubicBezTo>
                <a:cubicBezTo>
                  <a:pt x="206" y="472"/>
                  <a:pt x="176" y="457"/>
                  <a:pt x="147" y="427"/>
                </a:cubicBezTo>
                <a:cubicBezTo>
                  <a:pt x="88" y="457"/>
                  <a:pt x="88" y="457"/>
                  <a:pt x="88" y="457"/>
                </a:cubicBezTo>
                <a:cubicBezTo>
                  <a:pt x="88" y="457"/>
                  <a:pt x="73" y="457"/>
                  <a:pt x="73" y="442"/>
                </a:cubicBezTo>
                <a:cubicBezTo>
                  <a:pt x="44" y="413"/>
                  <a:pt x="44" y="413"/>
                  <a:pt x="44" y="413"/>
                </a:cubicBezTo>
                <a:cubicBezTo>
                  <a:pt x="44" y="398"/>
                  <a:pt x="44" y="383"/>
                  <a:pt x="58" y="383"/>
                </a:cubicBezTo>
                <a:cubicBezTo>
                  <a:pt x="103" y="354"/>
                  <a:pt x="103" y="354"/>
                  <a:pt x="103" y="354"/>
                </a:cubicBezTo>
                <a:cubicBezTo>
                  <a:pt x="103" y="339"/>
                  <a:pt x="103" y="309"/>
                  <a:pt x="103" y="295"/>
                </a:cubicBezTo>
                <a:cubicBezTo>
                  <a:pt x="103" y="265"/>
                  <a:pt x="103" y="251"/>
                  <a:pt x="103" y="221"/>
                </a:cubicBezTo>
                <a:cubicBezTo>
                  <a:pt x="58" y="192"/>
                  <a:pt x="58" y="192"/>
                  <a:pt x="58" y="192"/>
                </a:cubicBezTo>
                <a:cubicBezTo>
                  <a:pt x="44" y="192"/>
                  <a:pt x="44" y="177"/>
                  <a:pt x="44" y="163"/>
                </a:cubicBezTo>
                <a:cubicBezTo>
                  <a:pt x="73" y="133"/>
                  <a:pt x="73" y="133"/>
                  <a:pt x="73" y="133"/>
                </a:cubicBezTo>
                <a:cubicBezTo>
                  <a:pt x="73" y="133"/>
                  <a:pt x="88" y="118"/>
                  <a:pt x="88" y="133"/>
                </a:cubicBezTo>
                <a:cubicBezTo>
                  <a:pt x="147" y="163"/>
                  <a:pt x="147" y="163"/>
                  <a:pt x="147" y="163"/>
                </a:cubicBezTo>
                <a:cubicBezTo>
                  <a:pt x="176" y="133"/>
                  <a:pt x="206" y="104"/>
                  <a:pt x="250" y="104"/>
                </a:cubicBezTo>
                <a:cubicBezTo>
                  <a:pt x="250" y="59"/>
                  <a:pt x="250" y="59"/>
                  <a:pt x="250" y="59"/>
                </a:cubicBezTo>
                <a:cubicBezTo>
                  <a:pt x="250" y="45"/>
                  <a:pt x="265" y="30"/>
                  <a:pt x="279" y="30"/>
                </a:cubicBezTo>
                <a:cubicBezTo>
                  <a:pt x="309" y="30"/>
                  <a:pt x="309" y="30"/>
                  <a:pt x="309" y="30"/>
                </a:cubicBezTo>
                <a:cubicBezTo>
                  <a:pt x="324" y="30"/>
                  <a:pt x="338" y="45"/>
                  <a:pt x="338" y="59"/>
                </a:cubicBezTo>
                <a:cubicBezTo>
                  <a:pt x="338" y="104"/>
                  <a:pt x="338" y="104"/>
                  <a:pt x="338" y="104"/>
                </a:cubicBezTo>
                <a:cubicBezTo>
                  <a:pt x="382" y="104"/>
                  <a:pt x="412" y="133"/>
                  <a:pt x="441" y="163"/>
                </a:cubicBezTo>
                <a:cubicBezTo>
                  <a:pt x="500" y="133"/>
                  <a:pt x="500" y="133"/>
                  <a:pt x="500" y="133"/>
                </a:cubicBezTo>
                <a:cubicBezTo>
                  <a:pt x="500" y="118"/>
                  <a:pt x="515" y="133"/>
                  <a:pt x="515" y="133"/>
                </a:cubicBezTo>
                <a:cubicBezTo>
                  <a:pt x="544" y="163"/>
                  <a:pt x="544" y="163"/>
                  <a:pt x="544" y="163"/>
                </a:cubicBezTo>
                <a:cubicBezTo>
                  <a:pt x="544" y="177"/>
                  <a:pt x="544" y="192"/>
                  <a:pt x="529" y="192"/>
                </a:cubicBezTo>
                <a:cubicBezTo>
                  <a:pt x="485" y="221"/>
                  <a:pt x="485" y="221"/>
                  <a:pt x="485" y="221"/>
                </a:cubicBezTo>
                <a:cubicBezTo>
                  <a:pt x="485" y="251"/>
                  <a:pt x="485" y="265"/>
                  <a:pt x="485" y="295"/>
                </a:cubicBezTo>
                <a:cubicBezTo>
                  <a:pt x="485" y="309"/>
                  <a:pt x="485" y="339"/>
                  <a:pt x="485" y="354"/>
                </a:cubicBezTo>
                <a:cubicBezTo>
                  <a:pt x="529" y="383"/>
                  <a:pt x="529" y="383"/>
                  <a:pt x="529" y="383"/>
                </a:cubicBezTo>
                <a:cubicBezTo>
                  <a:pt x="544" y="383"/>
                  <a:pt x="544" y="398"/>
                  <a:pt x="544" y="413"/>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89" name="Google Shape;589;p57"/>
          <p:cNvSpPr/>
          <p:nvPr/>
        </p:nvSpPr>
        <p:spPr>
          <a:xfrm>
            <a:off x="4986012" y="3748150"/>
            <a:ext cx="286928" cy="286937"/>
          </a:xfrm>
          <a:custGeom>
            <a:avLst/>
            <a:gdLst/>
            <a:ahLst/>
            <a:cxnLst/>
            <a:rect l="l" t="t" r="r" b="b"/>
            <a:pathLst>
              <a:path w="634" h="634" extrusionOk="0">
                <a:moveTo>
                  <a:pt x="309" y="398"/>
                </a:moveTo>
                <a:lnTo>
                  <a:pt x="309" y="398"/>
                </a:lnTo>
                <a:cubicBezTo>
                  <a:pt x="324" y="398"/>
                  <a:pt x="338" y="383"/>
                  <a:pt x="338" y="368"/>
                </a:cubicBezTo>
                <a:cubicBezTo>
                  <a:pt x="338" y="132"/>
                  <a:pt x="338" y="132"/>
                  <a:pt x="338" y="132"/>
                </a:cubicBezTo>
                <a:cubicBezTo>
                  <a:pt x="338" y="132"/>
                  <a:pt x="324" y="118"/>
                  <a:pt x="309" y="118"/>
                </a:cubicBezTo>
                <a:lnTo>
                  <a:pt x="294" y="132"/>
                </a:lnTo>
                <a:cubicBezTo>
                  <a:pt x="294" y="368"/>
                  <a:pt x="294" y="368"/>
                  <a:pt x="294" y="368"/>
                </a:cubicBezTo>
                <a:cubicBezTo>
                  <a:pt x="294" y="383"/>
                  <a:pt x="309" y="398"/>
                  <a:pt x="309" y="398"/>
                </a:cubicBezTo>
                <a:close/>
                <a:moveTo>
                  <a:pt x="426" y="398"/>
                </a:moveTo>
                <a:lnTo>
                  <a:pt x="426" y="398"/>
                </a:lnTo>
                <a:cubicBezTo>
                  <a:pt x="442" y="398"/>
                  <a:pt x="456" y="383"/>
                  <a:pt x="456" y="368"/>
                </a:cubicBezTo>
                <a:cubicBezTo>
                  <a:pt x="456" y="191"/>
                  <a:pt x="456" y="191"/>
                  <a:pt x="456" y="191"/>
                </a:cubicBezTo>
                <a:cubicBezTo>
                  <a:pt x="456" y="191"/>
                  <a:pt x="442" y="177"/>
                  <a:pt x="426" y="177"/>
                </a:cubicBezTo>
                <a:lnTo>
                  <a:pt x="412" y="191"/>
                </a:lnTo>
                <a:cubicBezTo>
                  <a:pt x="412" y="368"/>
                  <a:pt x="412" y="368"/>
                  <a:pt x="412" y="368"/>
                </a:cubicBezTo>
                <a:cubicBezTo>
                  <a:pt x="412" y="383"/>
                  <a:pt x="426" y="398"/>
                  <a:pt x="426" y="398"/>
                </a:cubicBezTo>
                <a:close/>
                <a:moveTo>
                  <a:pt x="191" y="398"/>
                </a:moveTo>
                <a:lnTo>
                  <a:pt x="191" y="398"/>
                </a:lnTo>
                <a:cubicBezTo>
                  <a:pt x="206" y="398"/>
                  <a:pt x="221" y="383"/>
                  <a:pt x="221" y="368"/>
                </a:cubicBezTo>
                <a:cubicBezTo>
                  <a:pt x="221" y="294"/>
                  <a:pt x="221" y="294"/>
                  <a:pt x="221" y="294"/>
                </a:cubicBezTo>
                <a:cubicBezTo>
                  <a:pt x="221" y="280"/>
                  <a:pt x="206" y="280"/>
                  <a:pt x="191" y="280"/>
                </a:cubicBezTo>
                <a:cubicBezTo>
                  <a:pt x="191" y="280"/>
                  <a:pt x="176" y="280"/>
                  <a:pt x="176" y="294"/>
                </a:cubicBezTo>
                <a:cubicBezTo>
                  <a:pt x="176" y="368"/>
                  <a:pt x="176" y="368"/>
                  <a:pt x="176" y="368"/>
                </a:cubicBezTo>
                <a:cubicBezTo>
                  <a:pt x="176" y="383"/>
                  <a:pt x="191" y="398"/>
                  <a:pt x="191" y="398"/>
                </a:cubicBezTo>
                <a:close/>
                <a:moveTo>
                  <a:pt x="0" y="0"/>
                </a:moveTo>
                <a:lnTo>
                  <a:pt x="0" y="0"/>
                </a:lnTo>
                <a:cubicBezTo>
                  <a:pt x="0" y="44"/>
                  <a:pt x="0" y="44"/>
                  <a:pt x="0" y="44"/>
                </a:cubicBezTo>
                <a:cubicBezTo>
                  <a:pt x="44" y="44"/>
                  <a:pt x="44" y="44"/>
                  <a:pt x="44" y="44"/>
                </a:cubicBezTo>
                <a:cubicBezTo>
                  <a:pt x="44" y="73"/>
                  <a:pt x="44" y="412"/>
                  <a:pt x="44" y="412"/>
                </a:cubicBezTo>
                <a:cubicBezTo>
                  <a:pt x="44" y="456"/>
                  <a:pt x="73" y="486"/>
                  <a:pt x="117" y="486"/>
                </a:cubicBezTo>
                <a:cubicBezTo>
                  <a:pt x="235" y="486"/>
                  <a:pt x="235" y="486"/>
                  <a:pt x="235" y="486"/>
                </a:cubicBezTo>
                <a:cubicBezTo>
                  <a:pt x="162" y="633"/>
                  <a:pt x="162" y="633"/>
                  <a:pt x="162" y="633"/>
                </a:cubicBezTo>
                <a:cubicBezTo>
                  <a:pt x="221" y="633"/>
                  <a:pt x="221" y="633"/>
                  <a:pt x="221" y="633"/>
                </a:cubicBezTo>
                <a:cubicBezTo>
                  <a:pt x="294" y="486"/>
                  <a:pt x="294" y="486"/>
                  <a:pt x="294" y="486"/>
                </a:cubicBezTo>
                <a:cubicBezTo>
                  <a:pt x="338" y="486"/>
                  <a:pt x="338" y="486"/>
                  <a:pt x="338" y="486"/>
                </a:cubicBezTo>
                <a:cubicBezTo>
                  <a:pt x="412" y="633"/>
                  <a:pt x="412" y="633"/>
                  <a:pt x="412" y="633"/>
                </a:cubicBezTo>
                <a:cubicBezTo>
                  <a:pt x="471" y="633"/>
                  <a:pt x="471" y="633"/>
                  <a:pt x="471" y="633"/>
                </a:cubicBezTo>
                <a:cubicBezTo>
                  <a:pt x="397" y="486"/>
                  <a:pt x="397" y="486"/>
                  <a:pt x="397" y="486"/>
                </a:cubicBezTo>
                <a:cubicBezTo>
                  <a:pt x="515" y="486"/>
                  <a:pt x="515" y="486"/>
                  <a:pt x="515" y="486"/>
                </a:cubicBezTo>
                <a:cubicBezTo>
                  <a:pt x="559" y="486"/>
                  <a:pt x="588" y="456"/>
                  <a:pt x="588" y="412"/>
                </a:cubicBezTo>
                <a:cubicBezTo>
                  <a:pt x="588" y="412"/>
                  <a:pt x="588" y="73"/>
                  <a:pt x="588" y="44"/>
                </a:cubicBezTo>
                <a:cubicBezTo>
                  <a:pt x="633" y="44"/>
                  <a:pt x="633" y="44"/>
                  <a:pt x="633" y="44"/>
                </a:cubicBezTo>
                <a:cubicBezTo>
                  <a:pt x="633" y="0"/>
                  <a:pt x="633" y="0"/>
                  <a:pt x="633" y="0"/>
                </a:cubicBezTo>
                <a:lnTo>
                  <a:pt x="0" y="0"/>
                </a:lnTo>
                <a:close/>
                <a:moveTo>
                  <a:pt x="544" y="412"/>
                </a:moveTo>
                <a:lnTo>
                  <a:pt x="544" y="412"/>
                </a:lnTo>
                <a:cubicBezTo>
                  <a:pt x="544" y="442"/>
                  <a:pt x="530" y="456"/>
                  <a:pt x="515" y="456"/>
                </a:cubicBezTo>
                <a:cubicBezTo>
                  <a:pt x="117" y="456"/>
                  <a:pt x="117" y="456"/>
                  <a:pt x="117" y="456"/>
                </a:cubicBezTo>
                <a:cubicBezTo>
                  <a:pt x="88" y="456"/>
                  <a:pt x="73" y="442"/>
                  <a:pt x="73" y="412"/>
                </a:cubicBezTo>
                <a:cubicBezTo>
                  <a:pt x="73" y="412"/>
                  <a:pt x="73" y="59"/>
                  <a:pt x="73" y="44"/>
                </a:cubicBezTo>
                <a:cubicBezTo>
                  <a:pt x="544" y="44"/>
                  <a:pt x="544" y="44"/>
                  <a:pt x="544" y="44"/>
                </a:cubicBezTo>
                <a:cubicBezTo>
                  <a:pt x="544" y="73"/>
                  <a:pt x="544" y="412"/>
                  <a:pt x="544" y="412"/>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90" name="Google Shape;590;p57"/>
          <p:cNvSpPr/>
          <p:nvPr/>
        </p:nvSpPr>
        <p:spPr>
          <a:xfrm>
            <a:off x="3891214" y="1880814"/>
            <a:ext cx="292905" cy="292915"/>
          </a:xfrm>
          <a:custGeom>
            <a:avLst/>
            <a:gdLst/>
            <a:ahLst/>
            <a:cxnLst/>
            <a:rect l="l" t="t" r="r" b="b"/>
            <a:pathLst>
              <a:path w="649" h="649" extrusionOk="0">
                <a:moveTo>
                  <a:pt x="633" y="30"/>
                </a:moveTo>
                <a:lnTo>
                  <a:pt x="633" y="30"/>
                </a:lnTo>
                <a:cubicBezTo>
                  <a:pt x="603" y="0"/>
                  <a:pt x="559" y="15"/>
                  <a:pt x="530" y="30"/>
                </a:cubicBezTo>
                <a:cubicBezTo>
                  <a:pt x="412" y="163"/>
                  <a:pt x="412" y="163"/>
                  <a:pt x="412" y="163"/>
                </a:cubicBezTo>
                <a:cubicBezTo>
                  <a:pt x="177" y="74"/>
                  <a:pt x="177" y="74"/>
                  <a:pt x="177" y="74"/>
                </a:cubicBezTo>
                <a:cubicBezTo>
                  <a:pt x="162" y="74"/>
                  <a:pt x="132" y="59"/>
                  <a:pt x="103" y="89"/>
                </a:cubicBezTo>
                <a:cubicBezTo>
                  <a:pt x="88" y="104"/>
                  <a:pt x="59" y="133"/>
                  <a:pt x="103" y="177"/>
                </a:cubicBezTo>
                <a:cubicBezTo>
                  <a:pt x="265" y="310"/>
                  <a:pt x="265" y="310"/>
                  <a:pt x="265" y="310"/>
                </a:cubicBezTo>
                <a:cubicBezTo>
                  <a:pt x="162" y="413"/>
                  <a:pt x="162" y="413"/>
                  <a:pt x="162" y="413"/>
                </a:cubicBezTo>
                <a:cubicBezTo>
                  <a:pt x="59" y="383"/>
                  <a:pt x="59" y="383"/>
                  <a:pt x="59" y="383"/>
                </a:cubicBezTo>
                <a:cubicBezTo>
                  <a:pt x="44" y="383"/>
                  <a:pt x="44" y="383"/>
                  <a:pt x="29" y="398"/>
                </a:cubicBezTo>
                <a:cubicBezTo>
                  <a:pt x="29" y="398"/>
                  <a:pt x="0" y="413"/>
                  <a:pt x="15" y="442"/>
                </a:cubicBezTo>
                <a:cubicBezTo>
                  <a:pt x="132" y="530"/>
                  <a:pt x="132" y="530"/>
                  <a:pt x="132" y="530"/>
                </a:cubicBezTo>
                <a:cubicBezTo>
                  <a:pt x="221" y="634"/>
                  <a:pt x="221" y="634"/>
                  <a:pt x="221" y="634"/>
                </a:cubicBezTo>
                <a:cubicBezTo>
                  <a:pt x="236" y="648"/>
                  <a:pt x="250" y="648"/>
                  <a:pt x="265" y="619"/>
                </a:cubicBezTo>
                <a:cubicBezTo>
                  <a:pt x="280" y="619"/>
                  <a:pt x="280" y="604"/>
                  <a:pt x="265" y="589"/>
                </a:cubicBezTo>
                <a:cubicBezTo>
                  <a:pt x="250" y="501"/>
                  <a:pt x="250" y="501"/>
                  <a:pt x="250" y="501"/>
                </a:cubicBezTo>
                <a:cubicBezTo>
                  <a:pt x="353" y="398"/>
                  <a:pt x="353" y="398"/>
                  <a:pt x="353" y="398"/>
                </a:cubicBezTo>
                <a:cubicBezTo>
                  <a:pt x="486" y="560"/>
                  <a:pt x="486" y="560"/>
                  <a:pt x="486" y="560"/>
                </a:cubicBezTo>
                <a:cubicBezTo>
                  <a:pt x="530" y="589"/>
                  <a:pt x="559" y="560"/>
                  <a:pt x="574" y="560"/>
                </a:cubicBezTo>
                <a:cubicBezTo>
                  <a:pt x="589" y="530"/>
                  <a:pt x="589" y="501"/>
                  <a:pt x="589" y="486"/>
                </a:cubicBezTo>
                <a:cubicBezTo>
                  <a:pt x="500" y="251"/>
                  <a:pt x="500" y="251"/>
                  <a:pt x="500" y="251"/>
                </a:cubicBezTo>
                <a:cubicBezTo>
                  <a:pt x="618" y="118"/>
                  <a:pt x="618" y="118"/>
                  <a:pt x="618" y="118"/>
                </a:cubicBezTo>
                <a:cubicBezTo>
                  <a:pt x="648" y="104"/>
                  <a:pt x="648" y="59"/>
                  <a:pt x="633" y="30"/>
                </a:cubicBezTo>
                <a:close/>
                <a:moveTo>
                  <a:pt x="603" y="104"/>
                </a:moveTo>
                <a:lnTo>
                  <a:pt x="603" y="104"/>
                </a:lnTo>
                <a:cubicBezTo>
                  <a:pt x="456" y="251"/>
                  <a:pt x="456" y="251"/>
                  <a:pt x="456" y="251"/>
                </a:cubicBezTo>
                <a:cubicBezTo>
                  <a:pt x="545" y="486"/>
                  <a:pt x="545" y="486"/>
                  <a:pt x="545" y="486"/>
                </a:cubicBezTo>
                <a:cubicBezTo>
                  <a:pt x="545" y="501"/>
                  <a:pt x="545" y="516"/>
                  <a:pt x="545" y="530"/>
                </a:cubicBezTo>
                <a:cubicBezTo>
                  <a:pt x="530" y="545"/>
                  <a:pt x="515" y="530"/>
                  <a:pt x="500" y="530"/>
                </a:cubicBezTo>
                <a:cubicBezTo>
                  <a:pt x="368" y="339"/>
                  <a:pt x="368" y="339"/>
                  <a:pt x="368" y="339"/>
                </a:cubicBezTo>
                <a:cubicBezTo>
                  <a:pt x="206" y="486"/>
                  <a:pt x="206" y="486"/>
                  <a:pt x="206" y="486"/>
                </a:cubicBezTo>
                <a:cubicBezTo>
                  <a:pt x="236" y="589"/>
                  <a:pt x="236" y="589"/>
                  <a:pt x="236" y="589"/>
                </a:cubicBezTo>
                <a:cubicBezTo>
                  <a:pt x="221" y="589"/>
                  <a:pt x="162" y="501"/>
                  <a:pt x="162" y="501"/>
                </a:cubicBezTo>
                <a:cubicBezTo>
                  <a:pt x="162" y="501"/>
                  <a:pt x="73" y="427"/>
                  <a:pt x="59" y="427"/>
                </a:cubicBezTo>
                <a:cubicBezTo>
                  <a:pt x="162" y="457"/>
                  <a:pt x="162" y="457"/>
                  <a:pt x="162" y="457"/>
                </a:cubicBezTo>
                <a:cubicBezTo>
                  <a:pt x="324" y="295"/>
                  <a:pt x="324" y="295"/>
                  <a:pt x="324" y="295"/>
                </a:cubicBezTo>
                <a:cubicBezTo>
                  <a:pt x="132" y="147"/>
                  <a:pt x="132" y="147"/>
                  <a:pt x="132" y="147"/>
                </a:cubicBezTo>
                <a:cubicBezTo>
                  <a:pt x="132" y="147"/>
                  <a:pt x="118" y="133"/>
                  <a:pt x="132" y="118"/>
                </a:cubicBezTo>
                <a:cubicBezTo>
                  <a:pt x="147" y="118"/>
                  <a:pt x="162" y="118"/>
                  <a:pt x="177" y="118"/>
                </a:cubicBezTo>
                <a:cubicBezTo>
                  <a:pt x="412" y="206"/>
                  <a:pt x="412" y="206"/>
                  <a:pt x="412" y="206"/>
                </a:cubicBezTo>
                <a:cubicBezTo>
                  <a:pt x="559" y="59"/>
                  <a:pt x="559" y="59"/>
                  <a:pt x="559" y="59"/>
                </a:cubicBezTo>
                <a:cubicBezTo>
                  <a:pt x="574" y="45"/>
                  <a:pt x="589" y="45"/>
                  <a:pt x="603" y="59"/>
                </a:cubicBezTo>
                <a:cubicBezTo>
                  <a:pt x="603" y="74"/>
                  <a:pt x="618" y="89"/>
                  <a:pt x="603" y="104"/>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91" name="Google Shape;591;p57"/>
          <p:cNvSpPr/>
          <p:nvPr/>
        </p:nvSpPr>
        <p:spPr>
          <a:xfrm>
            <a:off x="4962638" y="1876815"/>
            <a:ext cx="267001" cy="286937"/>
          </a:xfrm>
          <a:custGeom>
            <a:avLst/>
            <a:gdLst/>
            <a:ahLst/>
            <a:cxnLst/>
            <a:rect l="l" t="t" r="r" b="b"/>
            <a:pathLst>
              <a:path w="589" h="634" extrusionOk="0">
                <a:moveTo>
                  <a:pt x="456" y="353"/>
                </a:moveTo>
                <a:lnTo>
                  <a:pt x="456" y="353"/>
                </a:lnTo>
                <a:cubicBezTo>
                  <a:pt x="485" y="353"/>
                  <a:pt x="515" y="324"/>
                  <a:pt x="515" y="294"/>
                </a:cubicBezTo>
                <a:cubicBezTo>
                  <a:pt x="515" y="265"/>
                  <a:pt x="485" y="236"/>
                  <a:pt x="456" y="236"/>
                </a:cubicBezTo>
                <a:cubicBezTo>
                  <a:pt x="412" y="236"/>
                  <a:pt x="397" y="265"/>
                  <a:pt x="397" y="294"/>
                </a:cubicBezTo>
                <a:cubicBezTo>
                  <a:pt x="397" y="324"/>
                  <a:pt x="412" y="353"/>
                  <a:pt x="456" y="353"/>
                </a:cubicBezTo>
                <a:close/>
                <a:moveTo>
                  <a:pt x="426" y="280"/>
                </a:moveTo>
                <a:lnTo>
                  <a:pt x="426" y="280"/>
                </a:lnTo>
                <a:cubicBezTo>
                  <a:pt x="471" y="280"/>
                  <a:pt x="471" y="280"/>
                  <a:pt x="471" y="280"/>
                </a:cubicBezTo>
                <a:cubicBezTo>
                  <a:pt x="471" y="309"/>
                  <a:pt x="471" y="309"/>
                  <a:pt x="471" y="309"/>
                </a:cubicBezTo>
                <a:cubicBezTo>
                  <a:pt x="426" y="309"/>
                  <a:pt x="426" y="309"/>
                  <a:pt x="426" y="309"/>
                </a:cubicBezTo>
                <a:lnTo>
                  <a:pt x="426" y="280"/>
                </a:lnTo>
                <a:close/>
                <a:moveTo>
                  <a:pt x="456" y="515"/>
                </a:moveTo>
                <a:lnTo>
                  <a:pt x="456" y="515"/>
                </a:lnTo>
                <a:cubicBezTo>
                  <a:pt x="485" y="515"/>
                  <a:pt x="515" y="486"/>
                  <a:pt x="515" y="456"/>
                </a:cubicBezTo>
                <a:cubicBezTo>
                  <a:pt x="515" y="412"/>
                  <a:pt x="485" y="398"/>
                  <a:pt x="456" y="398"/>
                </a:cubicBezTo>
                <a:cubicBezTo>
                  <a:pt x="412" y="398"/>
                  <a:pt x="397" y="412"/>
                  <a:pt x="397" y="456"/>
                </a:cubicBezTo>
                <a:cubicBezTo>
                  <a:pt x="397" y="486"/>
                  <a:pt x="412" y="515"/>
                  <a:pt x="456" y="515"/>
                </a:cubicBezTo>
                <a:close/>
                <a:moveTo>
                  <a:pt x="426" y="427"/>
                </a:moveTo>
                <a:lnTo>
                  <a:pt x="426" y="427"/>
                </a:lnTo>
                <a:cubicBezTo>
                  <a:pt x="471" y="427"/>
                  <a:pt x="471" y="427"/>
                  <a:pt x="471" y="427"/>
                </a:cubicBezTo>
                <a:cubicBezTo>
                  <a:pt x="471" y="471"/>
                  <a:pt x="471" y="471"/>
                  <a:pt x="471" y="471"/>
                </a:cubicBezTo>
                <a:cubicBezTo>
                  <a:pt x="426" y="471"/>
                  <a:pt x="426" y="471"/>
                  <a:pt x="426" y="471"/>
                </a:cubicBezTo>
                <a:lnTo>
                  <a:pt x="426" y="427"/>
                </a:lnTo>
                <a:close/>
                <a:moveTo>
                  <a:pt x="294" y="515"/>
                </a:moveTo>
                <a:lnTo>
                  <a:pt x="294" y="515"/>
                </a:lnTo>
                <a:cubicBezTo>
                  <a:pt x="324" y="515"/>
                  <a:pt x="353" y="486"/>
                  <a:pt x="353" y="456"/>
                </a:cubicBezTo>
                <a:cubicBezTo>
                  <a:pt x="353" y="412"/>
                  <a:pt x="324" y="398"/>
                  <a:pt x="294" y="398"/>
                </a:cubicBezTo>
                <a:cubicBezTo>
                  <a:pt x="265" y="398"/>
                  <a:pt x="235" y="412"/>
                  <a:pt x="235" y="456"/>
                </a:cubicBezTo>
                <a:cubicBezTo>
                  <a:pt x="235" y="486"/>
                  <a:pt x="265" y="515"/>
                  <a:pt x="294" y="515"/>
                </a:cubicBezTo>
                <a:close/>
                <a:moveTo>
                  <a:pt x="279" y="427"/>
                </a:moveTo>
                <a:lnTo>
                  <a:pt x="279" y="427"/>
                </a:lnTo>
                <a:cubicBezTo>
                  <a:pt x="309" y="427"/>
                  <a:pt x="309" y="427"/>
                  <a:pt x="309" y="427"/>
                </a:cubicBezTo>
                <a:cubicBezTo>
                  <a:pt x="309" y="471"/>
                  <a:pt x="309" y="471"/>
                  <a:pt x="309" y="471"/>
                </a:cubicBezTo>
                <a:cubicBezTo>
                  <a:pt x="279" y="471"/>
                  <a:pt x="279" y="471"/>
                  <a:pt x="279" y="471"/>
                </a:cubicBezTo>
                <a:lnTo>
                  <a:pt x="279" y="427"/>
                </a:lnTo>
                <a:close/>
                <a:moveTo>
                  <a:pt x="515" y="0"/>
                </a:moveTo>
                <a:lnTo>
                  <a:pt x="515" y="0"/>
                </a:lnTo>
                <a:cubicBezTo>
                  <a:pt x="73" y="0"/>
                  <a:pt x="73" y="0"/>
                  <a:pt x="73" y="0"/>
                </a:cubicBezTo>
                <a:cubicBezTo>
                  <a:pt x="29" y="0"/>
                  <a:pt x="0" y="30"/>
                  <a:pt x="0" y="73"/>
                </a:cubicBezTo>
                <a:cubicBezTo>
                  <a:pt x="0" y="545"/>
                  <a:pt x="0" y="545"/>
                  <a:pt x="0" y="545"/>
                </a:cubicBezTo>
                <a:cubicBezTo>
                  <a:pt x="0" y="589"/>
                  <a:pt x="29" y="633"/>
                  <a:pt x="73" y="633"/>
                </a:cubicBezTo>
                <a:cubicBezTo>
                  <a:pt x="515" y="633"/>
                  <a:pt x="515" y="633"/>
                  <a:pt x="515" y="633"/>
                </a:cubicBezTo>
                <a:cubicBezTo>
                  <a:pt x="559" y="633"/>
                  <a:pt x="588" y="589"/>
                  <a:pt x="588" y="545"/>
                </a:cubicBezTo>
                <a:cubicBezTo>
                  <a:pt x="588" y="73"/>
                  <a:pt x="588" y="73"/>
                  <a:pt x="588" y="73"/>
                </a:cubicBezTo>
                <a:cubicBezTo>
                  <a:pt x="588" y="30"/>
                  <a:pt x="559" y="0"/>
                  <a:pt x="515" y="0"/>
                </a:cubicBezTo>
                <a:close/>
                <a:moveTo>
                  <a:pt x="544" y="545"/>
                </a:moveTo>
                <a:lnTo>
                  <a:pt x="544" y="545"/>
                </a:lnTo>
                <a:cubicBezTo>
                  <a:pt x="544" y="574"/>
                  <a:pt x="530" y="589"/>
                  <a:pt x="515" y="589"/>
                </a:cubicBezTo>
                <a:cubicBezTo>
                  <a:pt x="73" y="589"/>
                  <a:pt x="73" y="589"/>
                  <a:pt x="73" y="589"/>
                </a:cubicBezTo>
                <a:cubicBezTo>
                  <a:pt x="59" y="589"/>
                  <a:pt x="44" y="574"/>
                  <a:pt x="44" y="545"/>
                </a:cubicBezTo>
                <a:cubicBezTo>
                  <a:pt x="44" y="162"/>
                  <a:pt x="44" y="162"/>
                  <a:pt x="44" y="162"/>
                </a:cubicBezTo>
                <a:cubicBezTo>
                  <a:pt x="544" y="162"/>
                  <a:pt x="544" y="162"/>
                  <a:pt x="544" y="162"/>
                </a:cubicBezTo>
                <a:lnTo>
                  <a:pt x="544" y="545"/>
                </a:lnTo>
                <a:close/>
                <a:moveTo>
                  <a:pt x="544" y="118"/>
                </a:moveTo>
                <a:lnTo>
                  <a:pt x="544" y="118"/>
                </a:lnTo>
                <a:cubicBezTo>
                  <a:pt x="44" y="118"/>
                  <a:pt x="44" y="118"/>
                  <a:pt x="44" y="118"/>
                </a:cubicBezTo>
                <a:cubicBezTo>
                  <a:pt x="44" y="73"/>
                  <a:pt x="44" y="73"/>
                  <a:pt x="44" y="73"/>
                </a:cubicBezTo>
                <a:cubicBezTo>
                  <a:pt x="44" y="59"/>
                  <a:pt x="59" y="44"/>
                  <a:pt x="73" y="44"/>
                </a:cubicBezTo>
                <a:cubicBezTo>
                  <a:pt x="515" y="44"/>
                  <a:pt x="515" y="44"/>
                  <a:pt x="515" y="44"/>
                </a:cubicBezTo>
                <a:cubicBezTo>
                  <a:pt x="530" y="44"/>
                  <a:pt x="544" y="59"/>
                  <a:pt x="544" y="73"/>
                </a:cubicBezTo>
                <a:lnTo>
                  <a:pt x="544" y="118"/>
                </a:lnTo>
                <a:close/>
                <a:moveTo>
                  <a:pt x="294" y="353"/>
                </a:moveTo>
                <a:lnTo>
                  <a:pt x="294" y="353"/>
                </a:lnTo>
                <a:cubicBezTo>
                  <a:pt x="324" y="353"/>
                  <a:pt x="353" y="324"/>
                  <a:pt x="353" y="294"/>
                </a:cubicBezTo>
                <a:cubicBezTo>
                  <a:pt x="353" y="265"/>
                  <a:pt x="324" y="236"/>
                  <a:pt x="294" y="236"/>
                </a:cubicBezTo>
                <a:cubicBezTo>
                  <a:pt x="265" y="236"/>
                  <a:pt x="235" y="265"/>
                  <a:pt x="235" y="294"/>
                </a:cubicBezTo>
                <a:cubicBezTo>
                  <a:pt x="235" y="324"/>
                  <a:pt x="265" y="353"/>
                  <a:pt x="294" y="353"/>
                </a:cubicBezTo>
                <a:close/>
                <a:moveTo>
                  <a:pt x="279" y="280"/>
                </a:moveTo>
                <a:lnTo>
                  <a:pt x="279" y="280"/>
                </a:lnTo>
                <a:cubicBezTo>
                  <a:pt x="309" y="280"/>
                  <a:pt x="309" y="280"/>
                  <a:pt x="309" y="280"/>
                </a:cubicBezTo>
                <a:cubicBezTo>
                  <a:pt x="309" y="309"/>
                  <a:pt x="309" y="309"/>
                  <a:pt x="309" y="309"/>
                </a:cubicBezTo>
                <a:cubicBezTo>
                  <a:pt x="279" y="309"/>
                  <a:pt x="279" y="309"/>
                  <a:pt x="279" y="309"/>
                </a:cubicBezTo>
                <a:lnTo>
                  <a:pt x="279" y="280"/>
                </a:lnTo>
                <a:close/>
                <a:moveTo>
                  <a:pt x="132" y="515"/>
                </a:moveTo>
                <a:lnTo>
                  <a:pt x="132" y="515"/>
                </a:lnTo>
                <a:cubicBezTo>
                  <a:pt x="176" y="515"/>
                  <a:pt x="191" y="486"/>
                  <a:pt x="191" y="456"/>
                </a:cubicBezTo>
                <a:cubicBezTo>
                  <a:pt x="191" y="412"/>
                  <a:pt x="176" y="398"/>
                  <a:pt x="132" y="398"/>
                </a:cubicBezTo>
                <a:cubicBezTo>
                  <a:pt x="103" y="398"/>
                  <a:pt x="73" y="412"/>
                  <a:pt x="73" y="456"/>
                </a:cubicBezTo>
                <a:cubicBezTo>
                  <a:pt x="73" y="486"/>
                  <a:pt x="103" y="515"/>
                  <a:pt x="132" y="515"/>
                </a:cubicBezTo>
                <a:close/>
                <a:moveTo>
                  <a:pt x="117" y="427"/>
                </a:moveTo>
                <a:lnTo>
                  <a:pt x="117" y="427"/>
                </a:lnTo>
                <a:cubicBezTo>
                  <a:pt x="162" y="427"/>
                  <a:pt x="162" y="427"/>
                  <a:pt x="162" y="427"/>
                </a:cubicBezTo>
                <a:cubicBezTo>
                  <a:pt x="162" y="471"/>
                  <a:pt x="162" y="471"/>
                  <a:pt x="162" y="471"/>
                </a:cubicBezTo>
                <a:cubicBezTo>
                  <a:pt x="117" y="471"/>
                  <a:pt x="117" y="471"/>
                  <a:pt x="117" y="471"/>
                </a:cubicBezTo>
                <a:lnTo>
                  <a:pt x="117" y="427"/>
                </a:lnTo>
                <a:close/>
                <a:moveTo>
                  <a:pt x="132" y="353"/>
                </a:moveTo>
                <a:lnTo>
                  <a:pt x="132" y="353"/>
                </a:lnTo>
                <a:cubicBezTo>
                  <a:pt x="176" y="353"/>
                  <a:pt x="191" y="324"/>
                  <a:pt x="191" y="294"/>
                </a:cubicBezTo>
                <a:cubicBezTo>
                  <a:pt x="191" y="265"/>
                  <a:pt x="176" y="236"/>
                  <a:pt x="132" y="236"/>
                </a:cubicBezTo>
                <a:cubicBezTo>
                  <a:pt x="103" y="236"/>
                  <a:pt x="73" y="265"/>
                  <a:pt x="73" y="294"/>
                </a:cubicBezTo>
                <a:cubicBezTo>
                  <a:pt x="73" y="324"/>
                  <a:pt x="103" y="353"/>
                  <a:pt x="132" y="353"/>
                </a:cubicBezTo>
                <a:close/>
                <a:moveTo>
                  <a:pt x="117" y="280"/>
                </a:moveTo>
                <a:lnTo>
                  <a:pt x="117" y="280"/>
                </a:lnTo>
                <a:cubicBezTo>
                  <a:pt x="162" y="280"/>
                  <a:pt x="162" y="280"/>
                  <a:pt x="162" y="280"/>
                </a:cubicBezTo>
                <a:cubicBezTo>
                  <a:pt x="162" y="309"/>
                  <a:pt x="162" y="309"/>
                  <a:pt x="162" y="309"/>
                </a:cubicBezTo>
                <a:cubicBezTo>
                  <a:pt x="117" y="309"/>
                  <a:pt x="117" y="309"/>
                  <a:pt x="117" y="309"/>
                </a:cubicBezTo>
                <a:lnTo>
                  <a:pt x="117" y="280"/>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92" name="Google Shape;592;p57"/>
          <p:cNvSpPr/>
          <p:nvPr/>
        </p:nvSpPr>
        <p:spPr>
          <a:xfrm>
            <a:off x="5496193" y="2834331"/>
            <a:ext cx="286928" cy="267012"/>
          </a:xfrm>
          <a:custGeom>
            <a:avLst/>
            <a:gdLst/>
            <a:ahLst/>
            <a:cxnLst/>
            <a:rect l="l" t="t" r="r" b="b"/>
            <a:pathLst>
              <a:path w="634" h="590" extrusionOk="0">
                <a:moveTo>
                  <a:pt x="589" y="0"/>
                </a:moveTo>
                <a:lnTo>
                  <a:pt x="589" y="0"/>
                </a:lnTo>
                <a:cubicBezTo>
                  <a:pt x="412" y="117"/>
                  <a:pt x="412" y="117"/>
                  <a:pt x="412" y="117"/>
                </a:cubicBezTo>
                <a:cubicBezTo>
                  <a:pt x="162" y="117"/>
                  <a:pt x="162" y="117"/>
                  <a:pt x="162" y="117"/>
                </a:cubicBezTo>
                <a:cubicBezTo>
                  <a:pt x="74" y="117"/>
                  <a:pt x="0" y="176"/>
                  <a:pt x="0" y="265"/>
                </a:cubicBezTo>
                <a:cubicBezTo>
                  <a:pt x="0" y="338"/>
                  <a:pt x="59" y="383"/>
                  <a:pt x="118" y="397"/>
                </a:cubicBezTo>
                <a:lnTo>
                  <a:pt x="118" y="559"/>
                </a:lnTo>
                <a:cubicBezTo>
                  <a:pt x="118" y="574"/>
                  <a:pt x="148" y="589"/>
                  <a:pt x="162" y="589"/>
                </a:cubicBezTo>
                <a:cubicBezTo>
                  <a:pt x="221" y="589"/>
                  <a:pt x="221" y="589"/>
                  <a:pt x="221" y="589"/>
                </a:cubicBezTo>
                <a:cubicBezTo>
                  <a:pt x="236" y="589"/>
                  <a:pt x="265" y="574"/>
                  <a:pt x="265" y="559"/>
                </a:cubicBezTo>
                <a:cubicBezTo>
                  <a:pt x="265" y="397"/>
                  <a:pt x="265" y="397"/>
                  <a:pt x="265" y="397"/>
                </a:cubicBezTo>
                <a:cubicBezTo>
                  <a:pt x="412" y="397"/>
                  <a:pt x="412" y="397"/>
                  <a:pt x="412" y="397"/>
                </a:cubicBezTo>
                <a:cubicBezTo>
                  <a:pt x="589" y="515"/>
                  <a:pt x="589" y="515"/>
                  <a:pt x="589" y="515"/>
                </a:cubicBezTo>
                <a:cubicBezTo>
                  <a:pt x="619" y="515"/>
                  <a:pt x="633" y="500"/>
                  <a:pt x="633" y="471"/>
                </a:cubicBezTo>
                <a:cubicBezTo>
                  <a:pt x="633" y="44"/>
                  <a:pt x="633" y="44"/>
                  <a:pt x="633" y="44"/>
                </a:cubicBezTo>
                <a:cubicBezTo>
                  <a:pt x="633" y="29"/>
                  <a:pt x="619" y="0"/>
                  <a:pt x="589" y="0"/>
                </a:cubicBezTo>
                <a:close/>
                <a:moveTo>
                  <a:pt x="221" y="530"/>
                </a:moveTo>
                <a:lnTo>
                  <a:pt x="221" y="530"/>
                </a:lnTo>
                <a:cubicBezTo>
                  <a:pt x="221" y="545"/>
                  <a:pt x="207" y="559"/>
                  <a:pt x="207" y="559"/>
                </a:cubicBezTo>
                <a:cubicBezTo>
                  <a:pt x="177" y="559"/>
                  <a:pt x="177" y="559"/>
                  <a:pt x="177" y="559"/>
                </a:cubicBezTo>
                <a:cubicBezTo>
                  <a:pt x="177" y="559"/>
                  <a:pt x="162" y="545"/>
                  <a:pt x="162" y="530"/>
                </a:cubicBezTo>
                <a:cubicBezTo>
                  <a:pt x="162" y="397"/>
                  <a:pt x="162" y="397"/>
                  <a:pt x="162" y="397"/>
                </a:cubicBezTo>
                <a:cubicBezTo>
                  <a:pt x="162" y="397"/>
                  <a:pt x="207" y="397"/>
                  <a:pt x="221" y="397"/>
                </a:cubicBezTo>
                <a:lnTo>
                  <a:pt x="221" y="530"/>
                </a:lnTo>
                <a:close/>
                <a:moveTo>
                  <a:pt x="324" y="353"/>
                </a:moveTo>
                <a:lnTo>
                  <a:pt x="324" y="353"/>
                </a:lnTo>
                <a:cubicBezTo>
                  <a:pt x="162" y="353"/>
                  <a:pt x="162" y="353"/>
                  <a:pt x="162" y="353"/>
                </a:cubicBezTo>
                <a:cubicBezTo>
                  <a:pt x="118" y="353"/>
                  <a:pt x="44" y="353"/>
                  <a:pt x="44" y="265"/>
                </a:cubicBezTo>
                <a:cubicBezTo>
                  <a:pt x="44" y="176"/>
                  <a:pt x="118" y="162"/>
                  <a:pt x="162" y="162"/>
                </a:cubicBezTo>
                <a:cubicBezTo>
                  <a:pt x="324" y="162"/>
                  <a:pt x="324" y="162"/>
                  <a:pt x="324" y="162"/>
                </a:cubicBezTo>
                <a:lnTo>
                  <a:pt x="324" y="353"/>
                </a:lnTo>
                <a:close/>
                <a:moveTo>
                  <a:pt x="412" y="353"/>
                </a:moveTo>
                <a:lnTo>
                  <a:pt x="412" y="353"/>
                </a:lnTo>
                <a:cubicBezTo>
                  <a:pt x="354" y="353"/>
                  <a:pt x="354" y="353"/>
                  <a:pt x="354" y="353"/>
                </a:cubicBezTo>
                <a:cubicBezTo>
                  <a:pt x="354" y="162"/>
                  <a:pt x="354" y="162"/>
                  <a:pt x="354" y="162"/>
                </a:cubicBezTo>
                <a:cubicBezTo>
                  <a:pt x="412" y="162"/>
                  <a:pt x="412" y="162"/>
                  <a:pt x="412" y="162"/>
                </a:cubicBezTo>
                <a:cubicBezTo>
                  <a:pt x="412" y="162"/>
                  <a:pt x="412" y="338"/>
                  <a:pt x="412" y="353"/>
                </a:cubicBezTo>
                <a:close/>
                <a:moveTo>
                  <a:pt x="589" y="471"/>
                </a:moveTo>
                <a:lnTo>
                  <a:pt x="589" y="471"/>
                </a:lnTo>
                <a:cubicBezTo>
                  <a:pt x="457" y="383"/>
                  <a:pt x="457" y="383"/>
                  <a:pt x="457" y="383"/>
                </a:cubicBezTo>
                <a:cubicBezTo>
                  <a:pt x="457" y="353"/>
                  <a:pt x="457" y="162"/>
                  <a:pt x="457" y="147"/>
                </a:cubicBezTo>
                <a:cubicBezTo>
                  <a:pt x="589" y="44"/>
                  <a:pt x="589" y="44"/>
                  <a:pt x="589" y="44"/>
                </a:cubicBezTo>
                <a:cubicBezTo>
                  <a:pt x="589" y="74"/>
                  <a:pt x="589" y="456"/>
                  <a:pt x="589" y="471"/>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93" name="Google Shape;593;p57"/>
          <p:cNvSpPr/>
          <p:nvPr/>
        </p:nvSpPr>
        <p:spPr>
          <a:xfrm>
            <a:off x="3876625" y="3745174"/>
            <a:ext cx="286928" cy="278968"/>
          </a:xfrm>
          <a:custGeom>
            <a:avLst/>
            <a:gdLst/>
            <a:ahLst/>
            <a:cxnLst/>
            <a:rect l="l" t="t" r="r" b="b"/>
            <a:pathLst>
              <a:path w="634" h="619" extrusionOk="0">
                <a:moveTo>
                  <a:pt x="412" y="324"/>
                </a:moveTo>
                <a:lnTo>
                  <a:pt x="412" y="324"/>
                </a:lnTo>
                <a:cubicBezTo>
                  <a:pt x="220" y="324"/>
                  <a:pt x="220" y="324"/>
                  <a:pt x="220" y="324"/>
                </a:cubicBezTo>
                <a:cubicBezTo>
                  <a:pt x="206" y="324"/>
                  <a:pt x="191" y="339"/>
                  <a:pt x="191" y="354"/>
                </a:cubicBezTo>
                <a:cubicBezTo>
                  <a:pt x="191" y="354"/>
                  <a:pt x="206" y="368"/>
                  <a:pt x="220" y="368"/>
                </a:cubicBezTo>
                <a:cubicBezTo>
                  <a:pt x="412" y="368"/>
                  <a:pt x="412" y="368"/>
                  <a:pt x="412" y="368"/>
                </a:cubicBezTo>
                <a:cubicBezTo>
                  <a:pt x="426" y="368"/>
                  <a:pt x="426" y="354"/>
                  <a:pt x="426" y="354"/>
                </a:cubicBezTo>
                <a:cubicBezTo>
                  <a:pt x="426" y="339"/>
                  <a:pt x="426" y="324"/>
                  <a:pt x="412" y="324"/>
                </a:cubicBezTo>
                <a:close/>
                <a:moveTo>
                  <a:pt x="456" y="206"/>
                </a:moveTo>
                <a:lnTo>
                  <a:pt x="456" y="206"/>
                </a:lnTo>
                <a:cubicBezTo>
                  <a:pt x="176" y="206"/>
                  <a:pt x="176" y="206"/>
                  <a:pt x="176" y="206"/>
                </a:cubicBezTo>
                <a:cubicBezTo>
                  <a:pt x="162" y="206"/>
                  <a:pt x="162" y="221"/>
                  <a:pt x="162" y="236"/>
                </a:cubicBezTo>
                <a:cubicBezTo>
                  <a:pt x="162" y="236"/>
                  <a:pt x="162" y="251"/>
                  <a:pt x="176" y="251"/>
                </a:cubicBezTo>
                <a:cubicBezTo>
                  <a:pt x="456" y="251"/>
                  <a:pt x="456" y="251"/>
                  <a:pt x="456" y="251"/>
                </a:cubicBezTo>
                <a:lnTo>
                  <a:pt x="471" y="236"/>
                </a:lnTo>
                <a:cubicBezTo>
                  <a:pt x="471" y="221"/>
                  <a:pt x="456" y="206"/>
                  <a:pt x="456" y="206"/>
                </a:cubicBezTo>
                <a:close/>
                <a:moveTo>
                  <a:pt x="309" y="0"/>
                </a:moveTo>
                <a:lnTo>
                  <a:pt x="309" y="0"/>
                </a:lnTo>
                <a:cubicBezTo>
                  <a:pt x="147" y="0"/>
                  <a:pt x="0" y="118"/>
                  <a:pt x="0" y="265"/>
                </a:cubicBezTo>
                <a:cubicBezTo>
                  <a:pt x="0" y="354"/>
                  <a:pt x="44" y="427"/>
                  <a:pt x="117" y="486"/>
                </a:cubicBezTo>
                <a:cubicBezTo>
                  <a:pt x="117" y="618"/>
                  <a:pt x="117" y="618"/>
                  <a:pt x="117" y="618"/>
                </a:cubicBezTo>
                <a:cubicBezTo>
                  <a:pt x="250" y="545"/>
                  <a:pt x="250" y="545"/>
                  <a:pt x="250" y="545"/>
                </a:cubicBezTo>
                <a:cubicBezTo>
                  <a:pt x="279" y="545"/>
                  <a:pt x="294" y="545"/>
                  <a:pt x="309" y="545"/>
                </a:cubicBezTo>
                <a:cubicBezTo>
                  <a:pt x="485" y="545"/>
                  <a:pt x="633" y="427"/>
                  <a:pt x="633" y="265"/>
                </a:cubicBezTo>
                <a:cubicBezTo>
                  <a:pt x="633" y="118"/>
                  <a:pt x="485" y="0"/>
                  <a:pt x="309" y="0"/>
                </a:cubicBezTo>
                <a:close/>
                <a:moveTo>
                  <a:pt x="309" y="501"/>
                </a:moveTo>
                <a:lnTo>
                  <a:pt x="309" y="501"/>
                </a:lnTo>
                <a:cubicBezTo>
                  <a:pt x="294" y="501"/>
                  <a:pt x="265" y="501"/>
                  <a:pt x="250" y="501"/>
                </a:cubicBezTo>
                <a:cubicBezTo>
                  <a:pt x="162" y="560"/>
                  <a:pt x="162" y="560"/>
                  <a:pt x="162" y="560"/>
                </a:cubicBezTo>
                <a:cubicBezTo>
                  <a:pt x="162" y="457"/>
                  <a:pt x="162" y="457"/>
                  <a:pt x="162" y="457"/>
                </a:cubicBezTo>
                <a:cubicBezTo>
                  <a:pt x="88" y="427"/>
                  <a:pt x="44" y="354"/>
                  <a:pt x="44" y="265"/>
                </a:cubicBezTo>
                <a:cubicBezTo>
                  <a:pt x="44" y="133"/>
                  <a:pt x="162" y="30"/>
                  <a:pt x="309" y="30"/>
                </a:cubicBezTo>
                <a:cubicBezTo>
                  <a:pt x="471" y="30"/>
                  <a:pt x="588" y="133"/>
                  <a:pt x="588" y="265"/>
                </a:cubicBezTo>
                <a:cubicBezTo>
                  <a:pt x="588" y="398"/>
                  <a:pt x="471" y="501"/>
                  <a:pt x="309" y="501"/>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aphicFrame>
        <p:nvGraphicFramePr>
          <p:cNvPr id="594" name="Google Shape;594;p57"/>
          <p:cNvGraphicFramePr/>
          <p:nvPr/>
        </p:nvGraphicFramePr>
        <p:xfrm>
          <a:off x="207050" y="190600"/>
          <a:ext cx="3000000" cy="3000000"/>
        </p:xfrm>
        <a:graphic>
          <a:graphicData uri="http://schemas.openxmlformats.org/drawingml/2006/table">
            <a:tbl>
              <a:tblPr>
                <a:noFill/>
                <a:tableStyleId>{64C406C8-F60A-4623-B513-9F8DCA56EF3D}</a:tableStyleId>
              </a:tblPr>
              <a:tblGrid>
                <a:gridCol w="1452250">
                  <a:extLst>
                    <a:ext uri="{9D8B030D-6E8A-4147-A177-3AD203B41FA5}">
                      <a16:colId xmlns:a16="http://schemas.microsoft.com/office/drawing/2014/main" val="20000"/>
                    </a:ext>
                  </a:extLst>
                </a:gridCol>
                <a:gridCol w="1452250">
                  <a:extLst>
                    <a:ext uri="{9D8B030D-6E8A-4147-A177-3AD203B41FA5}">
                      <a16:colId xmlns:a16="http://schemas.microsoft.com/office/drawing/2014/main" val="20001"/>
                    </a:ext>
                  </a:extLst>
                </a:gridCol>
                <a:gridCol w="1452250">
                  <a:extLst>
                    <a:ext uri="{9D8B030D-6E8A-4147-A177-3AD203B41FA5}">
                      <a16:colId xmlns:a16="http://schemas.microsoft.com/office/drawing/2014/main" val="20002"/>
                    </a:ext>
                  </a:extLst>
                </a:gridCol>
                <a:gridCol w="1452250">
                  <a:extLst>
                    <a:ext uri="{9D8B030D-6E8A-4147-A177-3AD203B41FA5}">
                      <a16:colId xmlns:a16="http://schemas.microsoft.com/office/drawing/2014/main" val="20003"/>
                    </a:ext>
                  </a:extLst>
                </a:gridCol>
                <a:gridCol w="1452250">
                  <a:extLst>
                    <a:ext uri="{9D8B030D-6E8A-4147-A177-3AD203B41FA5}">
                      <a16:colId xmlns:a16="http://schemas.microsoft.com/office/drawing/2014/main" val="20004"/>
                    </a:ext>
                  </a:extLst>
                </a:gridCol>
                <a:gridCol w="1452250">
                  <a:extLst>
                    <a:ext uri="{9D8B030D-6E8A-4147-A177-3AD203B41FA5}">
                      <a16:colId xmlns:a16="http://schemas.microsoft.com/office/drawing/2014/main" val="20005"/>
                    </a:ext>
                  </a:extLst>
                </a:gridCol>
              </a:tblGrid>
              <a:tr h="364800">
                <a:tc gridSpan="2">
                  <a:txBody>
                    <a:bodyPr/>
                    <a:lstStyle/>
                    <a:p>
                      <a:pPr marL="0" lvl="0" indent="0" algn="ctr" rtl="0">
                        <a:spcBef>
                          <a:spcPts val="0"/>
                        </a:spcBef>
                        <a:spcAft>
                          <a:spcPts val="0"/>
                        </a:spcAft>
                        <a:buNone/>
                      </a:pPr>
                      <a:r>
                        <a:rPr lang="en" b="1">
                          <a:solidFill>
                            <a:srgbClr val="002B64"/>
                          </a:solidFill>
                        </a:rPr>
                        <a:t>Get Organised</a:t>
                      </a:r>
                      <a:endParaRPr b="1">
                        <a:solidFill>
                          <a:srgbClr val="002B64"/>
                        </a:solidFill>
                      </a:endParaRPr>
                    </a:p>
                  </a:txBody>
                  <a:tcPr marL="0" marR="0" marT="0" marB="0" anchor="ctr"/>
                </a:tc>
                <a:tc hMerge="1">
                  <a:txBody>
                    <a:bodyPr/>
                    <a:lstStyle/>
                    <a:p>
                      <a:endParaRPr lang="en-US"/>
                    </a:p>
                  </a:txBody>
                  <a:tcPr/>
                </a:tc>
                <a:tc gridSpan="2">
                  <a:txBody>
                    <a:bodyPr/>
                    <a:lstStyle/>
                    <a:p>
                      <a:pPr marL="0" lvl="0" indent="0" algn="ctr" rtl="0">
                        <a:spcBef>
                          <a:spcPts val="0"/>
                        </a:spcBef>
                        <a:spcAft>
                          <a:spcPts val="0"/>
                        </a:spcAft>
                        <a:buNone/>
                      </a:pPr>
                      <a:r>
                        <a:rPr lang="en" b="1">
                          <a:solidFill>
                            <a:srgbClr val="002B64"/>
                          </a:solidFill>
                        </a:rPr>
                        <a:t>Get the Job</a:t>
                      </a:r>
                      <a:endParaRPr b="1">
                        <a:solidFill>
                          <a:srgbClr val="002B64"/>
                        </a:solidFill>
                      </a:endParaRPr>
                    </a:p>
                  </a:txBody>
                  <a:tcPr marL="0" marR="0" marT="0" marB="0" anchor="ctr"/>
                </a:tc>
                <a:tc hMerge="1">
                  <a:txBody>
                    <a:bodyPr/>
                    <a:lstStyle/>
                    <a:p>
                      <a:endParaRPr lang="en-US"/>
                    </a:p>
                  </a:txBody>
                  <a:tcPr/>
                </a:tc>
                <a:tc gridSpan="2">
                  <a:txBody>
                    <a:bodyPr/>
                    <a:lstStyle/>
                    <a:p>
                      <a:pPr marL="0" lvl="0" indent="0" algn="ctr" rtl="0">
                        <a:spcBef>
                          <a:spcPts val="0"/>
                        </a:spcBef>
                        <a:spcAft>
                          <a:spcPts val="0"/>
                        </a:spcAft>
                        <a:buNone/>
                      </a:pPr>
                      <a:r>
                        <a:rPr lang="en" b="1">
                          <a:solidFill>
                            <a:srgbClr val="002B64"/>
                          </a:solidFill>
                        </a:rPr>
                        <a:t>Do the Job</a:t>
                      </a:r>
                      <a:endParaRPr b="1">
                        <a:solidFill>
                          <a:srgbClr val="002B64"/>
                        </a:solidFill>
                      </a:endParaRPr>
                    </a:p>
                  </a:txBody>
                  <a:tcPr marL="0" marR="0" marT="0" marB="0" anchor="ctr"/>
                </a:tc>
                <a:tc hMerge="1">
                  <a:txBody>
                    <a:bodyPr/>
                    <a:lstStyle/>
                    <a:p>
                      <a:endParaRPr lang="en-US"/>
                    </a:p>
                  </a:txBody>
                  <a:tcPr/>
                </a:tc>
                <a:extLst>
                  <a:ext uri="{0D108BD9-81ED-4DB2-BD59-A6C34878D82A}">
                    <a16:rowId xmlns:a16="http://schemas.microsoft.com/office/drawing/2014/main" val="10000"/>
                  </a:ext>
                </a:extLst>
              </a:tr>
              <a:tr h="364800">
                <a:tc>
                  <a:txBody>
                    <a:bodyPr/>
                    <a:lstStyle/>
                    <a:p>
                      <a:pPr marL="0" lvl="0" indent="0" algn="ctr" rtl="0">
                        <a:spcBef>
                          <a:spcPts val="0"/>
                        </a:spcBef>
                        <a:spcAft>
                          <a:spcPts val="0"/>
                        </a:spcAft>
                        <a:buNone/>
                      </a:pPr>
                      <a:r>
                        <a:rPr lang="en" b="1">
                          <a:solidFill>
                            <a:srgbClr val="00B050"/>
                          </a:solidFill>
                        </a:rPr>
                        <a:t>Planning</a:t>
                      </a:r>
                      <a:endParaRPr b="1">
                        <a:solidFill>
                          <a:srgbClr val="00B050"/>
                        </a:solidFill>
                      </a:endParaRPr>
                    </a:p>
                  </a:txBody>
                  <a:tcPr marL="0" marR="0" marT="0" marB="0" anchor="ctr"/>
                </a:tc>
                <a:tc>
                  <a:txBody>
                    <a:bodyPr/>
                    <a:lstStyle/>
                    <a:p>
                      <a:pPr marL="0" lvl="0" indent="0" algn="ctr" rtl="0">
                        <a:spcBef>
                          <a:spcPts val="0"/>
                        </a:spcBef>
                        <a:spcAft>
                          <a:spcPts val="0"/>
                        </a:spcAft>
                        <a:buNone/>
                      </a:pPr>
                      <a:r>
                        <a:rPr lang="en" b="1">
                          <a:solidFill>
                            <a:srgbClr val="92D050"/>
                          </a:solidFill>
                        </a:rPr>
                        <a:t>Data</a:t>
                      </a:r>
                      <a:endParaRPr b="1">
                        <a:solidFill>
                          <a:srgbClr val="92D050"/>
                        </a:solidFill>
                      </a:endParaRPr>
                    </a:p>
                  </a:txBody>
                  <a:tcPr marL="0" marR="0" marT="0" marB="0" anchor="ctr"/>
                </a:tc>
                <a:tc>
                  <a:txBody>
                    <a:bodyPr/>
                    <a:lstStyle/>
                    <a:p>
                      <a:pPr marL="0" lvl="0" indent="0" algn="ctr" rtl="0">
                        <a:spcBef>
                          <a:spcPts val="0"/>
                        </a:spcBef>
                        <a:spcAft>
                          <a:spcPts val="0"/>
                        </a:spcAft>
                        <a:buNone/>
                      </a:pPr>
                      <a:r>
                        <a:rPr lang="en" b="1">
                          <a:solidFill>
                            <a:srgbClr val="0070C0"/>
                          </a:solidFill>
                        </a:rPr>
                        <a:t>Marketing</a:t>
                      </a:r>
                      <a:endParaRPr b="1">
                        <a:solidFill>
                          <a:srgbClr val="0070C0"/>
                        </a:solidFill>
                      </a:endParaRPr>
                    </a:p>
                  </a:txBody>
                  <a:tcPr marL="0" marR="0" marT="0" marB="0" anchor="ctr"/>
                </a:tc>
                <a:tc>
                  <a:txBody>
                    <a:bodyPr/>
                    <a:lstStyle/>
                    <a:p>
                      <a:pPr marL="0" lvl="0" indent="0" algn="ctr" rtl="0">
                        <a:spcBef>
                          <a:spcPts val="0"/>
                        </a:spcBef>
                        <a:spcAft>
                          <a:spcPts val="0"/>
                        </a:spcAft>
                        <a:buNone/>
                      </a:pPr>
                      <a:r>
                        <a:rPr lang="en" b="1">
                          <a:solidFill>
                            <a:srgbClr val="00B0F0"/>
                          </a:solidFill>
                        </a:rPr>
                        <a:t>Selling</a:t>
                      </a:r>
                      <a:endParaRPr b="1">
                        <a:solidFill>
                          <a:srgbClr val="00B0F0"/>
                        </a:solidFill>
                      </a:endParaRPr>
                    </a:p>
                  </a:txBody>
                  <a:tcPr marL="0" marR="0" marT="0" marB="0" anchor="ctr"/>
                </a:tc>
                <a:tc>
                  <a:txBody>
                    <a:bodyPr/>
                    <a:lstStyle/>
                    <a:p>
                      <a:pPr marL="0" lvl="0" indent="0" algn="ctr" rtl="0">
                        <a:spcBef>
                          <a:spcPts val="0"/>
                        </a:spcBef>
                        <a:spcAft>
                          <a:spcPts val="0"/>
                        </a:spcAft>
                        <a:buNone/>
                      </a:pPr>
                      <a:r>
                        <a:rPr lang="en" b="1">
                          <a:solidFill>
                            <a:srgbClr val="C55A11"/>
                          </a:solidFill>
                        </a:rPr>
                        <a:t>People</a:t>
                      </a:r>
                      <a:endParaRPr b="1">
                        <a:solidFill>
                          <a:srgbClr val="C55A11"/>
                        </a:solidFill>
                      </a:endParaRPr>
                    </a:p>
                  </a:txBody>
                  <a:tcPr marL="0" marR="0" marT="0" marB="0" anchor="ctr"/>
                </a:tc>
                <a:tc>
                  <a:txBody>
                    <a:bodyPr/>
                    <a:lstStyle/>
                    <a:p>
                      <a:pPr marL="0" lvl="0" indent="0" algn="ctr" rtl="0">
                        <a:spcBef>
                          <a:spcPts val="0"/>
                        </a:spcBef>
                        <a:spcAft>
                          <a:spcPts val="0"/>
                        </a:spcAft>
                        <a:buNone/>
                      </a:pPr>
                      <a:r>
                        <a:rPr lang="en" b="1">
                          <a:solidFill>
                            <a:srgbClr val="F4B081"/>
                          </a:solidFill>
                        </a:rPr>
                        <a:t>Process</a:t>
                      </a:r>
                      <a:endParaRPr b="1">
                        <a:solidFill>
                          <a:srgbClr val="F4B081"/>
                        </a:solidFill>
                      </a:endParaRPr>
                    </a:p>
                  </a:txBody>
                  <a:tcPr marL="0" marR="0" marT="0"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8"/>
        <p:cNvGrpSpPr/>
        <p:nvPr/>
      </p:nvGrpSpPr>
      <p:grpSpPr>
        <a:xfrm>
          <a:off x="0" y="0"/>
          <a:ext cx="0" cy="0"/>
          <a:chOff x="0" y="0"/>
          <a:chExt cx="0" cy="0"/>
        </a:xfrm>
      </p:grpSpPr>
      <p:sp>
        <p:nvSpPr>
          <p:cNvPr id="599" name="Google Shape;599;p58"/>
          <p:cNvSpPr txBox="1">
            <a:spLocks noGrp="1"/>
          </p:cNvSpPr>
          <p:nvPr>
            <p:ph type="title"/>
          </p:nvPr>
        </p:nvSpPr>
        <p:spPr>
          <a:xfrm>
            <a:off x="222425" y="180825"/>
            <a:ext cx="7886700" cy="5496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9CC2E5"/>
              </a:buClr>
              <a:buSzPts val="2400"/>
              <a:buFont typeface="Architects Daughter"/>
              <a:buNone/>
            </a:pPr>
            <a:r>
              <a:rPr lang="en" sz="2400">
                <a:solidFill>
                  <a:srgbClr val="002B64"/>
                </a:solidFill>
                <a:latin typeface="Open Sans"/>
                <a:ea typeface="Open Sans"/>
                <a:cs typeface="Open Sans"/>
                <a:sym typeface="Open Sans"/>
              </a:rPr>
              <a:t>Growth Fundamentals ‘Lite’ Programme  </a:t>
            </a:r>
            <a:r>
              <a:rPr lang="en" sz="1200">
                <a:solidFill>
                  <a:srgbClr val="002B64"/>
                </a:solidFill>
                <a:latin typeface="Open Sans"/>
                <a:ea typeface="Open Sans"/>
                <a:cs typeface="Open Sans"/>
                <a:sym typeface="Open Sans"/>
              </a:rPr>
              <a:t>(year/level 1)</a:t>
            </a:r>
            <a:endParaRPr sz="1200">
              <a:solidFill>
                <a:srgbClr val="002B64"/>
              </a:solidFill>
              <a:latin typeface="Open Sans"/>
              <a:ea typeface="Open Sans"/>
              <a:cs typeface="Open Sans"/>
              <a:sym typeface="Open Sans"/>
            </a:endParaRPr>
          </a:p>
        </p:txBody>
      </p:sp>
      <p:sp>
        <p:nvSpPr>
          <p:cNvPr id="600" name="Google Shape;600;p5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24</a:t>
            </a:fld>
            <a:endParaRPr/>
          </a:p>
        </p:txBody>
      </p:sp>
      <p:sp>
        <p:nvSpPr>
          <p:cNvPr id="601" name="Google Shape;601;p58"/>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02" name="Google Shape;602;p58"/>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03" name="Google Shape;603;p58"/>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04" name="Google Shape;604;p58"/>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05" name="Google Shape;605;p58"/>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606" name="Google Shape;606;p58"/>
          <p:cNvGraphicFramePr/>
          <p:nvPr/>
        </p:nvGraphicFramePr>
        <p:xfrm>
          <a:off x="222419" y="730357"/>
          <a:ext cx="3000000" cy="3000000"/>
        </p:xfrm>
        <a:graphic>
          <a:graphicData uri="http://schemas.openxmlformats.org/drawingml/2006/table">
            <a:tbl>
              <a:tblPr firstRow="1" bandRow="1">
                <a:noFill/>
                <a:tableStyleId>{E45339CE-A403-4A82-A332-1DB77EED7D76}</a:tableStyleId>
              </a:tblPr>
              <a:tblGrid>
                <a:gridCol w="861075">
                  <a:extLst>
                    <a:ext uri="{9D8B030D-6E8A-4147-A177-3AD203B41FA5}">
                      <a16:colId xmlns:a16="http://schemas.microsoft.com/office/drawing/2014/main" val="20000"/>
                    </a:ext>
                  </a:extLst>
                </a:gridCol>
                <a:gridCol w="2250075">
                  <a:extLst>
                    <a:ext uri="{9D8B030D-6E8A-4147-A177-3AD203B41FA5}">
                      <a16:colId xmlns:a16="http://schemas.microsoft.com/office/drawing/2014/main" val="20001"/>
                    </a:ext>
                  </a:extLst>
                </a:gridCol>
              </a:tblGrid>
              <a:tr h="1010325">
                <a:tc>
                  <a:txBody>
                    <a:bodyPr/>
                    <a:lstStyle/>
                    <a:p>
                      <a:pPr marL="0" marR="0" lvl="0" indent="0" algn="l" rtl="0">
                        <a:lnSpc>
                          <a:spcPct val="100000"/>
                        </a:lnSpc>
                        <a:spcBef>
                          <a:spcPts val="0"/>
                        </a:spcBef>
                        <a:spcAft>
                          <a:spcPts val="0"/>
                        </a:spcAft>
                        <a:buClr>
                          <a:srgbClr val="000000"/>
                        </a:buClr>
                        <a:buSzPts val="900"/>
                        <a:buFont typeface="Arial"/>
                        <a:buNone/>
                      </a:pPr>
                      <a:r>
                        <a:rPr lang="en" sz="900" b="0" u="none" strike="noStrike" cap="none">
                          <a:latin typeface="Open Sans"/>
                          <a:ea typeface="Open Sans"/>
                          <a:cs typeface="Open Sans"/>
                          <a:sym typeface="Open Sans"/>
                        </a:rPr>
                        <a:t>Planning</a:t>
                      </a:r>
                      <a:endParaRPr sz="1100" u="none" strike="noStrike" cap="none">
                        <a:latin typeface="Open Sans"/>
                        <a:ea typeface="Open Sans"/>
                        <a:cs typeface="Open Sans"/>
                        <a:sym typeface="Open Sans"/>
                      </a:endParaRPr>
                    </a:p>
                  </a:txBody>
                  <a:tcPr marL="68600" marR="68600" marT="34300" marB="34300" anchor="ctr">
                    <a:solidFill>
                      <a:srgbClr val="262626"/>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b="0" u="none" strike="noStrike" cap="none">
                          <a:latin typeface="Open Sans"/>
                          <a:ea typeface="Open Sans"/>
                          <a:cs typeface="Open Sans"/>
                          <a:sym typeface="Open Sans"/>
                        </a:rPr>
                        <a:t>Collaborative Thinking</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latin typeface="Open Sans"/>
                          <a:ea typeface="Open Sans"/>
                          <a:cs typeface="Open Sans"/>
                          <a:sym typeface="Open Sans"/>
                        </a:rPr>
                        <a:t>Strategic Language Review</a:t>
                      </a:r>
                      <a:endParaRPr sz="800" b="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latin typeface="Open Sans"/>
                          <a:ea typeface="Open Sans"/>
                          <a:cs typeface="Open Sans"/>
                          <a:sym typeface="Open Sans"/>
                        </a:rPr>
                        <a:t>4 Box Planning Theory</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latin typeface="Open Sans"/>
                          <a:ea typeface="Open Sans"/>
                          <a:cs typeface="Open Sans"/>
                          <a:sym typeface="Open Sans"/>
                        </a:rPr>
                        <a:t>Business Owner Contrast Models</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latin typeface="Open Sans"/>
                          <a:ea typeface="Open Sans"/>
                          <a:cs typeface="Open Sans"/>
                          <a:sym typeface="Open Sans"/>
                        </a:rPr>
                        <a:t>Development Stages Contrast</a:t>
                      </a:r>
                      <a:endParaRPr sz="800" b="0" u="none" strike="noStrike" cap="none">
                        <a:latin typeface="Open Sans"/>
                        <a:ea typeface="Open Sans"/>
                        <a:cs typeface="Open Sans"/>
                        <a:sym typeface="Open Sans"/>
                      </a:endParaRPr>
                    </a:p>
                  </a:txBody>
                  <a:tcPr marL="68600" marR="68600" marT="34300" marB="34300" anchor="ctr">
                    <a:solidFill>
                      <a:srgbClr val="262626"/>
                    </a:solidFill>
                  </a:tcPr>
                </a:tc>
                <a:extLst>
                  <a:ext uri="{0D108BD9-81ED-4DB2-BD59-A6C34878D82A}">
                    <a16:rowId xmlns:a16="http://schemas.microsoft.com/office/drawing/2014/main" val="10000"/>
                  </a:ext>
                </a:extLst>
              </a:tr>
              <a:tr h="958875">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lt1"/>
                          </a:solidFill>
                          <a:latin typeface="Open Sans"/>
                          <a:ea typeface="Open Sans"/>
                          <a:cs typeface="Open Sans"/>
                          <a:sym typeface="Open Sans"/>
                        </a:rPr>
                        <a:t>Data</a:t>
                      </a:r>
                      <a:endParaRPr sz="1100" u="none" strike="noStrike" cap="none">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Working Capital Cycle</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3 Uses of Profits</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Common Lingo &amp; Ratios</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Managing Your Cash-flow</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Selecting KPI’s (Lead &amp; Lag)</a:t>
                      </a:r>
                      <a:endParaRPr sz="8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1"/>
                  </a:ext>
                </a:extLst>
              </a:tr>
            </a:tbl>
          </a:graphicData>
        </a:graphic>
      </p:graphicFrame>
      <p:graphicFrame>
        <p:nvGraphicFramePr>
          <p:cNvPr id="607" name="Google Shape;607;p58"/>
          <p:cNvGraphicFramePr/>
          <p:nvPr/>
        </p:nvGraphicFramePr>
        <p:xfrm>
          <a:off x="222419" y="2998249"/>
          <a:ext cx="3000000" cy="3000000"/>
        </p:xfrm>
        <a:graphic>
          <a:graphicData uri="http://schemas.openxmlformats.org/drawingml/2006/table">
            <a:tbl>
              <a:tblPr firstRow="1" bandRow="1">
                <a:noFill/>
                <a:tableStyleId>{E45339CE-A403-4A82-A332-1DB77EED7D76}</a:tableStyleId>
              </a:tblPr>
              <a:tblGrid>
                <a:gridCol w="861075">
                  <a:extLst>
                    <a:ext uri="{9D8B030D-6E8A-4147-A177-3AD203B41FA5}">
                      <a16:colId xmlns:a16="http://schemas.microsoft.com/office/drawing/2014/main" val="20000"/>
                    </a:ext>
                  </a:extLst>
                </a:gridCol>
                <a:gridCol w="2250075">
                  <a:extLst>
                    <a:ext uri="{9D8B030D-6E8A-4147-A177-3AD203B41FA5}">
                      <a16:colId xmlns:a16="http://schemas.microsoft.com/office/drawing/2014/main" val="20001"/>
                    </a:ext>
                  </a:extLst>
                </a:gridCol>
              </a:tblGrid>
              <a:tr h="1010325">
                <a:tc>
                  <a:txBody>
                    <a:bodyPr/>
                    <a:lstStyle/>
                    <a:p>
                      <a:pPr marL="0" marR="0" lvl="0" indent="0" algn="l" rtl="0">
                        <a:lnSpc>
                          <a:spcPct val="100000"/>
                        </a:lnSpc>
                        <a:spcBef>
                          <a:spcPts val="0"/>
                        </a:spcBef>
                        <a:spcAft>
                          <a:spcPts val="0"/>
                        </a:spcAft>
                        <a:buClr>
                          <a:srgbClr val="000000"/>
                        </a:buClr>
                        <a:buSzPts val="900"/>
                        <a:buFont typeface="Arial"/>
                        <a:buNone/>
                      </a:pPr>
                      <a:r>
                        <a:rPr lang="en" sz="900" b="0" u="none" strike="noStrike" cap="none">
                          <a:latin typeface="Open Sans"/>
                          <a:ea typeface="Open Sans"/>
                          <a:cs typeface="Open Sans"/>
                          <a:sym typeface="Open Sans"/>
                        </a:rPr>
                        <a:t>Spare</a:t>
                      </a:r>
                      <a:endParaRPr sz="1100" u="none" strike="noStrike" cap="none">
                        <a:latin typeface="Open Sans"/>
                        <a:ea typeface="Open Sans"/>
                        <a:cs typeface="Open Sans"/>
                        <a:sym typeface="Open Sans"/>
                      </a:endParaRPr>
                    </a:p>
                  </a:txBody>
                  <a:tcPr marL="68600" marR="68600" marT="34300" marB="34300" anchor="ctr">
                    <a:solidFill>
                      <a:srgbClr val="262626"/>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Problem of the day...</a:t>
                      </a:r>
                      <a:endParaRPr sz="1100" u="none" strike="noStrike" cap="none">
                        <a:latin typeface="Open Sans"/>
                        <a:ea typeface="Open Sans"/>
                        <a:cs typeface="Open Sans"/>
                        <a:sym typeface="Open Sans"/>
                      </a:endParaRPr>
                    </a:p>
                  </a:txBody>
                  <a:tcPr marL="68600" marR="68600" marT="34300" marB="34300" anchor="ctr">
                    <a:solidFill>
                      <a:srgbClr val="262626"/>
                    </a:solidFill>
                  </a:tcPr>
                </a:tc>
                <a:extLst>
                  <a:ext uri="{0D108BD9-81ED-4DB2-BD59-A6C34878D82A}">
                    <a16:rowId xmlns:a16="http://schemas.microsoft.com/office/drawing/2014/main" val="10000"/>
                  </a:ext>
                </a:extLst>
              </a:tr>
              <a:tr h="958875">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lt1"/>
                          </a:solidFill>
                          <a:latin typeface="Open Sans"/>
                          <a:ea typeface="Open Sans"/>
                          <a:cs typeface="Open Sans"/>
                          <a:sym typeface="Open Sans"/>
                        </a:rPr>
                        <a:t>Spare</a:t>
                      </a:r>
                      <a:endParaRPr sz="1100" u="none" strike="noStrike" cap="none">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Problem of the day...</a:t>
                      </a:r>
                      <a:endParaRPr sz="1100" u="none" strike="noStrike" cap="none">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1"/>
                  </a:ext>
                </a:extLst>
              </a:tr>
            </a:tbl>
          </a:graphicData>
        </a:graphic>
      </p:graphicFrame>
      <p:graphicFrame>
        <p:nvGraphicFramePr>
          <p:cNvPr id="608" name="Google Shape;608;p58"/>
          <p:cNvGraphicFramePr/>
          <p:nvPr/>
        </p:nvGraphicFramePr>
        <p:xfrm>
          <a:off x="5804229" y="730357"/>
          <a:ext cx="3000000" cy="3000000"/>
        </p:xfrm>
        <a:graphic>
          <a:graphicData uri="http://schemas.openxmlformats.org/drawingml/2006/table">
            <a:tbl>
              <a:tblPr firstRow="1" bandRow="1">
                <a:noFill/>
                <a:tableStyleId>{E45339CE-A403-4A82-A332-1DB77EED7D76}</a:tableStyleId>
              </a:tblPr>
              <a:tblGrid>
                <a:gridCol w="861075">
                  <a:extLst>
                    <a:ext uri="{9D8B030D-6E8A-4147-A177-3AD203B41FA5}">
                      <a16:colId xmlns:a16="http://schemas.microsoft.com/office/drawing/2014/main" val="20000"/>
                    </a:ext>
                  </a:extLst>
                </a:gridCol>
                <a:gridCol w="2250075">
                  <a:extLst>
                    <a:ext uri="{9D8B030D-6E8A-4147-A177-3AD203B41FA5}">
                      <a16:colId xmlns:a16="http://schemas.microsoft.com/office/drawing/2014/main" val="20001"/>
                    </a:ext>
                  </a:extLst>
                </a:gridCol>
              </a:tblGrid>
              <a:tr h="1010325">
                <a:tc>
                  <a:txBody>
                    <a:bodyPr/>
                    <a:lstStyle/>
                    <a:p>
                      <a:pPr marL="0" marR="0" lvl="0" indent="0" algn="l" rtl="0">
                        <a:lnSpc>
                          <a:spcPct val="100000"/>
                        </a:lnSpc>
                        <a:spcBef>
                          <a:spcPts val="0"/>
                        </a:spcBef>
                        <a:spcAft>
                          <a:spcPts val="0"/>
                        </a:spcAft>
                        <a:buClr>
                          <a:srgbClr val="000000"/>
                        </a:buClr>
                        <a:buSzPts val="900"/>
                        <a:buFont typeface="Arial"/>
                        <a:buNone/>
                      </a:pPr>
                      <a:r>
                        <a:rPr lang="en" sz="900" b="0" u="none" strike="noStrike" cap="none">
                          <a:solidFill>
                            <a:schemeClr val="lt1"/>
                          </a:solidFill>
                          <a:latin typeface="Open Sans"/>
                          <a:ea typeface="Open Sans"/>
                          <a:cs typeface="Open Sans"/>
                          <a:sym typeface="Open Sans"/>
                        </a:rPr>
                        <a:t>Sales</a:t>
                      </a:r>
                      <a:endParaRPr sz="1100" u="none" strike="noStrike" cap="none">
                        <a:latin typeface="Open Sans"/>
                        <a:ea typeface="Open Sans"/>
                        <a:cs typeface="Open Sans"/>
                        <a:sym typeface="Open Sans"/>
                      </a:endParaRPr>
                    </a:p>
                  </a:txBody>
                  <a:tcPr marL="68600" marR="68600" marT="34300" marB="34300" anchor="ctr">
                    <a:solidFill>
                      <a:srgbClr val="262626"/>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Matching the Sales Arena</a:t>
                      </a:r>
                      <a:endParaRPr sz="800" b="0" u="none" strike="noStrike" cap="none">
                        <a:solidFill>
                          <a:schemeClr val="lt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Congruent Positioning</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4 Stages in Psychology of Sale</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Flowcharting Your Tension Points</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Holes, not drill bits</a:t>
                      </a:r>
                      <a:endParaRPr sz="800" b="0" u="none" strike="noStrike" cap="none">
                        <a:solidFill>
                          <a:schemeClr val="lt1"/>
                        </a:solidFill>
                        <a:latin typeface="Open Sans"/>
                        <a:ea typeface="Open Sans"/>
                        <a:cs typeface="Open Sans"/>
                        <a:sym typeface="Open Sans"/>
                      </a:endParaRPr>
                    </a:p>
                  </a:txBody>
                  <a:tcPr marL="68600" marR="68600" marT="34300" marB="34300" anchor="ctr">
                    <a:solidFill>
                      <a:srgbClr val="262626"/>
                    </a:solidFill>
                  </a:tcPr>
                </a:tc>
                <a:extLst>
                  <a:ext uri="{0D108BD9-81ED-4DB2-BD59-A6C34878D82A}">
                    <a16:rowId xmlns:a16="http://schemas.microsoft.com/office/drawing/2014/main" val="10000"/>
                  </a:ext>
                </a:extLst>
              </a:tr>
              <a:tr h="958875">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lt1"/>
                          </a:solidFill>
                          <a:latin typeface="Open Sans"/>
                          <a:ea typeface="Open Sans"/>
                          <a:cs typeface="Open Sans"/>
                          <a:sym typeface="Open Sans"/>
                        </a:rPr>
                        <a:t>Marketing</a:t>
                      </a:r>
                      <a:endParaRPr sz="1100" u="none" strike="noStrike" cap="none">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Customer Profile &amp; Needs Review</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4 Levels of Consumer Awareness</a:t>
                      </a:r>
                      <a:endParaRPr sz="800" u="none" strike="noStrike" cap="none">
                        <a:solidFill>
                          <a:schemeClr val="lt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Modern Marketing Funnel</a:t>
                      </a:r>
                      <a:endParaRPr sz="800" u="none" strike="noStrike" cap="none">
                        <a:solidFill>
                          <a:schemeClr val="lt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3 Key Marketing Statements</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1 Page Marketing Plan</a:t>
                      </a:r>
                      <a:endParaRPr sz="8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1"/>
                  </a:ext>
                </a:extLst>
              </a:tr>
            </a:tbl>
          </a:graphicData>
        </a:graphic>
      </p:graphicFrame>
      <p:graphicFrame>
        <p:nvGraphicFramePr>
          <p:cNvPr id="609" name="Google Shape;609;p58"/>
          <p:cNvGraphicFramePr/>
          <p:nvPr/>
        </p:nvGraphicFramePr>
        <p:xfrm>
          <a:off x="5804229" y="2994949"/>
          <a:ext cx="3000000" cy="3000000"/>
        </p:xfrm>
        <a:graphic>
          <a:graphicData uri="http://schemas.openxmlformats.org/drawingml/2006/table">
            <a:tbl>
              <a:tblPr firstRow="1" bandRow="1">
                <a:noFill/>
                <a:tableStyleId>{E45339CE-A403-4A82-A332-1DB77EED7D76}</a:tableStyleId>
              </a:tblPr>
              <a:tblGrid>
                <a:gridCol w="861075">
                  <a:extLst>
                    <a:ext uri="{9D8B030D-6E8A-4147-A177-3AD203B41FA5}">
                      <a16:colId xmlns:a16="http://schemas.microsoft.com/office/drawing/2014/main" val="20000"/>
                    </a:ext>
                  </a:extLst>
                </a:gridCol>
                <a:gridCol w="2250075">
                  <a:extLst>
                    <a:ext uri="{9D8B030D-6E8A-4147-A177-3AD203B41FA5}">
                      <a16:colId xmlns:a16="http://schemas.microsoft.com/office/drawing/2014/main" val="20001"/>
                    </a:ext>
                  </a:extLst>
                </a:gridCol>
              </a:tblGrid>
              <a:tr h="1010325">
                <a:tc>
                  <a:txBody>
                    <a:bodyPr/>
                    <a:lstStyle/>
                    <a:p>
                      <a:pPr marL="0" marR="0" lvl="0" indent="0" algn="l" rtl="0">
                        <a:lnSpc>
                          <a:spcPct val="100000"/>
                        </a:lnSpc>
                        <a:spcBef>
                          <a:spcPts val="0"/>
                        </a:spcBef>
                        <a:spcAft>
                          <a:spcPts val="0"/>
                        </a:spcAft>
                        <a:buClr>
                          <a:srgbClr val="000000"/>
                        </a:buClr>
                        <a:buSzPts val="900"/>
                        <a:buFont typeface="Arial"/>
                        <a:buNone/>
                      </a:pPr>
                      <a:r>
                        <a:rPr lang="en" sz="900" b="0" u="none" strike="noStrike" cap="none">
                          <a:solidFill>
                            <a:schemeClr val="lt1"/>
                          </a:solidFill>
                          <a:latin typeface="Open Sans"/>
                          <a:ea typeface="Open Sans"/>
                          <a:cs typeface="Open Sans"/>
                          <a:sym typeface="Open Sans"/>
                        </a:rPr>
                        <a:t>People</a:t>
                      </a:r>
                      <a:endParaRPr sz="1100" u="none" strike="noStrike" cap="none">
                        <a:latin typeface="Open Sans"/>
                        <a:ea typeface="Open Sans"/>
                        <a:cs typeface="Open Sans"/>
                        <a:sym typeface="Open Sans"/>
                      </a:endParaRPr>
                    </a:p>
                  </a:txBody>
                  <a:tcPr marL="68600" marR="68600" marT="34300" marB="34300" anchor="ctr">
                    <a:solidFill>
                      <a:srgbClr val="262626"/>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5 Drivers of Human Output</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Proven Feedback Model</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3 Key Sociology Lessons</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80/20 of  Team Motivation</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b="0" u="none" strike="noStrike" cap="none">
                          <a:solidFill>
                            <a:schemeClr val="lt1"/>
                          </a:solidFill>
                          <a:latin typeface="Open Sans"/>
                          <a:ea typeface="Open Sans"/>
                          <a:cs typeface="Open Sans"/>
                          <a:sym typeface="Open Sans"/>
                        </a:rPr>
                        <a:t>3 Keys to Creative Leadership</a:t>
                      </a:r>
                      <a:endParaRPr sz="800" b="0" u="none" strike="noStrike" cap="none">
                        <a:solidFill>
                          <a:schemeClr val="lt1"/>
                        </a:solidFill>
                        <a:latin typeface="Open Sans"/>
                        <a:ea typeface="Open Sans"/>
                        <a:cs typeface="Open Sans"/>
                        <a:sym typeface="Open Sans"/>
                      </a:endParaRPr>
                    </a:p>
                  </a:txBody>
                  <a:tcPr marL="68600" marR="68600" marT="34300" marB="34300" anchor="ctr">
                    <a:solidFill>
                      <a:srgbClr val="262626"/>
                    </a:solidFill>
                  </a:tcPr>
                </a:tc>
                <a:extLst>
                  <a:ext uri="{0D108BD9-81ED-4DB2-BD59-A6C34878D82A}">
                    <a16:rowId xmlns:a16="http://schemas.microsoft.com/office/drawing/2014/main" val="10000"/>
                  </a:ext>
                </a:extLst>
              </a:tr>
              <a:tr h="958875">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lt1"/>
                          </a:solidFill>
                          <a:latin typeface="Open Sans"/>
                          <a:ea typeface="Open Sans"/>
                          <a:cs typeface="Open Sans"/>
                          <a:sym typeface="Open Sans"/>
                        </a:rPr>
                        <a:t>Process</a:t>
                      </a:r>
                      <a:endParaRPr sz="1100" u="none" strike="noStrike" cap="none">
                        <a:latin typeface="Open Sans"/>
                        <a:ea typeface="Open Sans"/>
                        <a:cs typeface="Open Sans"/>
                        <a:sym typeface="Open Sans"/>
                      </a:endParaRPr>
                    </a:p>
                  </a:txBody>
                  <a:tcPr marL="68600" marR="68600" marT="34300" marB="34300" anchor="ctr">
                    <a:solidFill>
                      <a:srgbClr val="3A3838"/>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Dave Nave Systems Comparison</a:t>
                      </a:r>
                      <a:endParaRPr sz="800" u="none" strike="noStrike" cap="none">
                        <a:solidFill>
                          <a:schemeClr val="lt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Process Improvement Cycle</a:t>
                      </a:r>
                      <a:endParaRPr sz="1100" u="none" strike="noStrike" cap="none">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800"/>
                        <a:buFont typeface="Arial"/>
                        <a:buNone/>
                      </a:pPr>
                      <a:r>
                        <a:rPr lang="en" sz="800" u="none" strike="noStrike" cap="none">
                          <a:solidFill>
                            <a:schemeClr val="lt1"/>
                          </a:solidFill>
                          <a:latin typeface="Open Sans"/>
                          <a:ea typeface="Open Sans"/>
                          <a:cs typeface="Open Sans"/>
                          <a:sym typeface="Open Sans"/>
                        </a:rPr>
                        <a:t>Process Design</a:t>
                      </a:r>
                      <a:endParaRPr sz="800" u="none" strike="noStrike" cap="none">
                        <a:solidFill>
                          <a:schemeClr val="lt1"/>
                        </a:solidFill>
                        <a:latin typeface="Open Sans"/>
                        <a:ea typeface="Open Sans"/>
                        <a:cs typeface="Open Sans"/>
                        <a:sym typeface="Open Sans"/>
                      </a:endParaRPr>
                    </a:p>
                  </a:txBody>
                  <a:tcPr marL="68600" marR="68600" marT="34300" marB="34300" anchor="ctr">
                    <a:solidFill>
                      <a:srgbClr val="3A3838"/>
                    </a:solidFill>
                  </a:tcPr>
                </a:tc>
                <a:extLst>
                  <a:ext uri="{0D108BD9-81ED-4DB2-BD59-A6C34878D82A}">
                    <a16:rowId xmlns:a16="http://schemas.microsoft.com/office/drawing/2014/main" val="10001"/>
                  </a:ext>
                </a:extLst>
              </a:tr>
            </a:tbl>
          </a:graphicData>
        </a:graphic>
      </p:graphicFrame>
      <p:graphicFrame>
        <p:nvGraphicFramePr>
          <p:cNvPr id="610" name="Google Shape;610;p58"/>
          <p:cNvGraphicFramePr/>
          <p:nvPr/>
        </p:nvGraphicFramePr>
        <p:xfrm>
          <a:off x="3333591" y="1732175"/>
          <a:ext cx="3000000" cy="3000000"/>
        </p:xfrm>
        <a:graphic>
          <a:graphicData uri="http://schemas.openxmlformats.org/drawingml/2006/table">
            <a:tbl>
              <a:tblPr firstRow="1" bandRow="1">
                <a:noFill/>
                <a:tableStyleId>{E45339CE-A403-4A82-A332-1DB77EED7D76}</a:tableStyleId>
              </a:tblPr>
              <a:tblGrid>
                <a:gridCol w="1238400">
                  <a:extLst>
                    <a:ext uri="{9D8B030D-6E8A-4147-A177-3AD203B41FA5}">
                      <a16:colId xmlns:a16="http://schemas.microsoft.com/office/drawing/2014/main" val="20000"/>
                    </a:ext>
                  </a:extLst>
                </a:gridCol>
                <a:gridCol w="1238400">
                  <a:extLst>
                    <a:ext uri="{9D8B030D-6E8A-4147-A177-3AD203B41FA5}">
                      <a16:colId xmlns:a16="http://schemas.microsoft.com/office/drawing/2014/main" val="20001"/>
                    </a:ext>
                  </a:extLst>
                </a:gridCol>
              </a:tblGrid>
              <a:tr h="1141800">
                <a:tc>
                  <a:txBody>
                    <a:bodyPr/>
                    <a:lstStyle/>
                    <a:p>
                      <a:pPr marL="0" marR="0" lvl="0" indent="0" algn="ctr" rtl="0">
                        <a:lnSpc>
                          <a:spcPct val="150000"/>
                        </a:lnSpc>
                        <a:spcBef>
                          <a:spcPts val="0"/>
                        </a:spcBef>
                        <a:spcAft>
                          <a:spcPts val="0"/>
                        </a:spcAft>
                        <a:buClr>
                          <a:srgbClr val="000000"/>
                        </a:buClr>
                        <a:buSzPts val="1000"/>
                        <a:buFont typeface="Arial"/>
                        <a:buNone/>
                      </a:pPr>
                      <a:r>
                        <a:rPr lang="en" sz="1000" b="0" u="none" strike="noStrike" cap="none">
                          <a:solidFill>
                            <a:schemeClr val="lt1"/>
                          </a:solidFill>
                          <a:latin typeface="Open Sans"/>
                          <a:ea typeface="Open Sans"/>
                          <a:cs typeface="Open Sans"/>
                          <a:sym typeface="Open Sans"/>
                        </a:rPr>
                        <a:t>Planning &amp; Data (Financial Management)</a:t>
                      </a:r>
                      <a:endParaRPr sz="1100" u="none" strike="noStrike" cap="none">
                        <a:latin typeface="Open Sans"/>
                        <a:ea typeface="Open Sans"/>
                        <a:cs typeface="Open Sans"/>
                        <a:sym typeface="Open Sans"/>
                      </a:endParaRPr>
                    </a:p>
                  </a:txBody>
                  <a:tcPr marL="68600" marR="68600" marT="34300" marB="34300" anchor="ctr">
                    <a:solidFill>
                      <a:srgbClr val="002B64"/>
                    </a:solidFill>
                  </a:tcPr>
                </a:tc>
                <a:tc>
                  <a:txBody>
                    <a:bodyPr/>
                    <a:lstStyle/>
                    <a:p>
                      <a:pPr marL="0" marR="0" lvl="0" indent="0" algn="ctr" rtl="0">
                        <a:lnSpc>
                          <a:spcPct val="150000"/>
                        </a:lnSpc>
                        <a:spcBef>
                          <a:spcPts val="0"/>
                        </a:spcBef>
                        <a:spcAft>
                          <a:spcPts val="0"/>
                        </a:spcAft>
                        <a:buClr>
                          <a:srgbClr val="000000"/>
                        </a:buClr>
                        <a:buSzPts val="1000"/>
                        <a:buFont typeface="Arial"/>
                        <a:buNone/>
                      </a:pPr>
                      <a:r>
                        <a:rPr lang="en" sz="1000" b="0" u="none" strike="noStrike" cap="none">
                          <a:solidFill>
                            <a:schemeClr val="lt1"/>
                          </a:solidFill>
                          <a:latin typeface="Open Sans"/>
                          <a:ea typeface="Open Sans"/>
                          <a:cs typeface="Open Sans"/>
                          <a:sym typeface="Open Sans"/>
                        </a:rPr>
                        <a:t>Sales &amp; Marketing</a:t>
                      </a:r>
                      <a:endParaRPr sz="1100" u="none" strike="noStrike" cap="none">
                        <a:latin typeface="Open Sans"/>
                        <a:ea typeface="Open Sans"/>
                        <a:cs typeface="Open Sans"/>
                        <a:sym typeface="Open Sans"/>
                      </a:endParaRPr>
                    </a:p>
                  </a:txBody>
                  <a:tcPr marL="68600" marR="68600" marT="34300" marB="34300" anchor="ctr">
                    <a:solidFill>
                      <a:srgbClr val="002B64"/>
                    </a:solidFill>
                  </a:tcPr>
                </a:tc>
                <a:extLst>
                  <a:ext uri="{0D108BD9-81ED-4DB2-BD59-A6C34878D82A}">
                    <a16:rowId xmlns:a16="http://schemas.microsoft.com/office/drawing/2014/main" val="10000"/>
                  </a:ext>
                </a:extLst>
              </a:tr>
              <a:tr h="1141800">
                <a:tc>
                  <a:txBody>
                    <a:bodyPr/>
                    <a:lstStyle/>
                    <a:p>
                      <a:pPr marL="0" marR="0" lvl="0" indent="0" algn="ctr" rtl="0">
                        <a:lnSpc>
                          <a:spcPct val="150000"/>
                        </a:lnSpc>
                        <a:spcBef>
                          <a:spcPts val="0"/>
                        </a:spcBef>
                        <a:spcAft>
                          <a:spcPts val="0"/>
                        </a:spcAft>
                        <a:buClr>
                          <a:srgbClr val="000000"/>
                        </a:buClr>
                        <a:buSzPts val="1000"/>
                        <a:buFont typeface="Arial"/>
                        <a:buNone/>
                      </a:pPr>
                      <a:r>
                        <a:rPr lang="en" sz="1000" u="none" strike="noStrike" cap="none">
                          <a:solidFill>
                            <a:schemeClr val="lt1"/>
                          </a:solidFill>
                          <a:latin typeface="Open Sans"/>
                          <a:ea typeface="Open Sans"/>
                          <a:cs typeface="Open Sans"/>
                          <a:sym typeface="Open Sans"/>
                        </a:rPr>
                        <a:t>Hurdles</a:t>
                      </a:r>
                      <a:endParaRPr sz="1100" u="none" strike="noStrike" cap="none">
                        <a:latin typeface="Open Sans"/>
                        <a:ea typeface="Open Sans"/>
                        <a:cs typeface="Open Sans"/>
                        <a:sym typeface="Open Sans"/>
                      </a:endParaRPr>
                    </a:p>
                  </a:txBody>
                  <a:tcPr marL="68600" marR="68600" marT="34300" marB="34300" anchor="ctr">
                    <a:solidFill>
                      <a:srgbClr val="002B64"/>
                    </a:solidFill>
                  </a:tcPr>
                </a:tc>
                <a:tc>
                  <a:txBody>
                    <a:bodyPr/>
                    <a:lstStyle/>
                    <a:p>
                      <a:pPr marL="0" marR="0" lvl="0" indent="0" algn="ctr" rtl="0">
                        <a:lnSpc>
                          <a:spcPct val="150000"/>
                        </a:lnSpc>
                        <a:spcBef>
                          <a:spcPts val="0"/>
                        </a:spcBef>
                        <a:spcAft>
                          <a:spcPts val="0"/>
                        </a:spcAft>
                        <a:buClr>
                          <a:schemeClr val="lt1"/>
                        </a:buClr>
                        <a:buSzPts val="1000"/>
                        <a:buFont typeface="Architects Daughter"/>
                        <a:buNone/>
                      </a:pPr>
                      <a:r>
                        <a:rPr lang="en" sz="1000" u="none" strike="noStrike" cap="none">
                          <a:solidFill>
                            <a:schemeClr val="lt1"/>
                          </a:solidFill>
                          <a:latin typeface="Open Sans"/>
                          <a:ea typeface="Open Sans"/>
                          <a:cs typeface="Open Sans"/>
                          <a:sym typeface="Open Sans"/>
                        </a:rPr>
                        <a:t>People &amp; Process</a:t>
                      </a:r>
                      <a:endParaRPr sz="1100" u="none" strike="noStrike" cap="none">
                        <a:latin typeface="Open Sans"/>
                        <a:ea typeface="Open Sans"/>
                        <a:cs typeface="Open Sans"/>
                        <a:sym typeface="Open Sans"/>
                      </a:endParaRPr>
                    </a:p>
                    <a:p>
                      <a:pPr marL="0" marR="0" lvl="0" indent="0" algn="ctr" rtl="0">
                        <a:lnSpc>
                          <a:spcPct val="150000"/>
                        </a:lnSpc>
                        <a:spcBef>
                          <a:spcPts val="0"/>
                        </a:spcBef>
                        <a:spcAft>
                          <a:spcPts val="0"/>
                        </a:spcAft>
                        <a:buClr>
                          <a:srgbClr val="000000"/>
                        </a:buClr>
                        <a:buSzPts val="1000"/>
                        <a:buFont typeface="Arial"/>
                        <a:buNone/>
                      </a:pPr>
                      <a:r>
                        <a:rPr lang="en" sz="1000" u="none" strike="noStrike" cap="none">
                          <a:solidFill>
                            <a:schemeClr val="lt1"/>
                          </a:solidFill>
                          <a:latin typeface="Open Sans"/>
                          <a:ea typeface="Open Sans"/>
                          <a:cs typeface="Open Sans"/>
                          <a:sym typeface="Open Sans"/>
                        </a:rPr>
                        <a:t>(Operations)</a:t>
                      </a:r>
                      <a:endParaRPr sz="1100" u="none" strike="noStrike" cap="none">
                        <a:latin typeface="Open Sans"/>
                        <a:ea typeface="Open Sans"/>
                        <a:cs typeface="Open Sans"/>
                        <a:sym typeface="Open Sans"/>
                      </a:endParaRPr>
                    </a:p>
                  </a:txBody>
                  <a:tcPr marL="68600" marR="68600" marT="34300" marB="34300" anchor="ctr">
                    <a:solidFill>
                      <a:srgbClr val="002B64"/>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4"/>
        <p:cNvGrpSpPr/>
        <p:nvPr/>
      </p:nvGrpSpPr>
      <p:grpSpPr>
        <a:xfrm>
          <a:off x="0" y="0"/>
          <a:ext cx="0" cy="0"/>
          <a:chOff x="0" y="0"/>
          <a:chExt cx="0" cy="0"/>
        </a:xfrm>
      </p:grpSpPr>
      <p:sp>
        <p:nvSpPr>
          <p:cNvPr id="615" name="Google Shape;615;p59"/>
          <p:cNvSpPr/>
          <p:nvPr/>
        </p:nvSpPr>
        <p:spPr>
          <a:xfrm>
            <a:off x="7139003" y="2156637"/>
            <a:ext cx="16830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Client Segmentation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Focused messaging</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Brand recognition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Market Analytics</a:t>
            </a:r>
            <a:endParaRPr sz="1100" i="0" u="none" strike="noStrike" cap="none">
              <a:solidFill>
                <a:srgbClr val="434343"/>
              </a:solidFill>
              <a:latin typeface="Open Sans"/>
              <a:ea typeface="Open Sans"/>
              <a:cs typeface="Open Sans"/>
              <a:sym typeface="Open Sans"/>
            </a:endParaRPr>
          </a:p>
        </p:txBody>
      </p:sp>
      <p:sp>
        <p:nvSpPr>
          <p:cNvPr id="616" name="Google Shape;616;p59"/>
          <p:cNvSpPr/>
          <p:nvPr/>
        </p:nvSpPr>
        <p:spPr>
          <a:xfrm>
            <a:off x="7342471" y="2040426"/>
            <a:ext cx="1296600" cy="21600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Marketing</a:t>
            </a:r>
            <a:endParaRPr sz="1100" i="0" u="none" strike="noStrike" cap="none">
              <a:solidFill>
                <a:srgbClr val="000000"/>
              </a:solidFill>
              <a:latin typeface="Open Sans"/>
              <a:ea typeface="Open Sans"/>
              <a:cs typeface="Open Sans"/>
              <a:sym typeface="Open Sans"/>
            </a:endParaRPr>
          </a:p>
        </p:txBody>
      </p:sp>
      <p:sp>
        <p:nvSpPr>
          <p:cNvPr id="617" name="Google Shape;617;p59"/>
          <p:cNvSpPr/>
          <p:nvPr/>
        </p:nvSpPr>
        <p:spPr>
          <a:xfrm>
            <a:off x="1794010" y="435987"/>
            <a:ext cx="19518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Orientation / Desires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Revenue model / Scale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Bizz Threats/ Opportunity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Organisational structure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Values &amp; Risk appetite</a:t>
            </a:r>
            <a:endParaRPr sz="1100" i="0" u="none" strike="noStrike" cap="none">
              <a:solidFill>
                <a:srgbClr val="434343"/>
              </a:solidFill>
              <a:latin typeface="Open Sans"/>
              <a:ea typeface="Open Sans"/>
              <a:cs typeface="Open Sans"/>
              <a:sym typeface="Open Sans"/>
            </a:endParaRPr>
          </a:p>
        </p:txBody>
      </p:sp>
      <p:sp>
        <p:nvSpPr>
          <p:cNvPr id="618" name="Google Shape;618;p59"/>
          <p:cNvSpPr/>
          <p:nvPr/>
        </p:nvSpPr>
        <p:spPr>
          <a:xfrm>
            <a:off x="5461190" y="406295"/>
            <a:ext cx="18429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Collect, Compile, Verify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Assimilate, Report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Model, Forecast, Scenario planning &amp; Prediction</a:t>
            </a:r>
            <a:endParaRPr sz="1100" i="0" u="none" strike="noStrike" cap="none">
              <a:solidFill>
                <a:srgbClr val="434343"/>
              </a:solidFill>
              <a:latin typeface="Open Sans"/>
              <a:ea typeface="Open Sans"/>
              <a:cs typeface="Open Sans"/>
              <a:sym typeface="Open Sans"/>
            </a:endParaRPr>
          </a:p>
        </p:txBody>
      </p:sp>
      <p:sp>
        <p:nvSpPr>
          <p:cNvPr id="619" name="Google Shape;619;p59"/>
          <p:cNvSpPr/>
          <p:nvPr/>
        </p:nvSpPr>
        <p:spPr>
          <a:xfrm>
            <a:off x="5391168" y="3848467"/>
            <a:ext cx="18285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Enquiry conversion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Customer/Client relations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Point of sale feedback re- product/service appeal &amp; competitor perceptions.</a:t>
            </a:r>
            <a:endParaRPr sz="1100" i="0" u="none" strike="noStrike" cap="none">
              <a:solidFill>
                <a:srgbClr val="434343"/>
              </a:solidFill>
              <a:latin typeface="Open Sans"/>
              <a:ea typeface="Open Sans"/>
              <a:cs typeface="Open Sans"/>
              <a:sym typeface="Open Sans"/>
            </a:endParaRPr>
          </a:p>
        </p:txBody>
      </p:sp>
      <p:sp>
        <p:nvSpPr>
          <p:cNvPr id="620" name="Google Shape;620;p59"/>
          <p:cNvSpPr/>
          <p:nvPr/>
        </p:nvSpPr>
        <p:spPr>
          <a:xfrm>
            <a:off x="1857702" y="3848798"/>
            <a:ext cx="2012100" cy="8925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engagement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proximity / locations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Skills development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Leadership / Morale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Internal communication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Staffing numbers/divisions</a:t>
            </a:r>
            <a:endParaRPr sz="1100" i="0" u="none" strike="noStrike" cap="none">
              <a:solidFill>
                <a:srgbClr val="434343"/>
              </a:solidFill>
              <a:latin typeface="Open Sans"/>
              <a:ea typeface="Open Sans"/>
              <a:cs typeface="Open Sans"/>
              <a:sym typeface="Open Sans"/>
            </a:endParaRPr>
          </a:p>
        </p:txBody>
      </p:sp>
      <p:sp>
        <p:nvSpPr>
          <p:cNvPr id="621" name="Google Shape;621;p59"/>
          <p:cNvSpPr/>
          <p:nvPr/>
        </p:nvSpPr>
        <p:spPr>
          <a:xfrm>
            <a:off x="241338" y="2193708"/>
            <a:ext cx="17904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People Effectiveness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Reliability / Consistency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Systems interdependency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Business Improvements</a:t>
            </a:r>
            <a:endParaRPr sz="1100" i="0" u="none" strike="noStrike" cap="none">
              <a:solidFill>
                <a:srgbClr val="434343"/>
              </a:solidFill>
              <a:latin typeface="Open Sans"/>
              <a:ea typeface="Open Sans"/>
              <a:cs typeface="Open Sans"/>
              <a:sym typeface="Open Sans"/>
            </a:endParaRPr>
          </a:p>
        </p:txBody>
      </p:sp>
      <p:sp>
        <p:nvSpPr>
          <p:cNvPr id="622" name="Google Shape;622;p59"/>
          <p:cNvSpPr/>
          <p:nvPr/>
        </p:nvSpPr>
        <p:spPr>
          <a:xfrm>
            <a:off x="2165552" y="241316"/>
            <a:ext cx="1267800" cy="216000"/>
          </a:xfrm>
          <a:prstGeom prst="roundRect">
            <a:avLst>
              <a:gd name="adj" fmla="val 16667"/>
            </a:avLst>
          </a:prstGeom>
          <a:solidFill>
            <a:schemeClr val="accent5"/>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Planning</a:t>
            </a:r>
            <a:endParaRPr sz="1100" i="0" u="none" strike="noStrike" cap="none">
              <a:solidFill>
                <a:srgbClr val="000000"/>
              </a:solidFill>
              <a:latin typeface="Open Sans"/>
              <a:ea typeface="Open Sans"/>
              <a:cs typeface="Open Sans"/>
              <a:sym typeface="Open Sans"/>
            </a:endParaRPr>
          </a:p>
        </p:txBody>
      </p:sp>
      <p:sp>
        <p:nvSpPr>
          <p:cNvPr id="623" name="Google Shape;623;p59"/>
          <p:cNvSpPr/>
          <p:nvPr/>
        </p:nvSpPr>
        <p:spPr>
          <a:xfrm>
            <a:off x="5689610" y="230896"/>
            <a:ext cx="1243500" cy="2160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Data</a:t>
            </a:r>
            <a:endParaRPr sz="1100" i="0" u="none" strike="noStrike" cap="none">
              <a:solidFill>
                <a:srgbClr val="000000"/>
              </a:solidFill>
              <a:latin typeface="Open Sans"/>
              <a:ea typeface="Open Sans"/>
              <a:cs typeface="Open Sans"/>
              <a:sym typeface="Open Sans"/>
            </a:endParaRPr>
          </a:p>
        </p:txBody>
      </p:sp>
      <p:sp>
        <p:nvSpPr>
          <p:cNvPr id="624" name="Google Shape;624;p59"/>
          <p:cNvSpPr/>
          <p:nvPr/>
        </p:nvSpPr>
        <p:spPr>
          <a:xfrm>
            <a:off x="5689610" y="3675353"/>
            <a:ext cx="1267800" cy="21600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Sales</a:t>
            </a:r>
            <a:endParaRPr sz="1100" i="0" u="none" strike="noStrike" cap="none">
              <a:solidFill>
                <a:srgbClr val="000000"/>
              </a:solidFill>
              <a:latin typeface="Open Sans"/>
              <a:ea typeface="Open Sans"/>
              <a:cs typeface="Open Sans"/>
              <a:sym typeface="Open Sans"/>
            </a:endParaRPr>
          </a:p>
        </p:txBody>
      </p:sp>
      <p:sp>
        <p:nvSpPr>
          <p:cNvPr id="625" name="Google Shape;625;p59"/>
          <p:cNvSpPr/>
          <p:nvPr/>
        </p:nvSpPr>
        <p:spPr>
          <a:xfrm>
            <a:off x="2249423" y="3687928"/>
            <a:ext cx="1268100" cy="216000"/>
          </a:xfrm>
          <a:prstGeom prst="roundRect">
            <a:avLst>
              <a:gd name="adj" fmla="val 16667"/>
            </a:avLst>
          </a:prstGeom>
          <a:solidFill>
            <a:schemeClr val="accent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People</a:t>
            </a:r>
            <a:endParaRPr sz="1100" i="0" u="none" strike="noStrike" cap="none">
              <a:solidFill>
                <a:srgbClr val="000000"/>
              </a:solidFill>
              <a:latin typeface="Open Sans"/>
              <a:ea typeface="Open Sans"/>
              <a:cs typeface="Open Sans"/>
              <a:sym typeface="Open Sans"/>
            </a:endParaRPr>
          </a:p>
        </p:txBody>
      </p:sp>
      <p:sp>
        <p:nvSpPr>
          <p:cNvPr id="626" name="Google Shape;626;p59"/>
          <p:cNvSpPr/>
          <p:nvPr/>
        </p:nvSpPr>
        <p:spPr>
          <a:xfrm>
            <a:off x="504914" y="2034534"/>
            <a:ext cx="1275300" cy="216000"/>
          </a:xfrm>
          <a:prstGeom prst="roundRect">
            <a:avLst>
              <a:gd name="adj" fmla="val 16667"/>
            </a:avLst>
          </a:prstGeom>
          <a:solidFill>
            <a:srgbClr val="595959"/>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Process</a:t>
            </a:r>
            <a:endParaRPr sz="1100" i="0" u="none" strike="noStrike" cap="none">
              <a:solidFill>
                <a:srgbClr val="000000"/>
              </a:solidFill>
              <a:latin typeface="Open Sans"/>
              <a:ea typeface="Open Sans"/>
              <a:cs typeface="Open Sans"/>
              <a:sym typeface="Open Sans"/>
            </a:endParaRPr>
          </a:p>
        </p:txBody>
      </p:sp>
      <p:sp>
        <p:nvSpPr>
          <p:cNvPr id="627" name="Google Shape;627;p59"/>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28" name="Google Shape;628;p59"/>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29" name="Google Shape;629;p59"/>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30" name="Google Shape;630;p59"/>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31" name="Google Shape;631;p59"/>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5"/>
        <p:cNvGrpSpPr/>
        <p:nvPr/>
      </p:nvGrpSpPr>
      <p:grpSpPr>
        <a:xfrm>
          <a:off x="0" y="0"/>
          <a:ext cx="0" cy="0"/>
          <a:chOff x="0" y="0"/>
          <a:chExt cx="0" cy="0"/>
        </a:xfrm>
      </p:grpSpPr>
      <p:sp>
        <p:nvSpPr>
          <p:cNvPr id="636" name="Google Shape;636;p60"/>
          <p:cNvSpPr/>
          <p:nvPr/>
        </p:nvSpPr>
        <p:spPr>
          <a:xfrm>
            <a:off x="7139003" y="2156637"/>
            <a:ext cx="16830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Client Segmentation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Focused messaging</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Brand recognition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Market Analytics</a:t>
            </a:r>
            <a:endParaRPr sz="1100" i="0" u="none" strike="noStrike" cap="none">
              <a:solidFill>
                <a:srgbClr val="434343"/>
              </a:solidFill>
              <a:latin typeface="Open Sans"/>
              <a:ea typeface="Open Sans"/>
              <a:cs typeface="Open Sans"/>
              <a:sym typeface="Open Sans"/>
            </a:endParaRPr>
          </a:p>
        </p:txBody>
      </p:sp>
      <p:sp>
        <p:nvSpPr>
          <p:cNvPr id="637" name="Google Shape;637;p60"/>
          <p:cNvSpPr/>
          <p:nvPr/>
        </p:nvSpPr>
        <p:spPr>
          <a:xfrm>
            <a:off x="7342471" y="2040426"/>
            <a:ext cx="1296600" cy="21600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Marketing</a:t>
            </a:r>
            <a:endParaRPr sz="1100" i="0" u="none" strike="noStrike" cap="none">
              <a:solidFill>
                <a:srgbClr val="000000"/>
              </a:solidFill>
              <a:latin typeface="Open Sans"/>
              <a:ea typeface="Open Sans"/>
              <a:cs typeface="Open Sans"/>
              <a:sym typeface="Open Sans"/>
            </a:endParaRPr>
          </a:p>
        </p:txBody>
      </p:sp>
      <p:sp>
        <p:nvSpPr>
          <p:cNvPr id="638" name="Google Shape;638;p60"/>
          <p:cNvSpPr/>
          <p:nvPr/>
        </p:nvSpPr>
        <p:spPr>
          <a:xfrm>
            <a:off x="1794010" y="435987"/>
            <a:ext cx="19518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Orientation / Desires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Revenue model / Scale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Bizz Threats/ Opportunity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Organisational structure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Values &amp; Risk appetite</a:t>
            </a:r>
            <a:endParaRPr sz="1100" i="0" u="none" strike="noStrike" cap="none">
              <a:solidFill>
                <a:srgbClr val="434343"/>
              </a:solidFill>
              <a:latin typeface="Open Sans"/>
              <a:ea typeface="Open Sans"/>
              <a:cs typeface="Open Sans"/>
              <a:sym typeface="Open Sans"/>
            </a:endParaRPr>
          </a:p>
        </p:txBody>
      </p:sp>
      <p:sp>
        <p:nvSpPr>
          <p:cNvPr id="639" name="Google Shape;639;p60"/>
          <p:cNvSpPr/>
          <p:nvPr/>
        </p:nvSpPr>
        <p:spPr>
          <a:xfrm>
            <a:off x="5461190" y="406295"/>
            <a:ext cx="18429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Collect, Compile, Verify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Assimilate, Report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Model, Forecast, Scenario planning &amp; Prediction</a:t>
            </a:r>
            <a:endParaRPr sz="1100" i="0" u="none" strike="noStrike" cap="none">
              <a:solidFill>
                <a:srgbClr val="434343"/>
              </a:solidFill>
              <a:latin typeface="Open Sans"/>
              <a:ea typeface="Open Sans"/>
              <a:cs typeface="Open Sans"/>
              <a:sym typeface="Open Sans"/>
            </a:endParaRPr>
          </a:p>
        </p:txBody>
      </p:sp>
      <p:sp>
        <p:nvSpPr>
          <p:cNvPr id="640" name="Google Shape;640;p60"/>
          <p:cNvSpPr/>
          <p:nvPr/>
        </p:nvSpPr>
        <p:spPr>
          <a:xfrm>
            <a:off x="5391168" y="3848467"/>
            <a:ext cx="18285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Enquiry conversion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Customer/Client relations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Point of sale feedback re- product/service appeal &amp; competitor perceptions.</a:t>
            </a:r>
            <a:endParaRPr sz="1100" i="0" u="none" strike="noStrike" cap="none">
              <a:solidFill>
                <a:srgbClr val="434343"/>
              </a:solidFill>
              <a:latin typeface="Open Sans"/>
              <a:ea typeface="Open Sans"/>
              <a:cs typeface="Open Sans"/>
              <a:sym typeface="Open Sans"/>
            </a:endParaRPr>
          </a:p>
        </p:txBody>
      </p:sp>
      <p:sp>
        <p:nvSpPr>
          <p:cNvPr id="641" name="Google Shape;641;p60"/>
          <p:cNvSpPr/>
          <p:nvPr/>
        </p:nvSpPr>
        <p:spPr>
          <a:xfrm>
            <a:off x="1857702" y="3848798"/>
            <a:ext cx="2012100" cy="8925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engagement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proximity / locations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Skills development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Leadership / Morale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Internal communication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Staffing numbers/divisions</a:t>
            </a:r>
            <a:endParaRPr sz="1100" i="0" u="none" strike="noStrike" cap="none">
              <a:solidFill>
                <a:srgbClr val="434343"/>
              </a:solidFill>
              <a:latin typeface="Open Sans"/>
              <a:ea typeface="Open Sans"/>
              <a:cs typeface="Open Sans"/>
              <a:sym typeface="Open Sans"/>
            </a:endParaRPr>
          </a:p>
        </p:txBody>
      </p:sp>
      <p:sp>
        <p:nvSpPr>
          <p:cNvPr id="642" name="Google Shape;642;p60"/>
          <p:cNvSpPr/>
          <p:nvPr/>
        </p:nvSpPr>
        <p:spPr>
          <a:xfrm>
            <a:off x="241338" y="2193708"/>
            <a:ext cx="17904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People Effectiveness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Reliability / Consistency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Systems interdependency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Business Improvements</a:t>
            </a:r>
            <a:endParaRPr sz="1100" i="0" u="none" strike="noStrike" cap="none">
              <a:solidFill>
                <a:srgbClr val="434343"/>
              </a:solidFill>
              <a:latin typeface="Open Sans"/>
              <a:ea typeface="Open Sans"/>
              <a:cs typeface="Open Sans"/>
              <a:sym typeface="Open Sans"/>
            </a:endParaRPr>
          </a:p>
        </p:txBody>
      </p:sp>
      <p:sp>
        <p:nvSpPr>
          <p:cNvPr id="643" name="Google Shape;643;p60"/>
          <p:cNvSpPr/>
          <p:nvPr/>
        </p:nvSpPr>
        <p:spPr>
          <a:xfrm>
            <a:off x="2165552" y="241316"/>
            <a:ext cx="1267800" cy="216000"/>
          </a:xfrm>
          <a:prstGeom prst="roundRect">
            <a:avLst>
              <a:gd name="adj" fmla="val 16667"/>
            </a:avLst>
          </a:prstGeom>
          <a:solidFill>
            <a:schemeClr val="accent5"/>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Planning</a:t>
            </a:r>
            <a:endParaRPr sz="1100" i="0" u="none" strike="noStrike" cap="none">
              <a:solidFill>
                <a:srgbClr val="000000"/>
              </a:solidFill>
              <a:latin typeface="Open Sans"/>
              <a:ea typeface="Open Sans"/>
              <a:cs typeface="Open Sans"/>
              <a:sym typeface="Open Sans"/>
            </a:endParaRPr>
          </a:p>
        </p:txBody>
      </p:sp>
      <p:sp>
        <p:nvSpPr>
          <p:cNvPr id="644" name="Google Shape;644;p60"/>
          <p:cNvSpPr/>
          <p:nvPr/>
        </p:nvSpPr>
        <p:spPr>
          <a:xfrm>
            <a:off x="5689610" y="230896"/>
            <a:ext cx="1243500" cy="2160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Data</a:t>
            </a:r>
            <a:endParaRPr sz="1100" i="0" u="none" strike="noStrike" cap="none">
              <a:solidFill>
                <a:srgbClr val="000000"/>
              </a:solidFill>
              <a:latin typeface="Open Sans"/>
              <a:ea typeface="Open Sans"/>
              <a:cs typeface="Open Sans"/>
              <a:sym typeface="Open Sans"/>
            </a:endParaRPr>
          </a:p>
        </p:txBody>
      </p:sp>
      <p:sp>
        <p:nvSpPr>
          <p:cNvPr id="645" name="Google Shape;645;p60"/>
          <p:cNvSpPr/>
          <p:nvPr/>
        </p:nvSpPr>
        <p:spPr>
          <a:xfrm>
            <a:off x="5689610" y="3675353"/>
            <a:ext cx="1267800" cy="21600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Sales</a:t>
            </a:r>
            <a:endParaRPr sz="1100" i="0" u="none" strike="noStrike" cap="none">
              <a:solidFill>
                <a:srgbClr val="000000"/>
              </a:solidFill>
              <a:latin typeface="Open Sans"/>
              <a:ea typeface="Open Sans"/>
              <a:cs typeface="Open Sans"/>
              <a:sym typeface="Open Sans"/>
            </a:endParaRPr>
          </a:p>
        </p:txBody>
      </p:sp>
      <p:sp>
        <p:nvSpPr>
          <p:cNvPr id="646" name="Google Shape;646;p60"/>
          <p:cNvSpPr/>
          <p:nvPr/>
        </p:nvSpPr>
        <p:spPr>
          <a:xfrm>
            <a:off x="2249423" y="3687928"/>
            <a:ext cx="1268100" cy="216000"/>
          </a:xfrm>
          <a:prstGeom prst="roundRect">
            <a:avLst>
              <a:gd name="adj" fmla="val 16667"/>
            </a:avLst>
          </a:prstGeom>
          <a:solidFill>
            <a:schemeClr val="accent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People</a:t>
            </a:r>
            <a:endParaRPr sz="1100" i="0" u="none" strike="noStrike" cap="none">
              <a:solidFill>
                <a:srgbClr val="000000"/>
              </a:solidFill>
              <a:latin typeface="Open Sans"/>
              <a:ea typeface="Open Sans"/>
              <a:cs typeface="Open Sans"/>
              <a:sym typeface="Open Sans"/>
            </a:endParaRPr>
          </a:p>
        </p:txBody>
      </p:sp>
      <p:sp>
        <p:nvSpPr>
          <p:cNvPr id="647" name="Google Shape;647;p60"/>
          <p:cNvSpPr/>
          <p:nvPr/>
        </p:nvSpPr>
        <p:spPr>
          <a:xfrm>
            <a:off x="504914" y="2034534"/>
            <a:ext cx="1275300" cy="216000"/>
          </a:xfrm>
          <a:prstGeom prst="roundRect">
            <a:avLst>
              <a:gd name="adj" fmla="val 16667"/>
            </a:avLst>
          </a:prstGeom>
          <a:solidFill>
            <a:srgbClr val="595959"/>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Process</a:t>
            </a:r>
            <a:endParaRPr sz="1100" i="0" u="none" strike="noStrike" cap="none">
              <a:solidFill>
                <a:srgbClr val="000000"/>
              </a:solidFill>
              <a:latin typeface="Open Sans"/>
              <a:ea typeface="Open Sans"/>
              <a:cs typeface="Open Sans"/>
              <a:sym typeface="Open Sans"/>
            </a:endParaRPr>
          </a:p>
        </p:txBody>
      </p:sp>
      <p:sp>
        <p:nvSpPr>
          <p:cNvPr id="648" name="Google Shape;648;p60"/>
          <p:cNvSpPr/>
          <p:nvPr/>
        </p:nvSpPr>
        <p:spPr>
          <a:xfrm>
            <a:off x="4031941" y="869699"/>
            <a:ext cx="10800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Clarity of targets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Value chain/drivers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New actions to be tested</a:t>
            </a:r>
            <a:endParaRPr sz="1100" b="0" i="0" u="none" strike="noStrike" cap="none">
              <a:solidFill>
                <a:srgbClr val="000000"/>
              </a:solidFill>
              <a:latin typeface="Arial"/>
              <a:ea typeface="Arial"/>
              <a:cs typeface="Arial"/>
              <a:sym typeface="Arial"/>
            </a:endParaRPr>
          </a:p>
        </p:txBody>
      </p:sp>
      <p:sp>
        <p:nvSpPr>
          <p:cNvPr id="649" name="Google Shape;649;p60"/>
          <p:cNvSpPr/>
          <p:nvPr/>
        </p:nvSpPr>
        <p:spPr>
          <a:xfrm>
            <a:off x="551397" y="1129793"/>
            <a:ext cx="11610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Transactional Volume</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profitability</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Reduced overheads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Less wastage/errors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Leveraged activities</a:t>
            </a:r>
            <a:endParaRPr sz="1100" b="0" i="0" u="none" strike="noStrike" cap="none">
              <a:solidFill>
                <a:srgbClr val="000000"/>
              </a:solidFill>
              <a:latin typeface="Arial"/>
              <a:ea typeface="Arial"/>
              <a:cs typeface="Arial"/>
              <a:sym typeface="Arial"/>
            </a:endParaRPr>
          </a:p>
        </p:txBody>
      </p:sp>
      <p:sp>
        <p:nvSpPr>
          <p:cNvPr id="650" name="Google Shape;650;p60"/>
          <p:cNvSpPr/>
          <p:nvPr/>
        </p:nvSpPr>
        <p:spPr>
          <a:xfrm>
            <a:off x="7450474" y="1198864"/>
            <a:ext cx="12435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Prioritise actions</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Focus Marketing activity</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Quantify actions</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Confirm understanding</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Allocate resources</a:t>
            </a:r>
            <a:endParaRPr sz="1100" b="0" i="0" u="none" strike="noStrike" cap="none">
              <a:solidFill>
                <a:srgbClr val="000000"/>
              </a:solidFill>
              <a:latin typeface="Arial"/>
              <a:ea typeface="Arial"/>
              <a:cs typeface="Arial"/>
              <a:sym typeface="Arial"/>
            </a:endParaRPr>
          </a:p>
        </p:txBody>
      </p:sp>
      <p:sp>
        <p:nvSpPr>
          <p:cNvPr id="651" name="Google Shape;651;p60"/>
          <p:cNvSpPr/>
          <p:nvPr/>
        </p:nvSpPr>
        <p:spPr>
          <a:xfrm>
            <a:off x="7546793" y="3214223"/>
            <a:ext cx="1161000" cy="687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Phone enquiries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Customer walk ins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a:solidFill>
                  <a:schemeClr val="lt1"/>
                </a:solidFill>
                <a:latin typeface="Calibri"/>
                <a:ea typeface="Calibri"/>
                <a:cs typeface="Calibri"/>
                <a:sym typeface="Calibri"/>
              </a:rPr>
              <a:t>Online</a:t>
            </a:r>
            <a:r>
              <a:rPr lang="en" sz="700" b="0" i="0" u="none" strike="noStrike" cap="none">
                <a:solidFill>
                  <a:schemeClr val="lt1"/>
                </a:solidFill>
                <a:latin typeface="Calibri"/>
                <a:ea typeface="Calibri"/>
                <a:cs typeface="Calibri"/>
                <a:sym typeface="Calibri"/>
              </a:rPr>
              <a:t> requests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a:solidFill>
                  <a:schemeClr val="lt1"/>
                </a:solidFill>
                <a:latin typeface="Calibri"/>
                <a:ea typeface="Calibri"/>
                <a:cs typeface="Calibri"/>
                <a:sym typeface="Calibri"/>
              </a:rPr>
              <a:t>Online</a:t>
            </a:r>
            <a:r>
              <a:rPr lang="en" sz="700" b="0" i="0" u="none" strike="noStrike" cap="none">
                <a:solidFill>
                  <a:schemeClr val="lt1"/>
                </a:solidFill>
                <a:latin typeface="Calibri"/>
                <a:ea typeface="Calibri"/>
                <a:cs typeface="Calibri"/>
                <a:sym typeface="Calibri"/>
              </a:rPr>
              <a:t> purchases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Greater receptivity to sales activities</a:t>
            </a:r>
            <a:endParaRPr sz="1100" b="0" i="0" u="none" strike="noStrike" cap="none">
              <a:solidFill>
                <a:srgbClr val="000000"/>
              </a:solidFill>
              <a:latin typeface="Arial"/>
              <a:ea typeface="Arial"/>
              <a:cs typeface="Arial"/>
              <a:sym typeface="Arial"/>
            </a:endParaRPr>
          </a:p>
        </p:txBody>
      </p:sp>
      <p:sp>
        <p:nvSpPr>
          <p:cNvPr id="652" name="Google Shape;652;p60"/>
          <p:cNvSpPr/>
          <p:nvPr/>
        </p:nvSpPr>
        <p:spPr>
          <a:xfrm>
            <a:off x="4036950" y="4299942"/>
            <a:ext cx="1080000" cy="702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 of Sales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Avg’ Sale Value</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Repeat Purchases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Conversion ratios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Shortened sales time</a:t>
            </a:r>
            <a:endParaRPr sz="1100" b="0" i="0" u="none" strike="noStrike" cap="none">
              <a:solidFill>
                <a:srgbClr val="000000"/>
              </a:solidFill>
              <a:latin typeface="Arial"/>
              <a:ea typeface="Arial"/>
              <a:cs typeface="Arial"/>
              <a:sym typeface="Arial"/>
            </a:endParaRPr>
          </a:p>
        </p:txBody>
      </p:sp>
      <p:sp>
        <p:nvSpPr>
          <p:cNvPr id="653" name="Google Shape;653;p60"/>
          <p:cNvSpPr/>
          <p:nvPr/>
        </p:nvSpPr>
        <p:spPr>
          <a:xfrm>
            <a:off x="539833" y="3236851"/>
            <a:ext cx="11391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 Jobs completed</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timeliness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accuracy</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extensions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Relationships secured</a:t>
            </a:r>
            <a:endParaRPr sz="1100" b="0" i="0" u="none" strike="noStrike" cap="none">
              <a:solidFill>
                <a:srgbClr val="000000"/>
              </a:solidFill>
              <a:latin typeface="Arial"/>
              <a:ea typeface="Arial"/>
              <a:cs typeface="Arial"/>
              <a:sym typeface="Arial"/>
            </a:endParaRPr>
          </a:p>
        </p:txBody>
      </p:sp>
      <p:sp>
        <p:nvSpPr>
          <p:cNvPr id="654" name="Google Shape;654;p60"/>
          <p:cNvSpPr/>
          <p:nvPr/>
        </p:nvSpPr>
        <p:spPr>
          <a:xfrm>
            <a:off x="4893532" y="491656"/>
            <a:ext cx="297900" cy="3228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55" name="Google Shape;655;p60"/>
          <p:cNvSpPr/>
          <p:nvPr/>
        </p:nvSpPr>
        <p:spPr>
          <a:xfrm rot="-5400000">
            <a:off x="833634" y="3012291"/>
            <a:ext cx="184500" cy="162000"/>
          </a:xfrm>
          <a:prstGeom prst="rightArrow">
            <a:avLst>
              <a:gd name="adj1" fmla="val 50000"/>
              <a:gd name="adj2" fmla="val 5000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56" name="Google Shape;656;p60"/>
          <p:cNvSpPr/>
          <p:nvPr/>
        </p:nvSpPr>
        <p:spPr>
          <a:xfrm rot="5400000">
            <a:off x="7551652" y="2986201"/>
            <a:ext cx="197400" cy="162000"/>
          </a:xfrm>
          <a:prstGeom prst="righ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57" name="Google Shape;657;p60"/>
          <p:cNvSpPr/>
          <p:nvPr/>
        </p:nvSpPr>
        <p:spPr>
          <a:xfrm rot="10800000">
            <a:off x="7327570" y="4002970"/>
            <a:ext cx="332100" cy="3228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58" name="Google Shape;658;p60"/>
          <p:cNvSpPr/>
          <p:nvPr/>
        </p:nvSpPr>
        <p:spPr>
          <a:xfrm rot="-5400000" flipH="1">
            <a:off x="4863758" y="3949965"/>
            <a:ext cx="275700" cy="3801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59" name="Google Shape;659;p60"/>
          <p:cNvSpPr/>
          <p:nvPr/>
        </p:nvSpPr>
        <p:spPr>
          <a:xfrm rot="-5400000">
            <a:off x="3364681" y="4339109"/>
            <a:ext cx="260700" cy="9171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60" name="Google Shape;660;p60"/>
          <p:cNvSpPr/>
          <p:nvPr/>
        </p:nvSpPr>
        <p:spPr>
          <a:xfrm rot="-5400000">
            <a:off x="1312186" y="3924440"/>
            <a:ext cx="282000" cy="3228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61" name="Google Shape;661;p60"/>
          <p:cNvSpPr/>
          <p:nvPr/>
        </p:nvSpPr>
        <p:spPr>
          <a:xfrm rot="5400000">
            <a:off x="3940506" y="507131"/>
            <a:ext cx="288900" cy="3222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62" name="Google Shape;662;p60"/>
          <p:cNvSpPr/>
          <p:nvPr/>
        </p:nvSpPr>
        <p:spPr>
          <a:xfrm>
            <a:off x="1320065" y="580900"/>
            <a:ext cx="392400" cy="5400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63" name="Google Shape;663;p60"/>
          <p:cNvSpPr/>
          <p:nvPr/>
        </p:nvSpPr>
        <p:spPr>
          <a:xfrm rot="5400000">
            <a:off x="7392239" y="876903"/>
            <a:ext cx="288900" cy="3222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664" name="Google Shape;664;p60"/>
          <p:cNvSpPr/>
          <p:nvPr/>
        </p:nvSpPr>
        <p:spPr>
          <a:xfrm rot="5400000">
            <a:off x="7584923" y="1873990"/>
            <a:ext cx="197400" cy="162000"/>
          </a:xfrm>
          <a:prstGeom prst="rightArrow">
            <a:avLst>
              <a:gd name="adj1" fmla="val 50000"/>
              <a:gd name="adj2" fmla="val 5000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65" name="Google Shape;665;p60"/>
          <p:cNvSpPr/>
          <p:nvPr/>
        </p:nvSpPr>
        <p:spPr>
          <a:xfrm rot="-5400000">
            <a:off x="833633" y="1822183"/>
            <a:ext cx="184500" cy="162000"/>
          </a:xfrm>
          <a:prstGeom prst="righ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66" name="Google Shape;666;p60"/>
          <p:cNvSpPr/>
          <p:nvPr/>
        </p:nvSpPr>
        <p:spPr>
          <a:xfrm>
            <a:off x="3433470" y="2193708"/>
            <a:ext cx="20721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i="0" u="none" strike="noStrike" cap="none">
                <a:solidFill>
                  <a:srgbClr val="434343"/>
                </a:solidFill>
                <a:latin typeface="Open Sans"/>
                <a:ea typeface="Open Sans"/>
                <a:cs typeface="Open Sans"/>
                <a:sym typeface="Open Sans"/>
              </a:rPr>
              <a:t>“A set of things working together as parts of a mechanism or an interconnecting network; a complex whole.”</a:t>
            </a:r>
            <a:endParaRPr sz="1100" i="0" u="none" strike="noStrike" cap="none">
              <a:solidFill>
                <a:srgbClr val="434343"/>
              </a:solidFill>
              <a:latin typeface="Open Sans"/>
              <a:ea typeface="Open Sans"/>
              <a:cs typeface="Open Sans"/>
              <a:sym typeface="Open Sans"/>
            </a:endParaRPr>
          </a:p>
        </p:txBody>
      </p:sp>
      <p:sp>
        <p:nvSpPr>
          <p:cNvPr id="667" name="Google Shape;667;p60"/>
          <p:cNvSpPr/>
          <p:nvPr/>
        </p:nvSpPr>
        <p:spPr>
          <a:xfrm>
            <a:off x="3869922" y="2019726"/>
            <a:ext cx="1267800" cy="216000"/>
          </a:xfrm>
          <a:prstGeom prst="roundRect">
            <a:avLst>
              <a:gd name="adj" fmla="val 16667"/>
            </a:avLst>
          </a:prstGeom>
          <a:solidFill>
            <a:srgbClr val="FFFF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Open Sans"/>
                <a:ea typeface="Open Sans"/>
                <a:cs typeface="Open Sans"/>
                <a:sym typeface="Open Sans"/>
              </a:rPr>
              <a:t>System</a:t>
            </a:r>
            <a:endParaRPr sz="1100" i="0" u="none" strike="noStrike" cap="none">
              <a:solidFill>
                <a:srgbClr val="000000"/>
              </a:solidFill>
              <a:latin typeface="Open Sans"/>
              <a:ea typeface="Open Sans"/>
              <a:cs typeface="Open Sans"/>
              <a:sym typeface="Open Sans"/>
            </a:endParaRPr>
          </a:p>
        </p:txBody>
      </p:sp>
      <p:sp>
        <p:nvSpPr>
          <p:cNvPr id="668" name="Google Shape;668;p60"/>
          <p:cNvSpPr/>
          <p:nvPr/>
        </p:nvSpPr>
        <p:spPr>
          <a:xfrm>
            <a:off x="5463099" y="2343836"/>
            <a:ext cx="705300" cy="378000"/>
          </a:xfrm>
          <a:prstGeom prst="rightArrow">
            <a:avLst>
              <a:gd name="adj1" fmla="val 50000"/>
              <a:gd name="adj2" fmla="val 5000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i="0" u="none" strike="noStrike" cap="none">
                <a:solidFill>
                  <a:schemeClr val="dk1"/>
                </a:solidFill>
                <a:latin typeface="Open Sans"/>
                <a:ea typeface="Open Sans"/>
                <a:cs typeface="Open Sans"/>
                <a:sym typeface="Open Sans"/>
              </a:rPr>
              <a:t>Output</a:t>
            </a:r>
            <a:endParaRPr sz="1100" i="0" u="none" strike="noStrike" cap="none">
              <a:solidFill>
                <a:srgbClr val="000000"/>
              </a:solidFill>
              <a:latin typeface="Open Sans"/>
              <a:ea typeface="Open Sans"/>
              <a:cs typeface="Open Sans"/>
              <a:sym typeface="Open Sans"/>
            </a:endParaRPr>
          </a:p>
        </p:txBody>
      </p:sp>
      <p:sp>
        <p:nvSpPr>
          <p:cNvPr id="669" name="Google Shape;669;p60"/>
          <p:cNvSpPr/>
          <p:nvPr/>
        </p:nvSpPr>
        <p:spPr>
          <a:xfrm>
            <a:off x="2898281" y="2365158"/>
            <a:ext cx="594600" cy="378000"/>
          </a:xfrm>
          <a:prstGeom prst="righ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i="0" u="none" strike="noStrike" cap="none">
                <a:solidFill>
                  <a:schemeClr val="lt1"/>
                </a:solidFill>
                <a:latin typeface="Open Sans"/>
                <a:ea typeface="Open Sans"/>
                <a:cs typeface="Open Sans"/>
                <a:sym typeface="Open Sans"/>
              </a:rPr>
              <a:t>Input</a:t>
            </a:r>
            <a:endParaRPr sz="1100" i="0" u="none" strike="noStrike" cap="none">
              <a:solidFill>
                <a:srgbClr val="000000"/>
              </a:solidFill>
              <a:latin typeface="Open Sans"/>
              <a:ea typeface="Open Sans"/>
              <a:cs typeface="Open Sans"/>
              <a:sym typeface="Open Sans"/>
            </a:endParaRPr>
          </a:p>
        </p:txBody>
      </p:sp>
      <p:sp>
        <p:nvSpPr>
          <p:cNvPr id="670" name="Google Shape;670;p60"/>
          <p:cNvSpPr/>
          <p:nvPr/>
        </p:nvSpPr>
        <p:spPr>
          <a:xfrm>
            <a:off x="2448517" y="1811515"/>
            <a:ext cx="4110600" cy="1417500"/>
          </a:xfrm>
          <a:prstGeom prst="roundRect">
            <a:avLst>
              <a:gd name="adj" fmla="val 16667"/>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434343"/>
              </a:solidFill>
              <a:latin typeface="Open Sans"/>
              <a:ea typeface="Open Sans"/>
              <a:cs typeface="Open Sans"/>
              <a:sym typeface="Open Sans"/>
            </a:endParaRPr>
          </a:p>
        </p:txBody>
      </p:sp>
      <p:sp>
        <p:nvSpPr>
          <p:cNvPr id="671" name="Google Shape;671;p60"/>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72" name="Google Shape;672;p60"/>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73" name="Google Shape;673;p60"/>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74" name="Google Shape;674;p60"/>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675" name="Google Shape;675;p60"/>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5098</Words>
  <Application>Microsoft Office PowerPoint</Application>
  <PresentationFormat>On-screen Show (16:9)</PresentationFormat>
  <Paragraphs>479</Paragraphs>
  <Slides>26</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Calibri</vt:lpstr>
      <vt:lpstr>Open Sans</vt:lpstr>
      <vt:lpstr>Architects Daughter</vt:lpstr>
      <vt:lpstr>Arial</vt:lpstr>
      <vt:lpstr>Lato Light</vt:lpstr>
      <vt:lpstr>Abel</vt:lpstr>
      <vt:lpstr>Poppins</vt:lpstr>
      <vt:lpstr>Simple Light</vt:lpstr>
      <vt:lpstr>Office Theme</vt:lpstr>
      <vt:lpstr>Growth Fundamentals  Framework Philosophy</vt:lpstr>
      <vt:lpstr>Growth Fundamentals Framework</vt:lpstr>
      <vt:lpstr>Growth Fundamentals Philosophy</vt:lpstr>
      <vt:lpstr>The Concept of Growth Stage Fundamentals</vt:lpstr>
      <vt:lpstr>What’s in the Name?</vt:lpstr>
      <vt:lpstr>Why do we Need a Framework?</vt:lpstr>
      <vt:lpstr>What does the Framework DO for your Client?</vt:lpstr>
      <vt:lpstr>How does the Framework create Self Relevance?</vt:lpstr>
      <vt:lpstr>Growth Fundamentals Framework (Advisor component purpose)</vt:lpstr>
      <vt:lpstr>PowerPoint Presentation</vt:lpstr>
      <vt:lpstr>PowerPoint Presentation</vt:lpstr>
      <vt:lpstr>The 5 Layers of Complexity + ‘The Common Psyche Error’</vt:lpstr>
      <vt:lpstr>Psyche Error Drivers &amp; Manifestations</vt:lpstr>
      <vt:lpstr>7 Growth Focus Tactics </vt:lpstr>
      <vt:lpstr>The 7 Growth Focus Tactics Explained...</vt:lpstr>
      <vt:lpstr>The 7 Growth Focus Tactics Explained...</vt:lpstr>
      <vt:lpstr>Growth Fundamentals – ‘The Devil’s Toilet’</vt:lpstr>
      <vt:lpstr>Growth Fundamentals – ‘The Split Point’</vt:lpstr>
      <vt:lpstr>Explaining the 9 Growth Aspects</vt:lpstr>
      <vt:lpstr>The 9 Growth Aspects</vt:lpstr>
      <vt:lpstr>Growth Fundamentals Framework (Overlapping Components)</vt:lpstr>
      <vt:lpstr>Lite Fundamentals vs. Growth Fundamentals Framework</vt:lpstr>
      <vt:lpstr>PowerPoint Presentation</vt:lpstr>
      <vt:lpstr>Growth Fundamentals ‘Lite’ Programme  (year/level 1)</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Mike Barnes</dc:creator>
  <cp:lastModifiedBy>Mike Barnes</cp:lastModifiedBy>
  <cp:revision>3</cp:revision>
  <dcterms:modified xsi:type="dcterms:W3CDTF">2026-04-08T22:16:28Z</dcterms:modified>
</cp:coreProperties>
</file>