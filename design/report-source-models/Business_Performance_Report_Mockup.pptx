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2D4-4776-88F1-2A6F7FE54B66}"/>
              </c:ext>
            </c:extLst>
          </c:dPt>
          <c:dPt>
            <c:idx val="1"/>
            <c:bubble3D val="0"/>
            <c:spPr>
              <a:solidFill>
                <a:srgbClr val="D8E8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D4-4776-88F1-2A6F7FE54B66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Gap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D4-4776-88F1-2A6F7FE54B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solidFill>
          <a:srgbClr val="EAF7F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EAF7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4A09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640</c:v>
                </c:pt>
                <c:pt idx="1">
                  <c:v>690</c:v>
                </c:pt>
                <c:pt idx="2">
                  <c:v>720</c:v>
                </c:pt>
                <c:pt idx="3">
                  <c:v>790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E8-4442-A9AD-03552C8569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F2A10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560</c:v>
                </c:pt>
                <c:pt idx="1">
                  <c:v>595</c:v>
                </c:pt>
                <c:pt idx="2">
                  <c:v>615</c:v>
                </c:pt>
                <c:pt idx="3">
                  <c:v>674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E8-4442-A9AD-03552C8569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AF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A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5D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3D3-42D6-B50A-47A8582E0E6F}"/>
              </c:ext>
            </c:extLst>
          </c:dPt>
          <c:dPt>
            <c:idx val="1"/>
            <c:bubble3D val="0"/>
            <c:spPr>
              <a:solidFill>
                <a:srgbClr val="14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D3-42D6-B50A-47A8582E0E6F}"/>
              </c:ext>
            </c:extLst>
          </c:dPt>
          <c:dPt>
            <c:idx val="2"/>
            <c:bubble3D val="0"/>
            <c:spPr>
              <a:solidFill>
                <a:srgbClr val="F2A10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3D3-42D6-B50A-47A8582E0E6F}"/>
              </c:ext>
            </c:extLst>
          </c:dPt>
          <c:dPt>
            <c:idx val="3"/>
            <c:bubble3D val="0"/>
            <c:spPr>
              <a:solidFill>
                <a:srgbClr val="E860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3D3-42D6-B50A-47A8582E0E6F}"/>
              </c:ext>
            </c:extLst>
          </c:dPt>
          <c:dPt>
            <c:idx val="4"/>
            <c:bubble3D val="0"/>
            <c:spPr>
              <a:solidFill>
                <a:srgbClr val="B7C6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3D3-42D6-B50A-47A8582E0E6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3D3-42D6-B50A-47A8582E0E6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3D3-42D6-B50A-47A8582E0E6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3D3-42D6-B50A-47A8582E0E6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3D3-42D6-B50A-47A8582E0E6F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3D3-42D6-B50A-47A8582E0E6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Cost of goods</c:v>
                </c:pt>
                <c:pt idx="1">
                  <c:v>Wages</c:v>
                </c:pt>
                <c:pt idx="2">
                  <c:v>Rent &amp; utilities</c:v>
                </c:pt>
                <c:pt idx="3">
                  <c:v>Marketing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</c:v>
                </c:pt>
                <c:pt idx="1">
                  <c:v>21</c:v>
                </c:pt>
                <c:pt idx="2">
                  <c:v>8</c:v>
                </c:pt>
                <c:pt idx="3">
                  <c:v>5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3D3-42D6-B50A-47A8582E0E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F6FAF9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A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14A09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262</c:v>
                </c:pt>
                <c:pt idx="1">
                  <c:v>283</c:v>
                </c:pt>
                <c:pt idx="2">
                  <c:v>295</c:v>
                </c:pt>
                <c:pt idx="3">
                  <c:v>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AC-499E-B257-187987BC3C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rgbClr val="F2A10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86</c:v>
                </c:pt>
                <c:pt idx="1">
                  <c:v>96</c:v>
                </c:pt>
                <c:pt idx="2">
                  <c:v>101</c:v>
                </c:pt>
                <c:pt idx="3">
                  <c:v>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AC-499E-B257-187987BC3C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AF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A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4A09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Liabilities + Equity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872</c:v>
                </c:pt>
                <c:pt idx="1">
                  <c:v>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CE-40FF-8E88-F177F7AB1A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Non-current</c:v>
                </c:pt>
              </c:strCache>
            </c:strRef>
          </c:tx>
          <c:spPr>
            <a:solidFill>
              <a:srgbClr val="F2A104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Liabilities + Equity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508</c:v>
                </c:pt>
                <c:pt idx="1">
                  <c:v>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CE-40FF-8E88-F177F7AB1A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Equity</c:v>
                </c:pt>
              </c:strCache>
            </c:strRef>
          </c:tx>
          <c:spPr>
            <a:solidFill>
              <a:srgbClr val="0B5D5A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Liabilities + Equity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760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CE-40FF-8E88-F177F7AB1A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AF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A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</c:v>
                </c:pt>
              </c:strCache>
            </c:strRef>
          </c:tx>
          <c:spPr>
            <a:ln w="31750" cap="flat">
              <a:solidFill>
                <a:srgbClr val="14A09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A098"/>
              </a:solidFill>
              <a:ln w="9525" cap="flat">
                <a:solidFill>
                  <a:srgbClr val="14A09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  <c:pt idx="6">
                  <c:v>Jan</c:v>
                </c:pt>
                <c:pt idx="7">
                  <c:v>Feb</c:v>
                </c:pt>
                <c:pt idx="8">
                  <c:v>Mar</c:v>
                </c:pt>
                <c:pt idx="9">
                  <c:v>Apr</c:v>
                </c:pt>
                <c:pt idx="10">
                  <c:v>May</c:v>
                </c:pt>
                <c:pt idx="11">
                  <c:v>Jun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182</c:v>
                </c:pt>
                <c:pt idx="1">
                  <c:v>176</c:v>
                </c:pt>
                <c:pt idx="2">
                  <c:v>168</c:v>
                </c:pt>
                <c:pt idx="3">
                  <c:v>190</c:v>
                </c:pt>
                <c:pt idx="4">
                  <c:v>205</c:v>
                </c:pt>
                <c:pt idx="5">
                  <c:v>148</c:v>
                </c:pt>
                <c:pt idx="6">
                  <c:v>172</c:v>
                </c:pt>
                <c:pt idx="7">
                  <c:v>186</c:v>
                </c:pt>
                <c:pt idx="8">
                  <c:v>178</c:v>
                </c:pt>
                <c:pt idx="9">
                  <c:v>196</c:v>
                </c:pt>
                <c:pt idx="10">
                  <c:v>210</c:v>
                </c:pt>
                <c:pt idx="11">
                  <c:v>224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23D-431F-A85C-9B01E71FF8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A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AF9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Stock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5D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93-4D93-9E95-359DE96BE437}"/>
              </c:ext>
            </c:extLst>
          </c:dPt>
          <c:dPt>
            <c:idx val="1"/>
            <c:bubble3D val="0"/>
            <c:spPr>
              <a:solidFill>
                <a:srgbClr val="14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93-4D93-9E95-359DE96BE437}"/>
              </c:ext>
            </c:extLst>
          </c:dPt>
          <c:dPt>
            <c:idx val="2"/>
            <c:bubble3D val="0"/>
            <c:spPr>
              <a:solidFill>
                <a:srgbClr val="7FD8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93-4D93-9E95-359DE96BE437}"/>
              </c:ext>
            </c:extLst>
          </c:dPt>
          <c:dPt>
            <c:idx val="3"/>
            <c:bubble3D val="0"/>
            <c:spPr>
              <a:solidFill>
                <a:srgbClr val="F2A10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193-4D93-9E95-359DE96BE437}"/>
              </c:ext>
            </c:extLst>
          </c:dPt>
          <c:dPt>
            <c:idx val="4"/>
            <c:bubble3D val="0"/>
            <c:spPr>
              <a:solidFill>
                <a:srgbClr val="E860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193-4D93-9E95-359DE96BE43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93-4D93-9E95-359DE96BE43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93-4D93-9E95-359DE96BE43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193-4D93-9E95-359DE96BE43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193-4D93-9E95-359DE96BE43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193-4D93-9E95-359DE96BE43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Product line A</c:v>
                </c:pt>
                <c:pt idx="1">
                  <c:v>Product line B</c:v>
                </c:pt>
                <c:pt idx="2">
                  <c:v>Product line C</c:v>
                </c:pt>
                <c:pt idx="3">
                  <c:v>Consumables</c:v>
                </c:pt>
                <c:pt idx="4">
                  <c:v>Slow / obsolete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26</c:v>
                </c:pt>
                <c:pt idx="2">
                  <c:v>17</c:v>
                </c:pt>
                <c:pt idx="3">
                  <c:v>9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193-4D93-9E95-359DE96BE4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F6FAF9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AF9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4A09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0–30 days</c:v>
                </c:pt>
                <c:pt idx="1">
                  <c:v>31–60</c:v>
                </c:pt>
                <c:pt idx="2">
                  <c:v>61–90</c:v>
                </c:pt>
                <c:pt idx="3">
                  <c:v>91–180</c:v>
                </c:pt>
                <c:pt idx="4">
                  <c:v>180+ days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128</c:v>
                </c:pt>
                <c:pt idx="1">
                  <c:v>84</c:v>
                </c:pt>
                <c:pt idx="2">
                  <c:v>52</c:v>
                </c:pt>
                <c:pt idx="3">
                  <c:v>32</c:v>
                </c:pt>
                <c:pt idx="4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38-4654-BF8B-D26A355D6F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A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AF9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business</c:v>
                </c:pt>
              </c:strCache>
            </c:strRef>
          </c:tx>
          <c:spPr>
            <a:solidFill>
              <a:srgbClr val="14A09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Gross margin</c:v>
                </c:pt>
                <c:pt idx="1">
                  <c:v>Net margin</c:v>
                </c:pt>
                <c:pt idx="2">
                  <c:v>Revenue growth</c:v>
                </c:pt>
                <c:pt idx="3">
                  <c:v>Wages / revenue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13.9</c:v>
                </c:pt>
                <c:pt idx="2">
                  <c:v>12.4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E9-4912-B867-7410B08B15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median</c:v>
                </c:pt>
              </c:strCache>
            </c:strRef>
          </c:tx>
          <c:spPr>
            <a:solidFill>
              <a:srgbClr val="C8D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Gross margin</c:v>
                </c:pt>
                <c:pt idx="1">
                  <c:v>Net margin</c:v>
                </c:pt>
                <c:pt idx="2">
                  <c:v>Revenue growth</c:v>
                </c:pt>
                <c:pt idx="3">
                  <c:v>Wages / revenue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38.5</c:v>
                </c:pt>
                <c:pt idx="1">
                  <c:v>10.199999999999999</c:v>
                </c:pt>
                <c:pt idx="2">
                  <c:v>6.8</c:v>
                </c:pt>
                <c:pt idx="3">
                  <c:v>24.5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E9-4912-B867-7410B08B15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AF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A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612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206240" cy="4206240"/>
          </a:xfrm>
          <a:prstGeom prst="ellipse">
            <a:avLst/>
          </a:prstGeom>
          <a:solidFill>
            <a:srgbClr val="0B5D5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7680960" y="2377440"/>
            <a:ext cx="3108960" cy="3108960"/>
          </a:xfrm>
          <a:prstGeom prst="ellipse">
            <a:avLst/>
          </a:prstGeom>
          <a:solidFill>
            <a:srgbClr val="14A098">
              <a:alpha val="80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6035040" y="3566160"/>
            <a:ext cx="1554480" cy="1554480"/>
          </a:xfrm>
          <a:prstGeom prst="ellipse">
            <a:avLst/>
          </a:prstGeom>
          <a:solidFill>
            <a:srgbClr val="F2A10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7452360" y="1051560"/>
            <a:ext cx="1051560" cy="105156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129844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7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ADVISORY  |  CONFIDENTIAL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Performance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Company Name]  Pty Ltd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3474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FY2026  ·  1 July 2025 – 30 June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343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[Advisor / Firm Name]      Date issued: [DD Month YYYY]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6817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MOCK-UP — all figures are illustrative sample 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report covers and how to read 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60520" cy="841248"/>
          </a:xfrm>
          <a:prstGeom prst="roundRect">
            <a:avLst>
              <a:gd name="adj" fmla="val 6522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420624" cy="420624"/>
          </a:xfrm>
          <a:prstGeom prst="ellipse">
            <a:avLst/>
          </a:prstGeom>
          <a:solidFill>
            <a:srgbClr val="FEF4DE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10" y="145426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16152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Executive Summary</a:t>
            </a:r>
            <a:endParaRPr lang="en-US" sz="13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at a glance — headline results and business health score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093976"/>
            <a:ext cx="4160520" cy="841248"/>
          </a:xfrm>
          <a:prstGeom prst="roundRect">
            <a:avLst>
              <a:gd name="adj" fmla="val 6522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9" name="Shape 6"/>
          <p:cNvSpPr/>
          <p:nvPr/>
        </p:nvSpPr>
        <p:spPr>
          <a:xfrm>
            <a:off x="594360" y="2304288"/>
            <a:ext cx="420624" cy="420624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10" y="2405238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167128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Financial Dashboard</a:t>
            </a:r>
            <a:endParaRPr lang="en-US" sz="13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from your P&amp;L, Balance Sheet and Inventory in one view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57200" y="3044952"/>
            <a:ext cx="4160520" cy="841248"/>
          </a:xfrm>
          <a:prstGeom prst="roundRect">
            <a:avLst>
              <a:gd name="adj" fmla="val 6522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3" name="Shape 9"/>
          <p:cNvSpPr/>
          <p:nvPr/>
        </p:nvSpPr>
        <p:spPr>
          <a:xfrm>
            <a:off x="594360" y="3255264"/>
            <a:ext cx="420624" cy="420624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10" y="3356214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118104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Profit &amp; Loss</a:t>
            </a:r>
            <a:endParaRPr lang="en-US" sz="13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margins and expenses — where the profit came from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57200" y="3995928"/>
            <a:ext cx="4160520" cy="841248"/>
          </a:xfrm>
          <a:prstGeom prst="roundRect">
            <a:avLst>
              <a:gd name="adj" fmla="val 6522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7" name="Shape 12"/>
          <p:cNvSpPr/>
          <p:nvPr/>
        </p:nvSpPr>
        <p:spPr>
          <a:xfrm>
            <a:off x="594360" y="4206240"/>
            <a:ext cx="420624" cy="420624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10" y="4307190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4069080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Balance Sheet</a:t>
            </a:r>
            <a:endParaRPr lang="en-US" sz="13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owns, owes, and your financial strength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983480" y="1143000"/>
            <a:ext cx="4160520" cy="841248"/>
          </a:xfrm>
          <a:prstGeom prst="roundRect">
            <a:avLst>
              <a:gd name="adj" fmla="val 6522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1" name="Shape 15"/>
          <p:cNvSpPr/>
          <p:nvPr/>
        </p:nvSpPr>
        <p:spPr>
          <a:xfrm>
            <a:off x="5120640" y="1353312"/>
            <a:ext cx="420624" cy="420624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1590" y="1454262"/>
            <a:ext cx="218724" cy="2187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69280" y="1216152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Cash Flow &amp; Working Capital</a:t>
            </a:r>
            <a:endParaRPr lang="en-US" sz="13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money moves through the business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4983480" y="2093976"/>
            <a:ext cx="4160520" cy="841248"/>
          </a:xfrm>
          <a:prstGeom prst="roundRect">
            <a:avLst>
              <a:gd name="adj" fmla="val 6522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5" name="Shape 18"/>
          <p:cNvSpPr/>
          <p:nvPr/>
        </p:nvSpPr>
        <p:spPr>
          <a:xfrm>
            <a:off x="5120640" y="2304288"/>
            <a:ext cx="420624" cy="420624"/>
          </a:xfrm>
          <a:prstGeom prst="ellipse">
            <a:avLst/>
          </a:prstGeom>
          <a:solidFill>
            <a:srgbClr val="FEF4DE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1590" y="2405238"/>
            <a:ext cx="218724" cy="2187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69280" y="2167128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Inventory Performance</a:t>
            </a:r>
            <a:endParaRPr lang="en-US" sz="13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turnover and slow-moving lines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4983480" y="3044952"/>
            <a:ext cx="4160520" cy="841248"/>
          </a:xfrm>
          <a:prstGeom prst="roundRect">
            <a:avLst>
              <a:gd name="adj" fmla="val 6522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9" name="Shape 21"/>
          <p:cNvSpPr/>
          <p:nvPr/>
        </p:nvSpPr>
        <p:spPr>
          <a:xfrm>
            <a:off x="5120640" y="3255264"/>
            <a:ext cx="420624" cy="420624"/>
          </a:xfrm>
          <a:prstGeom prst="ellipse">
            <a:avLst/>
          </a:prstGeom>
          <a:solidFill>
            <a:srgbClr val="FCEAE6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1590" y="3356214"/>
            <a:ext cx="218724" cy="21872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669280" y="3118104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Benchmarks &amp; Trends</a:t>
            </a:r>
            <a:endParaRPr lang="en-US" sz="13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compare with your industry and last year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4983480" y="3995928"/>
            <a:ext cx="4160520" cy="841248"/>
          </a:xfrm>
          <a:prstGeom prst="roundRect">
            <a:avLst>
              <a:gd name="adj" fmla="val 6522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33" name="Shape 24"/>
          <p:cNvSpPr/>
          <p:nvPr/>
        </p:nvSpPr>
        <p:spPr>
          <a:xfrm>
            <a:off x="5120640" y="4206240"/>
            <a:ext cx="420624" cy="420624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1590" y="4307190"/>
            <a:ext cx="218724" cy="21872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669280" y="4069080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Key Insights &amp; Next Steps</a:t>
            </a:r>
            <a:endParaRPr lang="en-US" sz="13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things to act on this quarter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Company Name] · Business Performance Report · FY2026 (sample data)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at a glance — a strong year with one watch-point: cash tied up in stock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EAF7F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441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$2.84M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94360" y="19933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12.4% vs last year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79192" y="118872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EAF7F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13441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16352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$396K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2816352" y="19933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816352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18.2% vs last year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901184" y="118872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EF4DE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134416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38344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13.9%</a:t>
            </a:r>
            <a:endParaRPr lang="en-US" sz="2700" dirty="0"/>
          </a:p>
        </p:txBody>
      </p:sp>
      <p:sp>
        <p:nvSpPr>
          <p:cNvPr id="17" name="Text 12"/>
          <p:cNvSpPr/>
          <p:nvPr/>
        </p:nvSpPr>
        <p:spPr>
          <a:xfrm>
            <a:off x="5038344" y="19933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38344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0.7 pts vs last year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123176" y="118872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CEAE6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134416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0336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days</a:t>
            </a:r>
            <a:endParaRPr lang="en-US" sz="2700" dirty="0"/>
          </a:p>
        </p:txBody>
      </p:sp>
      <p:sp>
        <p:nvSpPr>
          <p:cNvPr id="22" name="Text 16"/>
          <p:cNvSpPr/>
          <p:nvPr/>
        </p:nvSpPr>
        <p:spPr>
          <a:xfrm>
            <a:off x="7260336" y="19933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Cycle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260336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Slower by 6 days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5720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 / what to watch</a:t>
            </a:r>
            <a:endParaRPr lang="en-US" sz="14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090672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41248" y="3063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in all four quarters, led by repeat customers (+19%).</a:t>
            </a:r>
            <a:endParaRPr lang="en-US" sz="11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520440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41248" y="34930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held at 41% despite supplier price increases.</a:t>
            </a:r>
            <a:endParaRPr lang="en-US" sz="115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3950208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41248" y="392277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on hand grew faster than sales — $118K extra cash tied up.</a:t>
            </a:r>
            <a:endParaRPr lang="en-US" sz="11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4379976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41248" y="435254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paying 5 days slower than last year (38 → 43 days).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5760720" y="265176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EAF7F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34" name="Text 24"/>
          <p:cNvSpPr/>
          <p:nvPr/>
        </p:nvSpPr>
        <p:spPr>
          <a:xfrm>
            <a:off x="5760720" y="2770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Health Score</a:t>
            </a:r>
            <a:endParaRPr lang="en-US" sz="120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6172200" y="3017520"/>
          <a:ext cx="141732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6" name="Text 25"/>
          <p:cNvSpPr/>
          <p:nvPr/>
        </p:nvSpPr>
        <p:spPr>
          <a:xfrm>
            <a:off x="6172200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2400" dirty="0"/>
          </a:p>
        </p:txBody>
      </p:sp>
      <p:sp>
        <p:nvSpPr>
          <p:cNvPr id="37" name="Text 26"/>
          <p:cNvSpPr/>
          <p:nvPr/>
        </p:nvSpPr>
        <p:spPr>
          <a:xfrm>
            <a:off x="7635240" y="324612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strong; cash and stock management pull the score down.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Company Name] · Business Performance Report · FY2026 (sample data)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summary drawn from your P&amp;L, Balance Sheet and Inventory reports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Total Expenses ($'000, quarterly)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481328"/>
          <a:ext cx="402336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846320" y="114300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8" name="Text 5"/>
          <p:cNvSpPr/>
          <p:nvPr/>
        </p:nvSpPr>
        <p:spPr>
          <a:xfrm>
            <a:off x="5029200" y="1234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went (operating costs)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892040" y="1481328"/>
          <a:ext cx="374904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61188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7"/>
          <p:cNvSpPr/>
          <p:nvPr/>
        </p:nvSpPr>
        <p:spPr>
          <a:xfrm>
            <a:off x="530352" y="369417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30352" y="38862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41.0%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30352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1842516" y="361188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Text 11"/>
          <p:cNvSpPr/>
          <p:nvPr/>
        </p:nvSpPr>
        <p:spPr>
          <a:xfrm>
            <a:off x="1915668" y="369417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915668" y="38862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13.9%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1915668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27832" y="361188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FEF4D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9" name="Text 15"/>
          <p:cNvSpPr/>
          <p:nvPr/>
        </p:nvSpPr>
        <p:spPr>
          <a:xfrm>
            <a:off x="3300984" y="369417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300984" y="38862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2.1×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3300984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613148" y="361188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FEF4D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3" name="Text 19"/>
          <p:cNvSpPr/>
          <p:nvPr/>
        </p:nvSpPr>
        <p:spPr>
          <a:xfrm>
            <a:off x="4686300" y="369417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4686300" y="38862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</a:t>
            </a:r>
            <a:endParaRPr lang="en-US" sz="1900" dirty="0"/>
          </a:p>
        </p:txBody>
      </p:sp>
      <p:sp>
        <p:nvSpPr>
          <p:cNvPr id="25" name="Text 21"/>
          <p:cNvSpPr/>
          <p:nvPr/>
        </p:nvSpPr>
        <p:spPr>
          <a:xfrm>
            <a:off x="4686300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/ Equity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998464" y="361188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FCEAE6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7" name="Text 23"/>
          <p:cNvSpPr/>
          <p:nvPr/>
        </p:nvSpPr>
        <p:spPr>
          <a:xfrm>
            <a:off x="6071616" y="369417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6071616" y="38862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5.2×</a:t>
            </a:r>
            <a:endParaRPr lang="en-US" sz="1900" dirty="0"/>
          </a:p>
        </p:txBody>
      </p:sp>
      <p:sp>
        <p:nvSpPr>
          <p:cNvPr id="29" name="Text 25"/>
          <p:cNvSpPr/>
          <p:nvPr/>
        </p:nvSpPr>
        <p:spPr>
          <a:xfrm>
            <a:off x="6071616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Turnover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383780" y="361188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FCEAE6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1" name="Text 27"/>
          <p:cNvSpPr/>
          <p:nvPr/>
        </p:nvSpPr>
        <p:spPr>
          <a:xfrm>
            <a:off x="7456932" y="369417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7456932" y="38862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days</a:t>
            </a:r>
            <a:endParaRPr lang="en-US" sz="1900" dirty="0"/>
          </a:p>
        </p:txBody>
      </p:sp>
      <p:sp>
        <p:nvSpPr>
          <p:cNvPr id="33" name="Text 29"/>
          <p:cNvSpPr/>
          <p:nvPr/>
        </p:nvSpPr>
        <p:spPr>
          <a:xfrm>
            <a:off x="7456932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on Hand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Company Name] · Business Performance Report · FY2026 (sample data)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&amp; Loss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your P&amp;L report — plain-English view of how profit was made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2999232"/>
          </a:xfrm>
          <a:prstGeom prst="roundRect">
            <a:avLst>
              <a:gd name="adj" fmla="val 2134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658368" y="1280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1280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$2,840K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86200" y="128016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sold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68249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$1,676K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86200" y="168249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3931920" cy="347472"/>
          </a:xfrm>
          <a:prstGeom prst="roundRect">
            <a:avLst>
              <a:gd name="adj" fmla="val 10526"/>
            </a:avLst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658368" y="2084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8483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$1,164K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6200" y="208483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487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24871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$698K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248716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907792"/>
            <a:ext cx="3931920" cy="347472"/>
          </a:xfrm>
          <a:prstGeom prst="roundRect">
            <a:avLst>
              <a:gd name="adj" fmla="val 10526"/>
            </a:avLst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9" name="Text 17"/>
          <p:cNvSpPr/>
          <p:nvPr/>
        </p:nvSpPr>
        <p:spPr>
          <a:xfrm>
            <a:off x="658368" y="28895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profit (EBITDA)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88920" y="288950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$466K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288950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291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Interest, tax &amp; depreciation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329184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$70K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86200" y="32918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12464"/>
            <a:ext cx="3931920" cy="347472"/>
          </a:xfrm>
          <a:prstGeom prst="roundRect">
            <a:avLst>
              <a:gd name="adj" fmla="val 10526"/>
            </a:avLst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88920" y="369417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$396K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86200" y="369417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30" name="Text 28"/>
          <p:cNvSpPr/>
          <p:nvPr/>
        </p:nvSpPr>
        <p:spPr>
          <a:xfrm>
            <a:off x="5029200" y="1280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&amp; net profit by quarter ($'000)</a:t>
            </a:r>
            <a:endParaRPr lang="en-US" sz="11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4937760" y="1536192"/>
          <a:ext cx="365760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4846320" y="3749040"/>
            <a:ext cx="3840480" cy="914400"/>
          </a:xfrm>
          <a:prstGeom prst="roundRect">
            <a:avLst>
              <a:gd name="adj" fmla="val 7000"/>
            </a:avLst>
          </a:prstGeom>
          <a:solidFill>
            <a:srgbClr val="FEF4DE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041648"/>
            <a:ext cx="310896" cy="3108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486400" y="3840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 of sales returned 13.9¢ of profit — up from 13.2¢ last year. Wage costs are the fastest-growing expense (+9%).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Company Name] · Business Performance Report · FY2026 (sample data)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Sheet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your Balance Sheet — what the business owns and owes at 30 June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377440"/>
          </a:xfrm>
          <a:prstGeom prst="roundRect">
            <a:avLst>
              <a:gd name="adj" fmla="val 2692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own vs what you owe ($'000)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36192"/>
          <a:ext cx="4023360" cy="193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846320" y="1188720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EAF7F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8" name="Text 5"/>
          <p:cNvSpPr/>
          <p:nvPr/>
        </p:nvSpPr>
        <p:spPr>
          <a:xfrm>
            <a:off x="4983480" y="1280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2.1×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983480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49047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126187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hold $2.10 in short-term assets for every $1 owed soon. Healthy (target &gt; 1.5).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846320" y="2121408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EAF7F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3" name="Text 9"/>
          <p:cNvSpPr/>
          <p:nvPr/>
        </p:nvSpPr>
        <p:spPr>
          <a:xfrm>
            <a:off x="4983480" y="2212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983480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Debt-to-Equity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42316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19456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reliance on borrowed money — strong position to fund growth.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846320" y="3054096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FEF4DE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8" name="Text 13"/>
          <p:cNvSpPr/>
          <p:nvPr/>
        </p:nvSpPr>
        <p:spPr>
          <a:xfrm>
            <a:off x="4983480" y="31455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$457K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4983480" y="35844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55080" y="312724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buffer after paying near-term bills. Up $38K on last year.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57200" y="3749040"/>
            <a:ext cx="4206240" cy="914400"/>
          </a:xfrm>
          <a:prstGeom prst="roundRect">
            <a:avLst>
              <a:gd name="adj" fmla="val 7000"/>
            </a:avLst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4164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38404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position: 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equity of $760K, up 11% year-on-year — the business is building real value.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Company Name] · Business Performance Report · FY2026 (sample data)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&amp; Working Capital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money moves through the business — the cash conversion cycle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EF4DE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8988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7007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days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4360" y="21031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on shelf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2322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— days inventory outstanding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42316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2670048" y="1234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CEAE6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496" y="13898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07208" y="17007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days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807208" y="21031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to be paid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807208" y="2322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— days sales outstanding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636008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4882896" y="12344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AF7F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138988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0056" y="17007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66 days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5020056" y="21031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pay suppliers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020056" y="2322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— days payables outstanding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848856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7132320" y="123444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0B5D5A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3" name="Text 18"/>
          <p:cNvSpPr/>
          <p:nvPr/>
        </p:nvSpPr>
        <p:spPr>
          <a:xfrm>
            <a:off x="7269480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days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726948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locked in the cycle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26948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 slower than FY25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57200" y="2834640"/>
            <a:ext cx="5577840" cy="1828800"/>
          </a:xfrm>
          <a:prstGeom prst="roundRect">
            <a:avLst>
              <a:gd name="adj" fmla="val 3500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7" name="Text 22"/>
          <p:cNvSpPr/>
          <p:nvPr/>
        </p:nvSpPr>
        <p:spPr>
          <a:xfrm>
            <a:off x="640080" y="290779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bank balance by month ($'000)</a:t>
            </a:r>
            <a:endParaRPr lang="en-US" sz="11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548640" y="3127248"/>
          <a:ext cx="539496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9" name="Shape 23"/>
          <p:cNvSpPr/>
          <p:nvPr/>
        </p:nvSpPr>
        <p:spPr>
          <a:xfrm>
            <a:off x="6217920" y="2834640"/>
            <a:ext cx="2468880" cy="1828800"/>
          </a:xfrm>
          <a:prstGeom prst="roundRect">
            <a:avLst>
              <a:gd name="adj" fmla="val 3500"/>
            </a:avLst>
          </a:prstGeom>
          <a:solidFill>
            <a:srgbClr val="FCEAE6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99923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00800" y="32918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Watch-point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December dip (–$57K) coincides with peak stock purchases. Consider staggering orders or a seasonal overdraft facility.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Company Name] · Business Performance Report · FY2026 (sample data)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your Inventory report — stock value, speed and slow movers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38528" cy="1051560"/>
          </a:xfrm>
          <a:prstGeom prst="roundRect">
            <a:avLst>
              <a:gd name="adj" fmla="val 6087"/>
            </a:avLst>
          </a:prstGeom>
          <a:solidFill>
            <a:srgbClr val="FEF4DE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585216" y="1280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$322K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85216" y="16824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on hand (at cost)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5216" y="19202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$118K vs last year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9464" y="1188720"/>
            <a:ext cx="1938528" cy="1051560"/>
          </a:xfrm>
          <a:prstGeom prst="roundRect">
            <a:avLst>
              <a:gd name="adj" fmla="val 6087"/>
            </a:avLst>
          </a:prstGeom>
          <a:solidFill>
            <a:srgbClr val="FEF4DE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2697480" y="1280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5.2×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697480" y="16824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per year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from 6.1× last year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81728" y="1188720"/>
            <a:ext cx="1938528" cy="1051560"/>
          </a:xfrm>
          <a:prstGeom prst="roundRect">
            <a:avLst>
              <a:gd name="adj" fmla="val 6087"/>
            </a:avLst>
          </a:prstGeom>
          <a:solidFill>
            <a:srgbClr val="FEF4DE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4809744" y="1280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days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809744" y="16824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days on shelf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9744" y="19202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from 60 days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93992" y="1188720"/>
            <a:ext cx="1938528" cy="1051560"/>
          </a:xfrm>
          <a:prstGeom prst="roundRect">
            <a:avLst>
              <a:gd name="adj" fmla="val 6087"/>
            </a:avLst>
          </a:prstGeom>
          <a:solidFill>
            <a:srgbClr val="FEF4DE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7" name="Text 15"/>
          <p:cNvSpPr/>
          <p:nvPr/>
        </p:nvSpPr>
        <p:spPr>
          <a:xfrm>
            <a:off x="6922008" y="1280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$46K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22008" y="16824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/ obsolete stock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22008" y="19202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of total holding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514600"/>
            <a:ext cx="3931920" cy="2148840"/>
          </a:xfrm>
          <a:prstGeom prst="roundRect">
            <a:avLst>
              <a:gd name="adj" fmla="val 2979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1" name="Text 19"/>
          <p:cNvSpPr/>
          <p:nvPr/>
        </p:nvSpPr>
        <p:spPr>
          <a:xfrm>
            <a:off x="640080" y="25877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value by category</a:t>
            </a:r>
            <a:endParaRPr lang="en-US" sz="11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502920" y="2788920"/>
          <a:ext cx="38404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4572000" y="2514600"/>
            <a:ext cx="4114800" cy="2148840"/>
          </a:xfrm>
          <a:prstGeom prst="roundRect">
            <a:avLst>
              <a:gd name="adj" fmla="val 2979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4" name="Text 21"/>
          <p:cNvSpPr/>
          <p:nvPr/>
        </p:nvSpPr>
        <p:spPr>
          <a:xfrm>
            <a:off x="4754880" y="2587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ageing — how long items have been on the shelf ($'000)</a:t>
            </a:r>
            <a:endParaRPr lang="en-US" sz="1100" dirty="0"/>
          </a:p>
        </p:txBody>
      </p:sp>
      <p:graphicFrame>
        <p:nvGraphicFramePr>
          <p:cNvPr id="25" name="Chart 1"/>
          <p:cNvGraphicFramePr/>
          <p:nvPr/>
        </p:nvGraphicFramePr>
        <p:xfrm>
          <a:off x="4663440" y="2816352"/>
          <a:ext cx="3931920" cy="1755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 22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Company Name] · Business Performance Report · FY2026 (sample data)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5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&amp; Trends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compare with similar businesses in your industry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937760" cy="3429000"/>
          </a:xfrm>
          <a:prstGeom prst="roundRect">
            <a:avLst>
              <a:gd name="adj" fmla="val 1867"/>
            </a:avLst>
          </a:prstGeom>
          <a:solidFill>
            <a:srgbClr val="F6FAF9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vs industry median (%)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47548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trend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20840" y="15727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0" y="15727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09560" y="15727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1828800"/>
            <a:ext cx="3017520" cy="438912"/>
          </a:xfrm>
          <a:prstGeom prst="roundRect">
            <a:avLst>
              <a:gd name="adj" fmla="val 8333"/>
            </a:avLst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9"/>
          <p:cNvSpPr/>
          <p:nvPr/>
        </p:nvSpPr>
        <p:spPr>
          <a:xfrm>
            <a:off x="5779008" y="18288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720840" y="182880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$2.31M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15200" y="182880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$2.53M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09560" y="182880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$2.84M</a:t>
            </a:r>
            <a:endParaRPr lang="en-US" sz="9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1965960"/>
            <a:ext cx="164592" cy="16459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669280" y="2340864"/>
            <a:ext cx="30175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4"/>
          <p:cNvSpPr/>
          <p:nvPr/>
        </p:nvSpPr>
        <p:spPr>
          <a:xfrm>
            <a:off x="5779008" y="234086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720840" y="2340864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$268K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315200" y="2340864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$335K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909560" y="2340864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$396K</a:t>
            </a:r>
            <a:endParaRPr lang="en-US" sz="9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2478024"/>
            <a:ext cx="164592" cy="16459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69280" y="2852928"/>
            <a:ext cx="3017520" cy="438912"/>
          </a:xfrm>
          <a:prstGeom prst="roundRect">
            <a:avLst>
              <a:gd name="adj" fmla="val 8333"/>
            </a:avLst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4" name="Text 19"/>
          <p:cNvSpPr/>
          <p:nvPr/>
        </p:nvSpPr>
        <p:spPr>
          <a:xfrm>
            <a:off x="5779008" y="28529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720840" y="285292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315200" y="285292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909560" y="285292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</a:t>
            </a:r>
            <a:endParaRPr lang="en-US" sz="9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2990088"/>
            <a:ext cx="164592" cy="16459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669280" y="3364992"/>
            <a:ext cx="30175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0" name="Text 24"/>
          <p:cNvSpPr/>
          <p:nvPr/>
        </p:nvSpPr>
        <p:spPr>
          <a:xfrm>
            <a:off x="5779008" y="336499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turnover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720840" y="336499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6.4×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315200" y="336499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6.1×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7909560" y="336499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5.2×</a:t>
            </a:r>
            <a:endParaRPr lang="en-US" sz="95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3502152"/>
            <a:ext cx="164592" cy="16459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669280" y="3877056"/>
            <a:ext cx="3017520" cy="438912"/>
          </a:xfrm>
          <a:prstGeom prst="roundRect">
            <a:avLst>
              <a:gd name="adj" fmla="val 8333"/>
            </a:avLst>
          </a:prstGeom>
          <a:solidFill>
            <a:srgbClr val="EAF7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6" name="Text 29"/>
          <p:cNvSpPr/>
          <p:nvPr/>
        </p:nvSpPr>
        <p:spPr>
          <a:xfrm>
            <a:off x="5779008" y="387705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Debtor days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6720840" y="387705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7315200" y="387705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7909560" y="387705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5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4014216"/>
            <a:ext cx="164592" cy="16459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Company Name] · Business Performance Report · FY2026 (sample data)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3108960" cy="3108960"/>
          </a:xfrm>
          <a:prstGeom prst="ellipse">
            <a:avLst/>
          </a:prstGeom>
          <a:solidFill>
            <a:srgbClr val="0B5D5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-1005840" y="3931920"/>
            <a:ext cx="2377440" cy="2377440"/>
          </a:xfrm>
          <a:prstGeom prst="ellipse">
            <a:avLst/>
          </a:prstGeom>
          <a:solidFill>
            <a:srgbClr val="0B5D5A">
              <a:alpha val="60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priorities we recommend acting on this quarter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B4A5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731520" y="1591056"/>
            <a:ext cx="475488" cy="475488"/>
          </a:xfrm>
          <a:prstGeom prst="ellipse">
            <a:avLst/>
          </a:prstGeom>
          <a:solidFill>
            <a:srgbClr val="F2A104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37" y="1705173"/>
            <a:ext cx="247254" cy="2472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444752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 cash from stock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C7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down slow-moving lines ($46K) and trim reorder points on category C. Target: back to 60 days on hand — releasing roughly $45K in cash.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39572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B4A5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Shape 8"/>
          <p:cNvSpPr/>
          <p:nvPr/>
        </p:nvSpPr>
        <p:spPr>
          <a:xfrm>
            <a:off x="731520" y="2615184"/>
            <a:ext cx="475488" cy="475488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37" y="2729301"/>
            <a:ext cx="247254" cy="247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468880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up debtor collection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C7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key accounts to 14-day terms and automate reminders. Every 5 days faster releases about $39K.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419856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B4A5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Shape 11"/>
          <p:cNvSpPr/>
          <p:nvPr/>
        </p:nvSpPr>
        <p:spPr>
          <a:xfrm>
            <a:off x="731520" y="3639312"/>
            <a:ext cx="475488" cy="475488"/>
          </a:xfrm>
          <a:prstGeom prst="ellipse">
            <a:avLst/>
          </a:prstGeom>
          <a:solidFill>
            <a:srgbClr val="14A098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37" y="3753429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493008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margin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C7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top-10 supplier agreements before the next price round; wages are growing faster than sales.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review: [Quarter / Date]    ·    Prepared by [Advisor / Firm Name]    ·    Sample data shown for mock-up purposes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1102</Words>
  <Application>Microsoft Office PowerPoint</Application>
  <PresentationFormat>On-screen Show (16:9)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Performance Report — Mockup</dc:title>
  <dc:subject>PptxGenJS Presentation</dc:subject>
  <dc:creator>Business Advisory</dc:creator>
  <cp:lastModifiedBy>Mike Barnes</cp:lastModifiedBy>
  <cp:revision>1</cp:revision>
  <dcterms:created xsi:type="dcterms:W3CDTF">2026-07-08T03:28:14Z</dcterms:created>
  <dcterms:modified xsi:type="dcterms:W3CDTF">2026-07-08T03:37:21Z</dcterms:modified>
</cp:coreProperties>
</file>