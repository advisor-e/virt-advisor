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5143500" cx="9144000"/>
  <p:notesSz cx="6858000" cy="9144000"/>
  <p:embeddedFontLst>
    <p:embeddedFont>
      <p:font typeface="Open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FB7071-02F2-4A31-9F44-C3B5F9F54958}">
  <a:tblStyle styleId="{CDFB7071-02F2-4A31-9F44-C3B5F9F549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OpenSans-italic.fntdata"/><Relationship Id="rId10" Type="http://schemas.openxmlformats.org/officeDocument/2006/relationships/font" Target="fonts/OpenSans-bold.fntdata"/><Relationship Id="rId12" Type="http://schemas.openxmlformats.org/officeDocument/2006/relationships/font" Target="fonts/OpenSans-boldItalic.fntdata"/><Relationship Id="rId9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14e88c39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a14e88c395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55700" y="158275"/>
            <a:ext cx="8259600" cy="7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55750" y="1016675"/>
            <a:ext cx="8614200" cy="3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 b="2417" l="0" r="0" t="2417"/>
          <a:stretch/>
        </p:blipFill>
        <p:spPr>
          <a:xfrm>
            <a:off x="628649" y="4632716"/>
            <a:ext cx="885048" cy="457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215200" y="139425"/>
            <a:ext cx="82839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tects Daughter"/>
              <a:buNone/>
            </a:pPr>
            <a:r>
              <a:rPr lang="en" sz="2400">
                <a:solidFill>
                  <a:srgbClr val="002B64"/>
                </a:solidFill>
                <a:latin typeface="Open Sans"/>
                <a:ea typeface="Open Sans"/>
                <a:cs typeface="Open Sans"/>
                <a:sym typeface="Open Sans"/>
              </a:rPr>
              <a:t>Our Strategic Statements:</a:t>
            </a:r>
            <a:endParaRPr i="0" sz="2400" u="none" cap="none" strike="noStrike">
              <a:solidFill>
                <a:srgbClr val="002B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49427" y="49427"/>
            <a:ext cx="9039000" cy="900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9427" y="5004196"/>
            <a:ext cx="579300" cy="900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1513702" y="5004196"/>
            <a:ext cx="7574700" cy="900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/>
          <p:nvPr/>
        </p:nvSpPr>
        <p:spPr>
          <a:xfrm rot="-5400000">
            <a:off x="6612697" y="2528596"/>
            <a:ext cx="4864800" cy="864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/>
          <p:nvPr/>
        </p:nvSpPr>
        <p:spPr>
          <a:xfrm rot="-5400000">
            <a:off x="-2339773" y="2528596"/>
            <a:ext cx="4864800" cy="864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25"/>
          <p:cNvGraphicFramePr/>
          <p:nvPr/>
        </p:nvGraphicFramePr>
        <p:xfrm>
          <a:off x="215200" y="90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{CDFB7071-02F2-4A31-9F44-C3B5F9F54958}</a:tableStyleId>
              </a:tblPr>
              <a:tblGrid>
                <a:gridCol w="4355350"/>
                <a:gridCol w="4355350"/>
              </a:tblGrid>
              <a:tr h="139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Strategic Objective: </a:t>
                      </a:r>
                      <a:endParaRPr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</a:t>
                      </a:r>
                      <a:r>
                        <a:rPr lang="en" sz="13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Desired end result {Singular} inclusive of on-going management plans.)</a:t>
                      </a:r>
                      <a:endParaRPr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002B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Strategy: </a:t>
                      </a:r>
                      <a:endParaRPr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</a:t>
                      </a:r>
                      <a:r>
                        <a:rPr lang="en" sz="13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Ethos or beliefs about how best to achieve the </a:t>
                      </a:r>
                      <a:r>
                        <a:rPr b="1" lang="en" sz="13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Strategic Objective. </a:t>
                      </a:r>
                      <a:r>
                        <a:rPr lang="en" sz="13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(effectively an ‘acid test’)</a:t>
                      </a:r>
                      <a:endParaRPr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1155CC"/>
                    </a:solidFill>
                  </a:tcPr>
                </a:tc>
              </a:tr>
              <a:tr h="224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Complete your statement here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Complete your statement here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