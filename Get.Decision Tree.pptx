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2" r:id="rId1"/>
    <p:sldMasterId id="2147483683" r:id="rId2"/>
    <p:sldMasterId id="2147483684" r:id="rId3"/>
  </p:sldMasterIdLst>
  <p:notesMasterIdLst>
    <p:notesMasterId r:id="rId17"/>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Lst>
  <p:sldSz cx="9144000" cy="5143500" type="screen16x9"/>
  <p:notesSz cx="6858000" cy="9144000"/>
  <p:embeddedFontLst>
    <p:embeddedFont>
      <p:font typeface="Architects Daughter" panose="020B0604020202020204" charset="0"/>
      <p:regular r:id="rId18"/>
    </p:embeddedFont>
    <p:embeddedFont>
      <p:font typeface="Lato Light" panose="020F0302020204030203" pitchFamily="34" charset="0"/>
      <p:regular r:id="rId19"/>
      <p:bold r:id="rId20"/>
      <p:italic r:id="rId21"/>
      <p:boldItalic r:id="rId22"/>
    </p:embeddedFont>
    <p:embeddedFont>
      <p:font typeface="Open Sans" panose="020B0606030504020204" pitchFamily="34"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65DD13A-4BDD-469C-81BA-415B97BB1642}">
  <a:tblStyle styleId="{065DD13A-4BDD-469C-81BA-415B97BB1642}" styleName="Table_0">
    <a:wholeTbl>
      <a:tcTxStyle b="off" i="off">
        <a:font>
          <a:latin typeface="Calibri"/>
          <a:ea typeface="Calibri"/>
          <a:cs typeface="Calibri"/>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E6E6E6"/>
          </a:solidFill>
        </a:fill>
      </a:tcStyle>
    </a:wholeTbl>
    <a:band1H>
      <a:tcTxStyle b="off" i="off"/>
      <a:tcStyle>
        <a:tcBdr/>
        <a:fill>
          <a:solidFill>
            <a:srgbClr val="CACACA"/>
          </a:solidFill>
        </a:fill>
      </a:tcStyle>
    </a:band1H>
    <a:band2H>
      <a:tcTxStyle b="off" i="off"/>
      <a:tcStyle>
        <a:tcBdr/>
      </a:tcStyle>
    </a:band2H>
    <a:band1V>
      <a:tcTxStyle b="off" i="off"/>
      <a:tcStyle>
        <a:tcBdr/>
        <a:fill>
          <a:solidFill>
            <a:srgbClr val="CACACA"/>
          </a:solidFill>
        </a:fill>
      </a:tcStyle>
    </a:band1V>
    <a:band2V>
      <a:tcTxStyle b="off" i="off"/>
      <a:tcStyle>
        <a:tcBdr/>
      </a:tcStyle>
    </a:band2V>
    <a:lastCol>
      <a:tcTxStyle b="on" i="off"/>
      <a:tcStyle>
        <a:tcBdr/>
      </a:tcStyle>
    </a:lastCol>
    <a:firstCol>
      <a:tcTxStyle b="on" i="off"/>
      <a:tcStyle>
        <a:tcBdr/>
      </a:tcStyle>
    </a:firstCol>
    <a:lastRow>
      <a:tcTxStyle b="on" i="off"/>
      <a:tcStyle>
        <a:tcBdr>
          <a:top>
            <a:ln w="25400" cap="flat" cmpd="sng">
              <a:solidFill>
                <a:schemeClr val="dk1"/>
              </a:solidFill>
              <a:prstDash val="solid"/>
              <a:round/>
              <a:headEnd type="none" w="sm" len="sm"/>
              <a:tailEnd type="none" w="sm" len="sm"/>
            </a:ln>
          </a:top>
        </a:tcBdr>
        <a:fill>
          <a:solidFill>
            <a:srgbClr val="E6E6E6"/>
          </a:solidFill>
        </a:fill>
      </a:tcStyle>
    </a:lastRow>
    <a:seCell>
      <a:tcTxStyle b="off" i="off"/>
      <a:tcStyle>
        <a:tcBdr/>
      </a:tcStyle>
    </a:seCell>
    <a:swCell>
      <a:tcTxStyle b="off" i="off"/>
      <a:tcStyle>
        <a:tcBdr/>
      </a:tcStyle>
    </a:swCell>
    <a:firstRow>
      <a:tcTxStyle b="on" i="off"/>
      <a:tcStyle>
        <a:tcBdr/>
        <a:fill>
          <a:solidFill>
            <a:srgbClr val="E6E6E6"/>
          </a:solidFill>
        </a:fill>
      </a:tcStyle>
    </a:firstRow>
    <a:neCell>
      <a:tcTxStyle b="off" i="off"/>
      <a:tcStyle>
        <a:tcBdr/>
      </a:tcStyle>
    </a:neCell>
    <a:nwCell>
      <a:tcTxStyle b="off" i="off"/>
      <a:tcStyle>
        <a:tcBdr/>
      </a:tcStyle>
    </a:nwCell>
  </a:tblStyle>
  <a:tblStyle styleId="{4DEFB63D-484E-49B7-AC69-4C271AFB24B3}"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BD46F658-39F4-4A76-8726-31F6EFDBF01F}" styleName="Table_2">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b="off" i="off"/>
      <a:tcStyle>
        <a:tcBdr/>
        <a:fill>
          <a:solidFill>
            <a:srgbClr val="CDD4EA"/>
          </a:solidFill>
        </a:fill>
      </a:tcStyle>
    </a:band1H>
    <a:band2H>
      <a:tcTxStyle b="off" i="off"/>
      <a:tcStyle>
        <a:tcBdr/>
      </a:tcStyle>
    </a:band2H>
    <a:band1V>
      <a:tcTxStyle b="off" i="off"/>
      <a:tcStyle>
        <a:tcBdr/>
        <a:fill>
          <a:solidFill>
            <a:srgbClr val="CDD4EA"/>
          </a:solidFill>
        </a:fill>
      </a:tcStyle>
    </a:band1V>
    <a:band2V>
      <a:tcTxStyle b="off" i="off"/>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9" d="100"/>
          <a:sy n="109" d="100"/>
        </p:scale>
        <p:origin x="137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Master" Target="slideMasters/slideMaster3.xml"/><Relationship Id="rId21" Type="http://schemas.openxmlformats.org/officeDocument/2006/relationships/font" Target="fonts/font4.fntdata"/><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notesMaster" Target="notesMasters/notesMaster1.xml"/><Relationship Id="rId25" Type="http://schemas.openxmlformats.org/officeDocument/2006/relationships/font" Target="fonts/font8.fntdata"/><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font" Target="fonts/font3.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font" Target="fonts/font7.fntdata"/><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font" Target="fonts/font6.fntdata"/><Relationship Id="rId28"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font" Target="fonts/font2.fntdata"/><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font" Target="fonts/font5.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4f8d5f8f98_2_7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3" name="Google Shape;203;g4f8d5f8f98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4f8d5f8f98_2_8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4" name="Google Shape;214;g4f8d5f8f98_2_8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4f8d5f8f98_2_20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1" name="Google Shape;231;g4f8d5f8f98_2_20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4f8d5f8f98_2_2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 name="Google Shape;249;g4f8d5f8f98_2_2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5bffb17489_0_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7" name="Google Shape;267;g5bffb17489_0_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4f8d5f8f98_2_10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9" name="Google Shape;279;g4f8d5f8f98_2_10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g8dbe6134bf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2" name="Google Shape;372;g8dbe6134bf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g5d2c466e5d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4" name="Google Shape;384;g5d2c466e5d_0_10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g5d2d06935a_0_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6" name="Google Shape;396;g5d2d06935a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g5d2d06935a_0_35: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2" name="Google Shape;432;g5d2d06935a_0_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g4f8d5f8f98_2_19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8" name="Google Shape;468;g4f8d5f8f98_2_19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g4f8d5f8f98_2_26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80" name="Google Shape;480;g4f8d5f8f98_2_2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g5d2c466e5d_0_2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3" name="Google Shape;493;g5d2c466e5d_0_2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6"/>
        <p:cNvGrpSpPr/>
        <p:nvPr/>
      </p:nvGrpSpPr>
      <p:grpSpPr>
        <a:xfrm>
          <a:off x="0" y="0"/>
          <a:ext cx="0" cy="0"/>
          <a:chOff x="0" y="0"/>
          <a:chExt cx="0" cy="0"/>
        </a:xfrm>
      </p:grpSpPr>
      <p:sp>
        <p:nvSpPr>
          <p:cNvPr id="57" name="Google Shape;57;p14"/>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8" name="Google Shape;58;p14"/>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59" name="Google Shape;59;p14"/>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0" name="Google Shape;60;p1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1" name="Google Shape;61;p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62"/>
        <p:cNvGrpSpPr/>
        <p:nvPr/>
      </p:nvGrpSpPr>
      <p:grpSpPr>
        <a:xfrm>
          <a:off x="0" y="0"/>
          <a:ext cx="0" cy="0"/>
          <a:chOff x="0" y="0"/>
          <a:chExt cx="0" cy="0"/>
        </a:xfrm>
      </p:grpSpPr>
      <p:sp>
        <p:nvSpPr>
          <p:cNvPr id="63" name="Google Shape;63;p15"/>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4" name="Google Shape;64;p1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65" name="Google Shape;65;p15"/>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6" name="Google Shape;66;p1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pic>
        <p:nvPicPr>
          <p:cNvPr id="67" name="Google Shape;67;p15"/>
          <p:cNvPicPr preferRelativeResize="0"/>
          <p:nvPr/>
        </p:nvPicPr>
        <p:blipFill rotWithShape="1">
          <a:blip r:embed="rId2">
            <a:alphaModFix/>
          </a:blip>
          <a:srcRect t="3419" b="3428"/>
          <a:stretch/>
        </p:blipFill>
        <p:spPr>
          <a:xfrm>
            <a:off x="626925" y="4628126"/>
            <a:ext cx="886774" cy="448525"/>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8"/>
        <p:cNvGrpSpPr/>
        <p:nvPr/>
      </p:nvGrpSpPr>
      <p:grpSpPr>
        <a:xfrm>
          <a:off x="0" y="0"/>
          <a:ext cx="0" cy="0"/>
          <a:chOff x="0" y="0"/>
          <a:chExt cx="0" cy="0"/>
        </a:xfrm>
      </p:grpSpPr>
      <p:sp>
        <p:nvSpPr>
          <p:cNvPr id="69" name="Google Shape;69;p16"/>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0" name="Google Shape;70;p16"/>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71" name="Google Shape;71;p1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2" name="Google Shape;72;p16"/>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3" name="Google Shape;73;p16"/>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74"/>
        <p:cNvGrpSpPr/>
        <p:nvPr/>
      </p:nvGrpSpPr>
      <p:grpSpPr>
        <a:xfrm>
          <a:off x="0" y="0"/>
          <a:ext cx="0" cy="0"/>
          <a:chOff x="0" y="0"/>
          <a:chExt cx="0" cy="0"/>
        </a:xfrm>
      </p:grpSpPr>
      <p:sp>
        <p:nvSpPr>
          <p:cNvPr id="75" name="Google Shape;75;p17"/>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6" name="Google Shape;76;p17"/>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Google Shape;77;p17"/>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8" name="Google Shape;78;p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9" name="Google Shape;79;p1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0" name="Google Shape;80;p17"/>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81"/>
        <p:cNvGrpSpPr/>
        <p:nvPr/>
      </p:nvGrpSpPr>
      <p:grpSpPr>
        <a:xfrm>
          <a:off x="0" y="0"/>
          <a:ext cx="0" cy="0"/>
          <a:chOff x="0" y="0"/>
          <a:chExt cx="0" cy="0"/>
        </a:xfrm>
      </p:grpSpPr>
      <p:sp>
        <p:nvSpPr>
          <p:cNvPr id="82" name="Google Shape;82;p18"/>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3" name="Google Shape;83;p18"/>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84" name="Google Shape;84;p18"/>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85" name="Google Shape;85;p1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86" name="Google Shape;86;p18"/>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87" name="Google Shape;87;p18"/>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8" name="Google Shape;88;p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9" name="Google Shape;89;p1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0"/>
        <p:cNvGrpSpPr/>
        <p:nvPr/>
      </p:nvGrpSpPr>
      <p:grpSpPr>
        <a:xfrm>
          <a:off x="0" y="0"/>
          <a:ext cx="0" cy="0"/>
          <a:chOff x="0" y="0"/>
          <a:chExt cx="0" cy="0"/>
        </a:xfrm>
      </p:grpSpPr>
      <p:sp>
        <p:nvSpPr>
          <p:cNvPr id="91" name="Google Shape;91;p1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2" name="Google Shape;92;p19"/>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3" name="Google Shape;93;p19"/>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4" name="Google Shape;94;p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5"/>
        <p:cNvGrpSpPr/>
        <p:nvPr/>
      </p:nvGrpSpPr>
      <p:grpSpPr>
        <a:xfrm>
          <a:off x="0" y="0"/>
          <a:ext cx="0" cy="0"/>
          <a:chOff x="0" y="0"/>
          <a:chExt cx="0" cy="0"/>
        </a:xfrm>
      </p:grpSpPr>
      <p:sp>
        <p:nvSpPr>
          <p:cNvPr id="96" name="Google Shape;96;p2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7" name="Google Shape;97;p20"/>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8" name="Google Shape;98;p20"/>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99"/>
        <p:cNvGrpSpPr/>
        <p:nvPr/>
      </p:nvGrpSpPr>
      <p:grpSpPr>
        <a:xfrm>
          <a:off x="0" y="0"/>
          <a:ext cx="0" cy="0"/>
          <a:chOff x="0" y="0"/>
          <a:chExt cx="0" cy="0"/>
        </a:xfrm>
      </p:grpSpPr>
      <p:sp>
        <p:nvSpPr>
          <p:cNvPr id="100" name="Google Shape;100;p21"/>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01" name="Google Shape;101;p21"/>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102" name="Google Shape;102;p21"/>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103" name="Google Shape;103;p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04" name="Google Shape;104;p2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05" name="Google Shape;105;p21"/>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06"/>
        <p:cNvGrpSpPr/>
        <p:nvPr/>
      </p:nvGrpSpPr>
      <p:grpSpPr>
        <a:xfrm>
          <a:off x="0" y="0"/>
          <a:ext cx="0" cy="0"/>
          <a:chOff x="0" y="0"/>
          <a:chExt cx="0" cy="0"/>
        </a:xfrm>
      </p:grpSpPr>
      <p:sp>
        <p:nvSpPr>
          <p:cNvPr id="107" name="Google Shape;107;p22"/>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08" name="Google Shape;108;p22"/>
          <p:cNvSpPr>
            <a:spLocks noGrp="1"/>
          </p:cNvSpPr>
          <p:nvPr>
            <p:ph type="pic" idx="2"/>
          </p:nvPr>
        </p:nvSpPr>
        <p:spPr>
          <a:xfrm>
            <a:off x="3887391" y="740569"/>
            <a:ext cx="4629150" cy="3655219"/>
          </a:xfrm>
          <a:prstGeom prst="rect">
            <a:avLst/>
          </a:prstGeom>
          <a:noFill/>
          <a:ln>
            <a:noFill/>
          </a:ln>
        </p:spPr>
        <p:txBody>
          <a:bodyPr spcFirstLastPara="1" wrap="square" lIns="68575" tIns="34275" rIns="68575" bIns="34275" anchor="t" anchorCtr="0">
            <a:noAutofit/>
          </a:bodyPr>
          <a:lstStyle>
            <a:lvl1pPr marR="0" lvl="0" algn="l" rtl="0">
              <a:lnSpc>
                <a:spcPct val="90000"/>
              </a:lnSpc>
              <a:spcBef>
                <a:spcPts val="8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R="0" lvl="1" algn="l" rtl="0">
              <a:lnSpc>
                <a:spcPct val="90000"/>
              </a:lnSpc>
              <a:spcBef>
                <a:spcPts val="400"/>
              </a:spcBef>
              <a:spcAft>
                <a:spcPts val="0"/>
              </a:spcAft>
              <a:buClr>
                <a:schemeClr val="dk1"/>
              </a:buClr>
              <a:buSzPts val="2100"/>
              <a:buFont typeface="Arial"/>
              <a:buNone/>
              <a:defRPr sz="2100" b="0" i="0" u="none" strike="noStrike" cap="none">
                <a:solidFill>
                  <a:schemeClr val="dk1"/>
                </a:solidFill>
                <a:latin typeface="Calibri"/>
                <a:ea typeface="Calibri"/>
                <a:cs typeface="Calibri"/>
                <a:sym typeface="Calibri"/>
              </a:defRPr>
            </a:lvl2pPr>
            <a:lvl3pPr marR="0" lvl="2" algn="l" rtl="0">
              <a:lnSpc>
                <a:spcPct val="90000"/>
              </a:lnSpc>
              <a:spcBef>
                <a:spcPts val="4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l" rtl="0">
              <a:lnSpc>
                <a:spcPct val="90000"/>
              </a:lnSpc>
              <a:spcBef>
                <a:spcPts val="400"/>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4pPr>
            <a:lvl5pPr marR="0" lvl="4" algn="l" rtl="0">
              <a:lnSpc>
                <a:spcPct val="90000"/>
              </a:lnSpc>
              <a:spcBef>
                <a:spcPts val="400"/>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5pPr>
            <a:lvl6pPr marR="0" lvl="5" algn="l" rtl="0">
              <a:lnSpc>
                <a:spcPct val="90000"/>
              </a:lnSpc>
              <a:spcBef>
                <a:spcPts val="400"/>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6pPr>
            <a:lvl7pPr marR="0" lvl="6" algn="l" rtl="0">
              <a:lnSpc>
                <a:spcPct val="90000"/>
              </a:lnSpc>
              <a:spcBef>
                <a:spcPts val="400"/>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7pPr>
            <a:lvl8pPr marR="0" lvl="7" algn="l" rtl="0">
              <a:lnSpc>
                <a:spcPct val="90000"/>
              </a:lnSpc>
              <a:spcBef>
                <a:spcPts val="400"/>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8pPr>
            <a:lvl9pPr marR="0" lvl="8" algn="l" rtl="0">
              <a:lnSpc>
                <a:spcPct val="90000"/>
              </a:lnSpc>
              <a:spcBef>
                <a:spcPts val="400"/>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9pPr>
          </a:lstStyle>
          <a:p>
            <a:endParaRPr/>
          </a:p>
        </p:txBody>
      </p:sp>
      <p:sp>
        <p:nvSpPr>
          <p:cNvPr id="109" name="Google Shape;109;p22"/>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110" name="Google Shape;110;p2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1" name="Google Shape;111;p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2" name="Google Shape;112;p2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13"/>
        <p:cNvGrpSpPr/>
        <p:nvPr/>
      </p:nvGrpSpPr>
      <p:grpSpPr>
        <a:xfrm>
          <a:off x="0" y="0"/>
          <a:ext cx="0" cy="0"/>
          <a:chOff x="0" y="0"/>
          <a:chExt cx="0" cy="0"/>
        </a:xfrm>
      </p:grpSpPr>
      <p:sp>
        <p:nvSpPr>
          <p:cNvPr id="114" name="Google Shape;114;p23"/>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5" name="Google Shape;115;p23"/>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16" name="Google Shape;116;p2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7" name="Google Shape;117;p2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8" name="Google Shape;118;p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19"/>
        <p:cNvGrpSpPr/>
        <p:nvPr/>
      </p:nvGrpSpPr>
      <p:grpSpPr>
        <a:xfrm>
          <a:off x="0" y="0"/>
          <a:ext cx="0" cy="0"/>
          <a:chOff x="0" y="0"/>
          <a:chExt cx="0" cy="0"/>
        </a:xfrm>
      </p:grpSpPr>
      <p:sp>
        <p:nvSpPr>
          <p:cNvPr id="120" name="Google Shape;120;p24"/>
          <p:cNvSpPr txBox="1">
            <a:spLocks noGrp="1"/>
          </p:cNvSpPr>
          <p:nvPr>
            <p:ph type="title"/>
          </p:nvPr>
        </p:nvSpPr>
        <p:spPr>
          <a:xfrm rot="5400000">
            <a:off x="5350073" y="1467446"/>
            <a:ext cx="4358879" cy="1971675"/>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21" name="Google Shape;121;p24"/>
          <p:cNvSpPr txBox="1">
            <a:spLocks noGrp="1"/>
          </p:cNvSpPr>
          <p:nvPr>
            <p:ph type="body" idx="1"/>
          </p:nvPr>
        </p:nvSpPr>
        <p:spPr>
          <a:xfrm rot="5400000">
            <a:off x="1349573" y="-447079"/>
            <a:ext cx="4358879" cy="5800725"/>
          </a:xfrm>
          <a:prstGeom prst="rect">
            <a:avLst/>
          </a:prstGeom>
          <a:noFill/>
          <a:ln>
            <a:noFill/>
          </a:ln>
        </p:spPr>
        <p:txBody>
          <a:bodyPr spcFirstLastPara="1" wrap="square" lIns="68575" tIns="34275" rIns="68575" bIns="34275" anchor="t" anchorCtr="0">
            <a:no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22" name="Google Shape;122;p24"/>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23" name="Google Shape;123;p2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24" name="Google Shape;124;p2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1"/>
        <p:cNvGrpSpPr/>
        <p:nvPr/>
      </p:nvGrpSpPr>
      <p:grpSpPr>
        <a:xfrm>
          <a:off x="0" y="0"/>
          <a:ext cx="0" cy="0"/>
          <a:chOff x="0" y="0"/>
          <a:chExt cx="0" cy="0"/>
        </a:xfrm>
      </p:grpSpPr>
      <p:sp>
        <p:nvSpPr>
          <p:cNvPr id="132" name="Google Shape;132;p26"/>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133" name="Google Shape;133;p26"/>
          <p:cNvSpPr txBox="1">
            <a:spLocks noGrp="1"/>
          </p:cNvSpPr>
          <p:nvPr>
            <p:ph type="subTitle" idx="1"/>
          </p:nvPr>
        </p:nvSpPr>
        <p:spPr>
          <a:xfrm>
            <a:off x="1143000" y="2701528"/>
            <a:ext cx="6858000" cy="1241700"/>
          </a:xfrm>
          <a:prstGeom prst="rect">
            <a:avLst/>
          </a:prstGeom>
          <a:noFill/>
          <a:ln>
            <a:noFill/>
          </a:ln>
        </p:spPr>
        <p:txBody>
          <a:bodyPr spcFirstLastPara="1" wrap="square" lIns="68575" tIns="34275" rIns="68575" bIns="34275" anchor="t" anchorCtr="0">
            <a:noAutofit/>
          </a:bodyPr>
          <a:lstStyle>
            <a:lvl1pPr lvl="0" algn="ctr" rtl="0">
              <a:lnSpc>
                <a:spcPct val="90000"/>
              </a:lnSpc>
              <a:spcBef>
                <a:spcPts val="800"/>
              </a:spcBef>
              <a:spcAft>
                <a:spcPts val="0"/>
              </a:spcAft>
              <a:buClr>
                <a:schemeClr val="dk1"/>
              </a:buClr>
              <a:buSzPts val="1800"/>
              <a:buNone/>
              <a:defRPr sz="1800"/>
            </a:lvl1pPr>
            <a:lvl2pPr lvl="1" algn="ctr" rtl="0">
              <a:lnSpc>
                <a:spcPct val="90000"/>
              </a:lnSpc>
              <a:spcBef>
                <a:spcPts val="400"/>
              </a:spcBef>
              <a:spcAft>
                <a:spcPts val="0"/>
              </a:spcAft>
              <a:buClr>
                <a:schemeClr val="dk1"/>
              </a:buClr>
              <a:buSzPts val="1500"/>
              <a:buNone/>
              <a:defRPr sz="1500"/>
            </a:lvl2pPr>
            <a:lvl3pPr lvl="2" algn="ctr" rtl="0">
              <a:lnSpc>
                <a:spcPct val="90000"/>
              </a:lnSpc>
              <a:spcBef>
                <a:spcPts val="400"/>
              </a:spcBef>
              <a:spcAft>
                <a:spcPts val="0"/>
              </a:spcAft>
              <a:buClr>
                <a:schemeClr val="dk1"/>
              </a:buClr>
              <a:buSzPts val="1400"/>
              <a:buNone/>
              <a:defRPr sz="1400"/>
            </a:lvl3pPr>
            <a:lvl4pPr lvl="3" algn="ctr" rtl="0">
              <a:lnSpc>
                <a:spcPct val="90000"/>
              </a:lnSpc>
              <a:spcBef>
                <a:spcPts val="400"/>
              </a:spcBef>
              <a:spcAft>
                <a:spcPts val="0"/>
              </a:spcAft>
              <a:buClr>
                <a:schemeClr val="dk1"/>
              </a:buClr>
              <a:buSzPts val="1200"/>
              <a:buNone/>
              <a:defRPr sz="1200"/>
            </a:lvl4pPr>
            <a:lvl5pPr lvl="4" algn="ctr" rtl="0">
              <a:lnSpc>
                <a:spcPct val="90000"/>
              </a:lnSpc>
              <a:spcBef>
                <a:spcPts val="400"/>
              </a:spcBef>
              <a:spcAft>
                <a:spcPts val="0"/>
              </a:spcAft>
              <a:buClr>
                <a:schemeClr val="dk1"/>
              </a:buClr>
              <a:buSzPts val="1200"/>
              <a:buNone/>
              <a:defRPr sz="1200"/>
            </a:lvl5pPr>
            <a:lvl6pPr lvl="5" algn="ctr" rtl="0">
              <a:lnSpc>
                <a:spcPct val="90000"/>
              </a:lnSpc>
              <a:spcBef>
                <a:spcPts val="400"/>
              </a:spcBef>
              <a:spcAft>
                <a:spcPts val="0"/>
              </a:spcAft>
              <a:buClr>
                <a:schemeClr val="dk1"/>
              </a:buClr>
              <a:buSzPts val="1200"/>
              <a:buNone/>
              <a:defRPr sz="1200"/>
            </a:lvl6pPr>
            <a:lvl7pPr lvl="6" algn="ctr" rtl="0">
              <a:lnSpc>
                <a:spcPct val="90000"/>
              </a:lnSpc>
              <a:spcBef>
                <a:spcPts val="400"/>
              </a:spcBef>
              <a:spcAft>
                <a:spcPts val="0"/>
              </a:spcAft>
              <a:buClr>
                <a:schemeClr val="dk1"/>
              </a:buClr>
              <a:buSzPts val="1200"/>
              <a:buNone/>
              <a:defRPr sz="1200"/>
            </a:lvl7pPr>
            <a:lvl8pPr lvl="7" algn="ctr" rtl="0">
              <a:lnSpc>
                <a:spcPct val="90000"/>
              </a:lnSpc>
              <a:spcBef>
                <a:spcPts val="400"/>
              </a:spcBef>
              <a:spcAft>
                <a:spcPts val="0"/>
              </a:spcAft>
              <a:buClr>
                <a:schemeClr val="dk1"/>
              </a:buClr>
              <a:buSzPts val="1200"/>
              <a:buNone/>
              <a:defRPr sz="1200"/>
            </a:lvl8pPr>
            <a:lvl9pPr lvl="8" algn="ctr" rtl="0">
              <a:lnSpc>
                <a:spcPct val="90000"/>
              </a:lnSpc>
              <a:spcBef>
                <a:spcPts val="400"/>
              </a:spcBef>
              <a:spcAft>
                <a:spcPts val="0"/>
              </a:spcAft>
              <a:buClr>
                <a:schemeClr val="dk1"/>
              </a:buClr>
              <a:buSzPts val="1200"/>
              <a:buNone/>
              <a:defRPr sz="1200"/>
            </a:lvl9pPr>
          </a:lstStyle>
          <a:p>
            <a:endParaRPr/>
          </a:p>
        </p:txBody>
      </p:sp>
      <p:sp>
        <p:nvSpPr>
          <p:cNvPr id="134" name="Google Shape;134;p26"/>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135" name="Google Shape;135;p26"/>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136" name="Google Shape;136;p26"/>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37"/>
        <p:cNvGrpSpPr/>
        <p:nvPr/>
      </p:nvGrpSpPr>
      <p:grpSpPr>
        <a:xfrm>
          <a:off x="0" y="0"/>
          <a:ext cx="0" cy="0"/>
          <a:chOff x="0" y="0"/>
          <a:chExt cx="0" cy="0"/>
        </a:xfrm>
      </p:grpSpPr>
      <p:sp>
        <p:nvSpPr>
          <p:cNvPr id="138" name="Google Shape;138;p27"/>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Autofit/>
          </a:bodyPr>
          <a:lstStyle>
            <a:lvl1pPr lvl="0" algn="l" rtl="0">
              <a:lnSpc>
                <a:spcPct val="90000"/>
              </a:lnSpc>
              <a:spcBef>
                <a:spcPts val="0"/>
              </a:spcBef>
              <a:spcAft>
                <a:spcPts val="0"/>
              </a:spcAft>
              <a:buClr>
                <a:schemeClr val="dk1"/>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139" name="Google Shape;139;p27"/>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Autofit/>
          </a:bodyPr>
          <a:lstStyle>
            <a:lvl1pPr marL="457200" lvl="0" indent="-317500" algn="l" rtl="0">
              <a:lnSpc>
                <a:spcPct val="90000"/>
              </a:lnSpc>
              <a:spcBef>
                <a:spcPts val="800"/>
              </a:spcBef>
              <a:spcAft>
                <a:spcPts val="0"/>
              </a:spcAft>
              <a:buClr>
                <a:schemeClr val="dk1"/>
              </a:buClr>
              <a:buSzPts val="1400"/>
              <a:buChar char="•"/>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140" name="Google Shape;140;p27"/>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141" name="Google Shape;141;p27"/>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pic>
        <p:nvPicPr>
          <p:cNvPr id="142" name="Google Shape;142;p27"/>
          <p:cNvPicPr preferRelativeResize="0"/>
          <p:nvPr/>
        </p:nvPicPr>
        <p:blipFill rotWithShape="1">
          <a:blip r:embed="rId2">
            <a:alphaModFix/>
          </a:blip>
          <a:srcRect/>
          <a:stretch/>
        </p:blipFill>
        <p:spPr>
          <a:xfrm>
            <a:off x="610115" y="4671982"/>
            <a:ext cx="903587" cy="417964"/>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Default Slide">
  <p:cSld name="Default Slide">
    <p:spTree>
      <p:nvGrpSpPr>
        <p:cNvPr id="1" name="Shape 143"/>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44"/>
        <p:cNvGrpSpPr/>
        <p:nvPr/>
      </p:nvGrpSpPr>
      <p:grpSpPr>
        <a:xfrm>
          <a:off x="0" y="0"/>
          <a:ext cx="0" cy="0"/>
          <a:chOff x="0" y="0"/>
          <a:chExt cx="0" cy="0"/>
        </a:xfrm>
      </p:grpSpPr>
      <p:sp>
        <p:nvSpPr>
          <p:cNvPr id="145" name="Google Shape;145;p29"/>
          <p:cNvSpPr txBox="1">
            <a:spLocks noGrp="1"/>
          </p:cNvSpPr>
          <p:nvPr>
            <p:ph type="title"/>
          </p:nvPr>
        </p:nvSpPr>
        <p:spPr>
          <a:xfrm>
            <a:off x="623888" y="1282304"/>
            <a:ext cx="7886700" cy="2139600"/>
          </a:xfrm>
          <a:prstGeom prst="rect">
            <a:avLst/>
          </a:prstGeom>
          <a:noFill/>
          <a:ln>
            <a:noFill/>
          </a:ln>
        </p:spPr>
        <p:txBody>
          <a:bodyPr spcFirstLastPara="1" wrap="square" lIns="68575" tIns="34275" rIns="68575" bIns="34275" anchor="b" anchorCtr="0">
            <a:no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146" name="Google Shape;146;p29"/>
          <p:cNvSpPr txBox="1">
            <a:spLocks noGrp="1"/>
          </p:cNvSpPr>
          <p:nvPr>
            <p:ph type="body" idx="1"/>
          </p:nvPr>
        </p:nvSpPr>
        <p:spPr>
          <a:xfrm>
            <a:off x="623888" y="3442097"/>
            <a:ext cx="7886700" cy="11253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rgbClr val="888888"/>
              </a:buClr>
              <a:buSzPts val="1800"/>
              <a:buNone/>
              <a:defRPr sz="1800">
                <a:solidFill>
                  <a:srgbClr val="888888"/>
                </a:solidFill>
              </a:defRPr>
            </a:lvl1pPr>
            <a:lvl2pPr marL="914400" lvl="1" indent="-228600" algn="l" rtl="0">
              <a:lnSpc>
                <a:spcPct val="90000"/>
              </a:lnSpc>
              <a:spcBef>
                <a:spcPts val="400"/>
              </a:spcBef>
              <a:spcAft>
                <a:spcPts val="0"/>
              </a:spcAft>
              <a:buClr>
                <a:srgbClr val="888888"/>
              </a:buClr>
              <a:buSzPts val="1500"/>
              <a:buNone/>
              <a:defRPr sz="1500">
                <a:solidFill>
                  <a:srgbClr val="888888"/>
                </a:solidFill>
              </a:defRPr>
            </a:lvl2pPr>
            <a:lvl3pPr marL="1371600" lvl="2" indent="-228600" algn="l" rtl="0">
              <a:lnSpc>
                <a:spcPct val="90000"/>
              </a:lnSpc>
              <a:spcBef>
                <a:spcPts val="400"/>
              </a:spcBef>
              <a:spcAft>
                <a:spcPts val="0"/>
              </a:spcAft>
              <a:buClr>
                <a:srgbClr val="888888"/>
              </a:buClr>
              <a:buSzPts val="1400"/>
              <a:buNone/>
              <a:defRPr sz="1400">
                <a:solidFill>
                  <a:srgbClr val="888888"/>
                </a:solidFill>
              </a:defRPr>
            </a:lvl3pPr>
            <a:lvl4pPr marL="1828800" lvl="3" indent="-228600" algn="l" rtl="0">
              <a:lnSpc>
                <a:spcPct val="90000"/>
              </a:lnSpc>
              <a:spcBef>
                <a:spcPts val="400"/>
              </a:spcBef>
              <a:spcAft>
                <a:spcPts val="0"/>
              </a:spcAft>
              <a:buClr>
                <a:srgbClr val="888888"/>
              </a:buClr>
              <a:buSzPts val="1200"/>
              <a:buNone/>
              <a:defRPr sz="1200">
                <a:solidFill>
                  <a:srgbClr val="888888"/>
                </a:solidFill>
              </a:defRPr>
            </a:lvl4pPr>
            <a:lvl5pPr marL="2286000" lvl="4" indent="-228600" algn="l" rtl="0">
              <a:lnSpc>
                <a:spcPct val="90000"/>
              </a:lnSpc>
              <a:spcBef>
                <a:spcPts val="400"/>
              </a:spcBef>
              <a:spcAft>
                <a:spcPts val="0"/>
              </a:spcAft>
              <a:buClr>
                <a:srgbClr val="888888"/>
              </a:buClr>
              <a:buSzPts val="1200"/>
              <a:buNone/>
              <a:defRPr sz="1200">
                <a:solidFill>
                  <a:srgbClr val="888888"/>
                </a:solidFill>
              </a:defRPr>
            </a:lvl5pPr>
            <a:lvl6pPr marL="2743200" lvl="5" indent="-228600" algn="l" rtl="0">
              <a:lnSpc>
                <a:spcPct val="90000"/>
              </a:lnSpc>
              <a:spcBef>
                <a:spcPts val="400"/>
              </a:spcBef>
              <a:spcAft>
                <a:spcPts val="0"/>
              </a:spcAft>
              <a:buClr>
                <a:srgbClr val="888888"/>
              </a:buClr>
              <a:buSzPts val="1200"/>
              <a:buNone/>
              <a:defRPr sz="1200">
                <a:solidFill>
                  <a:srgbClr val="888888"/>
                </a:solidFill>
              </a:defRPr>
            </a:lvl6pPr>
            <a:lvl7pPr marL="3200400" lvl="6" indent="-228600" algn="l" rtl="0">
              <a:lnSpc>
                <a:spcPct val="90000"/>
              </a:lnSpc>
              <a:spcBef>
                <a:spcPts val="400"/>
              </a:spcBef>
              <a:spcAft>
                <a:spcPts val="0"/>
              </a:spcAft>
              <a:buClr>
                <a:srgbClr val="888888"/>
              </a:buClr>
              <a:buSzPts val="1200"/>
              <a:buNone/>
              <a:defRPr sz="1200">
                <a:solidFill>
                  <a:srgbClr val="888888"/>
                </a:solidFill>
              </a:defRPr>
            </a:lvl7pPr>
            <a:lvl8pPr marL="3657600" lvl="7" indent="-228600" algn="l" rtl="0">
              <a:lnSpc>
                <a:spcPct val="90000"/>
              </a:lnSpc>
              <a:spcBef>
                <a:spcPts val="400"/>
              </a:spcBef>
              <a:spcAft>
                <a:spcPts val="0"/>
              </a:spcAft>
              <a:buClr>
                <a:srgbClr val="888888"/>
              </a:buClr>
              <a:buSzPts val="1200"/>
              <a:buNone/>
              <a:defRPr sz="1200">
                <a:solidFill>
                  <a:srgbClr val="888888"/>
                </a:solidFill>
              </a:defRPr>
            </a:lvl8pPr>
            <a:lvl9pPr marL="4114800" lvl="8" indent="-228600" algn="l" rtl="0">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147" name="Google Shape;147;p29"/>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148" name="Google Shape;148;p29"/>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149" name="Google Shape;149;p29"/>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50"/>
        <p:cNvGrpSpPr/>
        <p:nvPr/>
      </p:nvGrpSpPr>
      <p:grpSpPr>
        <a:xfrm>
          <a:off x="0" y="0"/>
          <a:ext cx="0" cy="0"/>
          <a:chOff x="0" y="0"/>
          <a:chExt cx="0" cy="0"/>
        </a:xfrm>
      </p:grpSpPr>
      <p:sp>
        <p:nvSpPr>
          <p:cNvPr id="151" name="Google Shape;151;p30"/>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Autofit/>
          </a:bodyPr>
          <a:lstStyle>
            <a:lvl1pPr lvl="0" algn="l" rtl="0">
              <a:lnSpc>
                <a:spcPct val="90000"/>
              </a:lnSpc>
              <a:spcBef>
                <a:spcPts val="0"/>
              </a:spcBef>
              <a:spcAft>
                <a:spcPts val="0"/>
              </a:spcAft>
              <a:buClr>
                <a:schemeClr val="dk1"/>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152" name="Google Shape;152;p30"/>
          <p:cNvSpPr txBox="1">
            <a:spLocks noGrp="1"/>
          </p:cNvSpPr>
          <p:nvPr>
            <p:ph type="body" idx="1"/>
          </p:nvPr>
        </p:nvSpPr>
        <p:spPr>
          <a:xfrm>
            <a:off x="628650" y="1369219"/>
            <a:ext cx="3886200" cy="3263400"/>
          </a:xfrm>
          <a:prstGeom prst="rect">
            <a:avLst/>
          </a:prstGeom>
          <a:noFill/>
          <a:ln>
            <a:noFill/>
          </a:ln>
        </p:spPr>
        <p:txBody>
          <a:bodyPr spcFirstLastPara="1" wrap="square" lIns="68575" tIns="34275" rIns="68575" bIns="34275" anchor="t" anchorCtr="0">
            <a:noAutofit/>
          </a:bodyPr>
          <a:lstStyle>
            <a:lvl1pPr marL="457200" lvl="0" indent="-317500" algn="l" rtl="0">
              <a:lnSpc>
                <a:spcPct val="90000"/>
              </a:lnSpc>
              <a:spcBef>
                <a:spcPts val="800"/>
              </a:spcBef>
              <a:spcAft>
                <a:spcPts val="0"/>
              </a:spcAft>
              <a:buClr>
                <a:schemeClr val="dk1"/>
              </a:buClr>
              <a:buSzPts val="1400"/>
              <a:buChar char="•"/>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153" name="Google Shape;153;p30"/>
          <p:cNvSpPr txBox="1">
            <a:spLocks noGrp="1"/>
          </p:cNvSpPr>
          <p:nvPr>
            <p:ph type="body" idx="2"/>
          </p:nvPr>
        </p:nvSpPr>
        <p:spPr>
          <a:xfrm>
            <a:off x="4629150" y="1369219"/>
            <a:ext cx="3886200" cy="3263400"/>
          </a:xfrm>
          <a:prstGeom prst="rect">
            <a:avLst/>
          </a:prstGeom>
          <a:noFill/>
          <a:ln>
            <a:noFill/>
          </a:ln>
        </p:spPr>
        <p:txBody>
          <a:bodyPr spcFirstLastPara="1" wrap="square" lIns="68575" tIns="34275" rIns="68575" bIns="34275" anchor="t" anchorCtr="0">
            <a:noAutofit/>
          </a:bodyPr>
          <a:lstStyle>
            <a:lvl1pPr marL="457200" lvl="0" indent="-317500" algn="l" rtl="0">
              <a:lnSpc>
                <a:spcPct val="90000"/>
              </a:lnSpc>
              <a:spcBef>
                <a:spcPts val="800"/>
              </a:spcBef>
              <a:spcAft>
                <a:spcPts val="0"/>
              </a:spcAft>
              <a:buClr>
                <a:schemeClr val="dk1"/>
              </a:buClr>
              <a:buSzPts val="1400"/>
              <a:buChar char="•"/>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154" name="Google Shape;154;p30"/>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155" name="Google Shape;155;p30"/>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156" name="Google Shape;156;p30"/>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57"/>
        <p:cNvGrpSpPr/>
        <p:nvPr/>
      </p:nvGrpSpPr>
      <p:grpSpPr>
        <a:xfrm>
          <a:off x="0" y="0"/>
          <a:ext cx="0" cy="0"/>
          <a:chOff x="0" y="0"/>
          <a:chExt cx="0" cy="0"/>
        </a:xfrm>
      </p:grpSpPr>
      <p:sp>
        <p:nvSpPr>
          <p:cNvPr id="158" name="Google Shape;158;p31"/>
          <p:cNvSpPr txBox="1">
            <a:spLocks noGrp="1"/>
          </p:cNvSpPr>
          <p:nvPr>
            <p:ph type="title"/>
          </p:nvPr>
        </p:nvSpPr>
        <p:spPr>
          <a:xfrm>
            <a:off x="629841" y="273844"/>
            <a:ext cx="7886700" cy="994200"/>
          </a:xfrm>
          <a:prstGeom prst="rect">
            <a:avLst/>
          </a:prstGeom>
          <a:noFill/>
          <a:ln>
            <a:noFill/>
          </a:ln>
        </p:spPr>
        <p:txBody>
          <a:bodyPr spcFirstLastPara="1" wrap="square" lIns="68575" tIns="34275" rIns="68575" bIns="34275" anchor="ctr" anchorCtr="0">
            <a:noAutofit/>
          </a:bodyPr>
          <a:lstStyle>
            <a:lvl1pPr lvl="0" algn="l" rtl="0">
              <a:lnSpc>
                <a:spcPct val="90000"/>
              </a:lnSpc>
              <a:spcBef>
                <a:spcPts val="0"/>
              </a:spcBef>
              <a:spcAft>
                <a:spcPts val="0"/>
              </a:spcAft>
              <a:buClr>
                <a:schemeClr val="dk1"/>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159" name="Google Shape;159;p31"/>
          <p:cNvSpPr txBox="1">
            <a:spLocks noGrp="1"/>
          </p:cNvSpPr>
          <p:nvPr>
            <p:ph type="body" idx="1"/>
          </p:nvPr>
        </p:nvSpPr>
        <p:spPr>
          <a:xfrm>
            <a:off x="629841" y="1260872"/>
            <a:ext cx="3868500" cy="618000"/>
          </a:xfrm>
          <a:prstGeom prst="rect">
            <a:avLst/>
          </a:prstGeom>
          <a:noFill/>
          <a:ln>
            <a:noFill/>
          </a:ln>
        </p:spPr>
        <p:txBody>
          <a:bodyPr spcFirstLastPara="1" wrap="square" lIns="68575" tIns="34275" rIns="68575" bIns="34275" anchor="b" anchorCtr="0">
            <a:noAutofit/>
          </a:bodyPr>
          <a:lstStyle>
            <a:lvl1pPr marL="457200" lvl="0" indent="-228600" algn="l" rtl="0">
              <a:lnSpc>
                <a:spcPct val="90000"/>
              </a:lnSpc>
              <a:spcBef>
                <a:spcPts val="800"/>
              </a:spcBef>
              <a:spcAft>
                <a:spcPts val="0"/>
              </a:spcAft>
              <a:buClr>
                <a:schemeClr val="dk1"/>
              </a:buClr>
              <a:buSzPts val="1800"/>
              <a:buNone/>
              <a:defRPr sz="1800" b="1"/>
            </a:lvl1pPr>
            <a:lvl2pPr marL="914400" lvl="1" indent="-228600" algn="l" rtl="0">
              <a:lnSpc>
                <a:spcPct val="90000"/>
              </a:lnSpc>
              <a:spcBef>
                <a:spcPts val="400"/>
              </a:spcBef>
              <a:spcAft>
                <a:spcPts val="0"/>
              </a:spcAft>
              <a:buClr>
                <a:schemeClr val="dk1"/>
              </a:buClr>
              <a:buSzPts val="1500"/>
              <a:buNone/>
              <a:defRPr sz="1500" b="1"/>
            </a:lvl2pPr>
            <a:lvl3pPr marL="1371600" lvl="2" indent="-228600" algn="l" rtl="0">
              <a:lnSpc>
                <a:spcPct val="90000"/>
              </a:lnSpc>
              <a:spcBef>
                <a:spcPts val="400"/>
              </a:spcBef>
              <a:spcAft>
                <a:spcPts val="0"/>
              </a:spcAft>
              <a:buClr>
                <a:schemeClr val="dk1"/>
              </a:buClr>
              <a:buSzPts val="1400"/>
              <a:buNone/>
              <a:defRPr sz="1400" b="1"/>
            </a:lvl3pPr>
            <a:lvl4pPr marL="1828800" lvl="3" indent="-228600" algn="l" rtl="0">
              <a:lnSpc>
                <a:spcPct val="90000"/>
              </a:lnSpc>
              <a:spcBef>
                <a:spcPts val="400"/>
              </a:spcBef>
              <a:spcAft>
                <a:spcPts val="0"/>
              </a:spcAft>
              <a:buClr>
                <a:schemeClr val="dk1"/>
              </a:buClr>
              <a:buSzPts val="1200"/>
              <a:buNone/>
              <a:defRPr sz="1200" b="1"/>
            </a:lvl4pPr>
            <a:lvl5pPr marL="2286000" lvl="4" indent="-228600" algn="l" rtl="0">
              <a:lnSpc>
                <a:spcPct val="90000"/>
              </a:lnSpc>
              <a:spcBef>
                <a:spcPts val="400"/>
              </a:spcBef>
              <a:spcAft>
                <a:spcPts val="0"/>
              </a:spcAft>
              <a:buClr>
                <a:schemeClr val="dk1"/>
              </a:buClr>
              <a:buSzPts val="1200"/>
              <a:buNone/>
              <a:defRPr sz="1200" b="1"/>
            </a:lvl5pPr>
            <a:lvl6pPr marL="2743200" lvl="5" indent="-228600" algn="l" rtl="0">
              <a:lnSpc>
                <a:spcPct val="90000"/>
              </a:lnSpc>
              <a:spcBef>
                <a:spcPts val="400"/>
              </a:spcBef>
              <a:spcAft>
                <a:spcPts val="0"/>
              </a:spcAft>
              <a:buClr>
                <a:schemeClr val="dk1"/>
              </a:buClr>
              <a:buSzPts val="1200"/>
              <a:buNone/>
              <a:defRPr sz="1200" b="1"/>
            </a:lvl6pPr>
            <a:lvl7pPr marL="3200400" lvl="6" indent="-228600" algn="l" rtl="0">
              <a:lnSpc>
                <a:spcPct val="90000"/>
              </a:lnSpc>
              <a:spcBef>
                <a:spcPts val="400"/>
              </a:spcBef>
              <a:spcAft>
                <a:spcPts val="0"/>
              </a:spcAft>
              <a:buClr>
                <a:schemeClr val="dk1"/>
              </a:buClr>
              <a:buSzPts val="1200"/>
              <a:buNone/>
              <a:defRPr sz="1200" b="1"/>
            </a:lvl7pPr>
            <a:lvl8pPr marL="3657600" lvl="7" indent="-228600" algn="l" rtl="0">
              <a:lnSpc>
                <a:spcPct val="90000"/>
              </a:lnSpc>
              <a:spcBef>
                <a:spcPts val="400"/>
              </a:spcBef>
              <a:spcAft>
                <a:spcPts val="0"/>
              </a:spcAft>
              <a:buClr>
                <a:schemeClr val="dk1"/>
              </a:buClr>
              <a:buSzPts val="1200"/>
              <a:buNone/>
              <a:defRPr sz="1200" b="1"/>
            </a:lvl8pPr>
            <a:lvl9pPr marL="4114800" lvl="8" indent="-228600" algn="l" rtl="0">
              <a:lnSpc>
                <a:spcPct val="90000"/>
              </a:lnSpc>
              <a:spcBef>
                <a:spcPts val="400"/>
              </a:spcBef>
              <a:spcAft>
                <a:spcPts val="0"/>
              </a:spcAft>
              <a:buClr>
                <a:schemeClr val="dk1"/>
              </a:buClr>
              <a:buSzPts val="1200"/>
              <a:buNone/>
              <a:defRPr sz="1200" b="1"/>
            </a:lvl9pPr>
          </a:lstStyle>
          <a:p>
            <a:endParaRPr/>
          </a:p>
        </p:txBody>
      </p:sp>
      <p:sp>
        <p:nvSpPr>
          <p:cNvPr id="160" name="Google Shape;160;p31"/>
          <p:cNvSpPr txBox="1">
            <a:spLocks noGrp="1"/>
          </p:cNvSpPr>
          <p:nvPr>
            <p:ph type="body" idx="2"/>
          </p:nvPr>
        </p:nvSpPr>
        <p:spPr>
          <a:xfrm>
            <a:off x="629841" y="1878806"/>
            <a:ext cx="3868500" cy="2763300"/>
          </a:xfrm>
          <a:prstGeom prst="rect">
            <a:avLst/>
          </a:prstGeom>
          <a:noFill/>
          <a:ln>
            <a:noFill/>
          </a:ln>
        </p:spPr>
        <p:txBody>
          <a:bodyPr spcFirstLastPara="1" wrap="square" lIns="68575" tIns="34275" rIns="68575" bIns="34275" anchor="t" anchorCtr="0">
            <a:noAutofit/>
          </a:bodyPr>
          <a:lstStyle>
            <a:lvl1pPr marL="457200" lvl="0" indent="-317500" algn="l" rtl="0">
              <a:lnSpc>
                <a:spcPct val="90000"/>
              </a:lnSpc>
              <a:spcBef>
                <a:spcPts val="800"/>
              </a:spcBef>
              <a:spcAft>
                <a:spcPts val="0"/>
              </a:spcAft>
              <a:buClr>
                <a:schemeClr val="dk1"/>
              </a:buClr>
              <a:buSzPts val="1400"/>
              <a:buChar char="•"/>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161" name="Google Shape;161;p31"/>
          <p:cNvSpPr txBox="1">
            <a:spLocks noGrp="1"/>
          </p:cNvSpPr>
          <p:nvPr>
            <p:ph type="body" idx="3"/>
          </p:nvPr>
        </p:nvSpPr>
        <p:spPr>
          <a:xfrm>
            <a:off x="4629150" y="1260872"/>
            <a:ext cx="3887400" cy="618000"/>
          </a:xfrm>
          <a:prstGeom prst="rect">
            <a:avLst/>
          </a:prstGeom>
          <a:noFill/>
          <a:ln>
            <a:noFill/>
          </a:ln>
        </p:spPr>
        <p:txBody>
          <a:bodyPr spcFirstLastPara="1" wrap="square" lIns="68575" tIns="34275" rIns="68575" bIns="34275" anchor="b" anchorCtr="0">
            <a:noAutofit/>
          </a:bodyPr>
          <a:lstStyle>
            <a:lvl1pPr marL="457200" lvl="0" indent="-228600" algn="l" rtl="0">
              <a:lnSpc>
                <a:spcPct val="90000"/>
              </a:lnSpc>
              <a:spcBef>
                <a:spcPts val="800"/>
              </a:spcBef>
              <a:spcAft>
                <a:spcPts val="0"/>
              </a:spcAft>
              <a:buClr>
                <a:schemeClr val="dk1"/>
              </a:buClr>
              <a:buSzPts val="1800"/>
              <a:buNone/>
              <a:defRPr sz="1800" b="1"/>
            </a:lvl1pPr>
            <a:lvl2pPr marL="914400" lvl="1" indent="-228600" algn="l" rtl="0">
              <a:lnSpc>
                <a:spcPct val="90000"/>
              </a:lnSpc>
              <a:spcBef>
                <a:spcPts val="400"/>
              </a:spcBef>
              <a:spcAft>
                <a:spcPts val="0"/>
              </a:spcAft>
              <a:buClr>
                <a:schemeClr val="dk1"/>
              </a:buClr>
              <a:buSzPts val="1500"/>
              <a:buNone/>
              <a:defRPr sz="1500" b="1"/>
            </a:lvl2pPr>
            <a:lvl3pPr marL="1371600" lvl="2" indent="-228600" algn="l" rtl="0">
              <a:lnSpc>
                <a:spcPct val="90000"/>
              </a:lnSpc>
              <a:spcBef>
                <a:spcPts val="400"/>
              </a:spcBef>
              <a:spcAft>
                <a:spcPts val="0"/>
              </a:spcAft>
              <a:buClr>
                <a:schemeClr val="dk1"/>
              </a:buClr>
              <a:buSzPts val="1400"/>
              <a:buNone/>
              <a:defRPr sz="1400" b="1"/>
            </a:lvl3pPr>
            <a:lvl4pPr marL="1828800" lvl="3" indent="-228600" algn="l" rtl="0">
              <a:lnSpc>
                <a:spcPct val="90000"/>
              </a:lnSpc>
              <a:spcBef>
                <a:spcPts val="400"/>
              </a:spcBef>
              <a:spcAft>
                <a:spcPts val="0"/>
              </a:spcAft>
              <a:buClr>
                <a:schemeClr val="dk1"/>
              </a:buClr>
              <a:buSzPts val="1200"/>
              <a:buNone/>
              <a:defRPr sz="1200" b="1"/>
            </a:lvl4pPr>
            <a:lvl5pPr marL="2286000" lvl="4" indent="-228600" algn="l" rtl="0">
              <a:lnSpc>
                <a:spcPct val="90000"/>
              </a:lnSpc>
              <a:spcBef>
                <a:spcPts val="400"/>
              </a:spcBef>
              <a:spcAft>
                <a:spcPts val="0"/>
              </a:spcAft>
              <a:buClr>
                <a:schemeClr val="dk1"/>
              </a:buClr>
              <a:buSzPts val="1200"/>
              <a:buNone/>
              <a:defRPr sz="1200" b="1"/>
            </a:lvl5pPr>
            <a:lvl6pPr marL="2743200" lvl="5" indent="-228600" algn="l" rtl="0">
              <a:lnSpc>
                <a:spcPct val="90000"/>
              </a:lnSpc>
              <a:spcBef>
                <a:spcPts val="400"/>
              </a:spcBef>
              <a:spcAft>
                <a:spcPts val="0"/>
              </a:spcAft>
              <a:buClr>
                <a:schemeClr val="dk1"/>
              </a:buClr>
              <a:buSzPts val="1200"/>
              <a:buNone/>
              <a:defRPr sz="1200" b="1"/>
            </a:lvl6pPr>
            <a:lvl7pPr marL="3200400" lvl="6" indent="-228600" algn="l" rtl="0">
              <a:lnSpc>
                <a:spcPct val="90000"/>
              </a:lnSpc>
              <a:spcBef>
                <a:spcPts val="400"/>
              </a:spcBef>
              <a:spcAft>
                <a:spcPts val="0"/>
              </a:spcAft>
              <a:buClr>
                <a:schemeClr val="dk1"/>
              </a:buClr>
              <a:buSzPts val="1200"/>
              <a:buNone/>
              <a:defRPr sz="1200" b="1"/>
            </a:lvl7pPr>
            <a:lvl8pPr marL="3657600" lvl="7" indent="-228600" algn="l" rtl="0">
              <a:lnSpc>
                <a:spcPct val="90000"/>
              </a:lnSpc>
              <a:spcBef>
                <a:spcPts val="400"/>
              </a:spcBef>
              <a:spcAft>
                <a:spcPts val="0"/>
              </a:spcAft>
              <a:buClr>
                <a:schemeClr val="dk1"/>
              </a:buClr>
              <a:buSzPts val="1200"/>
              <a:buNone/>
              <a:defRPr sz="1200" b="1"/>
            </a:lvl8pPr>
            <a:lvl9pPr marL="4114800" lvl="8" indent="-228600" algn="l" rtl="0">
              <a:lnSpc>
                <a:spcPct val="90000"/>
              </a:lnSpc>
              <a:spcBef>
                <a:spcPts val="400"/>
              </a:spcBef>
              <a:spcAft>
                <a:spcPts val="0"/>
              </a:spcAft>
              <a:buClr>
                <a:schemeClr val="dk1"/>
              </a:buClr>
              <a:buSzPts val="1200"/>
              <a:buNone/>
              <a:defRPr sz="1200" b="1"/>
            </a:lvl9pPr>
          </a:lstStyle>
          <a:p>
            <a:endParaRPr/>
          </a:p>
        </p:txBody>
      </p:sp>
      <p:sp>
        <p:nvSpPr>
          <p:cNvPr id="162" name="Google Shape;162;p31"/>
          <p:cNvSpPr txBox="1">
            <a:spLocks noGrp="1"/>
          </p:cNvSpPr>
          <p:nvPr>
            <p:ph type="body" idx="4"/>
          </p:nvPr>
        </p:nvSpPr>
        <p:spPr>
          <a:xfrm>
            <a:off x="4629150" y="1878806"/>
            <a:ext cx="3887400" cy="2763300"/>
          </a:xfrm>
          <a:prstGeom prst="rect">
            <a:avLst/>
          </a:prstGeom>
          <a:noFill/>
          <a:ln>
            <a:noFill/>
          </a:ln>
        </p:spPr>
        <p:txBody>
          <a:bodyPr spcFirstLastPara="1" wrap="square" lIns="68575" tIns="34275" rIns="68575" bIns="34275" anchor="t" anchorCtr="0">
            <a:noAutofit/>
          </a:bodyPr>
          <a:lstStyle>
            <a:lvl1pPr marL="457200" lvl="0" indent="-317500" algn="l" rtl="0">
              <a:lnSpc>
                <a:spcPct val="90000"/>
              </a:lnSpc>
              <a:spcBef>
                <a:spcPts val="800"/>
              </a:spcBef>
              <a:spcAft>
                <a:spcPts val="0"/>
              </a:spcAft>
              <a:buClr>
                <a:schemeClr val="dk1"/>
              </a:buClr>
              <a:buSzPts val="1400"/>
              <a:buChar char="•"/>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163" name="Google Shape;163;p31"/>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164" name="Google Shape;164;p31"/>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165" name="Google Shape;165;p31"/>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66"/>
        <p:cNvGrpSpPr/>
        <p:nvPr/>
      </p:nvGrpSpPr>
      <p:grpSpPr>
        <a:xfrm>
          <a:off x="0" y="0"/>
          <a:ext cx="0" cy="0"/>
          <a:chOff x="0" y="0"/>
          <a:chExt cx="0" cy="0"/>
        </a:xfrm>
      </p:grpSpPr>
      <p:sp>
        <p:nvSpPr>
          <p:cNvPr id="167" name="Google Shape;167;p32"/>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Autofit/>
          </a:bodyPr>
          <a:lstStyle>
            <a:lvl1pPr lvl="0" algn="l" rtl="0">
              <a:lnSpc>
                <a:spcPct val="90000"/>
              </a:lnSpc>
              <a:spcBef>
                <a:spcPts val="0"/>
              </a:spcBef>
              <a:spcAft>
                <a:spcPts val="0"/>
              </a:spcAft>
              <a:buClr>
                <a:schemeClr val="dk1"/>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168" name="Google Shape;168;p32"/>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169" name="Google Shape;169;p32"/>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170" name="Google Shape;170;p32"/>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71"/>
        <p:cNvGrpSpPr/>
        <p:nvPr/>
      </p:nvGrpSpPr>
      <p:grpSpPr>
        <a:xfrm>
          <a:off x="0" y="0"/>
          <a:ext cx="0" cy="0"/>
          <a:chOff x="0" y="0"/>
          <a:chExt cx="0" cy="0"/>
        </a:xfrm>
      </p:grpSpPr>
      <p:sp>
        <p:nvSpPr>
          <p:cNvPr id="172" name="Google Shape;172;p33"/>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173" name="Google Shape;173;p33"/>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174" name="Google Shape;174;p33"/>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75"/>
        <p:cNvGrpSpPr/>
        <p:nvPr/>
      </p:nvGrpSpPr>
      <p:grpSpPr>
        <a:xfrm>
          <a:off x="0" y="0"/>
          <a:ext cx="0" cy="0"/>
          <a:chOff x="0" y="0"/>
          <a:chExt cx="0" cy="0"/>
        </a:xfrm>
      </p:grpSpPr>
      <p:sp>
        <p:nvSpPr>
          <p:cNvPr id="176" name="Google Shape;176;p34"/>
          <p:cNvSpPr txBox="1">
            <a:spLocks noGrp="1"/>
          </p:cNvSpPr>
          <p:nvPr>
            <p:ph type="title"/>
          </p:nvPr>
        </p:nvSpPr>
        <p:spPr>
          <a:xfrm>
            <a:off x="629841" y="342900"/>
            <a:ext cx="2949000" cy="1200300"/>
          </a:xfrm>
          <a:prstGeom prst="rect">
            <a:avLst/>
          </a:prstGeom>
          <a:noFill/>
          <a:ln>
            <a:noFill/>
          </a:ln>
        </p:spPr>
        <p:txBody>
          <a:bodyPr spcFirstLastPara="1" wrap="square" lIns="68575" tIns="34275" rIns="68575" bIns="34275" anchor="b" anchorCtr="0">
            <a:no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177" name="Google Shape;177;p34"/>
          <p:cNvSpPr txBox="1">
            <a:spLocks noGrp="1"/>
          </p:cNvSpPr>
          <p:nvPr>
            <p:ph type="body" idx="1"/>
          </p:nvPr>
        </p:nvSpPr>
        <p:spPr>
          <a:xfrm>
            <a:off x="3887391" y="740569"/>
            <a:ext cx="4629300" cy="3655200"/>
          </a:xfrm>
          <a:prstGeom prst="rect">
            <a:avLst/>
          </a:prstGeom>
          <a:noFill/>
          <a:ln>
            <a:noFill/>
          </a:ln>
        </p:spPr>
        <p:txBody>
          <a:bodyPr spcFirstLastPara="1" wrap="square" lIns="68575" tIns="34275" rIns="68575" bIns="34275" anchor="t" anchorCtr="0">
            <a:noAutofit/>
          </a:bodyPr>
          <a:lstStyle>
            <a:lvl1pPr marL="457200" lvl="0" indent="-381000" algn="l" rtl="0">
              <a:lnSpc>
                <a:spcPct val="90000"/>
              </a:lnSpc>
              <a:spcBef>
                <a:spcPts val="800"/>
              </a:spcBef>
              <a:spcAft>
                <a:spcPts val="0"/>
              </a:spcAft>
              <a:buClr>
                <a:schemeClr val="dk1"/>
              </a:buClr>
              <a:buSzPts val="2400"/>
              <a:buChar char="•"/>
              <a:defRPr sz="2400"/>
            </a:lvl1pPr>
            <a:lvl2pPr marL="914400" lvl="1" indent="-361950" algn="l" rtl="0">
              <a:lnSpc>
                <a:spcPct val="90000"/>
              </a:lnSpc>
              <a:spcBef>
                <a:spcPts val="400"/>
              </a:spcBef>
              <a:spcAft>
                <a:spcPts val="0"/>
              </a:spcAft>
              <a:buClr>
                <a:schemeClr val="dk1"/>
              </a:buClr>
              <a:buSzPts val="2100"/>
              <a:buChar char="•"/>
              <a:defRPr sz="2100"/>
            </a:lvl2pPr>
            <a:lvl3pPr marL="1371600" lvl="2" indent="-342900" algn="l" rtl="0">
              <a:lnSpc>
                <a:spcPct val="90000"/>
              </a:lnSpc>
              <a:spcBef>
                <a:spcPts val="400"/>
              </a:spcBef>
              <a:spcAft>
                <a:spcPts val="0"/>
              </a:spcAft>
              <a:buClr>
                <a:schemeClr val="dk1"/>
              </a:buClr>
              <a:buSzPts val="1800"/>
              <a:buChar char="•"/>
              <a:defRPr sz="1800"/>
            </a:lvl3pPr>
            <a:lvl4pPr marL="1828800" lvl="3" indent="-323850" algn="l" rtl="0">
              <a:lnSpc>
                <a:spcPct val="90000"/>
              </a:lnSpc>
              <a:spcBef>
                <a:spcPts val="400"/>
              </a:spcBef>
              <a:spcAft>
                <a:spcPts val="0"/>
              </a:spcAft>
              <a:buClr>
                <a:schemeClr val="dk1"/>
              </a:buClr>
              <a:buSzPts val="1500"/>
              <a:buChar char="•"/>
              <a:defRPr sz="1500"/>
            </a:lvl4pPr>
            <a:lvl5pPr marL="2286000" lvl="4" indent="-323850" algn="l" rtl="0">
              <a:lnSpc>
                <a:spcPct val="90000"/>
              </a:lnSpc>
              <a:spcBef>
                <a:spcPts val="400"/>
              </a:spcBef>
              <a:spcAft>
                <a:spcPts val="0"/>
              </a:spcAft>
              <a:buClr>
                <a:schemeClr val="dk1"/>
              </a:buClr>
              <a:buSzPts val="1500"/>
              <a:buChar char="•"/>
              <a:defRPr sz="1500"/>
            </a:lvl5pPr>
            <a:lvl6pPr marL="2743200" lvl="5" indent="-323850" algn="l" rtl="0">
              <a:lnSpc>
                <a:spcPct val="90000"/>
              </a:lnSpc>
              <a:spcBef>
                <a:spcPts val="400"/>
              </a:spcBef>
              <a:spcAft>
                <a:spcPts val="0"/>
              </a:spcAft>
              <a:buClr>
                <a:schemeClr val="dk1"/>
              </a:buClr>
              <a:buSzPts val="1500"/>
              <a:buChar char="•"/>
              <a:defRPr sz="1500"/>
            </a:lvl6pPr>
            <a:lvl7pPr marL="3200400" lvl="6" indent="-323850" algn="l" rtl="0">
              <a:lnSpc>
                <a:spcPct val="90000"/>
              </a:lnSpc>
              <a:spcBef>
                <a:spcPts val="400"/>
              </a:spcBef>
              <a:spcAft>
                <a:spcPts val="0"/>
              </a:spcAft>
              <a:buClr>
                <a:schemeClr val="dk1"/>
              </a:buClr>
              <a:buSzPts val="1500"/>
              <a:buChar char="•"/>
              <a:defRPr sz="1500"/>
            </a:lvl7pPr>
            <a:lvl8pPr marL="3657600" lvl="7" indent="-323850" algn="l" rtl="0">
              <a:lnSpc>
                <a:spcPct val="90000"/>
              </a:lnSpc>
              <a:spcBef>
                <a:spcPts val="400"/>
              </a:spcBef>
              <a:spcAft>
                <a:spcPts val="0"/>
              </a:spcAft>
              <a:buClr>
                <a:schemeClr val="dk1"/>
              </a:buClr>
              <a:buSzPts val="1500"/>
              <a:buChar char="•"/>
              <a:defRPr sz="1500"/>
            </a:lvl8pPr>
            <a:lvl9pPr marL="4114800" lvl="8" indent="-323850" algn="l" rtl="0">
              <a:lnSpc>
                <a:spcPct val="90000"/>
              </a:lnSpc>
              <a:spcBef>
                <a:spcPts val="400"/>
              </a:spcBef>
              <a:spcAft>
                <a:spcPts val="0"/>
              </a:spcAft>
              <a:buClr>
                <a:schemeClr val="dk1"/>
              </a:buClr>
              <a:buSzPts val="1500"/>
              <a:buChar char="•"/>
              <a:defRPr sz="1500"/>
            </a:lvl9pPr>
          </a:lstStyle>
          <a:p>
            <a:endParaRPr/>
          </a:p>
        </p:txBody>
      </p:sp>
      <p:sp>
        <p:nvSpPr>
          <p:cNvPr id="178" name="Google Shape;178;p34"/>
          <p:cNvSpPr txBox="1">
            <a:spLocks noGrp="1"/>
          </p:cNvSpPr>
          <p:nvPr>
            <p:ph type="body" idx="2"/>
          </p:nvPr>
        </p:nvSpPr>
        <p:spPr>
          <a:xfrm>
            <a:off x="629841" y="1543050"/>
            <a:ext cx="2949000" cy="28587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1"/>
              </a:buClr>
              <a:buSzPts val="1200"/>
              <a:buNone/>
              <a:defRPr sz="1200"/>
            </a:lvl1pPr>
            <a:lvl2pPr marL="914400" lvl="1" indent="-228600" algn="l" rtl="0">
              <a:lnSpc>
                <a:spcPct val="90000"/>
              </a:lnSpc>
              <a:spcBef>
                <a:spcPts val="400"/>
              </a:spcBef>
              <a:spcAft>
                <a:spcPts val="0"/>
              </a:spcAft>
              <a:buClr>
                <a:schemeClr val="dk1"/>
              </a:buClr>
              <a:buSzPts val="1100"/>
              <a:buNone/>
              <a:defRPr sz="1100"/>
            </a:lvl2pPr>
            <a:lvl3pPr marL="1371600" lvl="2" indent="-228600" algn="l" rtl="0">
              <a:lnSpc>
                <a:spcPct val="90000"/>
              </a:lnSpc>
              <a:spcBef>
                <a:spcPts val="400"/>
              </a:spcBef>
              <a:spcAft>
                <a:spcPts val="0"/>
              </a:spcAft>
              <a:buClr>
                <a:schemeClr val="dk1"/>
              </a:buClr>
              <a:buSzPts val="900"/>
              <a:buNone/>
              <a:defRPr sz="900"/>
            </a:lvl3pPr>
            <a:lvl4pPr marL="1828800" lvl="3" indent="-228600" algn="l" rtl="0">
              <a:lnSpc>
                <a:spcPct val="90000"/>
              </a:lnSpc>
              <a:spcBef>
                <a:spcPts val="400"/>
              </a:spcBef>
              <a:spcAft>
                <a:spcPts val="0"/>
              </a:spcAft>
              <a:buClr>
                <a:schemeClr val="dk1"/>
              </a:buClr>
              <a:buSzPts val="800"/>
              <a:buNone/>
              <a:defRPr sz="800"/>
            </a:lvl4pPr>
            <a:lvl5pPr marL="2286000" lvl="4" indent="-228600" algn="l" rtl="0">
              <a:lnSpc>
                <a:spcPct val="90000"/>
              </a:lnSpc>
              <a:spcBef>
                <a:spcPts val="400"/>
              </a:spcBef>
              <a:spcAft>
                <a:spcPts val="0"/>
              </a:spcAft>
              <a:buClr>
                <a:schemeClr val="dk1"/>
              </a:buClr>
              <a:buSzPts val="800"/>
              <a:buNone/>
              <a:defRPr sz="800"/>
            </a:lvl5pPr>
            <a:lvl6pPr marL="2743200" lvl="5" indent="-228600" algn="l" rtl="0">
              <a:lnSpc>
                <a:spcPct val="90000"/>
              </a:lnSpc>
              <a:spcBef>
                <a:spcPts val="400"/>
              </a:spcBef>
              <a:spcAft>
                <a:spcPts val="0"/>
              </a:spcAft>
              <a:buClr>
                <a:schemeClr val="dk1"/>
              </a:buClr>
              <a:buSzPts val="800"/>
              <a:buNone/>
              <a:defRPr sz="800"/>
            </a:lvl6pPr>
            <a:lvl7pPr marL="3200400" lvl="6" indent="-228600" algn="l" rtl="0">
              <a:lnSpc>
                <a:spcPct val="90000"/>
              </a:lnSpc>
              <a:spcBef>
                <a:spcPts val="400"/>
              </a:spcBef>
              <a:spcAft>
                <a:spcPts val="0"/>
              </a:spcAft>
              <a:buClr>
                <a:schemeClr val="dk1"/>
              </a:buClr>
              <a:buSzPts val="800"/>
              <a:buNone/>
              <a:defRPr sz="800"/>
            </a:lvl7pPr>
            <a:lvl8pPr marL="3657600" lvl="7" indent="-228600" algn="l" rtl="0">
              <a:lnSpc>
                <a:spcPct val="90000"/>
              </a:lnSpc>
              <a:spcBef>
                <a:spcPts val="400"/>
              </a:spcBef>
              <a:spcAft>
                <a:spcPts val="0"/>
              </a:spcAft>
              <a:buClr>
                <a:schemeClr val="dk1"/>
              </a:buClr>
              <a:buSzPts val="800"/>
              <a:buNone/>
              <a:defRPr sz="800"/>
            </a:lvl8pPr>
            <a:lvl9pPr marL="4114800" lvl="8" indent="-228600" algn="l" rtl="0">
              <a:lnSpc>
                <a:spcPct val="90000"/>
              </a:lnSpc>
              <a:spcBef>
                <a:spcPts val="400"/>
              </a:spcBef>
              <a:spcAft>
                <a:spcPts val="0"/>
              </a:spcAft>
              <a:buClr>
                <a:schemeClr val="dk1"/>
              </a:buClr>
              <a:buSzPts val="800"/>
              <a:buNone/>
              <a:defRPr sz="800"/>
            </a:lvl9pPr>
          </a:lstStyle>
          <a:p>
            <a:endParaRPr/>
          </a:p>
        </p:txBody>
      </p:sp>
      <p:sp>
        <p:nvSpPr>
          <p:cNvPr id="179" name="Google Shape;179;p34"/>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180" name="Google Shape;180;p34"/>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181" name="Google Shape;181;p3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82"/>
        <p:cNvGrpSpPr/>
        <p:nvPr/>
      </p:nvGrpSpPr>
      <p:grpSpPr>
        <a:xfrm>
          <a:off x="0" y="0"/>
          <a:ext cx="0" cy="0"/>
          <a:chOff x="0" y="0"/>
          <a:chExt cx="0" cy="0"/>
        </a:xfrm>
      </p:grpSpPr>
      <p:sp>
        <p:nvSpPr>
          <p:cNvPr id="183" name="Google Shape;183;p35"/>
          <p:cNvSpPr txBox="1">
            <a:spLocks noGrp="1"/>
          </p:cNvSpPr>
          <p:nvPr>
            <p:ph type="title"/>
          </p:nvPr>
        </p:nvSpPr>
        <p:spPr>
          <a:xfrm>
            <a:off x="629841" y="342900"/>
            <a:ext cx="2949000" cy="1200300"/>
          </a:xfrm>
          <a:prstGeom prst="rect">
            <a:avLst/>
          </a:prstGeom>
          <a:noFill/>
          <a:ln>
            <a:noFill/>
          </a:ln>
        </p:spPr>
        <p:txBody>
          <a:bodyPr spcFirstLastPara="1" wrap="square" lIns="68575" tIns="34275" rIns="68575" bIns="34275" anchor="b" anchorCtr="0">
            <a:no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184" name="Google Shape;184;p35"/>
          <p:cNvSpPr>
            <a:spLocks noGrp="1"/>
          </p:cNvSpPr>
          <p:nvPr>
            <p:ph type="pic" idx="2"/>
          </p:nvPr>
        </p:nvSpPr>
        <p:spPr>
          <a:xfrm>
            <a:off x="3887391" y="740569"/>
            <a:ext cx="4629300" cy="3655200"/>
          </a:xfrm>
          <a:prstGeom prst="rect">
            <a:avLst/>
          </a:prstGeom>
          <a:noFill/>
          <a:ln>
            <a:noFill/>
          </a:ln>
        </p:spPr>
        <p:txBody>
          <a:bodyPr spcFirstLastPara="1" wrap="square" lIns="68575" tIns="34275" rIns="68575" bIns="34275" anchor="t" anchorCtr="0">
            <a:noAutofit/>
          </a:bodyPr>
          <a:lstStyle>
            <a:lvl1pPr marR="0" lvl="0" algn="l" rtl="0">
              <a:lnSpc>
                <a:spcPct val="90000"/>
              </a:lnSpc>
              <a:spcBef>
                <a:spcPts val="8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R="0" lvl="1" algn="l" rtl="0">
              <a:lnSpc>
                <a:spcPct val="90000"/>
              </a:lnSpc>
              <a:spcBef>
                <a:spcPts val="400"/>
              </a:spcBef>
              <a:spcAft>
                <a:spcPts val="0"/>
              </a:spcAft>
              <a:buClr>
                <a:schemeClr val="dk1"/>
              </a:buClr>
              <a:buSzPts val="2100"/>
              <a:buFont typeface="Arial"/>
              <a:buNone/>
              <a:defRPr sz="2100" b="0" i="0" u="none" strike="noStrike" cap="none">
                <a:solidFill>
                  <a:schemeClr val="dk1"/>
                </a:solidFill>
                <a:latin typeface="Calibri"/>
                <a:ea typeface="Calibri"/>
                <a:cs typeface="Calibri"/>
                <a:sym typeface="Calibri"/>
              </a:defRPr>
            </a:lvl2pPr>
            <a:lvl3pPr marR="0" lvl="2" algn="l" rtl="0">
              <a:lnSpc>
                <a:spcPct val="90000"/>
              </a:lnSpc>
              <a:spcBef>
                <a:spcPts val="4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l" rtl="0">
              <a:lnSpc>
                <a:spcPct val="90000"/>
              </a:lnSpc>
              <a:spcBef>
                <a:spcPts val="400"/>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4pPr>
            <a:lvl5pPr marR="0" lvl="4" algn="l" rtl="0">
              <a:lnSpc>
                <a:spcPct val="90000"/>
              </a:lnSpc>
              <a:spcBef>
                <a:spcPts val="400"/>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5pPr>
            <a:lvl6pPr marR="0" lvl="5" algn="l" rtl="0">
              <a:lnSpc>
                <a:spcPct val="90000"/>
              </a:lnSpc>
              <a:spcBef>
                <a:spcPts val="400"/>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6pPr>
            <a:lvl7pPr marR="0" lvl="6" algn="l" rtl="0">
              <a:lnSpc>
                <a:spcPct val="90000"/>
              </a:lnSpc>
              <a:spcBef>
                <a:spcPts val="400"/>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7pPr>
            <a:lvl8pPr marR="0" lvl="7" algn="l" rtl="0">
              <a:lnSpc>
                <a:spcPct val="90000"/>
              </a:lnSpc>
              <a:spcBef>
                <a:spcPts val="400"/>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8pPr>
            <a:lvl9pPr marR="0" lvl="8" algn="l" rtl="0">
              <a:lnSpc>
                <a:spcPct val="90000"/>
              </a:lnSpc>
              <a:spcBef>
                <a:spcPts val="400"/>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9pPr>
          </a:lstStyle>
          <a:p>
            <a:endParaRPr/>
          </a:p>
        </p:txBody>
      </p:sp>
      <p:sp>
        <p:nvSpPr>
          <p:cNvPr id="185" name="Google Shape;185;p35"/>
          <p:cNvSpPr txBox="1">
            <a:spLocks noGrp="1"/>
          </p:cNvSpPr>
          <p:nvPr>
            <p:ph type="body" idx="1"/>
          </p:nvPr>
        </p:nvSpPr>
        <p:spPr>
          <a:xfrm>
            <a:off x="629841" y="1543050"/>
            <a:ext cx="2949000" cy="28587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1"/>
              </a:buClr>
              <a:buSzPts val="1200"/>
              <a:buNone/>
              <a:defRPr sz="1200"/>
            </a:lvl1pPr>
            <a:lvl2pPr marL="914400" lvl="1" indent="-228600" algn="l" rtl="0">
              <a:lnSpc>
                <a:spcPct val="90000"/>
              </a:lnSpc>
              <a:spcBef>
                <a:spcPts val="400"/>
              </a:spcBef>
              <a:spcAft>
                <a:spcPts val="0"/>
              </a:spcAft>
              <a:buClr>
                <a:schemeClr val="dk1"/>
              </a:buClr>
              <a:buSzPts val="1100"/>
              <a:buNone/>
              <a:defRPr sz="1100"/>
            </a:lvl2pPr>
            <a:lvl3pPr marL="1371600" lvl="2" indent="-228600" algn="l" rtl="0">
              <a:lnSpc>
                <a:spcPct val="90000"/>
              </a:lnSpc>
              <a:spcBef>
                <a:spcPts val="400"/>
              </a:spcBef>
              <a:spcAft>
                <a:spcPts val="0"/>
              </a:spcAft>
              <a:buClr>
                <a:schemeClr val="dk1"/>
              </a:buClr>
              <a:buSzPts val="900"/>
              <a:buNone/>
              <a:defRPr sz="900"/>
            </a:lvl3pPr>
            <a:lvl4pPr marL="1828800" lvl="3" indent="-228600" algn="l" rtl="0">
              <a:lnSpc>
                <a:spcPct val="90000"/>
              </a:lnSpc>
              <a:spcBef>
                <a:spcPts val="400"/>
              </a:spcBef>
              <a:spcAft>
                <a:spcPts val="0"/>
              </a:spcAft>
              <a:buClr>
                <a:schemeClr val="dk1"/>
              </a:buClr>
              <a:buSzPts val="800"/>
              <a:buNone/>
              <a:defRPr sz="800"/>
            </a:lvl4pPr>
            <a:lvl5pPr marL="2286000" lvl="4" indent="-228600" algn="l" rtl="0">
              <a:lnSpc>
                <a:spcPct val="90000"/>
              </a:lnSpc>
              <a:spcBef>
                <a:spcPts val="400"/>
              </a:spcBef>
              <a:spcAft>
                <a:spcPts val="0"/>
              </a:spcAft>
              <a:buClr>
                <a:schemeClr val="dk1"/>
              </a:buClr>
              <a:buSzPts val="800"/>
              <a:buNone/>
              <a:defRPr sz="800"/>
            </a:lvl5pPr>
            <a:lvl6pPr marL="2743200" lvl="5" indent="-228600" algn="l" rtl="0">
              <a:lnSpc>
                <a:spcPct val="90000"/>
              </a:lnSpc>
              <a:spcBef>
                <a:spcPts val="400"/>
              </a:spcBef>
              <a:spcAft>
                <a:spcPts val="0"/>
              </a:spcAft>
              <a:buClr>
                <a:schemeClr val="dk1"/>
              </a:buClr>
              <a:buSzPts val="800"/>
              <a:buNone/>
              <a:defRPr sz="800"/>
            </a:lvl6pPr>
            <a:lvl7pPr marL="3200400" lvl="6" indent="-228600" algn="l" rtl="0">
              <a:lnSpc>
                <a:spcPct val="90000"/>
              </a:lnSpc>
              <a:spcBef>
                <a:spcPts val="400"/>
              </a:spcBef>
              <a:spcAft>
                <a:spcPts val="0"/>
              </a:spcAft>
              <a:buClr>
                <a:schemeClr val="dk1"/>
              </a:buClr>
              <a:buSzPts val="800"/>
              <a:buNone/>
              <a:defRPr sz="800"/>
            </a:lvl7pPr>
            <a:lvl8pPr marL="3657600" lvl="7" indent="-228600" algn="l" rtl="0">
              <a:lnSpc>
                <a:spcPct val="90000"/>
              </a:lnSpc>
              <a:spcBef>
                <a:spcPts val="400"/>
              </a:spcBef>
              <a:spcAft>
                <a:spcPts val="0"/>
              </a:spcAft>
              <a:buClr>
                <a:schemeClr val="dk1"/>
              </a:buClr>
              <a:buSzPts val="800"/>
              <a:buNone/>
              <a:defRPr sz="800"/>
            </a:lvl8pPr>
            <a:lvl9pPr marL="4114800" lvl="8" indent="-228600" algn="l" rtl="0">
              <a:lnSpc>
                <a:spcPct val="90000"/>
              </a:lnSpc>
              <a:spcBef>
                <a:spcPts val="400"/>
              </a:spcBef>
              <a:spcAft>
                <a:spcPts val="0"/>
              </a:spcAft>
              <a:buClr>
                <a:schemeClr val="dk1"/>
              </a:buClr>
              <a:buSzPts val="800"/>
              <a:buNone/>
              <a:defRPr sz="800"/>
            </a:lvl9pPr>
          </a:lstStyle>
          <a:p>
            <a:endParaRPr/>
          </a:p>
        </p:txBody>
      </p:sp>
      <p:sp>
        <p:nvSpPr>
          <p:cNvPr id="186" name="Google Shape;186;p35"/>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187" name="Google Shape;187;p35"/>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188" name="Google Shape;188;p35"/>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89"/>
        <p:cNvGrpSpPr/>
        <p:nvPr/>
      </p:nvGrpSpPr>
      <p:grpSpPr>
        <a:xfrm>
          <a:off x="0" y="0"/>
          <a:ext cx="0" cy="0"/>
          <a:chOff x="0" y="0"/>
          <a:chExt cx="0" cy="0"/>
        </a:xfrm>
      </p:grpSpPr>
      <p:sp>
        <p:nvSpPr>
          <p:cNvPr id="190" name="Google Shape;190;p36"/>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Autofit/>
          </a:bodyPr>
          <a:lstStyle>
            <a:lvl1pPr lvl="0" algn="l" rtl="0">
              <a:lnSpc>
                <a:spcPct val="90000"/>
              </a:lnSpc>
              <a:spcBef>
                <a:spcPts val="0"/>
              </a:spcBef>
              <a:spcAft>
                <a:spcPts val="0"/>
              </a:spcAft>
              <a:buClr>
                <a:schemeClr val="dk1"/>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191" name="Google Shape;191;p36"/>
          <p:cNvSpPr txBox="1">
            <a:spLocks noGrp="1"/>
          </p:cNvSpPr>
          <p:nvPr>
            <p:ph type="body" idx="1"/>
          </p:nvPr>
        </p:nvSpPr>
        <p:spPr>
          <a:xfrm rot="5400000">
            <a:off x="2940300" y="-942431"/>
            <a:ext cx="3263400" cy="7886700"/>
          </a:xfrm>
          <a:prstGeom prst="rect">
            <a:avLst/>
          </a:prstGeom>
          <a:noFill/>
          <a:ln>
            <a:noFill/>
          </a:ln>
        </p:spPr>
        <p:txBody>
          <a:bodyPr spcFirstLastPara="1" wrap="square" lIns="68575" tIns="34275" rIns="68575" bIns="34275" anchor="t" anchorCtr="0">
            <a:noAutofit/>
          </a:bodyPr>
          <a:lstStyle>
            <a:lvl1pPr marL="457200" lvl="0" indent="-317500" algn="l" rtl="0">
              <a:lnSpc>
                <a:spcPct val="90000"/>
              </a:lnSpc>
              <a:spcBef>
                <a:spcPts val="800"/>
              </a:spcBef>
              <a:spcAft>
                <a:spcPts val="0"/>
              </a:spcAft>
              <a:buClr>
                <a:schemeClr val="dk1"/>
              </a:buClr>
              <a:buSzPts val="1400"/>
              <a:buChar char="•"/>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192" name="Google Shape;192;p36"/>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193" name="Google Shape;193;p36"/>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194" name="Google Shape;194;p36"/>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95"/>
        <p:cNvGrpSpPr/>
        <p:nvPr/>
      </p:nvGrpSpPr>
      <p:grpSpPr>
        <a:xfrm>
          <a:off x="0" y="0"/>
          <a:ext cx="0" cy="0"/>
          <a:chOff x="0" y="0"/>
          <a:chExt cx="0" cy="0"/>
        </a:xfrm>
      </p:grpSpPr>
      <p:sp>
        <p:nvSpPr>
          <p:cNvPr id="196" name="Google Shape;196;p37"/>
          <p:cNvSpPr txBox="1">
            <a:spLocks noGrp="1"/>
          </p:cNvSpPr>
          <p:nvPr>
            <p:ph type="title"/>
          </p:nvPr>
        </p:nvSpPr>
        <p:spPr>
          <a:xfrm rot="5400000">
            <a:off x="5350050" y="1467544"/>
            <a:ext cx="4359000" cy="1971600"/>
          </a:xfrm>
          <a:prstGeom prst="rect">
            <a:avLst/>
          </a:prstGeom>
          <a:noFill/>
          <a:ln>
            <a:noFill/>
          </a:ln>
        </p:spPr>
        <p:txBody>
          <a:bodyPr spcFirstLastPara="1" wrap="square" lIns="68575" tIns="34275" rIns="68575" bIns="34275" anchor="ctr" anchorCtr="0">
            <a:noAutofit/>
          </a:bodyPr>
          <a:lstStyle>
            <a:lvl1pPr lvl="0" algn="l" rtl="0">
              <a:lnSpc>
                <a:spcPct val="90000"/>
              </a:lnSpc>
              <a:spcBef>
                <a:spcPts val="0"/>
              </a:spcBef>
              <a:spcAft>
                <a:spcPts val="0"/>
              </a:spcAft>
              <a:buClr>
                <a:schemeClr val="dk1"/>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197" name="Google Shape;197;p37"/>
          <p:cNvSpPr txBox="1">
            <a:spLocks noGrp="1"/>
          </p:cNvSpPr>
          <p:nvPr>
            <p:ph type="body" idx="1"/>
          </p:nvPr>
        </p:nvSpPr>
        <p:spPr>
          <a:xfrm rot="5400000">
            <a:off x="1349475" y="-447056"/>
            <a:ext cx="4359000" cy="5800800"/>
          </a:xfrm>
          <a:prstGeom prst="rect">
            <a:avLst/>
          </a:prstGeom>
          <a:noFill/>
          <a:ln>
            <a:noFill/>
          </a:ln>
        </p:spPr>
        <p:txBody>
          <a:bodyPr spcFirstLastPara="1" wrap="square" lIns="68575" tIns="34275" rIns="68575" bIns="34275" anchor="t" anchorCtr="0">
            <a:noAutofit/>
          </a:bodyPr>
          <a:lstStyle>
            <a:lvl1pPr marL="457200" lvl="0" indent="-317500" algn="l" rtl="0">
              <a:lnSpc>
                <a:spcPct val="90000"/>
              </a:lnSpc>
              <a:spcBef>
                <a:spcPts val="800"/>
              </a:spcBef>
              <a:spcAft>
                <a:spcPts val="0"/>
              </a:spcAft>
              <a:buClr>
                <a:schemeClr val="dk1"/>
              </a:buClr>
              <a:buSzPts val="1400"/>
              <a:buChar char="•"/>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198" name="Google Shape;198;p37"/>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199" name="Google Shape;199;p37"/>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200" name="Google Shape;200;p37"/>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theme" Target="../theme/theme3.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52" name="Google Shape;52;p13"/>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53" name="Google Shape;53;p1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4" name="Google Shape;54;p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5" name="Google Shape;55;p1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5"/>
        <p:cNvGrpSpPr/>
        <p:nvPr/>
      </p:nvGrpSpPr>
      <p:grpSpPr>
        <a:xfrm>
          <a:off x="0" y="0"/>
          <a:ext cx="0" cy="0"/>
          <a:chOff x="0" y="0"/>
          <a:chExt cx="0" cy="0"/>
        </a:xfrm>
      </p:grpSpPr>
      <p:sp>
        <p:nvSpPr>
          <p:cNvPr id="126" name="Google Shape;126;p25"/>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100"/>
              <a:buNone/>
              <a:defRPr sz="1400"/>
            </a:lvl2pPr>
            <a:lvl3pPr lvl="2" rtl="0">
              <a:spcBef>
                <a:spcPts val="0"/>
              </a:spcBef>
              <a:spcAft>
                <a:spcPts val="0"/>
              </a:spcAft>
              <a:buSzPts val="1100"/>
              <a:buNone/>
              <a:defRPr sz="1400"/>
            </a:lvl3pPr>
            <a:lvl4pPr lvl="3" rtl="0">
              <a:spcBef>
                <a:spcPts val="0"/>
              </a:spcBef>
              <a:spcAft>
                <a:spcPts val="0"/>
              </a:spcAft>
              <a:buSzPts val="1100"/>
              <a:buNone/>
              <a:defRPr sz="1400"/>
            </a:lvl4pPr>
            <a:lvl5pPr lvl="4" rtl="0">
              <a:spcBef>
                <a:spcPts val="0"/>
              </a:spcBef>
              <a:spcAft>
                <a:spcPts val="0"/>
              </a:spcAft>
              <a:buSzPts val="1100"/>
              <a:buNone/>
              <a:defRPr sz="1400"/>
            </a:lvl5pPr>
            <a:lvl6pPr lvl="5" rtl="0">
              <a:spcBef>
                <a:spcPts val="0"/>
              </a:spcBef>
              <a:spcAft>
                <a:spcPts val="0"/>
              </a:spcAft>
              <a:buSzPts val="1100"/>
              <a:buNone/>
              <a:defRPr sz="1400"/>
            </a:lvl6pPr>
            <a:lvl7pPr lvl="6" rtl="0">
              <a:spcBef>
                <a:spcPts val="0"/>
              </a:spcBef>
              <a:spcAft>
                <a:spcPts val="0"/>
              </a:spcAft>
              <a:buSzPts val="1100"/>
              <a:buNone/>
              <a:defRPr sz="1400"/>
            </a:lvl7pPr>
            <a:lvl8pPr lvl="7" rtl="0">
              <a:spcBef>
                <a:spcPts val="0"/>
              </a:spcBef>
              <a:spcAft>
                <a:spcPts val="0"/>
              </a:spcAft>
              <a:buSzPts val="1100"/>
              <a:buNone/>
              <a:defRPr sz="1400"/>
            </a:lvl8pPr>
            <a:lvl9pPr lvl="8" rtl="0">
              <a:spcBef>
                <a:spcPts val="0"/>
              </a:spcBef>
              <a:spcAft>
                <a:spcPts val="0"/>
              </a:spcAft>
              <a:buSzPts val="1100"/>
              <a:buNone/>
              <a:defRPr sz="1400"/>
            </a:lvl9pPr>
          </a:lstStyle>
          <a:p>
            <a:endParaRPr/>
          </a:p>
        </p:txBody>
      </p:sp>
      <p:sp>
        <p:nvSpPr>
          <p:cNvPr id="127" name="Google Shape;127;p25"/>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28" name="Google Shape;128;p25"/>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129" name="Google Shape;129;p25"/>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130" name="Google Shape;130;p25"/>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04"/>
        <p:cNvGrpSpPr/>
        <p:nvPr/>
      </p:nvGrpSpPr>
      <p:grpSpPr>
        <a:xfrm>
          <a:off x="0" y="0"/>
          <a:ext cx="0" cy="0"/>
          <a:chOff x="0" y="0"/>
          <a:chExt cx="0" cy="0"/>
        </a:xfrm>
      </p:grpSpPr>
      <p:sp>
        <p:nvSpPr>
          <p:cNvPr id="205" name="Google Shape;205;p38"/>
          <p:cNvSpPr txBox="1">
            <a:spLocks noGrp="1"/>
          </p:cNvSpPr>
          <p:nvPr>
            <p:ph type="ctrTitle"/>
          </p:nvPr>
        </p:nvSpPr>
        <p:spPr>
          <a:xfrm>
            <a:off x="240950" y="1687225"/>
            <a:ext cx="8655900" cy="1932000"/>
          </a:xfrm>
          <a:prstGeom prst="rect">
            <a:avLst/>
          </a:prstGeom>
          <a:noFill/>
          <a:ln>
            <a:noFill/>
          </a:ln>
        </p:spPr>
        <p:txBody>
          <a:bodyPr spcFirstLastPara="1" wrap="square" lIns="68575" tIns="34275" rIns="68575" bIns="34275" anchor="b" anchorCtr="0">
            <a:noAutofit/>
          </a:bodyPr>
          <a:lstStyle/>
          <a:p>
            <a:pPr marL="0" lvl="0" indent="0" algn="ctr" rtl="0">
              <a:lnSpc>
                <a:spcPct val="90000"/>
              </a:lnSpc>
              <a:spcBef>
                <a:spcPts val="0"/>
              </a:spcBef>
              <a:spcAft>
                <a:spcPts val="0"/>
              </a:spcAft>
              <a:buClr>
                <a:schemeClr val="lt1"/>
              </a:buClr>
              <a:buSzPts val="4500"/>
              <a:buFont typeface="Architects Daughter"/>
              <a:buNone/>
            </a:pPr>
            <a:r>
              <a:rPr lang="en" sz="5200">
                <a:solidFill>
                  <a:srgbClr val="002B64"/>
                </a:solidFill>
                <a:latin typeface="Open Sans"/>
                <a:ea typeface="Open Sans"/>
                <a:cs typeface="Open Sans"/>
                <a:sym typeface="Open Sans"/>
              </a:rPr>
              <a:t>Your Sales Process Decision Tree</a:t>
            </a:r>
            <a:endParaRPr sz="5200">
              <a:solidFill>
                <a:srgbClr val="002B64"/>
              </a:solidFill>
              <a:latin typeface="Open Sans"/>
              <a:ea typeface="Open Sans"/>
              <a:cs typeface="Open Sans"/>
              <a:sym typeface="Open Sans"/>
            </a:endParaRPr>
          </a:p>
        </p:txBody>
      </p:sp>
      <p:sp>
        <p:nvSpPr>
          <p:cNvPr id="206" name="Google Shape;206;p38"/>
          <p:cNvSpPr txBox="1">
            <a:spLocks noGrp="1"/>
          </p:cNvSpPr>
          <p:nvPr>
            <p:ph type="subTitle" idx="1"/>
          </p:nvPr>
        </p:nvSpPr>
        <p:spPr>
          <a:xfrm>
            <a:off x="282225" y="3991225"/>
            <a:ext cx="8565900" cy="805800"/>
          </a:xfrm>
          <a:prstGeom prst="rect">
            <a:avLst/>
          </a:prstGeom>
          <a:noFill/>
          <a:ln>
            <a:noFill/>
          </a:ln>
        </p:spPr>
        <p:txBody>
          <a:bodyPr spcFirstLastPara="1" wrap="square" lIns="68575" tIns="34275" rIns="68575" bIns="34275" anchor="t" anchorCtr="0">
            <a:noAutofit/>
          </a:bodyPr>
          <a:lstStyle/>
          <a:p>
            <a:pPr marL="0" lvl="0" indent="0" algn="ctr" rtl="0">
              <a:lnSpc>
                <a:spcPct val="90000"/>
              </a:lnSpc>
              <a:spcBef>
                <a:spcPts val="0"/>
              </a:spcBef>
              <a:spcAft>
                <a:spcPts val="0"/>
              </a:spcAft>
              <a:buClr>
                <a:schemeClr val="lt1"/>
              </a:buClr>
              <a:buSzPts val="1800"/>
              <a:buNone/>
            </a:pPr>
            <a:r>
              <a:rPr lang="en" sz="2000">
                <a:solidFill>
                  <a:srgbClr val="434343"/>
                </a:solidFill>
                <a:latin typeface="Open Sans"/>
                <a:ea typeface="Open Sans"/>
                <a:cs typeface="Open Sans"/>
                <a:sym typeface="Open Sans"/>
              </a:rPr>
              <a:t>The thinking behind your approach &amp; delivery...</a:t>
            </a:r>
            <a:endParaRPr sz="2000">
              <a:solidFill>
                <a:srgbClr val="434343"/>
              </a:solidFill>
              <a:latin typeface="Open Sans"/>
              <a:ea typeface="Open Sans"/>
              <a:cs typeface="Open Sans"/>
              <a:sym typeface="Open Sans"/>
            </a:endParaRPr>
          </a:p>
        </p:txBody>
      </p:sp>
      <p:sp>
        <p:nvSpPr>
          <p:cNvPr id="207" name="Google Shape;207;p38"/>
          <p:cNvSpPr/>
          <p:nvPr/>
        </p:nvSpPr>
        <p:spPr>
          <a:xfrm>
            <a:off x="49427" y="49427"/>
            <a:ext cx="9038967" cy="89876"/>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08" name="Google Shape;208;p38"/>
          <p:cNvSpPr/>
          <p:nvPr/>
        </p:nvSpPr>
        <p:spPr>
          <a:xfrm rot="-5400000">
            <a:off x="-2339772" y="2528501"/>
            <a:ext cx="4864893" cy="86496"/>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09" name="Google Shape;209;p38"/>
          <p:cNvSpPr/>
          <p:nvPr/>
        </p:nvSpPr>
        <p:spPr>
          <a:xfrm rot="-5400000">
            <a:off x="6612699" y="2528501"/>
            <a:ext cx="4864893" cy="86496"/>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10" name="Google Shape;210;p38"/>
          <p:cNvSpPr/>
          <p:nvPr/>
        </p:nvSpPr>
        <p:spPr>
          <a:xfrm>
            <a:off x="49426" y="5004196"/>
            <a:ext cx="9038968" cy="89877"/>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pic>
        <p:nvPicPr>
          <p:cNvPr id="211" name="Google Shape;211;p38"/>
          <p:cNvPicPr preferRelativeResize="0"/>
          <p:nvPr/>
        </p:nvPicPr>
        <p:blipFill rotWithShape="1">
          <a:blip r:embed="rId3">
            <a:alphaModFix/>
          </a:blip>
          <a:srcRect t="2417" b="2417"/>
          <a:stretch/>
        </p:blipFill>
        <p:spPr>
          <a:xfrm>
            <a:off x="3447575" y="472500"/>
            <a:ext cx="2235203" cy="115497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15"/>
        <p:cNvGrpSpPr/>
        <p:nvPr/>
      </p:nvGrpSpPr>
      <p:grpSpPr>
        <a:xfrm>
          <a:off x="0" y="0"/>
          <a:ext cx="0" cy="0"/>
          <a:chOff x="0" y="0"/>
          <a:chExt cx="0" cy="0"/>
        </a:xfrm>
      </p:grpSpPr>
      <p:sp>
        <p:nvSpPr>
          <p:cNvPr id="216" name="Google Shape;216;p39"/>
          <p:cNvSpPr txBox="1">
            <a:spLocks noGrp="1"/>
          </p:cNvSpPr>
          <p:nvPr>
            <p:ph type="title"/>
          </p:nvPr>
        </p:nvSpPr>
        <p:spPr>
          <a:xfrm>
            <a:off x="311525" y="211175"/>
            <a:ext cx="7175100" cy="6621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rgbClr val="A5A5A5"/>
              </a:buClr>
              <a:buSzPts val="2400"/>
              <a:buFont typeface="Architects Daughter"/>
              <a:buNone/>
            </a:pPr>
            <a:r>
              <a:rPr lang="en" sz="2400">
                <a:solidFill>
                  <a:srgbClr val="002B64"/>
                </a:solidFill>
                <a:latin typeface="Open Sans"/>
                <a:ea typeface="Open Sans"/>
                <a:cs typeface="Open Sans"/>
                <a:sym typeface="Open Sans"/>
              </a:rPr>
              <a:t>Just So We’re Clear...</a:t>
            </a:r>
            <a:endParaRPr sz="2400">
              <a:solidFill>
                <a:srgbClr val="002B64"/>
              </a:solidFill>
              <a:latin typeface="Open Sans"/>
              <a:ea typeface="Open Sans"/>
              <a:cs typeface="Open Sans"/>
              <a:sym typeface="Open Sans"/>
            </a:endParaRPr>
          </a:p>
        </p:txBody>
      </p:sp>
      <p:sp>
        <p:nvSpPr>
          <p:cNvPr id="217" name="Google Shape;217;p3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SzPts val="900"/>
              <a:buNone/>
            </a:pPr>
            <a:fld id="{00000000-1234-1234-1234-123412341234}" type="slidenum">
              <a:rPr lang="en" sz="1100"/>
              <a:t>2</a:t>
            </a:fld>
            <a:endParaRPr sz="1100"/>
          </a:p>
        </p:txBody>
      </p:sp>
      <p:sp>
        <p:nvSpPr>
          <p:cNvPr id="218" name="Google Shape;218;p39"/>
          <p:cNvSpPr/>
          <p:nvPr/>
        </p:nvSpPr>
        <p:spPr>
          <a:xfrm>
            <a:off x="49427" y="49427"/>
            <a:ext cx="9038967" cy="89876"/>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19" name="Google Shape;219;p39"/>
          <p:cNvSpPr/>
          <p:nvPr/>
        </p:nvSpPr>
        <p:spPr>
          <a:xfrm>
            <a:off x="49427" y="5004196"/>
            <a:ext cx="579223" cy="89876"/>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20" name="Google Shape;220;p39"/>
          <p:cNvSpPr/>
          <p:nvPr/>
        </p:nvSpPr>
        <p:spPr>
          <a:xfrm>
            <a:off x="1513702" y="5004196"/>
            <a:ext cx="7574692" cy="89876"/>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21" name="Google Shape;221;p39"/>
          <p:cNvSpPr/>
          <p:nvPr/>
        </p:nvSpPr>
        <p:spPr>
          <a:xfrm rot="-5400000">
            <a:off x="6612699" y="2528501"/>
            <a:ext cx="4864893" cy="86496"/>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22" name="Google Shape;222;p39"/>
          <p:cNvSpPr/>
          <p:nvPr/>
        </p:nvSpPr>
        <p:spPr>
          <a:xfrm rot="-5400000">
            <a:off x="-2339772" y="2528501"/>
            <a:ext cx="4864893" cy="86496"/>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23" name="Google Shape;223;p39"/>
          <p:cNvSpPr txBox="1"/>
          <p:nvPr/>
        </p:nvSpPr>
        <p:spPr>
          <a:xfrm>
            <a:off x="311525" y="962131"/>
            <a:ext cx="8514771" cy="578423"/>
          </a:xfrm>
          <a:prstGeom prst="rect">
            <a:avLst/>
          </a:prstGeom>
          <a:noFill/>
          <a:ln>
            <a:noFill/>
          </a:ln>
        </p:spPr>
        <p:txBody>
          <a:bodyPr spcFirstLastPara="1" wrap="square" lIns="68575" tIns="34275" rIns="68575" bIns="34275" anchor="t" anchorCtr="0">
            <a:noAutofit/>
          </a:bodyPr>
          <a:lstStyle/>
          <a:p>
            <a:pPr marL="0" marR="0" lvl="0" indent="0" algn="ctr" rtl="0">
              <a:lnSpc>
                <a:spcPct val="150000"/>
              </a:lnSpc>
              <a:spcBef>
                <a:spcPts val="0"/>
              </a:spcBef>
              <a:spcAft>
                <a:spcPts val="0"/>
              </a:spcAft>
              <a:buClr>
                <a:schemeClr val="lt1"/>
              </a:buClr>
              <a:buSzPts val="2000"/>
              <a:buFont typeface="Arial"/>
              <a:buNone/>
            </a:pPr>
            <a:r>
              <a:rPr lang="en" sz="2000" i="0" u="none" strike="noStrike" cap="none">
                <a:solidFill>
                  <a:srgbClr val="434343"/>
                </a:solidFill>
                <a:latin typeface="Open Sans"/>
                <a:ea typeface="Open Sans"/>
                <a:cs typeface="Open Sans"/>
                <a:sym typeface="Open Sans"/>
              </a:rPr>
              <a:t>Campaign Selling           vs.        Total Needs Selling</a:t>
            </a:r>
            <a:endParaRPr sz="1100" i="0" u="none" strike="noStrike" cap="none">
              <a:solidFill>
                <a:srgbClr val="434343"/>
              </a:solidFill>
              <a:latin typeface="Open Sans"/>
              <a:ea typeface="Open Sans"/>
              <a:cs typeface="Open Sans"/>
              <a:sym typeface="Open Sans"/>
            </a:endParaRPr>
          </a:p>
        </p:txBody>
      </p:sp>
      <p:sp>
        <p:nvSpPr>
          <p:cNvPr id="224" name="Google Shape;224;p39"/>
          <p:cNvSpPr txBox="1"/>
          <p:nvPr/>
        </p:nvSpPr>
        <p:spPr>
          <a:xfrm>
            <a:off x="1550150" y="1510600"/>
            <a:ext cx="2197500" cy="1004100"/>
          </a:xfrm>
          <a:prstGeom prst="rect">
            <a:avLst/>
          </a:prstGeom>
          <a:noFill/>
          <a:ln>
            <a:noFill/>
          </a:ln>
        </p:spPr>
        <p:txBody>
          <a:bodyPr spcFirstLastPara="1" wrap="square" lIns="68575" tIns="34275" rIns="68575" bIns="34275" anchor="t" anchorCtr="0">
            <a:noAutofit/>
          </a:bodyPr>
          <a:lstStyle/>
          <a:p>
            <a:pPr marL="0" marR="0" lvl="0" indent="0" algn="just" rtl="0">
              <a:lnSpc>
                <a:spcPct val="115000"/>
              </a:lnSpc>
              <a:spcBef>
                <a:spcPts val="0"/>
              </a:spcBef>
              <a:spcAft>
                <a:spcPts val="0"/>
              </a:spcAft>
              <a:buClr>
                <a:srgbClr val="000000"/>
              </a:buClr>
              <a:buSzPts val="1100"/>
              <a:buFont typeface="Arial"/>
              <a:buNone/>
            </a:pPr>
            <a:r>
              <a:rPr lang="en" sz="1200" i="0" u="none" strike="noStrike" cap="none">
                <a:solidFill>
                  <a:srgbClr val="434343"/>
                </a:solidFill>
                <a:latin typeface="Open Sans"/>
                <a:ea typeface="Open Sans"/>
                <a:cs typeface="Open Sans"/>
                <a:sym typeface="Open Sans"/>
              </a:rPr>
              <a:t>(Approaching clients with a pre-packaged solution to a common issue)</a:t>
            </a:r>
            <a:endParaRPr sz="1200" i="0" u="none" strike="noStrike" cap="none">
              <a:solidFill>
                <a:srgbClr val="434343"/>
              </a:solidFill>
              <a:latin typeface="Open Sans"/>
              <a:ea typeface="Open Sans"/>
              <a:cs typeface="Open Sans"/>
              <a:sym typeface="Open Sans"/>
            </a:endParaRPr>
          </a:p>
          <a:p>
            <a:pPr marL="0" marR="0" lvl="0" indent="0" algn="l" rtl="0">
              <a:lnSpc>
                <a:spcPct val="115000"/>
              </a:lnSpc>
              <a:spcBef>
                <a:spcPts val="0"/>
              </a:spcBef>
              <a:spcAft>
                <a:spcPts val="0"/>
              </a:spcAft>
              <a:buClr>
                <a:srgbClr val="000000"/>
              </a:buClr>
              <a:buSzPts val="1400"/>
              <a:buFont typeface="Arial"/>
              <a:buNone/>
            </a:pPr>
            <a:endParaRPr sz="1200" i="0" u="none" strike="noStrike" cap="none">
              <a:solidFill>
                <a:srgbClr val="434343"/>
              </a:solidFill>
              <a:latin typeface="Open Sans"/>
              <a:ea typeface="Open Sans"/>
              <a:cs typeface="Open Sans"/>
              <a:sym typeface="Open Sans"/>
            </a:endParaRPr>
          </a:p>
        </p:txBody>
      </p:sp>
      <p:sp>
        <p:nvSpPr>
          <p:cNvPr id="225" name="Google Shape;225;p39"/>
          <p:cNvSpPr txBox="1"/>
          <p:nvPr/>
        </p:nvSpPr>
        <p:spPr>
          <a:xfrm>
            <a:off x="5265125" y="1540550"/>
            <a:ext cx="2412300" cy="776100"/>
          </a:xfrm>
          <a:prstGeom prst="rect">
            <a:avLst/>
          </a:prstGeom>
          <a:noFill/>
          <a:ln>
            <a:noFill/>
          </a:ln>
        </p:spPr>
        <p:txBody>
          <a:bodyPr spcFirstLastPara="1" wrap="square" lIns="68575" tIns="34275" rIns="68575" bIns="34275" anchor="t" anchorCtr="0">
            <a:noAutofit/>
          </a:bodyPr>
          <a:lstStyle/>
          <a:p>
            <a:pPr marL="0" marR="0" lvl="0" indent="0" algn="just" rtl="0">
              <a:lnSpc>
                <a:spcPct val="115000"/>
              </a:lnSpc>
              <a:spcBef>
                <a:spcPts val="0"/>
              </a:spcBef>
              <a:spcAft>
                <a:spcPts val="0"/>
              </a:spcAft>
              <a:buClr>
                <a:srgbClr val="000000"/>
              </a:buClr>
              <a:buSzPts val="1100"/>
              <a:buFont typeface="Arial"/>
              <a:buNone/>
            </a:pPr>
            <a:r>
              <a:rPr lang="en" sz="1200" i="0" u="none" strike="noStrike" cap="none">
                <a:solidFill>
                  <a:srgbClr val="434343"/>
                </a:solidFill>
                <a:latin typeface="Open Sans"/>
                <a:ea typeface="Open Sans"/>
                <a:cs typeface="Open Sans"/>
                <a:sym typeface="Open Sans"/>
              </a:rPr>
              <a:t>(Approaching clients with an explorative process, void of any solution bias)</a:t>
            </a:r>
            <a:endParaRPr sz="1200" i="0" u="none" strike="noStrike" cap="none">
              <a:solidFill>
                <a:srgbClr val="434343"/>
              </a:solidFill>
              <a:latin typeface="Open Sans"/>
              <a:ea typeface="Open Sans"/>
              <a:cs typeface="Open Sans"/>
              <a:sym typeface="Open Sans"/>
            </a:endParaRPr>
          </a:p>
        </p:txBody>
      </p:sp>
      <p:sp>
        <p:nvSpPr>
          <p:cNvPr id="226" name="Google Shape;226;p39"/>
          <p:cNvSpPr txBox="1"/>
          <p:nvPr/>
        </p:nvSpPr>
        <p:spPr>
          <a:xfrm>
            <a:off x="311525" y="2831375"/>
            <a:ext cx="8501100" cy="578400"/>
          </a:xfrm>
          <a:prstGeom prst="rect">
            <a:avLst/>
          </a:prstGeom>
          <a:noFill/>
          <a:ln>
            <a:noFill/>
          </a:ln>
        </p:spPr>
        <p:txBody>
          <a:bodyPr spcFirstLastPara="1" wrap="square" lIns="68575" tIns="34275" rIns="68575" bIns="34275" anchor="t" anchorCtr="0">
            <a:noAutofit/>
          </a:bodyPr>
          <a:lstStyle/>
          <a:p>
            <a:pPr marL="0" marR="0" lvl="0" indent="0" algn="ctr" rtl="0">
              <a:lnSpc>
                <a:spcPct val="150000"/>
              </a:lnSpc>
              <a:spcBef>
                <a:spcPts val="0"/>
              </a:spcBef>
              <a:spcAft>
                <a:spcPts val="0"/>
              </a:spcAft>
              <a:buClr>
                <a:srgbClr val="A8D08C"/>
              </a:buClr>
              <a:buSzPts val="2000"/>
              <a:buFont typeface="Arial"/>
              <a:buNone/>
            </a:pPr>
            <a:r>
              <a:rPr lang="en" sz="2000" i="0" u="none" strike="noStrike" cap="none">
                <a:solidFill>
                  <a:srgbClr val="548135"/>
                </a:solidFill>
                <a:latin typeface="Open Sans"/>
                <a:ea typeface="Open Sans"/>
                <a:cs typeface="Open Sans"/>
                <a:sym typeface="Open Sans"/>
              </a:rPr>
              <a:t>Modular Delivery                </a:t>
            </a:r>
            <a:r>
              <a:rPr lang="en" sz="2000" i="0" u="none" strike="noStrike" cap="none">
                <a:solidFill>
                  <a:schemeClr val="lt1"/>
                </a:solidFill>
                <a:latin typeface="Open Sans"/>
                <a:ea typeface="Open Sans"/>
                <a:cs typeface="Open Sans"/>
                <a:sym typeface="Open Sans"/>
              </a:rPr>
              <a:t>   vs.   </a:t>
            </a:r>
            <a:r>
              <a:rPr lang="en" sz="2000" i="0" u="none" strike="noStrike" cap="none">
                <a:solidFill>
                  <a:srgbClr val="2F5496"/>
                </a:solidFill>
                <a:latin typeface="Open Sans"/>
                <a:ea typeface="Open Sans"/>
                <a:cs typeface="Open Sans"/>
                <a:sym typeface="Open Sans"/>
              </a:rPr>
              <a:t>Bespoke Delivery </a:t>
            </a:r>
            <a:endParaRPr sz="1100" i="0" u="none" strike="noStrike" cap="none">
              <a:solidFill>
                <a:srgbClr val="2F5496"/>
              </a:solidFill>
              <a:latin typeface="Open Sans"/>
              <a:ea typeface="Open Sans"/>
              <a:cs typeface="Open Sans"/>
              <a:sym typeface="Open Sans"/>
            </a:endParaRPr>
          </a:p>
        </p:txBody>
      </p:sp>
      <p:sp>
        <p:nvSpPr>
          <p:cNvPr id="227" name="Google Shape;227;p39"/>
          <p:cNvSpPr txBox="1"/>
          <p:nvPr/>
        </p:nvSpPr>
        <p:spPr>
          <a:xfrm>
            <a:off x="1550200" y="3550375"/>
            <a:ext cx="2197500" cy="1004100"/>
          </a:xfrm>
          <a:prstGeom prst="rect">
            <a:avLst/>
          </a:prstGeom>
          <a:noFill/>
          <a:ln>
            <a:noFill/>
          </a:ln>
        </p:spPr>
        <p:txBody>
          <a:bodyPr spcFirstLastPara="1" wrap="square" lIns="68575" tIns="34275" rIns="68575" bIns="34275" anchor="t" anchorCtr="0">
            <a:noAutofit/>
          </a:bodyPr>
          <a:lstStyle/>
          <a:p>
            <a:pPr marL="0" marR="0" lvl="0" indent="0" algn="just" rtl="0">
              <a:lnSpc>
                <a:spcPct val="115000"/>
              </a:lnSpc>
              <a:spcBef>
                <a:spcPts val="0"/>
              </a:spcBef>
              <a:spcAft>
                <a:spcPts val="0"/>
              </a:spcAft>
              <a:buClr>
                <a:srgbClr val="000000"/>
              </a:buClr>
              <a:buSzPts val="1100"/>
              <a:buFont typeface="Arial"/>
              <a:buNone/>
            </a:pPr>
            <a:r>
              <a:rPr lang="en" sz="1200" i="0" u="none" strike="noStrike" cap="none">
                <a:solidFill>
                  <a:srgbClr val="548135"/>
                </a:solidFill>
                <a:latin typeface="Open Sans"/>
                <a:ea typeface="Open Sans"/>
                <a:cs typeface="Open Sans"/>
                <a:sym typeface="Open Sans"/>
              </a:rPr>
              <a:t>(Pre-packaged solutions that have been tested and developed over time)</a:t>
            </a:r>
            <a:endParaRPr sz="1200" i="0" u="none" strike="noStrike" cap="none">
              <a:solidFill>
                <a:srgbClr val="548135"/>
              </a:solidFill>
              <a:latin typeface="Open Sans"/>
              <a:ea typeface="Open Sans"/>
              <a:cs typeface="Open Sans"/>
              <a:sym typeface="Open Sans"/>
            </a:endParaRPr>
          </a:p>
          <a:p>
            <a:pPr marL="0" marR="0" lvl="0" indent="0" algn="l" rtl="0">
              <a:lnSpc>
                <a:spcPct val="115000"/>
              </a:lnSpc>
              <a:spcBef>
                <a:spcPts val="0"/>
              </a:spcBef>
              <a:spcAft>
                <a:spcPts val="0"/>
              </a:spcAft>
              <a:buClr>
                <a:srgbClr val="000000"/>
              </a:buClr>
              <a:buSzPts val="1400"/>
              <a:buFont typeface="Arial"/>
              <a:buNone/>
            </a:pPr>
            <a:endParaRPr sz="1200" i="0" u="none" strike="noStrike" cap="none">
              <a:solidFill>
                <a:srgbClr val="548135"/>
              </a:solidFill>
              <a:latin typeface="Open Sans"/>
              <a:ea typeface="Open Sans"/>
              <a:cs typeface="Open Sans"/>
              <a:sym typeface="Open Sans"/>
            </a:endParaRPr>
          </a:p>
        </p:txBody>
      </p:sp>
      <p:sp>
        <p:nvSpPr>
          <p:cNvPr id="228" name="Google Shape;228;p39"/>
          <p:cNvSpPr txBox="1"/>
          <p:nvPr/>
        </p:nvSpPr>
        <p:spPr>
          <a:xfrm>
            <a:off x="5265125" y="3550375"/>
            <a:ext cx="2412300" cy="533700"/>
          </a:xfrm>
          <a:prstGeom prst="rect">
            <a:avLst/>
          </a:prstGeom>
          <a:noFill/>
          <a:ln>
            <a:noFill/>
          </a:ln>
        </p:spPr>
        <p:txBody>
          <a:bodyPr spcFirstLastPara="1" wrap="square" lIns="68575" tIns="34275" rIns="68575" bIns="34275" anchor="t" anchorCtr="0">
            <a:noAutofit/>
          </a:bodyPr>
          <a:lstStyle/>
          <a:p>
            <a:pPr marL="0" marR="0" lvl="0" indent="0" algn="just" rtl="0">
              <a:lnSpc>
                <a:spcPct val="115000"/>
              </a:lnSpc>
              <a:spcBef>
                <a:spcPts val="0"/>
              </a:spcBef>
              <a:spcAft>
                <a:spcPts val="0"/>
              </a:spcAft>
              <a:buClr>
                <a:srgbClr val="000000"/>
              </a:buClr>
              <a:buSzPts val="1100"/>
              <a:buFont typeface="Arial"/>
              <a:buNone/>
            </a:pPr>
            <a:r>
              <a:rPr lang="en" sz="1200" i="0" u="none" strike="noStrike" cap="none">
                <a:solidFill>
                  <a:srgbClr val="2F5496"/>
                </a:solidFill>
                <a:latin typeface="Open Sans"/>
                <a:ea typeface="Open Sans"/>
                <a:cs typeface="Open Sans"/>
                <a:sym typeface="Open Sans"/>
              </a:rPr>
              <a:t>(‘Starting from Scratch’ with each delivery solution)</a:t>
            </a:r>
            <a:endParaRPr sz="1200" i="0" u="none" strike="noStrike" cap="none">
              <a:solidFill>
                <a:srgbClr val="2F5496"/>
              </a:solidFill>
              <a:latin typeface="Open Sans"/>
              <a:ea typeface="Open Sans"/>
              <a:cs typeface="Open Sans"/>
              <a:sym typeface="Open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32"/>
        <p:cNvGrpSpPr/>
        <p:nvPr/>
      </p:nvGrpSpPr>
      <p:grpSpPr>
        <a:xfrm>
          <a:off x="0" y="0"/>
          <a:ext cx="0" cy="0"/>
          <a:chOff x="0" y="0"/>
          <a:chExt cx="0" cy="0"/>
        </a:xfrm>
      </p:grpSpPr>
      <p:sp>
        <p:nvSpPr>
          <p:cNvPr id="233" name="Google Shape;233;p40"/>
          <p:cNvSpPr txBox="1">
            <a:spLocks noGrp="1"/>
          </p:cNvSpPr>
          <p:nvPr>
            <p:ph type="title"/>
          </p:nvPr>
        </p:nvSpPr>
        <p:spPr>
          <a:xfrm>
            <a:off x="188250" y="139300"/>
            <a:ext cx="7695600" cy="4938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rgbClr val="A5A5A5"/>
              </a:buClr>
              <a:buSzPts val="2400"/>
              <a:buFont typeface="Architects Daughter"/>
              <a:buNone/>
            </a:pPr>
            <a:r>
              <a:rPr lang="en" sz="2400">
                <a:solidFill>
                  <a:srgbClr val="002B64"/>
                </a:solidFill>
                <a:latin typeface="Open Sans"/>
                <a:ea typeface="Open Sans"/>
                <a:cs typeface="Open Sans"/>
                <a:sym typeface="Open Sans"/>
              </a:rPr>
              <a:t>Decisions, decisions...</a:t>
            </a:r>
            <a:endParaRPr sz="2400">
              <a:solidFill>
                <a:srgbClr val="002B64"/>
              </a:solidFill>
              <a:latin typeface="Open Sans"/>
              <a:ea typeface="Open Sans"/>
              <a:cs typeface="Open Sans"/>
              <a:sym typeface="Open Sans"/>
            </a:endParaRPr>
          </a:p>
        </p:txBody>
      </p:sp>
      <p:sp>
        <p:nvSpPr>
          <p:cNvPr id="234" name="Google Shape;234;p40"/>
          <p:cNvSpPr txBox="1">
            <a:spLocks noGrp="1"/>
          </p:cNvSpPr>
          <p:nvPr>
            <p:ph type="body" idx="1"/>
          </p:nvPr>
        </p:nvSpPr>
        <p:spPr>
          <a:xfrm>
            <a:off x="188250" y="633175"/>
            <a:ext cx="7695600" cy="390300"/>
          </a:xfrm>
          <a:prstGeom prst="rect">
            <a:avLst/>
          </a:prstGeom>
          <a:noFill/>
          <a:ln>
            <a:noFill/>
          </a:ln>
        </p:spPr>
        <p:txBody>
          <a:bodyPr spcFirstLastPara="1" wrap="square" lIns="68575" tIns="34275" rIns="68575" bIns="34275" anchor="t" anchorCtr="0">
            <a:noAutofit/>
          </a:bodyPr>
          <a:lstStyle/>
          <a:p>
            <a:pPr marL="0" lvl="0" indent="0" algn="l" rtl="0">
              <a:lnSpc>
                <a:spcPct val="150000"/>
              </a:lnSpc>
              <a:spcBef>
                <a:spcPts val="0"/>
              </a:spcBef>
              <a:spcAft>
                <a:spcPts val="0"/>
              </a:spcAft>
              <a:buClr>
                <a:schemeClr val="lt1"/>
              </a:buClr>
              <a:buSzPts val="1000"/>
              <a:buNone/>
            </a:pPr>
            <a:r>
              <a:rPr lang="en" sz="1000">
                <a:solidFill>
                  <a:srgbClr val="002B64"/>
                </a:solidFill>
                <a:latin typeface="Open Sans"/>
                <a:ea typeface="Open Sans"/>
                <a:cs typeface="Open Sans"/>
                <a:sym typeface="Open Sans"/>
              </a:rPr>
              <a:t>The DESIGN of your sales process {HOW you sell it} does not (necessarily) dictate your solution. {WHAT you sell}</a:t>
            </a:r>
            <a:endParaRPr sz="1000">
              <a:solidFill>
                <a:srgbClr val="002B64"/>
              </a:solidFill>
              <a:latin typeface="Open Sans"/>
              <a:ea typeface="Open Sans"/>
              <a:cs typeface="Open Sans"/>
              <a:sym typeface="Open Sans"/>
            </a:endParaRPr>
          </a:p>
        </p:txBody>
      </p:sp>
      <p:sp>
        <p:nvSpPr>
          <p:cNvPr id="235" name="Google Shape;235;p40"/>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SzPts val="900"/>
              <a:buNone/>
            </a:pPr>
            <a:fld id="{00000000-1234-1234-1234-123412341234}" type="slidenum">
              <a:rPr lang="en" sz="1100"/>
              <a:t>3</a:t>
            </a:fld>
            <a:endParaRPr sz="1100"/>
          </a:p>
        </p:txBody>
      </p:sp>
      <p:sp>
        <p:nvSpPr>
          <p:cNvPr id="236" name="Google Shape;236;p40"/>
          <p:cNvSpPr/>
          <p:nvPr/>
        </p:nvSpPr>
        <p:spPr>
          <a:xfrm>
            <a:off x="49427" y="49427"/>
            <a:ext cx="9038967" cy="89876"/>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37" name="Google Shape;237;p40"/>
          <p:cNvSpPr/>
          <p:nvPr/>
        </p:nvSpPr>
        <p:spPr>
          <a:xfrm>
            <a:off x="49427" y="5004196"/>
            <a:ext cx="579223" cy="89876"/>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38" name="Google Shape;238;p40"/>
          <p:cNvSpPr/>
          <p:nvPr/>
        </p:nvSpPr>
        <p:spPr>
          <a:xfrm>
            <a:off x="1513702" y="5004196"/>
            <a:ext cx="7574692" cy="89876"/>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39" name="Google Shape;239;p40"/>
          <p:cNvSpPr/>
          <p:nvPr/>
        </p:nvSpPr>
        <p:spPr>
          <a:xfrm rot="-5400000">
            <a:off x="6612699" y="2528501"/>
            <a:ext cx="4864893" cy="86496"/>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40" name="Google Shape;240;p40"/>
          <p:cNvSpPr/>
          <p:nvPr/>
        </p:nvSpPr>
        <p:spPr>
          <a:xfrm rot="-5400000">
            <a:off x="-2339772" y="2528501"/>
            <a:ext cx="4864893" cy="86496"/>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graphicFrame>
        <p:nvGraphicFramePr>
          <p:cNvPr id="241" name="Google Shape;241;p40"/>
          <p:cNvGraphicFramePr/>
          <p:nvPr/>
        </p:nvGraphicFramePr>
        <p:xfrm>
          <a:off x="237866" y="1271640"/>
          <a:ext cx="3000000" cy="3000000"/>
        </p:xfrm>
        <a:graphic>
          <a:graphicData uri="http://schemas.openxmlformats.org/drawingml/2006/table">
            <a:tbl>
              <a:tblPr firstRow="1" bandRow="1">
                <a:noFill/>
                <a:tableStyleId>{065DD13A-4BDD-469C-81BA-415B97BB1642}</a:tableStyleId>
              </a:tblPr>
              <a:tblGrid>
                <a:gridCol w="2119175">
                  <a:extLst>
                    <a:ext uri="{9D8B030D-6E8A-4147-A177-3AD203B41FA5}">
                      <a16:colId xmlns:a16="http://schemas.microsoft.com/office/drawing/2014/main" val="20000"/>
                    </a:ext>
                  </a:extLst>
                </a:gridCol>
                <a:gridCol w="2119175">
                  <a:extLst>
                    <a:ext uri="{9D8B030D-6E8A-4147-A177-3AD203B41FA5}">
                      <a16:colId xmlns:a16="http://schemas.microsoft.com/office/drawing/2014/main" val="20001"/>
                    </a:ext>
                  </a:extLst>
                </a:gridCol>
              </a:tblGrid>
              <a:tr h="277700">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chemeClr val="lt1"/>
                          </a:solidFill>
                          <a:latin typeface="Open Sans"/>
                          <a:ea typeface="Open Sans"/>
                          <a:cs typeface="Open Sans"/>
                          <a:sym typeface="Open Sans"/>
                        </a:rPr>
                        <a:t>Pro’s</a:t>
                      </a:r>
                      <a:endParaRPr sz="1200" u="none" strike="noStrike" cap="none">
                        <a:solidFill>
                          <a:schemeClr val="lt1"/>
                        </a:solidFill>
                        <a:latin typeface="Open Sans"/>
                        <a:ea typeface="Open Sans"/>
                        <a:cs typeface="Open Sans"/>
                        <a:sym typeface="Open Sans"/>
                      </a:endParaRPr>
                    </a:p>
                  </a:txBody>
                  <a:tcPr marL="68600" marR="68600" marT="34300" marB="34300" anchor="ctr">
                    <a:solidFill>
                      <a:srgbClr val="3A3838"/>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chemeClr val="lt1"/>
                          </a:solidFill>
                          <a:latin typeface="Open Sans"/>
                          <a:ea typeface="Open Sans"/>
                          <a:cs typeface="Open Sans"/>
                          <a:sym typeface="Open Sans"/>
                        </a:rPr>
                        <a:t>Con’s</a:t>
                      </a:r>
                      <a:endParaRPr sz="1200" u="none" strike="noStrike" cap="none">
                        <a:solidFill>
                          <a:schemeClr val="lt1"/>
                        </a:solidFill>
                        <a:latin typeface="Open Sans"/>
                        <a:ea typeface="Open Sans"/>
                        <a:cs typeface="Open Sans"/>
                        <a:sym typeface="Open Sans"/>
                      </a:endParaRPr>
                    </a:p>
                  </a:txBody>
                  <a:tcPr marL="68600" marR="68600" marT="34300" marB="34300" anchor="ctr">
                    <a:solidFill>
                      <a:srgbClr val="3A3838"/>
                    </a:solidFill>
                  </a:tcPr>
                </a:tc>
                <a:extLst>
                  <a:ext uri="{0D108BD9-81ED-4DB2-BD59-A6C34878D82A}">
                    <a16:rowId xmlns:a16="http://schemas.microsoft.com/office/drawing/2014/main" val="10000"/>
                  </a:ext>
                </a:extLst>
              </a:tr>
              <a:tr h="2533125">
                <a:tc>
                  <a:txBody>
                    <a:bodyPr/>
                    <a:lstStyle/>
                    <a:p>
                      <a:pPr marL="215900" marR="0" lvl="0" indent="-209550" algn="just" rtl="0">
                        <a:lnSpc>
                          <a:spcPct val="100000"/>
                        </a:lnSpc>
                        <a:spcBef>
                          <a:spcPts val="0"/>
                        </a:spcBef>
                        <a:spcAft>
                          <a:spcPts val="0"/>
                        </a:spcAft>
                        <a:buClr>
                          <a:schemeClr val="dk1"/>
                        </a:buClr>
                        <a:buSzPts val="900"/>
                        <a:buFont typeface="Open Sans"/>
                        <a:buChar char="•"/>
                      </a:pPr>
                      <a:r>
                        <a:rPr lang="en" sz="900" u="none" strike="noStrike" cap="none">
                          <a:latin typeface="Open Sans"/>
                          <a:ea typeface="Open Sans"/>
                          <a:cs typeface="Open Sans"/>
                          <a:sym typeface="Open Sans"/>
                        </a:rPr>
                        <a:t>Reduces confusion for the salesperson and the client.</a:t>
                      </a:r>
                      <a:endParaRPr sz="1100" u="none" strike="noStrike" cap="none">
                        <a:latin typeface="Open Sans"/>
                        <a:ea typeface="Open Sans"/>
                        <a:cs typeface="Open Sans"/>
                        <a:sym typeface="Open Sans"/>
                      </a:endParaRPr>
                    </a:p>
                    <a:p>
                      <a:pPr marL="215900" marR="0" lvl="0" indent="-152400" algn="just" rtl="0">
                        <a:lnSpc>
                          <a:spcPct val="100000"/>
                        </a:lnSpc>
                        <a:spcBef>
                          <a:spcPts val="0"/>
                        </a:spcBef>
                        <a:spcAft>
                          <a:spcPts val="0"/>
                        </a:spcAft>
                        <a:buClr>
                          <a:schemeClr val="dk1"/>
                        </a:buClr>
                        <a:buSzPts val="900"/>
                        <a:buFont typeface="Arial"/>
                        <a:buNone/>
                      </a:pPr>
                      <a:endParaRPr sz="900" u="none" strike="noStrike" cap="none">
                        <a:latin typeface="Open Sans"/>
                        <a:ea typeface="Open Sans"/>
                        <a:cs typeface="Open Sans"/>
                        <a:sym typeface="Open Sans"/>
                      </a:endParaRPr>
                    </a:p>
                    <a:p>
                      <a:pPr marL="215900" marR="0" lvl="0" indent="-209550" algn="just" rtl="0">
                        <a:lnSpc>
                          <a:spcPct val="100000"/>
                        </a:lnSpc>
                        <a:spcBef>
                          <a:spcPts val="0"/>
                        </a:spcBef>
                        <a:spcAft>
                          <a:spcPts val="0"/>
                        </a:spcAft>
                        <a:buClr>
                          <a:schemeClr val="dk1"/>
                        </a:buClr>
                        <a:buSzPts val="900"/>
                        <a:buFont typeface="Open Sans"/>
                        <a:buChar char="•"/>
                      </a:pPr>
                      <a:r>
                        <a:rPr lang="en" sz="900" u="none" strike="noStrike" cap="none">
                          <a:latin typeface="Open Sans"/>
                          <a:ea typeface="Open Sans"/>
                          <a:cs typeface="Open Sans"/>
                          <a:sym typeface="Open Sans"/>
                        </a:rPr>
                        <a:t>Easier to determine logistics which makes the management of multiple sales people easier.</a:t>
                      </a:r>
                      <a:endParaRPr sz="1100" u="none" strike="noStrike" cap="none">
                        <a:latin typeface="Open Sans"/>
                        <a:ea typeface="Open Sans"/>
                        <a:cs typeface="Open Sans"/>
                        <a:sym typeface="Open Sans"/>
                      </a:endParaRPr>
                    </a:p>
                    <a:p>
                      <a:pPr marL="215900" marR="0" lvl="0" indent="-152400" algn="just" rtl="0">
                        <a:lnSpc>
                          <a:spcPct val="100000"/>
                        </a:lnSpc>
                        <a:spcBef>
                          <a:spcPts val="0"/>
                        </a:spcBef>
                        <a:spcAft>
                          <a:spcPts val="0"/>
                        </a:spcAft>
                        <a:buClr>
                          <a:schemeClr val="dk1"/>
                        </a:buClr>
                        <a:buSzPts val="900"/>
                        <a:buFont typeface="Arial"/>
                        <a:buNone/>
                      </a:pPr>
                      <a:endParaRPr sz="900" u="none" strike="noStrike" cap="none">
                        <a:latin typeface="Open Sans"/>
                        <a:ea typeface="Open Sans"/>
                        <a:cs typeface="Open Sans"/>
                        <a:sym typeface="Open Sans"/>
                      </a:endParaRPr>
                    </a:p>
                    <a:p>
                      <a:pPr marL="215900" marR="0" lvl="0" indent="-209550" algn="just" rtl="0">
                        <a:lnSpc>
                          <a:spcPct val="100000"/>
                        </a:lnSpc>
                        <a:spcBef>
                          <a:spcPts val="0"/>
                        </a:spcBef>
                        <a:spcAft>
                          <a:spcPts val="0"/>
                        </a:spcAft>
                        <a:buClr>
                          <a:schemeClr val="dk1"/>
                        </a:buClr>
                        <a:buSzPts val="900"/>
                        <a:buFont typeface="Open Sans"/>
                        <a:buChar char="•"/>
                      </a:pPr>
                      <a:r>
                        <a:rPr lang="en" sz="900" u="none" strike="noStrike" cap="none">
                          <a:latin typeface="Open Sans"/>
                          <a:ea typeface="Open Sans"/>
                          <a:cs typeface="Open Sans"/>
                          <a:sym typeface="Open Sans"/>
                        </a:rPr>
                        <a:t>Less time involved which makes it better  suited to lower value sale items and easier to ‘pick up and put down’ when you’re busy with client work.</a:t>
                      </a:r>
                      <a:endParaRPr sz="900" u="none" strike="noStrike" cap="none">
                        <a:solidFill>
                          <a:srgbClr val="0C0C0C"/>
                        </a:solidFill>
                        <a:latin typeface="Open Sans"/>
                        <a:ea typeface="Open Sans"/>
                        <a:cs typeface="Open Sans"/>
                        <a:sym typeface="Open Sans"/>
                      </a:endParaRPr>
                    </a:p>
                  </a:txBody>
                  <a:tcPr marL="68600" marR="68600" marT="34300" marB="34300"/>
                </a:tc>
                <a:tc>
                  <a:txBody>
                    <a:bodyPr/>
                    <a:lstStyle/>
                    <a:p>
                      <a:pPr marL="127000" marR="0" lvl="0" indent="-120650" algn="just" rtl="0">
                        <a:lnSpc>
                          <a:spcPct val="100000"/>
                        </a:lnSpc>
                        <a:spcBef>
                          <a:spcPts val="0"/>
                        </a:spcBef>
                        <a:spcAft>
                          <a:spcPts val="0"/>
                        </a:spcAft>
                        <a:buClr>
                          <a:schemeClr val="dk1"/>
                        </a:buClr>
                        <a:buSzPts val="900"/>
                        <a:buFont typeface="Open Sans"/>
                        <a:buChar char="•"/>
                      </a:pPr>
                      <a:r>
                        <a:rPr lang="en" sz="900" u="none" strike="noStrike" cap="none">
                          <a:latin typeface="Open Sans"/>
                          <a:ea typeface="Open Sans"/>
                          <a:cs typeface="Open Sans"/>
                          <a:sym typeface="Open Sans"/>
                        </a:rPr>
                        <a:t>Potential to miss aspects that could contribute to a better outcome for your client.</a:t>
                      </a:r>
                      <a:endParaRPr sz="1100" u="none" strike="noStrike" cap="none">
                        <a:latin typeface="Open Sans"/>
                        <a:ea typeface="Open Sans"/>
                        <a:cs typeface="Open Sans"/>
                        <a:sym typeface="Open Sans"/>
                      </a:endParaRPr>
                    </a:p>
                    <a:p>
                      <a:pPr marL="127000" marR="0" lvl="0" indent="-63500" algn="just" rtl="0">
                        <a:lnSpc>
                          <a:spcPct val="100000"/>
                        </a:lnSpc>
                        <a:spcBef>
                          <a:spcPts val="0"/>
                        </a:spcBef>
                        <a:spcAft>
                          <a:spcPts val="0"/>
                        </a:spcAft>
                        <a:buClr>
                          <a:schemeClr val="dk1"/>
                        </a:buClr>
                        <a:buSzPts val="900"/>
                        <a:buFont typeface="Arial"/>
                        <a:buNone/>
                      </a:pPr>
                      <a:endParaRPr sz="900" u="none" strike="noStrike" cap="none">
                        <a:latin typeface="Open Sans"/>
                        <a:ea typeface="Open Sans"/>
                        <a:cs typeface="Open Sans"/>
                        <a:sym typeface="Open Sans"/>
                      </a:endParaRPr>
                    </a:p>
                    <a:p>
                      <a:pPr marL="127000" marR="0" lvl="0" indent="-120650" algn="just" rtl="0">
                        <a:lnSpc>
                          <a:spcPct val="100000"/>
                        </a:lnSpc>
                        <a:spcBef>
                          <a:spcPts val="0"/>
                        </a:spcBef>
                        <a:spcAft>
                          <a:spcPts val="0"/>
                        </a:spcAft>
                        <a:buClr>
                          <a:schemeClr val="dk1"/>
                        </a:buClr>
                        <a:buSzPts val="900"/>
                        <a:buFont typeface="Open Sans"/>
                        <a:buChar char="•"/>
                      </a:pPr>
                      <a:r>
                        <a:rPr lang="en" sz="900" u="none" strike="noStrike" cap="none">
                          <a:latin typeface="Open Sans"/>
                          <a:ea typeface="Open Sans"/>
                          <a:cs typeface="Open Sans"/>
                          <a:sym typeface="Open Sans"/>
                        </a:rPr>
                        <a:t>Each time you re-visit the client, it (can) look like you’re trying to upsell the client in order to fix issues you should have spotted in the first place.</a:t>
                      </a:r>
                      <a:endParaRPr sz="1100" u="none" strike="noStrike" cap="none">
                        <a:latin typeface="Open Sans"/>
                        <a:ea typeface="Open Sans"/>
                        <a:cs typeface="Open Sans"/>
                        <a:sym typeface="Open Sans"/>
                      </a:endParaRPr>
                    </a:p>
                    <a:p>
                      <a:pPr marL="127000" marR="0" lvl="0" indent="-63500" algn="just" rtl="0">
                        <a:lnSpc>
                          <a:spcPct val="100000"/>
                        </a:lnSpc>
                        <a:spcBef>
                          <a:spcPts val="0"/>
                        </a:spcBef>
                        <a:spcAft>
                          <a:spcPts val="0"/>
                        </a:spcAft>
                        <a:buClr>
                          <a:schemeClr val="dk1"/>
                        </a:buClr>
                        <a:buSzPts val="900"/>
                        <a:buFont typeface="Arial"/>
                        <a:buNone/>
                      </a:pPr>
                      <a:endParaRPr sz="900" u="none" strike="noStrike" cap="none">
                        <a:latin typeface="Open Sans"/>
                        <a:ea typeface="Open Sans"/>
                        <a:cs typeface="Open Sans"/>
                        <a:sym typeface="Open Sans"/>
                      </a:endParaRPr>
                    </a:p>
                    <a:p>
                      <a:pPr marL="127000" marR="0" lvl="0" indent="-120650" algn="just" rtl="0">
                        <a:lnSpc>
                          <a:spcPct val="100000"/>
                        </a:lnSpc>
                        <a:spcBef>
                          <a:spcPts val="0"/>
                        </a:spcBef>
                        <a:spcAft>
                          <a:spcPts val="0"/>
                        </a:spcAft>
                        <a:buClr>
                          <a:schemeClr val="dk1"/>
                        </a:buClr>
                        <a:buSzPts val="900"/>
                        <a:buFont typeface="Open Sans"/>
                        <a:buChar char="•"/>
                      </a:pPr>
                      <a:r>
                        <a:rPr lang="en" sz="900" u="none" strike="noStrike" cap="none">
                          <a:latin typeface="Open Sans"/>
                          <a:ea typeface="Open Sans"/>
                          <a:cs typeface="Open Sans"/>
                          <a:sym typeface="Open Sans"/>
                        </a:rPr>
                        <a:t>The ‘in and out’ nature can come across as pushy if you don’t pay attention to your tone, posture and the use of models &amp; sliding questions.</a:t>
                      </a:r>
                      <a:endParaRPr sz="900" u="none" strike="noStrike" cap="none">
                        <a:solidFill>
                          <a:srgbClr val="0C0C0C"/>
                        </a:solidFill>
                        <a:latin typeface="Open Sans"/>
                        <a:ea typeface="Open Sans"/>
                        <a:cs typeface="Open Sans"/>
                        <a:sym typeface="Open Sans"/>
                      </a:endParaRPr>
                    </a:p>
                  </a:txBody>
                  <a:tcPr marL="68600" marR="68600" marT="34300" marB="34300"/>
                </a:tc>
                <a:extLst>
                  <a:ext uri="{0D108BD9-81ED-4DB2-BD59-A6C34878D82A}">
                    <a16:rowId xmlns:a16="http://schemas.microsoft.com/office/drawing/2014/main" val="10001"/>
                  </a:ext>
                </a:extLst>
              </a:tr>
            </a:tbl>
          </a:graphicData>
        </a:graphic>
      </p:graphicFrame>
      <p:graphicFrame>
        <p:nvGraphicFramePr>
          <p:cNvPr id="242" name="Google Shape;242;p40"/>
          <p:cNvGraphicFramePr/>
          <p:nvPr/>
        </p:nvGraphicFramePr>
        <p:xfrm>
          <a:off x="4667766" y="1268322"/>
          <a:ext cx="3000000" cy="3000000"/>
        </p:xfrm>
        <a:graphic>
          <a:graphicData uri="http://schemas.openxmlformats.org/drawingml/2006/table">
            <a:tbl>
              <a:tblPr firstRow="1" bandRow="1">
                <a:noFill/>
                <a:tableStyleId>{065DD13A-4BDD-469C-81BA-415B97BB1642}</a:tableStyleId>
              </a:tblPr>
              <a:tblGrid>
                <a:gridCol w="2116075">
                  <a:extLst>
                    <a:ext uri="{9D8B030D-6E8A-4147-A177-3AD203B41FA5}">
                      <a16:colId xmlns:a16="http://schemas.microsoft.com/office/drawing/2014/main" val="20000"/>
                    </a:ext>
                  </a:extLst>
                </a:gridCol>
                <a:gridCol w="2116075">
                  <a:extLst>
                    <a:ext uri="{9D8B030D-6E8A-4147-A177-3AD203B41FA5}">
                      <a16:colId xmlns:a16="http://schemas.microsoft.com/office/drawing/2014/main" val="20001"/>
                    </a:ext>
                  </a:extLst>
                </a:gridCol>
              </a:tblGrid>
              <a:tr h="284200">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chemeClr val="lt1"/>
                          </a:solidFill>
                          <a:latin typeface="Open Sans"/>
                          <a:ea typeface="Open Sans"/>
                          <a:cs typeface="Open Sans"/>
                          <a:sym typeface="Open Sans"/>
                        </a:rPr>
                        <a:t>Pro’s</a:t>
                      </a:r>
                      <a:endParaRPr sz="1200" u="none" strike="noStrike" cap="none">
                        <a:solidFill>
                          <a:schemeClr val="lt1"/>
                        </a:solidFill>
                        <a:latin typeface="Open Sans"/>
                        <a:ea typeface="Open Sans"/>
                        <a:cs typeface="Open Sans"/>
                        <a:sym typeface="Open Sans"/>
                      </a:endParaRPr>
                    </a:p>
                  </a:txBody>
                  <a:tcPr marL="68600" marR="68600" marT="34300" marB="34300" anchor="ctr">
                    <a:solidFill>
                      <a:srgbClr val="3A3838"/>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chemeClr val="lt1"/>
                          </a:solidFill>
                          <a:latin typeface="Open Sans"/>
                          <a:ea typeface="Open Sans"/>
                          <a:cs typeface="Open Sans"/>
                          <a:sym typeface="Open Sans"/>
                        </a:rPr>
                        <a:t>Con’s</a:t>
                      </a:r>
                      <a:endParaRPr sz="1200" u="none" strike="noStrike" cap="none">
                        <a:solidFill>
                          <a:schemeClr val="lt1"/>
                        </a:solidFill>
                        <a:latin typeface="Open Sans"/>
                        <a:ea typeface="Open Sans"/>
                        <a:cs typeface="Open Sans"/>
                        <a:sym typeface="Open Sans"/>
                      </a:endParaRPr>
                    </a:p>
                  </a:txBody>
                  <a:tcPr marL="68600" marR="68600" marT="34300" marB="34300" anchor="ctr">
                    <a:solidFill>
                      <a:srgbClr val="3A3838"/>
                    </a:solidFill>
                  </a:tcPr>
                </a:tc>
                <a:extLst>
                  <a:ext uri="{0D108BD9-81ED-4DB2-BD59-A6C34878D82A}">
                    <a16:rowId xmlns:a16="http://schemas.microsoft.com/office/drawing/2014/main" val="10000"/>
                  </a:ext>
                </a:extLst>
              </a:tr>
              <a:tr h="2545500">
                <a:tc>
                  <a:txBody>
                    <a:bodyPr/>
                    <a:lstStyle/>
                    <a:p>
                      <a:pPr marL="215900" marR="0" lvl="0" indent="-209550" algn="just" rtl="0">
                        <a:lnSpc>
                          <a:spcPct val="100000"/>
                        </a:lnSpc>
                        <a:spcBef>
                          <a:spcPts val="0"/>
                        </a:spcBef>
                        <a:spcAft>
                          <a:spcPts val="0"/>
                        </a:spcAft>
                        <a:buClr>
                          <a:schemeClr val="dk1"/>
                        </a:buClr>
                        <a:buSzPts val="900"/>
                        <a:buFont typeface="Open Sans"/>
                        <a:buChar char="•"/>
                      </a:pPr>
                      <a:r>
                        <a:rPr lang="en" sz="900" u="none" strike="noStrike" cap="none">
                          <a:latin typeface="Open Sans"/>
                          <a:ea typeface="Open Sans"/>
                          <a:cs typeface="Open Sans"/>
                          <a:sym typeface="Open Sans"/>
                        </a:rPr>
                        <a:t>You can ‘sell once, then deliver for the next 3 years’.</a:t>
                      </a:r>
                      <a:endParaRPr sz="1100" u="none" strike="noStrike" cap="none">
                        <a:latin typeface="Open Sans"/>
                        <a:ea typeface="Open Sans"/>
                        <a:cs typeface="Open Sans"/>
                        <a:sym typeface="Open Sans"/>
                      </a:endParaRPr>
                    </a:p>
                    <a:p>
                      <a:pPr marL="215900" marR="0" lvl="0" indent="-152400" algn="just" rtl="0">
                        <a:lnSpc>
                          <a:spcPct val="100000"/>
                        </a:lnSpc>
                        <a:spcBef>
                          <a:spcPts val="0"/>
                        </a:spcBef>
                        <a:spcAft>
                          <a:spcPts val="0"/>
                        </a:spcAft>
                        <a:buClr>
                          <a:schemeClr val="dk1"/>
                        </a:buClr>
                        <a:buSzPts val="900"/>
                        <a:buFont typeface="Arial"/>
                        <a:buNone/>
                      </a:pPr>
                      <a:endParaRPr sz="900" u="none" strike="noStrike" cap="none">
                        <a:latin typeface="Open Sans"/>
                        <a:ea typeface="Open Sans"/>
                        <a:cs typeface="Open Sans"/>
                        <a:sym typeface="Open Sans"/>
                      </a:endParaRPr>
                    </a:p>
                    <a:p>
                      <a:pPr marL="215900" marR="0" lvl="0" indent="-209550" algn="just" rtl="0">
                        <a:lnSpc>
                          <a:spcPct val="100000"/>
                        </a:lnSpc>
                        <a:spcBef>
                          <a:spcPts val="0"/>
                        </a:spcBef>
                        <a:spcAft>
                          <a:spcPts val="0"/>
                        </a:spcAft>
                        <a:buClr>
                          <a:schemeClr val="dk1"/>
                        </a:buClr>
                        <a:buSzPts val="900"/>
                        <a:buFont typeface="Open Sans"/>
                        <a:buChar char="•"/>
                      </a:pPr>
                      <a:r>
                        <a:rPr lang="en" sz="900" u="none" strike="noStrike" cap="none">
                          <a:latin typeface="Open Sans"/>
                          <a:ea typeface="Open Sans"/>
                          <a:cs typeface="Open Sans"/>
                          <a:sym typeface="Open Sans"/>
                        </a:rPr>
                        <a:t>Everybody has a better understanding of the inter-relatedness of your services and objectives, which provides a more predictable outcome.</a:t>
                      </a:r>
                      <a:endParaRPr sz="1100" u="none" strike="noStrike" cap="none">
                        <a:latin typeface="Open Sans"/>
                        <a:ea typeface="Open Sans"/>
                        <a:cs typeface="Open Sans"/>
                        <a:sym typeface="Open Sans"/>
                      </a:endParaRPr>
                    </a:p>
                    <a:p>
                      <a:pPr marL="215900" marR="0" lvl="0" indent="-152400" algn="just" rtl="0">
                        <a:lnSpc>
                          <a:spcPct val="100000"/>
                        </a:lnSpc>
                        <a:spcBef>
                          <a:spcPts val="0"/>
                        </a:spcBef>
                        <a:spcAft>
                          <a:spcPts val="0"/>
                        </a:spcAft>
                        <a:buClr>
                          <a:schemeClr val="dk1"/>
                        </a:buClr>
                        <a:buSzPts val="900"/>
                        <a:buFont typeface="Arial"/>
                        <a:buNone/>
                      </a:pPr>
                      <a:endParaRPr sz="900" u="none" strike="noStrike" cap="none">
                        <a:latin typeface="Open Sans"/>
                        <a:ea typeface="Open Sans"/>
                        <a:cs typeface="Open Sans"/>
                        <a:sym typeface="Open Sans"/>
                      </a:endParaRPr>
                    </a:p>
                    <a:p>
                      <a:pPr marL="215900" marR="0" lvl="0" indent="-209550" algn="just" rtl="0">
                        <a:lnSpc>
                          <a:spcPct val="100000"/>
                        </a:lnSpc>
                        <a:spcBef>
                          <a:spcPts val="0"/>
                        </a:spcBef>
                        <a:spcAft>
                          <a:spcPts val="0"/>
                        </a:spcAft>
                        <a:buClr>
                          <a:schemeClr val="dk1"/>
                        </a:buClr>
                        <a:buSzPts val="900"/>
                        <a:buFont typeface="Open Sans"/>
                        <a:buChar char="•"/>
                      </a:pPr>
                      <a:r>
                        <a:rPr lang="en" sz="900" u="none" strike="noStrike" cap="none">
                          <a:latin typeface="Open Sans"/>
                          <a:ea typeface="Open Sans"/>
                          <a:cs typeface="Open Sans"/>
                          <a:sym typeface="Open Sans"/>
                        </a:rPr>
                        <a:t>Your ‘Global’ view of the client’s needs lets you better plan your workflow.</a:t>
                      </a:r>
                      <a:endParaRPr sz="900" u="none" strike="noStrike" cap="none">
                        <a:latin typeface="Open Sans"/>
                        <a:ea typeface="Open Sans"/>
                        <a:cs typeface="Open Sans"/>
                        <a:sym typeface="Open Sans"/>
                      </a:endParaRPr>
                    </a:p>
                  </a:txBody>
                  <a:tcPr marL="68600" marR="68600" marT="34300" marB="34300"/>
                </a:tc>
                <a:tc>
                  <a:txBody>
                    <a:bodyPr/>
                    <a:lstStyle/>
                    <a:p>
                      <a:pPr marL="127000" marR="0" lvl="0" indent="-120650" algn="just" rtl="0">
                        <a:lnSpc>
                          <a:spcPct val="100000"/>
                        </a:lnSpc>
                        <a:spcBef>
                          <a:spcPts val="0"/>
                        </a:spcBef>
                        <a:spcAft>
                          <a:spcPts val="0"/>
                        </a:spcAft>
                        <a:buClr>
                          <a:schemeClr val="dk1"/>
                        </a:buClr>
                        <a:buSzPts val="900"/>
                        <a:buFont typeface="Open Sans"/>
                        <a:buChar char="•"/>
                      </a:pPr>
                      <a:r>
                        <a:rPr lang="en" sz="900" u="none" strike="noStrike" cap="none">
                          <a:latin typeface="Open Sans"/>
                          <a:ea typeface="Open Sans"/>
                          <a:cs typeface="Open Sans"/>
                          <a:sym typeface="Open Sans"/>
                        </a:rPr>
                        <a:t>More confidence and experience required as you’re (generally) offering solutions to more complex problems.</a:t>
                      </a:r>
                      <a:endParaRPr sz="1100" u="none" strike="noStrike" cap="none">
                        <a:latin typeface="Open Sans"/>
                        <a:ea typeface="Open Sans"/>
                        <a:cs typeface="Open Sans"/>
                        <a:sym typeface="Open Sans"/>
                      </a:endParaRPr>
                    </a:p>
                    <a:p>
                      <a:pPr marL="127000" marR="0" lvl="0" indent="-63500" algn="just" rtl="0">
                        <a:lnSpc>
                          <a:spcPct val="100000"/>
                        </a:lnSpc>
                        <a:spcBef>
                          <a:spcPts val="0"/>
                        </a:spcBef>
                        <a:spcAft>
                          <a:spcPts val="0"/>
                        </a:spcAft>
                        <a:buClr>
                          <a:schemeClr val="dk1"/>
                        </a:buClr>
                        <a:buSzPts val="900"/>
                        <a:buFont typeface="Arial"/>
                        <a:buNone/>
                      </a:pPr>
                      <a:endParaRPr sz="900" u="none" strike="noStrike" cap="none">
                        <a:latin typeface="Open Sans"/>
                        <a:ea typeface="Open Sans"/>
                        <a:cs typeface="Open Sans"/>
                        <a:sym typeface="Open Sans"/>
                      </a:endParaRPr>
                    </a:p>
                    <a:p>
                      <a:pPr marL="127000" marR="0" lvl="0" indent="-120650" algn="just" rtl="0">
                        <a:lnSpc>
                          <a:spcPct val="100000"/>
                        </a:lnSpc>
                        <a:spcBef>
                          <a:spcPts val="0"/>
                        </a:spcBef>
                        <a:spcAft>
                          <a:spcPts val="0"/>
                        </a:spcAft>
                        <a:buClr>
                          <a:schemeClr val="dk1"/>
                        </a:buClr>
                        <a:buSzPts val="900"/>
                        <a:buFont typeface="Open Sans"/>
                        <a:buChar char="•"/>
                      </a:pPr>
                      <a:r>
                        <a:rPr lang="en" sz="900" u="none" strike="noStrike" cap="none">
                          <a:latin typeface="Open Sans"/>
                          <a:ea typeface="Open Sans"/>
                          <a:cs typeface="Open Sans"/>
                          <a:sym typeface="Open Sans"/>
                        </a:rPr>
                        <a:t>Timeline is more extended which requires greater discipline and monitoring of the sales activities.</a:t>
                      </a:r>
                      <a:endParaRPr sz="1100" u="none" strike="noStrike" cap="none">
                        <a:latin typeface="Open Sans"/>
                        <a:ea typeface="Open Sans"/>
                        <a:cs typeface="Open Sans"/>
                        <a:sym typeface="Open Sans"/>
                      </a:endParaRPr>
                    </a:p>
                    <a:p>
                      <a:pPr marL="127000" marR="0" lvl="0" indent="-63500" algn="just" rtl="0">
                        <a:lnSpc>
                          <a:spcPct val="100000"/>
                        </a:lnSpc>
                        <a:spcBef>
                          <a:spcPts val="0"/>
                        </a:spcBef>
                        <a:spcAft>
                          <a:spcPts val="0"/>
                        </a:spcAft>
                        <a:buClr>
                          <a:schemeClr val="dk1"/>
                        </a:buClr>
                        <a:buSzPts val="900"/>
                        <a:buFont typeface="Arial"/>
                        <a:buNone/>
                      </a:pPr>
                      <a:endParaRPr sz="900" u="none" strike="noStrike" cap="none">
                        <a:latin typeface="Open Sans"/>
                        <a:ea typeface="Open Sans"/>
                        <a:cs typeface="Open Sans"/>
                        <a:sym typeface="Open Sans"/>
                      </a:endParaRPr>
                    </a:p>
                    <a:p>
                      <a:pPr marL="127000" marR="0" lvl="0" indent="-120650" algn="just" rtl="0">
                        <a:lnSpc>
                          <a:spcPct val="100000"/>
                        </a:lnSpc>
                        <a:spcBef>
                          <a:spcPts val="0"/>
                        </a:spcBef>
                        <a:spcAft>
                          <a:spcPts val="0"/>
                        </a:spcAft>
                        <a:buClr>
                          <a:schemeClr val="dk1"/>
                        </a:buClr>
                        <a:buSzPts val="900"/>
                        <a:buFont typeface="Open Sans"/>
                        <a:buChar char="•"/>
                      </a:pPr>
                      <a:r>
                        <a:rPr lang="en" sz="900" u="none" strike="noStrike" cap="none">
                          <a:latin typeface="Open Sans"/>
                          <a:ea typeface="Open Sans"/>
                          <a:cs typeface="Open Sans"/>
                          <a:sym typeface="Open Sans"/>
                        </a:rPr>
                        <a:t>The ‘wins’ are larger but then again, so are the ‘losses’ when you invest a load of time and prove unsuccessful (which of course, is going to happen from time to time)</a:t>
                      </a:r>
                      <a:endParaRPr sz="900" u="none" strike="noStrike" cap="none">
                        <a:latin typeface="Open Sans"/>
                        <a:ea typeface="Open Sans"/>
                        <a:cs typeface="Open Sans"/>
                        <a:sym typeface="Open Sans"/>
                      </a:endParaRPr>
                    </a:p>
                  </a:txBody>
                  <a:tcPr marL="68600" marR="68600" marT="34300" marB="34300"/>
                </a:tc>
                <a:extLst>
                  <a:ext uri="{0D108BD9-81ED-4DB2-BD59-A6C34878D82A}">
                    <a16:rowId xmlns:a16="http://schemas.microsoft.com/office/drawing/2014/main" val="10001"/>
                  </a:ext>
                </a:extLst>
              </a:tr>
            </a:tbl>
          </a:graphicData>
        </a:graphic>
      </p:graphicFrame>
      <p:sp>
        <p:nvSpPr>
          <p:cNvPr id="243" name="Google Shape;243;p40"/>
          <p:cNvSpPr txBox="1"/>
          <p:nvPr/>
        </p:nvSpPr>
        <p:spPr>
          <a:xfrm>
            <a:off x="1245723" y="976940"/>
            <a:ext cx="2176317" cy="242374"/>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i="0" u="none" strike="noStrike" cap="none">
                <a:solidFill>
                  <a:srgbClr val="434343"/>
                </a:solidFill>
                <a:latin typeface="Open Sans"/>
                <a:ea typeface="Open Sans"/>
                <a:cs typeface="Open Sans"/>
                <a:sym typeface="Open Sans"/>
              </a:rPr>
              <a:t>Campaign Sales Process</a:t>
            </a:r>
            <a:endParaRPr sz="1100" i="0" u="none" strike="noStrike" cap="none">
              <a:solidFill>
                <a:srgbClr val="434343"/>
              </a:solidFill>
              <a:latin typeface="Open Sans"/>
              <a:ea typeface="Open Sans"/>
              <a:cs typeface="Open Sans"/>
              <a:sym typeface="Open Sans"/>
            </a:endParaRPr>
          </a:p>
        </p:txBody>
      </p:sp>
      <p:sp>
        <p:nvSpPr>
          <p:cNvPr id="244" name="Google Shape;244;p40"/>
          <p:cNvSpPr txBox="1"/>
          <p:nvPr/>
        </p:nvSpPr>
        <p:spPr>
          <a:xfrm>
            <a:off x="5572226" y="951683"/>
            <a:ext cx="2383105" cy="242374"/>
          </a:xfrm>
          <a:prstGeom prst="rect">
            <a:avLst/>
          </a:prstGeom>
          <a:noFill/>
          <a:ln>
            <a:noFill/>
          </a:ln>
        </p:spPr>
        <p:txBody>
          <a:bodyPr spcFirstLastPara="1" wrap="square" lIns="68575" tIns="34275" rIns="68575" bIns="34275" anchor="t"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100" i="0" u="none" strike="noStrike" cap="none">
                <a:solidFill>
                  <a:srgbClr val="434343"/>
                </a:solidFill>
                <a:latin typeface="Open Sans"/>
                <a:ea typeface="Open Sans"/>
                <a:cs typeface="Open Sans"/>
                <a:sym typeface="Open Sans"/>
              </a:rPr>
              <a:t>Total Needs Sales Process</a:t>
            </a:r>
            <a:endParaRPr sz="1100" i="0" u="none" strike="noStrike" cap="none">
              <a:solidFill>
                <a:srgbClr val="434343"/>
              </a:solidFill>
              <a:latin typeface="Open Sans"/>
              <a:ea typeface="Open Sans"/>
              <a:cs typeface="Open Sans"/>
              <a:sym typeface="Open Sans"/>
            </a:endParaRPr>
          </a:p>
        </p:txBody>
      </p:sp>
      <p:sp>
        <p:nvSpPr>
          <p:cNvPr id="245" name="Google Shape;245;p40"/>
          <p:cNvSpPr/>
          <p:nvPr/>
        </p:nvSpPr>
        <p:spPr>
          <a:xfrm>
            <a:off x="4658496" y="4086812"/>
            <a:ext cx="4210563" cy="882934"/>
          </a:xfrm>
          <a:prstGeom prst="rect">
            <a:avLst/>
          </a:prstGeom>
          <a:noFill/>
          <a:ln>
            <a:noFill/>
          </a:ln>
        </p:spPr>
        <p:txBody>
          <a:bodyPr spcFirstLastPara="1" wrap="square" lIns="68575" tIns="34275" rIns="68575" bIns="34275" anchor="t" anchorCtr="0">
            <a:noAutofit/>
          </a:bodyPr>
          <a:lstStyle/>
          <a:p>
            <a:pPr marL="0" marR="0" lvl="0" indent="0" algn="just" rtl="0">
              <a:lnSpc>
                <a:spcPct val="150000"/>
              </a:lnSpc>
              <a:spcBef>
                <a:spcPts val="0"/>
              </a:spcBef>
              <a:spcAft>
                <a:spcPts val="0"/>
              </a:spcAft>
              <a:buClr>
                <a:srgbClr val="000000"/>
              </a:buClr>
              <a:buSzPts val="900"/>
              <a:buFont typeface="Arial"/>
              <a:buNone/>
            </a:pPr>
            <a:r>
              <a:rPr lang="en" sz="900" i="0" u="none" strike="noStrike" cap="none">
                <a:solidFill>
                  <a:srgbClr val="434343"/>
                </a:solidFill>
                <a:latin typeface="Open Sans"/>
                <a:ea typeface="Open Sans"/>
                <a:cs typeface="Open Sans"/>
                <a:sym typeface="Open Sans"/>
              </a:rPr>
              <a:t>Aimed at larger, more complex business circumstances. The sales process generally involves 3-5 meetings, takes upwards of 10 hours to complete and is seeking work in the $30k+ fee range.</a:t>
            </a:r>
            <a:endParaRPr sz="1100" i="0" u="none" strike="noStrike" cap="none">
              <a:solidFill>
                <a:srgbClr val="434343"/>
              </a:solidFill>
              <a:latin typeface="Open Sans"/>
              <a:ea typeface="Open Sans"/>
              <a:cs typeface="Open Sans"/>
              <a:sym typeface="Open Sans"/>
            </a:endParaRPr>
          </a:p>
        </p:txBody>
      </p:sp>
      <p:sp>
        <p:nvSpPr>
          <p:cNvPr id="246" name="Google Shape;246;p40"/>
          <p:cNvSpPr/>
          <p:nvPr/>
        </p:nvSpPr>
        <p:spPr>
          <a:xfrm>
            <a:off x="228600" y="4092078"/>
            <a:ext cx="4210563" cy="675184"/>
          </a:xfrm>
          <a:prstGeom prst="rect">
            <a:avLst/>
          </a:prstGeom>
          <a:noFill/>
          <a:ln>
            <a:noFill/>
          </a:ln>
        </p:spPr>
        <p:txBody>
          <a:bodyPr spcFirstLastPara="1" wrap="square" lIns="68575" tIns="34275" rIns="68575" bIns="34275" anchor="t" anchorCtr="0">
            <a:noAutofit/>
          </a:bodyPr>
          <a:lstStyle/>
          <a:p>
            <a:pPr marL="0" marR="0" lvl="0" indent="0" algn="just" rtl="0">
              <a:lnSpc>
                <a:spcPct val="150000"/>
              </a:lnSpc>
              <a:spcBef>
                <a:spcPts val="0"/>
              </a:spcBef>
              <a:spcAft>
                <a:spcPts val="0"/>
              </a:spcAft>
              <a:buClr>
                <a:srgbClr val="000000"/>
              </a:buClr>
              <a:buSzPts val="900"/>
              <a:buFont typeface="Arial"/>
              <a:buNone/>
            </a:pPr>
            <a:r>
              <a:rPr lang="en" sz="900" i="0" u="none" strike="noStrike" cap="none">
                <a:solidFill>
                  <a:srgbClr val="434343"/>
                </a:solidFill>
                <a:latin typeface="Open Sans"/>
                <a:ea typeface="Open Sans"/>
                <a:cs typeface="Open Sans"/>
                <a:sym typeface="Open Sans"/>
              </a:rPr>
              <a:t>Aimed at smaller, less complex business circumstances. The sales process generally involves 1-2 meetings, takes 1-2 hours to complete  and is seeking work in the $6 - $12k fee range.</a:t>
            </a:r>
            <a:endParaRPr sz="1100" i="0" u="none" strike="noStrike" cap="none">
              <a:solidFill>
                <a:srgbClr val="434343"/>
              </a:solidFill>
              <a:latin typeface="Open Sans"/>
              <a:ea typeface="Open Sans"/>
              <a:cs typeface="Open Sans"/>
              <a:sym typeface="Open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0"/>
        <p:cNvGrpSpPr/>
        <p:nvPr/>
      </p:nvGrpSpPr>
      <p:grpSpPr>
        <a:xfrm>
          <a:off x="0" y="0"/>
          <a:ext cx="0" cy="0"/>
          <a:chOff x="0" y="0"/>
          <a:chExt cx="0" cy="0"/>
        </a:xfrm>
      </p:grpSpPr>
      <p:sp>
        <p:nvSpPr>
          <p:cNvPr id="251" name="Google Shape;251;p41"/>
          <p:cNvSpPr txBox="1">
            <a:spLocks noGrp="1"/>
          </p:cNvSpPr>
          <p:nvPr>
            <p:ph type="title"/>
          </p:nvPr>
        </p:nvSpPr>
        <p:spPr>
          <a:xfrm>
            <a:off x="188250" y="139300"/>
            <a:ext cx="7003200" cy="4938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rgbClr val="A5A5A5"/>
              </a:buClr>
              <a:buSzPts val="2400"/>
              <a:buFont typeface="Architects Daughter"/>
              <a:buNone/>
            </a:pPr>
            <a:r>
              <a:rPr lang="en" sz="2400">
                <a:solidFill>
                  <a:srgbClr val="002B64"/>
                </a:solidFill>
                <a:latin typeface="Open Sans"/>
                <a:ea typeface="Open Sans"/>
                <a:cs typeface="Open Sans"/>
                <a:sym typeface="Open Sans"/>
              </a:rPr>
              <a:t>Decisions, decisions...</a:t>
            </a:r>
            <a:endParaRPr sz="2400">
              <a:solidFill>
                <a:srgbClr val="002B64"/>
              </a:solidFill>
              <a:latin typeface="Open Sans"/>
              <a:ea typeface="Open Sans"/>
              <a:cs typeface="Open Sans"/>
              <a:sym typeface="Open Sans"/>
            </a:endParaRPr>
          </a:p>
        </p:txBody>
      </p:sp>
      <p:sp>
        <p:nvSpPr>
          <p:cNvPr id="252" name="Google Shape;252;p41"/>
          <p:cNvSpPr txBox="1">
            <a:spLocks noGrp="1"/>
          </p:cNvSpPr>
          <p:nvPr>
            <p:ph type="body" idx="1"/>
          </p:nvPr>
        </p:nvSpPr>
        <p:spPr>
          <a:xfrm>
            <a:off x="237866" y="633178"/>
            <a:ext cx="8655911" cy="390400"/>
          </a:xfrm>
          <a:prstGeom prst="rect">
            <a:avLst/>
          </a:prstGeom>
          <a:noFill/>
          <a:ln>
            <a:noFill/>
          </a:ln>
        </p:spPr>
        <p:txBody>
          <a:bodyPr spcFirstLastPara="1" wrap="square" lIns="68575" tIns="34275" rIns="68575" bIns="34275" anchor="t" anchorCtr="0">
            <a:noAutofit/>
          </a:bodyPr>
          <a:lstStyle/>
          <a:p>
            <a:pPr marL="0" lvl="0" indent="0" algn="l" rtl="0">
              <a:lnSpc>
                <a:spcPct val="140000"/>
              </a:lnSpc>
              <a:spcBef>
                <a:spcPts val="0"/>
              </a:spcBef>
              <a:spcAft>
                <a:spcPts val="0"/>
              </a:spcAft>
              <a:buClr>
                <a:schemeClr val="lt1"/>
              </a:buClr>
              <a:buSzPts val="800"/>
              <a:buNone/>
            </a:pPr>
            <a:r>
              <a:rPr lang="en" sz="800">
                <a:solidFill>
                  <a:srgbClr val="002B64"/>
                </a:solidFill>
                <a:latin typeface="Open Sans"/>
                <a:ea typeface="Open Sans"/>
                <a:cs typeface="Open Sans"/>
                <a:sym typeface="Open Sans"/>
              </a:rPr>
              <a:t>The DESIGN of your advisory solution {WHAT you recommend} does not (necessarily) dictate its effectiveness. {HOW it helps your client}</a:t>
            </a:r>
            <a:endParaRPr sz="800">
              <a:solidFill>
                <a:srgbClr val="002B64"/>
              </a:solidFill>
              <a:latin typeface="Open Sans"/>
              <a:ea typeface="Open Sans"/>
              <a:cs typeface="Open Sans"/>
              <a:sym typeface="Open Sans"/>
            </a:endParaRPr>
          </a:p>
        </p:txBody>
      </p:sp>
      <p:sp>
        <p:nvSpPr>
          <p:cNvPr id="253" name="Google Shape;253;p41"/>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SzPts val="900"/>
              <a:buNone/>
            </a:pPr>
            <a:fld id="{00000000-1234-1234-1234-123412341234}" type="slidenum">
              <a:rPr lang="en" sz="1100"/>
              <a:t>4</a:t>
            </a:fld>
            <a:endParaRPr sz="1100"/>
          </a:p>
        </p:txBody>
      </p:sp>
      <p:sp>
        <p:nvSpPr>
          <p:cNvPr id="254" name="Google Shape;254;p41"/>
          <p:cNvSpPr/>
          <p:nvPr/>
        </p:nvSpPr>
        <p:spPr>
          <a:xfrm>
            <a:off x="49427" y="49427"/>
            <a:ext cx="9038967" cy="89876"/>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55" name="Google Shape;255;p41"/>
          <p:cNvSpPr/>
          <p:nvPr/>
        </p:nvSpPr>
        <p:spPr>
          <a:xfrm>
            <a:off x="49427" y="5004196"/>
            <a:ext cx="579223" cy="89876"/>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56" name="Google Shape;256;p41"/>
          <p:cNvSpPr/>
          <p:nvPr/>
        </p:nvSpPr>
        <p:spPr>
          <a:xfrm>
            <a:off x="1513702" y="5004196"/>
            <a:ext cx="7574692" cy="89876"/>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57" name="Google Shape;257;p41"/>
          <p:cNvSpPr/>
          <p:nvPr/>
        </p:nvSpPr>
        <p:spPr>
          <a:xfrm rot="-5400000">
            <a:off x="6612699" y="2528501"/>
            <a:ext cx="4864893" cy="86496"/>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58" name="Google Shape;258;p41"/>
          <p:cNvSpPr/>
          <p:nvPr/>
        </p:nvSpPr>
        <p:spPr>
          <a:xfrm rot="-5400000">
            <a:off x="-2339772" y="2528501"/>
            <a:ext cx="4864893" cy="86496"/>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graphicFrame>
        <p:nvGraphicFramePr>
          <p:cNvPr id="259" name="Google Shape;259;p41"/>
          <p:cNvGraphicFramePr/>
          <p:nvPr/>
        </p:nvGraphicFramePr>
        <p:xfrm>
          <a:off x="237866" y="1271640"/>
          <a:ext cx="3000000" cy="3000000"/>
        </p:xfrm>
        <a:graphic>
          <a:graphicData uri="http://schemas.openxmlformats.org/drawingml/2006/table">
            <a:tbl>
              <a:tblPr firstRow="1" bandRow="1">
                <a:noFill/>
                <a:tableStyleId>{065DD13A-4BDD-469C-81BA-415B97BB1642}</a:tableStyleId>
              </a:tblPr>
              <a:tblGrid>
                <a:gridCol w="2119175">
                  <a:extLst>
                    <a:ext uri="{9D8B030D-6E8A-4147-A177-3AD203B41FA5}">
                      <a16:colId xmlns:a16="http://schemas.microsoft.com/office/drawing/2014/main" val="20000"/>
                    </a:ext>
                  </a:extLst>
                </a:gridCol>
                <a:gridCol w="2119175">
                  <a:extLst>
                    <a:ext uri="{9D8B030D-6E8A-4147-A177-3AD203B41FA5}">
                      <a16:colId xmlns:a16="http://schemas.microsoft.com/office/drawing/2014/main" val="20001"/>
                    </a:ext>
                  </a:extLst>
                </a:gridCol>
              </a:tblGrid>
              <a:tr h="277700">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chemeClr val="lt1"/>
                          </a:solidFill>
                          <a:latin typeface="Open Sans"/>
                          <a:ea typeface="Open Sans"/>
                          <a:cs typeface="Open Sans"/>
                          <a:sym typeface="Open Sans"/>
                        </a:rPr>
                        <a:t>Pro’s</a:t>
                      </a:r>
                      <a:endParaRPr sz="1200" u="none" strike="noStrike" cap="none">
                        <a:solidFill>
                          <a:schemeClr val="lt1"/>
                        </a:solidFill>
                        <a:latin typeface="Open Sans"/>
                        <a:ea typeface="Open Sans"/>
                        <a:cs typeface="Open Sans"/>
                        <a:sym typeface="Open Sans"/>
                      </a:endParaRPr>
                    </a:p>
                  </a:txBody>
                  <a:tcPr marL="68600" marR="68600" marT="34300" marB="34300" anchor="ctr">
                    <a:solidFill>
                      <a:srgbClr val="3A3838"/>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chemeClr val="lt1"/>
                          </a:solidFill>
                          <a:latin typeface="Open Sans"/>
                          <a:ea typeface="Open Sans"/>
                          <a:cs typeface="Open Sans"/>
                          <a:sym typeface="Open Sans"/>
                        </a:rPr>
                        <a:t>Con’s</a:t>
                      </a:r>
                      <a:endParaRPr sz="1200" u="none" strike="noStrike" cap="none">
                        <a:solidFill>
                          <a:schemeClr val="lt1"/>
                        </a:solidFill>
                        <a:latin typeface="Open Sans"/>
                        <a:ea typeface="Open Sans"/>
                        <a:cs typeface="Open Sans"/>
                        <a:sym typeface="Open Sans"/>
                      </a:endParaRPr>
                    </a:p>
                  </a:txBody>
                  <a:tcPr marL="68600" marR="68600" marT="34300" marB="34300" anchor="ctr">
                    <a:solidFill>
                      <a:srgbClr val="3A3838"/>
                    </a:solidFill>
                  </a:tcPr>
                </a:tc>
                <a:extLst>
                  <a:ext uri="{0D108BD9-81ED-4DB2-BD59-A6C34878D82A}">
                    <a16:rowId xmlns:a16="http://schemas.microsoft.com/office/drawing/2014/main" val="10000"/>
                  </a:ext>
                </a:extLst>
              </a:tr>
              <a:tr h="2533125">
                <a:tc>
                  <a:txBody>
                    <a:bodyPr/>
                    <a:lstStyle/>
                    <a:p>
                      <a:pPr marL="215900" marR="0" lvl="0" indent="-209550" algn="just" rtl="0">
                        <a:lnSpc>
                          <a:spcPct val="100000"/>
                        </a:lnSpc>
                        <a:spcBef>
                          <a:spcPts val="0"/>
                        </a:spcBef>
                        <a:spcAft>
                          <a:spcPts val="0"/>
                        </a:spcAft>
                        <a:buClr>
                          <a:schemeClr val="dk1"/>
                        </a:buClr>
                        <a:buSzPts val="900"/>
                        <a:buFont typeface="Open Sans"/>
                        <a:buChar char="•"/>
                      </a:pPr>
                      <a:r>
                        <a:rPr lang="en" sz="900" u="none" strike="noStrike" cap="none">
                          <a:latin typeface="Open Sans"/>
                          <a:ea typeface="Open Sans"/>
                          <a:cs typeface="Open Sans"/>
                          <a:sym typeface="Open Sans"/>
                        </a:rPr>
                        <a:t>Reduces confusion for the advisor and the client.</a:t>
                      </a:r>
                      <a:endParaRPr sz="1100" u="none" strike="noStrike" cap="none">
                        <a:latin typeface="Open Sans"/>
                        <a:ea typeface="Open Sans"/>
                        <a:cs typeface="Open Sans"/>
                        <a:sym typeface="Open Sans"/>
                      </a:endParaRPr>
                    </a:p>
                    <a:p>
                      <a:pPr marL="215900" marR="0" lvl="0" indent="-152400" algn="just" rtl="0">
                        <a:lnSpc>
                          <a:spcPct val="100000"/>
                        </a:lnSpc>
                        <a:spcBef>
                          <a:spcPts val="0"/>
                        </a:spcBef>
                        <a:spcAft>
                          <a:spcPts val="0"/>
                        </a:spcAft>
                        <a:buClr>
                          <a:schemeClr val="dk1"/>
                        </a:buClr>
                        <a:buSzPts val="900"/>
                        <a:buFont typeface="Arial"/>
                        <a:buNone/>
                      </a:pPr>
                      <a:endParaRPr sz="900" u="none" strike="noStrike" cap="none">
                        <a:latin typeface="Open Sans"/>
                        <a:ea typeface="Open Sans"/>
                        <a:cs typeface="Open Sans"/>
                        <a:sym typeface="Open Sans"/>
                      </a:endParaRPr>
                    </a:p>
                    <a:p>
                      <a:pPr marL="215900" marR="0" lvl="0" indent="-209550" algn="just" rtl="0">
                        <a:lnSpc>
                          <a:spcPct val="100000"/>
                        </a:lnSpc>
                        <a:spcBef>
                          <a:spcPts val="0"/>
                        </a:spcBef>
                        <a:spcAft>
                          <a:spcPts val="0"/>
                        </a:spcAft>
                        <a:buClr>
                          <a:schemeClr val="dk1"/>
                        </a:buClr>
                        <a:buSzPts val="900"/>
                        <a:buFont typeface="Open Sans"/>
                        <a:buChar char="•"/>
                      </a:pPr>
                      <a:r>
                        <a:rPr lang="en" sz="900" u="none" strike="noStrike" cap="none">
                          <a:latin typeface="Open Sans"/>
                          <a:ea typeface="Open Sans"/>
                          <a:cs typeface="Open Sans"/>
                          <a:sym typeface="Open Sans"/>
                        </a:rPr>
                        <a:t>Easier to determine logistics which makes the management of multiple clients easier.</a:t>
                      </a:r>
                      <a:endParaRPr sz="1100" u="none" strike="noStrike" cap="none">
                        <a:latin typeface="Open Sans"/>
                        <a:ea typeface="Open Sans"/>
                        <a:cs typeface="Open Sans"/>
                        <a:sym typeface="Open Sans"/>
                      </a:endParaRPr>
                    </a:p>
                    <a:p>
                      <a:pPr marL="215900" marR="0" lvl="0" indent="-152400" algn="just" rtl="0">
                        <a:lnSpc>
                          <a:spcPct val="100000"/>
                        </a:lnSpc>
                        <a:spcBef>
                          <a:spcPts val="0"/>
                        </a:spcBef>
                        <a:spcAft>
                          <a:spcPts val="0"/>
                        </a:spcAft>
                        <a:buClr>
                          <a:schemeClr val="dk1"/>
                        </a:buClr>
                        <a:buSzPts val="900"/>
                        <a:buFont typeface="Arial"/>
                        <a:buNone/>
                      </a:pPr>
                      <a:endParaRPr sz="900" u="none" strike="noStrike" cap="none">
                        <a:latin typeface="Open Sans"/>
                        <a:ea typeface="Open Sans"/>
                        <a:cs typeface="Open Sans"/>
                        <a:sym typeface="Open Sans"/>
                      </a:endParaRPr>
                    </a:p>
                    <a:p>
                      <a:pPr marL="215900" marR="0" lvl="0" indent="-209550" algn="just" rtl="0">
                        <a:lnSpc>
                          <a:spcPct val="100000"/>
                        </a:lnSpc>
                        <a:spcBef>
                          <a:spcPts val="0"/>
                        </a:spcBef>
                        <a:spcAft>
                          <a:spcPts val="0"/>
                        </a:spcAft>
                        <a:buClr>
                          <a:schemeClr val="dk1"/>
                        </a:buClr>
                        <a:buSzPts val="900"/>
                        <a:buFont typeface="Open Sans"/>
                        <a:buChar char="•"/>
                      </a:pPr>
                      <a:r>
                        <a:rPr lang="en" sz="900" u="none" strike="noStrike" cap="none">
                          <a:latin typeface="Open Sans"/>
                          <a:ea typeface="Open Sans"/>
                          <a:cs typeface="Open Sans"/>
                          <a:sym typeface="Open Sans"/>
                        </a:rPr>
                        <a:t>Less time involved in preparation which makes it easier to deliver; (especially when busy with compliance work) and improves the financial recovery of the engagement.</a:t>
                      </a:r>
                      <a:endParaRPr sz="900" u="none" strike="noStrike" cap="none">
                        <a:solidFill>
                          <a:srgbClr val="0C0C0C"/>
                        </a:solidFill>
                        <a:latin typeface="Open Sans"/>
                        <a:ea typeface="Open Sans"/>
                        <a:cs typeface="Open Sans"/>
                        <a:sym typeface="Open Sans"/>
                      </a:endParaRPr>
                    </a:p>
                  </a:txBody>
                  <a:tcPr marL="68600" marR="68600" marT="34300" marB="34300"/>
                </a:tc>
                <a:tc>
                  <a:txBody>
                    <a:bodyPr/>
                    <a:lstStyle/>
                    <a:p>
                      <a:pPr marL="127000" marR="0" lvl="0" indent="-120650" algn="just" rtl="0">
                        <a:lnSpc>
                          <a:spcPct val="100000"/>
                        </a:lnSpc>
                        <a:spcBef>
                          <a:spcPts val="0"/>
                        </a:spcBef>
                        <a:spcAft>
                          <a:spcPts val="0"/>
                        </a:spcAft>
                        <a:buClr>
                          <a:schemeClr val="dk1"/>
                        </a:buClr>
                        <a:buSzPts val="900"/>
                        <a:buFont typeface="Open Sans"/>
                        <a:buChar char="•"/>
                      </a:pPr>
                      <a:r>
                        <a:rPr lang="en" sz="900" u="none" strike="noStrike" cap="none">
                          <a:latin typeface="Open Sans"/>
                          <a:ea typeface="Open Sans"/>
                          <a:cs typeface="Open Sans"/>
                          <a:sym typeface="Open Sans"/>
                        </a:rPr>
                        <a:t>Potential to miss aspects that could contribute to a better outcome for your client.</a:t>
                      </a:r>
                      <a:endParaRPr sz="1100" u="none" strike="noStrike" cap="none">
                        <a:latin typeface="Open Sans"/>
                        <a:ea typeface="Open Sans"/>
                        <a:cs typeface="Open Sans"/>
                        <a:sym typeface="Open Sans"/>
                      </a:endParaRPr>
                    </a:p>
                    <a:p>
                      <a:pPr marL="127000" marR="0" lvl="0" indent="-63500" algn="just" rtl="0">
                        <a:lnSpc>
                          <a:spcPct val="100000"/>
                        </a:lnSpc>
                        <a:spcBef>
                          <a:spcPts val="0"/>
                        </a:spcBef>
                        <a:spcAft>
                          <a:spcPts val="0"/>
                        </a:spcAft>
                        <a:buClr>
                          <a:schemeClr val="dk1"/>
                        </a:buClr>
                        <a:buSzPts val="900"/>
                        <a:buFont typeface="Arial"/>
                        <a:buNone/>
                      </a:pPr>
                      <a:endParaRPr sz="900" u="none" strike="noStrike" cap="none">
                        <a:latin typeface="Open Sans"/>
                        <a:ea typeface="Open Sans"/>
                        <a:cs typeface="Open Sans"/>
                        <a:sym typeface="Open Sans"/>
                      </a:endParaRPr>
                    </a:p>
                    <a:p>
                      <a:pPr marL="127000" marR="0" lvl="0" indent="-120650" algn="just" rtl="0">
                        <a:lnSpc>
                          <a:spcPct val="100000"/>
                        </a:lnSpc>
                        <a:spcBef>
                          <a:spcPts val="0"/>
                        </a:spcBef>
                        <a:spcAft>
                          <a:spcPts val="0"/>
                        </a:spcAft>
                        <a:buClr>
                          <a:schemeClr val="dk1"/>
                        </a:buClr>
                        <a:buSzPts val="900"/>
                        <a:buFont typeface="Open Sans"/>
                        <a:buChar char="•"/>
                      </a:pPr>
                      <a:r>
                        <a:rPr lang="en" sz="900" u="none" strike="noStrike" cap="none">
                          <a:latin typeface="Open Sans"/>
                          <a:ea typeface="Open Sans"/>
                          <a:cs typeface="Open Sans"/>
                          <a:sym typeface="Open Sans"/>
                        </a:rPr>
                        <a:t>Some of the delivery components (Modules) may require an understanding of, or have a reliance on, another module. If your client has not engaged you to complete (that) module then your delivery may be effected.</a:t>
                      </a:r>
                      <a:endParaRPr sz="900" u="none" strike="noStrike" cap="none">
                        <a:solidFill>
                          <a:srgbClr val="0C0C0C"/>
                        </a:solidFill>
                        <a:latin typeface="Open Sans"/>
                        <a:ea typeface="Open Sans"/>
                        <a:cs typeface="Open Sans"/>
                        <a:sym typeface="Open Sans"/>
                      </a:endParaRPr>
                    </a:p>
                  </a:txBody>
                  <a:tcPr marL="68600" marR="68600" marT="34300" marB="34300"/>
                </a:tc>
                <a:extLst>
                  <a:ext uri="{0D108BD9-81ED-4DB2-BD59-A6C34878D82A}">
                    <a16:rowId xmlns:a16="http://schemas.microsoft.com/office/drawing/2014/main" val="10001"/>
                  </a:ext>
                </a:extLst>
              </a:tr>
            </a:tbl>
          </a:graphicData>
        </a:graphic>
      </p:graphicFrame>
      <p:graphicFrame>
        <p:nvGraphicFramePr>
          <p:cNvPr id="260" name="Google Shape;260;p41"/>
          <p:cNvGraphicFramePr/>
          <p:nvPr/>
        </p:nvGraphicFramePr>
        <p:xfrm>
          <a:off x="4667766" y="1268322"/>
          <a:ext cx="3000000" cy="3000000"/>
        </p:xfrm>
        <a:graphic>
          <a:graphicData uri="http://schemas.openxmlformats.org/drawingml/2006/table">
            <a:tbl>
              <a:tblPr firstRow="1" bandRow="1">
                <a:noFill/>
                <a:tableStyleId>{065DD13A-4BDD-469C-81BA-415B97BB1642}</a:tableStyleId>
              </a:tblPr>
              <a:tblGrid>
                <a:gridCol w="2116075">
                  <a:extLst>
                    <a:ext uri="{9D8B030D-6E8A-4147-A177-3AD203B41FA5}">
                      <a16:colId xmlns:a16="http://schemas.microsoft.com/office/drawing/2014/main" val="20000"/>
                    </a:ext>
                  </a:extLst>
                </a:gridCol>
                <a:gridCol w="2116075">
                  <a:extLst>
                    <a:ext uri="{9D8B030D-6E8A-4147-A177-3AD203B41FA5}">
                      <a16:colId xmlns:a16="http://schemas.microsoft.com/office/drawing/2014/main" val="20001"/>
                    </a:ext>
                  </a:extLst>
                </a:gridCol>
              </a:tblGrid>
              <a:tr h="284200">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chemeClr val="lt1"/>
                          </a:solidFill>
                          <a:latin typeface="Open Sans"/>
                          <a:ea typeface="Open Sans"/>
                          <a:cs typeface="Open Sans"/>
                          <a:sym typeface="Open Sans"/>
                        </a:rPr>
                        <a:t>Pro’s</a:t>
                      </a:r>
                      <a:endParaRPr sz="1200" u="none" strike="noStrike" cap="none">
                        <a:solidFill>
                          <a:schemeClr val="lt1"/>
                        </a:solidFill>
                        <a:latin typeface="Open Sans"/>
                        <a:ea typeface="Open Sans"/>
                        <a:cs typeface="Open Sans"/>
                        <a:sym typeface="Open Sans"/>
                      </a:endParaRPr>
                    </a:p>
                  </a:txBody>
                  <a:tcPr marL="68600" marR="68600" marT="34300" marB="34300" anchor="ctr">
                    <a:solidFill>
                      <a:srgbClr val="3A3838"/>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chemeClr val="lt1"/>
                          </a:solidFill>
                          <a:latin typeface="Open Sans"/>
                          <a:ea typeface="Open Sans"/>
                          <a:cs typeface="Open Sans"/>
                          <a:sym typeface="Open Sans"/>
                        </a:rPr>
                        <a:t>Con’s</a:t>
                      </a:r>
                      <a:endParaRPr sz="1200" u="none" strike="noStrike" cap="none">
                        <a:solidFill>
                          <a:schemeClr val="lt1"/>
                        </a:solidFill>
                        <a:latin typeface="Open Sans"/>
                        <a:ea typeface="Open Sans"/>
                        <a:cs typeface="Open Sans"/>
                        <a:sym typeface="Open Sans"/>
                      </a:endParaRPr>
                    </a:p>
                  </a:txBody>
                  <a:tcPr marL="68600" marR="68600" marT="34300" marB="34300" anchor="ctr">
                    <a:solidFill>
                      <a:srgbClr val="3A3838"/>
                    </a:solidFill>
                  </a:tcPr>
                </a:tc>
                <a:extLst>
                  <a:ext uri="{0D108BD9-81ED-4DB2-BD59-A6C34878D82A}">
                    <a16:rowId xmlns:a16="http://schemas.microsoft.com/office/drawing/2014/main" val="10000"/>
                  </a:ext>
                </a:extLst>
              </a:tr>
              <a:tr h="2545500">
                <a:tc>
                  <a:txBody>
                    <a:bodyPr/>
                    <a:lstStyle/>
                    <a:p>
                      <a:pPr marL="215900" marR="0" lvl="0" indent="-209550" algn="just" rtl="0">
                        <a:lnSpc>
                          <a:spcPct val="100000"/>
                        </a:lnSpc>
                        <a:spcBef>
                          <a:spcPts val="0"/>
                        </a:spcBef>
                        <a:spcAft>
                          <a:spcPts val="0"/>
                        </a:spcAft>
                        <a:buClr>
                          <a:schemeClr val="dk1"/>
                        </a:buClr>
                        <a:buSzPts val="900"/>
                        <a:buFont typeface="Open Sans"/>
                        <a:buChar char="•"/>
                      </a:pPr>
                      <a:r>
                        <a:rPr lang="en" sz="900" u="none" strike="noStrike" cap="none">
                          <a:latin typeface="Open Sans"/>
                          <a:ea typeface="Open Sans"/>
                          <a:cs typeface="Open Sans"/>
                          <a:sym typeface="Open Sans"/>
                        </a:rPr>
                        <a:t>You can be assured that your solution is not being compared to other providers at a ‘commodity level’.</a:t>
                      </a:r>
                      <a:endParaRPr sz="1100" u="none" strike="noStrike" cap="none">
                        <a:latin typeface="Open Sans"/>
                        <a:ea typeface="Open Sans"/>
                        <a:cs typeface="Open Sans"/>
                        <a:sym typeface="Open Sans"/>
                      </a:endParaRPr>
                    </a:p>
                    <a:p>
                      <a:pPr marL="215900" marR="0" lvl="0" indent="-152400" algn="just" rtl="0">
                        <a:lnSpc>
                          <a:spcPct val="100000"/>
                        </a:lnSpc>
                        <a:spcBef>
                          <a:spcPts val="0"/>
                        </a:spcBef>
                        <a:spcAft>
                          <a:spcPts val="0"/>
                        </a:spcAft>
                        <a:buClr>
                          <a:schemeClr val="dk1"/>
                        </a:buClr>
                        <a:buSzPts val="900"/>
                        <a:buFont typeface="Arial"/>
                        <a:buNone/>
                      </a:pPr>
                      <a:endParaRPr sz="900" u="none" strike="noStrike" cap="none">
                        <a:latin typeface="Open Sans"/>
                        <a:ea typeface="Open Sans"/>
                        <a:cs typeface="Open Sans"/>
                        <a:sym typeface="Open Sans"/>
                      </a:endParaRPr>
                    </a:p>
                    <a:p>
                      <a:pPr marL="215900" marR="0" lvl="0" indent="-209550" algn="just" rtl="0">
                        <a:lnSpc>
                          <a:spcPct val="100000"/>
                        </a:lnSpc>
                        <a:spcBef>
                          <a:spcPts val="0"/>
                        </a:spcBef>
                        <a:spcAft>
                          <a:spcPts val="0"/>
                        </a:spcAft>
                        <a:buClr>
                          <a:schemeClr val="dk1"/>
                        </a:buClr>
                        <a:buSzPts val="900"/>
                        <a:buFont typeface="Open Sans"/>
                        <a:buChar char="•"/>
                      </a:pPr>
                      <a:r>
                        <a:rPr lang="en" sz="900" u="none" strike="noStrike" cap="none">
                          <a:latin typeface="Open Sans"/>
                          <a:ea typeface="Open Sans"/>
                          <a:cs typeface="Open Sans"/>
                          <a:sym typeface="Open Sans"/>
                        </a:rPr>
                        <a:t>Your competency and experience is better recognised which increases your ability to charge on a ‘value based or success fee’ style basis.</a:t>
                      </a:r>
                      <a:endParaRPr sz="900" u="none" strike="noStrike" cap="none">
                        <a:latin typeface="Open Sans"/>
                        <a:ea typeface="Open Sans"/>
                        <a:cs typeface="Open Sans"/>
                        <a:sym typeface="Open Sans"/>
                      </a:endParaRPr>
                    </a:p>
                  </a:txBody>
                  <a:tcPr marL="68600" marR="68600" marT="34300" marB="34300"/>
                </a:tc>
                <a:tc>
                  <a:txBody>
                    <a:bodyPr/>
                    <a:lstStyle/>
                    <a:p>
                      <a:pPr marL="127000" marR="0" lvl="0" indent="-120650" algn="just" rtl="0">
                        <a:lnSpc>
                          <a:spcPct val="100000"/>
                        </a:lnSpc>
                        <a:spcBef>
                          <a:spcPts val="0"/>
                        </a:spcBef>
                        <a:spcAft>
                          <a:spcPts val="0"/>
                        </a:spcAft>
                        <a:buClr>
                          <a:schemeClr val="dk1"/>
                        </a:buClr>
                        <a:buSzPts val="900"/>
                        <a:buFont typeface="Open Sans"/>
                        <a:buChar char="•"/>
                      </a:pPr>
                      <a:r>
                        <a:rPr lang="en" sz="900" u="none" strike="noStrike" cap="none">
                          <a:latin typeface="Open Sans"/>
                          <a:ea typeface="Open Sans"/>
                          <a:cs typeface="Open Sans"/>
                          <a:sym typeface="Open Sans"/>
                        </a:rPr>
                        <a:t>More confidence and experience required as you’re (generally) offering solutions to more complex problems.</a:t>
                      </a:r>
                      <a:endParaRPr sz="1100" u="none" strike="noStrike" cap="none">
                        <a:latin typeface="Open Sans"/>
                        <a:ea typeface="Open Sans"/>
                        <a:cs typeface="Open Sans"/>
                        <a:sym typeface="Open Sans"/>
                      </a:endParaRPr>
                    </a:p>
                    <a:p>
                      <a:pPr marL="127000" marR="0" lvl="0" indent="-63500" algn="just" rtl="0">
                        <a:lnSpc>
                          <a:spcPct val="100000"/>
                        </a:lnSpc>
                        <a:spcBef>
                          <a:spcPts val="0"/>
                        </a:spcBef>
                        <a:spcAft>
                          <a:spcPts val="0"/>
                        </a:spcAft>
                        <a:buClr>
                          <a:schemeClr val="dk1"/>
                        </a:buClr>
                        <a:buSzPts val="900"/>
                        <a:buFont typeface="Arial"/>
                        <a:buNone/>
                      </a:pPr>
                      <a:endParaRPr sz="900" u="none" strike="noStrike" cap="none">
                        <a:latin typeface="Open Sans"/>
                        <a:ea typeface="Open Sans"/>
                        <a:cs typeface="Open Sans"/>
                        <a:sym typeface="Open Sans"/>
                      </a:endParaRPr>
                    </a:p>
                    <a:p>
                      <a:pPr marL="127000" marR="0" lvl="0" indent="-120650" algn="just" rtl="0">
                        <a:lnSpc>
                          <a:spcPct val="100000"/>
                        </a:lnSpc>
                        <a:spcBef>
                          <a:spcPts val="0"/>
                        </a:spcBef>
                        <a:spcAft>
                          <a:spcPts val="0"/>
                        </a:spcAft>
                        <a:buClr>
                          <a:schemeClr val="dk1"/>
                        </a:buClr>
                        <a:buSzPts val="900"/>
                        <a:buFont typeface="Open Sans"/>
                        <a:buChar char="•"/>
                      </a:pPr>
                      <a:r>
                        <a:rPr lang="en" sz="900" u="none" strike="noStrike" cap="none">
                          <a:latin typeface="Open Sans"/>
                          <a:ea typeface="Open Sans"/>
                          <a:cs typeface="Open Sans"/>
                          <a:sym typeface="Open Sans"/>
                        </a:rPr>
                        <a:t>Greater time is required in preparation which may result in lost fee recovery.</a:t>
                      </a:r>
                      <a:endParaRPr sz="1100" u="none" strike="noStrike" cap="none">
                        <a:latin typeface="Open Sans"/>
                        <a:ea typeface="Open Sans"/>
                        <a:cs typeface="Open Sans"/>
                        <a:sym typeface="Open Sans"/>
                      </a:endParaRPr>
                    </a:p>
                    <a:p>
                      <a:pPr marL="127000" marR="0" lvl="0" indent="-63500" algn="just" rtl="0">
                        <a:lnSpc>
                          <a:spcPct val="100000"/>
                        </a:lnSpc>
                        <a:spcBef>
                          <a:spcPts val="0"/>
                        </a:spcBef>
                        <a:spcAft>
                          <a:spcPts val="0"/>
                        </a:spcAft>
                        <a:buClr>
                          <a:schemeClr val="dk1"/>
                        </a:buClr>
                        <a:buSzPts val="900"/>
                        <a:buFont typeface="Arial"/>
                        <a:buNone/>
                      </a:pPr>
                      <a:endParaRPr sz="900" u="none" strike="noStrike" cap="none">
                        <a:latin typeface="Open Sans"/>
                        <a:ea typeface="Open Sans"/>
                        <a:cs typeface="Open Sans"/>
                        <a:sym typeface="Open Sans"/>
                      </a:endParaRPr>
                    </a:p>
                    <a:p>
                      <a:pPr marL="127000" marR="0" lvl="0" indent="-120650" algn="just" rtl="0">
                        <a:lnSpc>
                          <a:spcPct val="100000"/>
                        </a:lnSpc>
                        <a:spcBef>
                          <a:spcPts val="0"/>
                        </a:spcBef>
                        <a:spcAft>
                          <a:spcPts val="0"/>
                        </a:spcAft>
                        <a:buClr>
                          <a:schemeClr val="dk1"/>
                        </a:buClr>
                        <a:buSzPts val="900"/>
                        <a:buFont typeface="Open Sans"/>
                        <a:buChar char="•"/>
                      </a:pPr>
                      <a:r>
                        <a:rPr lang="en" sz="900" u="none" strike="noStrike" cap="none">
                          <a:latin typeface="Open Sans"/>
                          <a:ea typeface="Open Sans"/>
                          <a:cs typeface="Open Sans"/>
                          <a:sym typeface="Open Sans"/>
                        </a:rPr>
                        <a:t>You’re in effect, ‘Testing as you go’ with the project; this increases the risk of making mistakes that could </a:t>
                      </a:r>
                      <a:r>
                        <a:rPr lang="en" sz="900">
                          <a:latin typeface="Open Sans"/>
                          <a:ea typeface="Open Sans"/>
                          <a:cs typeface="Open Sans"/>
                          <a:sym typeface="Open Sans"/>
                        </a:rPr>
                        <a:t>affect</a:t>
                      </a:r>
                      <a:r>
                        <a:rPr lang="en" sz="900" u="none" strike="noStrike" cap="none">
                          <a:latin typeface="Open Sans"/>
                          <a:ea typeface="Open Sans"/>
                          <a:cs typeface="Open Sans"/>
                          <a:sym typeface="Open Sans"/>
                        </a:rPr>
                        <a:t> both you and your client.</a:t>
                      </a:r>
                      <a:endParaRPr sz="900" u="none" strike="noStrike" cap="none">
                        <a:latin typeface="Open Sans"/>
                        <a:ea typeface="Open Sans"/>
                        <a:cs typeface="Open Sans"/>
                        <a:sym typeface="Open Sans"/>
                      </a:endParaRPr>
                    </a:p>
                  </a:txBody>
                  <a:tcPr marL="68600" marR="68600" marT="34300" marB="34300"/>
                </a:tc>
                <a:extLst>
                  <a:ext uri="{0D108BD9-81ED-4DB2-BD59-A6C34878D82A}">
                    <a16:rowId xmlns:a16="http://schemas.microsoft.com/office/drawing/2014/main" val="10001"/>
                  </a:ext>
                </a:extLst>
              </a:tr>
            </a:tbl>
          </a:graphicData>
        </a:graphic>
      </p:graphicFrame>
      <p:sp>
        <p:nvSpPr>
          <p:cNvPr id="261" name="Google Shape;261;p41"/>
          <p:cNvSpPr txBox="1"/>
          <p:nvPr/>
        </p:nvSpPr>
        <p:spPr>
          <a:xfrm>
            <a:off x="1245723" y="976940"/>
            <a:ext cx="2242441" cy="242374"/>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i="0" u="none" strike="noStrike" cap="none">
                <a:solidFill>
                  <a:srgbClr val="434343"/>
                </a:solidFill>
                <a:latin typeface="Open Sans"/>
                <a:ea typeface="Open Sans"/>
                <a:cs typeface="Open Sans"/>
                <a:sym typeface="Open Sans"/>
              </a:rPr>
              <a:t>Modular Service Delivery</a:t>
            </a:r>
            <a:endParaRPr sz="1100" i="0" u="none" strike="noStrike" cap="none">
              <a:solidFill>
                <a:srgbClr val="434343"/>
              </a:solidFill>
              <a:latin typeface="Open Sans"/>
              <a:ea typeface="Open Sans"/>
              <a:cs typeface="Open Sans"/>
              <a:sym typeface="Open Sans"/>
            </a:endParaRPr>
          </a:p>
        </p:txBody>
      </p:sp>
      <p:sp>
        <p:nvSpPr>
          <p:cNvPr id="262" name="Google Shape;262;p41"/>
          <p:cNvSpPr txBox="1"/>
          <p:nvPr/>
        </p:nvSpPr>
        <p:spPr>
          <a:xfrm>
            <a:off x="5606489" y="951683"/>
            <a:ext cx="2314576" cy="242374"/>
          </a:xfrm>
          <a:prstGeom prst="rect">
            <a:avLst/>
          </a:prstGeom>
          <a:noFill/>
          <a:ln>
            <a:noFill/>
          </a:ln>
        </p:spPr>
        <p:txBody>
          <a:bodyPr spcFirstLastPara="1" wrap="square" lIns="68575" tIns="34275" rIns="68575" bIns="34275" anchor="t"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100" i="0" u="none" strike="noStrike" cap="none">
                <a:solidFill>
                  <a:srgbClr val="434343"/>
                </a:solidFill>
                <a:latin typeface="Open Sans"/>
                <a:ea typeface="Open Sans"/>
                <a:cs typeface="Open Sans"/>
                <a:sym typeface="Open Sans"/>
              </a:rPr>
              <a:t>Bespoke Service Delivery</a:t>
            </a:r>
            <a:endParaRPr sz="1100" i="0" u="none" strike="noStrike" cap="none">
              <a:solidFill>
                <a:srgbClr val="434343"/>
              </a:solidFill>
              <a:latin typeface="Open Sans"/>
              <a:ea typeface="Open Sans"/>
              <a:cs typeface="Open Sans"/>
              <a:sym typeface="Open Sans"/>
            </a:endParaRPr>
          </a:p>
        </p:txBody>
      </p:sp>
      <p:sp>
        <p:nvSpPr>
          <p:cNvPr id="263" name="Google Shape;263;p41"/>
          <p:cNvSpPr/>
          <p:nvPr/>
        </p:nvSpPr>
        <p:spPr>
          <a:xfrm>
            <a:off x="4658496" y="4086812"/>
            <a:ext cx="4210563" cy="675184"/>
          </a:xfrm>
          <a:prstGeom prst="rect">
            <a:avLst/>
          </a:prstGeom>
          <a:noFill/>
          <a:ln>
            <a:noFill/>
          </a:ln>
        </p:spPr>
        <p:txBody>
          <a:bodyPr spcFirstLastPara="1" wrap="square" lIns="68575" tIns="34275" rIns="68575" bIns="34275" anchor="t" anchorCtr="0">
            <a:noAutofit/>
          </a:bodyPr>
          <a:lstStyle/>
          <a:p>
            <a:pPr marL="0" marR="0" lvl="0" indent="0" algn="just" rtl="0">
              <a:lnSpc>
                <a:spcPct val="150000"/>
              </a:lnSpc>
              <a:spcBef>
                <a:spcPts val="0"/>
              </a:spcBef>
              <a:spcAft>
                <a:spcPts val="0"/>
              </a:spcAft>
              <a:buClr>
                <a:srgbClr val="000000"/>
              </a:buClr>
              <a:buSzPts val="900"/>
              <a:buFont typeface="Arial"/>
              <a:buNone/>
            </a:pPr>
            <a:r>
              <a:rPr lang="en" sz="900" i="0" u="none" strike="noStrike" cap="none">
                <a:solidFill>
                  <a:srgbClr val="434343"/>
                </a:solidFill>
                <a:latin typeface="Open Sans"/>
                <a:ea typeface="Open Sans"/>
                <a:cs typeface="Open Sans"/>
                <a:sym typeface="Open Sans"/>
              </a:rPr>
              <a:t>Required for more complex business circumstances where the modification of an existing module is not possible or financially viable.</a:t>
            </a:r>
            <a:endParaRPr sz="900" i="0" u="none" strike="noStrike" cap="none">
              <a:solidFill>
                <a:srgbClr val="434343"/>
              </a:solidFill>
              <a:latin typeface="Open Sans"/>
              <a:ea typeface="Open Sans"/>
              <a:cs typeface="Open Sans"/>
              <a:sym typeface="Open Sans"/>
            </a:endParaRPr>
          </a:p>
        </p:txBody>
      </p:sp>
      <p:sp>
        <p:nvSpPr>
          <p:cNvPr id="264" name="Google Shape;264;p41"/>
          <p:cNvSpPr/>
          <p:nvPr/>
        </p:nvSpPr>
        <p:spPr>
          <a:xfrm>
            <a:off x="228600" y="4092078"/>
            <a:ext cx="4210563" cy="675184"/>
          </a:xfrm>
          <a:prstGeom prst="rect">
            <a:avLst/>
          </a:prstGeom>
          <a:noFill/>
          <a:ln>
            <a:noFill/>
          </a:ln>
        </p:spPr>
        <p:txBody>
          <a:bodyPr spcFirstLastPara="1" wrap="square" lIns="68575" tIns="34275" rIns="68575" bIns="34275" anchor="t" anchorCtr="0">
            <a:noAutofit/>
          </a:bodyPr>
          <a:lstStyle/>
          <a:p>
            <a:pPr marL="0" marR="0" lvl="0" indent="0" algn="just" rtl="0">
              <a:lnSpc>
                <a:spcPct val="150000"/>
              </a:lnSpc>
              <a:spcBef>
                <a:spcPts val="0"/>
              </a:spcBef>
              <a:spcAft>
                <a:spcPts val="0"/>
              </a:spcAft>
              <a:buClr>
                <a:srgbClr val="000000"/>
              </a:buClr>
              <a:buSzPts val="900"/>
              <a:buFont typeface="Arial"/>
              <a:buNone/>
            </a:pPr>
            <a:r>
              <a:rPr lang="en" sz="900" i="0" u="none" strike="noStrike" cap="none">
                <a:solidFill>
                  <a:srgbClr val="434343"/>
                </a:solidFill>
                <a:latin typeface="Open Sans"/>
                <a:ea typeface="Open Sans"/>
                <a:cs typeface="Open Sans"/>
                <a:sym typeface="Open Sans"/>
              </a:rPr>
              <a:t>Designed to increase the capacity of you and your team to deliver advisory services to the marketplace; this provides various (client) price point options and reduces training time. </a:t>
            </a:r>
            <a:endParaRPr sz="1100" i="0" u="none" strike="noStrike" cap="none">
              <a:solidFill>
                <a:srgbClr val="434343"/>
              </a:solidFill>
              <a:latin typeface="Open Sans"/>
              <a:ea typeface="Open Sans"/>
              <a:cs typeface="Open Sans"/>
              <a:sym typeface="Open S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68"/>
        <p:cNvGrpSpPr/>
        <p:nvPr/>
      </p:nvGrpSpPr>
      <p:grpSpPr>
        <a:xfrm>
          <a:off x="0" y="0"/>
          <a:ext cx="0" cy="0"/>
          <a:chOff x="0" y="0"/>
          <a:chExt cx="0" cy="0"/>
        </a:xfrm>
      </p:grpSpPr>
      <p:sp>
        <p:nvSpPr>
          <p:cNvPr id="269" name="Google Shape;269;p42"/>
          <p:cNvSpPr txBox="1">
            <a:spLocks noGrp="1"/>
          </p:cNvSpPr>
          <p:nvPr>
            <p:ph type="title"/>
          </p:nvPr>
        </p:nvSpPr>
        <p:spPr>
          <a:xfrm>
            <a:off x="202350" y="211176"/>
            <a:ext cx="7284300" cy="5898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rgbClr val="A5A5A5"/>
              </a:buClr>
              <a:buSzPts val="2400"/>
              <a:buFont typeface="Architects Daughter"/>
              <a:buNone/>
            </a:pPr>
            <a:r>
              <a:rPr lang="en" sz="2400" u="sng">
                <a:solidFill>
                  <a:srgbClr val="002B64"/>
                </a:solidFill>
                <a:latin typeface="Open Sans"/>
                <a:ea typeface="Open Sans"/>
                <a:cs typeface="Open Sans"/>
                <a:sym typeface="Open Sans"/>
              </a:rPr>
              <a:t>Where to Start as a NEW</a:t>
            </a:r>
            <a:r>
              <a:rPr lang="en" sz="2400">
                <a:solidFill>
                  <a:srgbClr val="002B64"/>
                </a:solidFill>
                <a:latin typeface="Open Sans"/>
                <a:ea typeface="Open Sans"/>
                <a:cs typeface="Open Sans"/>
                <a:sym typeface="Open Sans"/>
              </a:rPr>
              <a:t> Advisor?</a:t>
            </a:r>
            <a:endParaRPr sz="2400">
              <a:solidFill>
                <a:srgbClr val="002B64"/>
              </a:solidFill>
              <a:latin typeface="Open Sans"/>
              <a:ea typeface="Open Sans"/>
              <a:cs typeface="Open Sans"/>
              <a:sym typeface="Open Sans"/>
            </a:endParaRPr>
          </a:p>
        </p:txBody>
      </p:sp>
      <p:sp>
        <p:nvSpPr>
          <p:cNvPr id="270" name="Google Shape;270;p42"/>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SzPts val="900"/>
              <a:buNone/>
            </a:pPr>
            <a:fld id="{00000000-1234-1234-1234-123412341234}" type="slidenum">
              <a:rPr lang="en" sz="1100"/>
              <a:t>5</a:t>
            </a:fld>
            <a:endParaRPr sz="1100"/>
          </a:p>
        </p:txBody>
      </p:sp>
      <p:sp>
        <p:nvSpPr>
          <p:cNvPr id="271" name="Google Shape;271;p42"/>
          <p:cNvSpPr/>
          <p:nvPr/>
        </p:nvSpPr>
        <p:spPr>
          <a:xfrm>
            <a:off x="49427" y="49427"/>
            <a:ext cx="90390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72" name="Google Shape;272;p42"/>
          <p:cNvSpPr/>
          <p:nvPr/>
        </p:nvSpPr>
        <p:spPr>
          <a:xfrm>
            <a:off x="49427" y="5004196"/>
            <a:ext cx="5793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73" name="Google Shape;273;p42"/>
          <p:cNvSpPr/>
          <p:nvPr/>
        </p:nvSpPr>
        <p:spPr>
          <a:xfrm>
            <a:off x="1513702" y="5004196"/>
            <a:ext cx="75747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74" name="Google Shape;274;p42"/>
          <p:cNvSpPr/>
          <p:nvPr/>
        </p:nvSpPr>
        <p:spPr>
          <a:xfrm rot="-5400000">
            <a:off x="6612697"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75" name="Google Shape;275;p42"/>
          <p:cNvSpPr/>
          <p:nvPr/>
        </p:nvSpPr>
        <p:spPr>
          <a:xfrm rot="-5400000">
            <a:off x="-2339773"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76" name="Google Shape;276;p42"/>
          <p:cNvSpPr txBox="1"/>
          <p:nvPr/>
        </p:nvSpPr>
        <p:spPr>
          <a:xfrm>
            <a:off x="267200" y="890375"/>
            <a:ext cx="8552700" cy="3488100"/>
          </a:xfrm>
          <a:prstGeom prst="rect">
            <a:avLst/>
          </a:prstGeom>
          <a:noFill/>
          <a:ln>
            <a:noFill/>
          </a:ln>
        </p:spPr>
        <p:txBody>
          <a:bodyPr spcFirstLastPara="1" wrap="square" lIns="68575" tIns="34275" rIns="68575" bIns="34275" anchor="t" anchorCtr="0">
            <a:noAutofit/>
          </a:bodyPr>
          <a:lstStyle/>
          <a:p>
            <a:pPr marL="0" marR="0" lvl="0" indent="0" algn="just" rtl="0">
              <a:lnSpc>
                <a:spcPct val="115000"/>
              </a:lnSpc>
              <a:spcBef>
                <a:spcPts val="0"/>
              </a:spcBef>
              <a:spcAft>
                <a:spcPts val="0"/>
              </a:spcAft>
              <a:buClr>
                <a:srgbClr val="000000"/>
              </a:buClr>
              <a:buSzPts val="1100"/>
              <a:buFont typeface="Arial"/>
              <a:buNone/>
            </a:pPr>
            <a:r>
              <a:rPr lang="en" sz="1700">
                <a:solidFill>
                  <a:srgbClr val="434343"/>
                </a:solidFill>
                <a:latin typeface="Open Sans"/>
                <a:ea typeface="Open Sans"/>
                <a:cs typeface="Open Sans"/>
                <a:sym typeface="Open Sans"/>
              </a:rPr>
              <a:t>Start with the ‘Free Client Content’ section and engagement process.</a:t>
            </a:r>
            <a:endParaRPr sz="1700">
              <a:solidFill>
                <a:srgbClr val="434343"/>
              </a:solidFill>
              <a:latin typeface="Open Sans"/>
              <a:ea typeface="Open Sans"/>
              <a:cs typeface="Open Sans"/>
              <a:sym typeface="Open Sans"/>
            </a:endParaRPr>
          </a:p>
          <a:p>
            <a:pPr marL="0" marR="0" lvl="0" indent="0" algn="just" rtl="0">
              <a:lnSpc>
                <a:spcPct val="115000"/>
              </a:lnSpc>
              <a:spcBef>
                <a:spcPts val="0"/>
              </a:spcBef>
              <a:spcAft>
                <a:spcPts val="0"/>
              </a:spcAft>
              <a:buClr>
                <a:srgbClr val="000000"/>
              </a:buClr>
              <a:buSzPts val="1100"/>
              <a:buFont typeface="Arial"/>
              <a:buNone/>
            </a:pPr>
            <a:endParaRPr sz="1700">
              <a:solidFill>
                <a:srgbClr val="434343"/>
              </a:solidFill>
              <a:latin typeface="Open Sans"/>
              <a:ea typeface="Open Sans"/>
              <a:cs typeface="Open Sans"/>
              <a:sym typeface="Open Sans"/>
            </a:endParaRPr>
          </a:p>
          <a:p>
            <a:pPr marL="0" marR="0" lvl="0" indent="0" algn="just" rtl="0">
              <a:lnSpc>
                <a:spcPct val="115000"/>
              </a:lnSpc>
              <a:spcBef>
                <a:spcPts val="0"/>
              </a:spcBef>
              <a:spcAft>
                <a:spcPts val="0"/>
              </a:spcAft>
              <a:buClr>
                <a:srgbClr val="000000"/>
              </a:buClr>
              <a:buSzPts val="1100"/>
              <a:buFont typeface="Arial"/>
              <a:buNone/>
            </a:pPr>
            <a:r>
              <a:rPr lang="en" sz="1700">
                <a:solidFill>
                  <a:srgbClr val="434343"/>
                </a:solidFill>
                <a:latin typeface="Open Sans"/>
                <a:ea typeface="Open Sans"/>
                <a:cs typeface="Open Sans"/>
                <a:sym typeface="Open Sans"/>
              </a:rPr>
              <a:t>Why?</a:t>
            </a:r>
            <a:endParaRPr sz="1700">
              <a:solidFill>
                <a:srgbClr val="434343"/>
              </a:solidFill>
              <a:latin typeface="Open Sans"/>
              <a:ea typeface="Open Sans"/>
              <a:cs typeface="Open Sans"/>
              <a:sym typeface="Open Sans"/>
            </a:endParaRPr>
          </a:p>
          <a:p>
            <a:pPr marL="0" marR="0" lvl="0" indent="0" algn="just" rtl="0">
              <a:lnSpc>
                <a:spcPct val="115000"/>
              </a:lnSpc>
              <a:spcBef>
                <a:spcPts val="0"/>
              </a:spcBef>
              <a:spcAft>
                <a:spcPts val="0"/>
              </a:spcAft>
              <a:buClr>
                <a:srgbClr val="000000"/>
              </a:buClr>
              <a:buSzPts val="1100"/>
              <a:buFont typeface="Arial"/>
              <a:buNone/>
            </a:pPr>
            <a:endParaRPr sz="900">
              <a:solidFill>
                <a:srgbClr val="434343"/>
              </a:solidFill>
              <a:latin typeface="Open Sans"/>
              <a:ea typeface="Open Sans"/>
              <a:cs typeface="Open Sans"/>
              <a:sym typeface="Open Sans"/>
            </a:endParaRPr>
          </a:p>
          <a:p>
            <a:pPr marL="0" marR="0" lvl="0" indent="0" algn="just" rtl="0">
              <a:lnSpc>
                <a:spcPct val="115000"/>
              </a:lnSpc>
              <a:spcBef>
                <a:spcPts val="0"/>
              </a:spcBef>
              <a:spcAft>
                <a:spcPts val="0"/>
              </a:spcAft>
              <a:buClr>
                <a:srgbClr val="000000"/>
              </a:buClr>
              <a:buSzPts val="1100"/>
              <a:buFont typeface="Arial"/>
              <a:buNone/>
            </a:pPr>
            <a:r>
              <a:rPr lang="en" sz="1700">
                <a:solidFill>
                  <a:srgbClr val="434343"/>
                </a:solidFill>
                <a:latin typeface="Open Sans"/>
                <a:ea typeface="Open Sans"/>
                <a:cs typeface="Open Sans"/>
                <a:sym typeface="Open Sans"/>
              </a:rPr>
              <a:t>Because it gives you AND THE CLIENT a ‘softer’ experience. The biggest difference between the T.C.M (Time, Control, Money) / free client content process and the Lite Fundamentals process is that the T.C.M process DOES NOT end with a specific offer.</a:t>
            </a:r>
            <a:endParaRPr sz="1700">
              <a:solidFill>
                <a:srgbClr val="434343"/>
              </a:solidFill>
              <a:latin typeface="Open Sans"/>
              <a:ea typeface="Open Sans"/>
              <a:cs typeface="Open Sans"/>
              <a:sym typeface="Open Sans"/>
            </a:endParaRPr>
          </a:p>
          <a:p>
            <a:pPr marL="0" marR="0" lvl="0" indent="0" algn="just" rtl="0">
              <a:lnSpc>
                <a:spcPct val="115000"/>
              </a:lnSpc>
              <a:spcBef>
                <a:spcPts val="0"/>
              </a:spcBef>
              <a:spcAft>
                <a:spcPts val="0"/>
              </a:spcAft>
              <a:buClr>
                <a:srgbClr val="000000"/>
              </a:buClr>
              <a:buSzPts val="1100"/>
              <a:buFont typeface="Arial"/>
              <a:buNone/>
            </a:pPr>
            <a:endParaRPr sz="900">
              <a:solidFill>
                <a:srgbClr val="434343"/>
              </a:solidFill>
              <a:latin typeface="Open Sans"/>
              <a:ea typeface="Open Sans"/>
              <a:cs typeface="Open Sans"/>
              <a:sym typeface="Open Sans"/>
            </a:endParaRPr>
          </a:p>
          <a:p>
            <a:pPr marL="0" marR="0" lvl="0" indent="0" algn="just" rtl="0">
              <a:lnSpc>
                <a:spcPct val="115000"/>
              </a:lnSpc>
              <a:spcBef>
                <a:spcPts val="0"/>
              </a:spcBef>
              <a:spcAft>
                <a:spcPts val="0"/>
              </a:spcAft>
              <a:buClr>
                <a:srgbClr val="000000"/>
              </a:buClr>
              <a:buSzPts val="1100"/>
              <a:buFont typeface="Arial"/>
              <a:buNone/>
            </a:pPr>
            <a:r>
              <a:rPr lang="en" sz="1700">
                <a:solidFill>
                  <a:srgbClr val="434343"/>
                </a:solidFill>
                <a:latin typeface="Open Sans"/>
                <a:ea typeface="Open Sans"/>
                <a:cs typeface="Open Sans"/>
                <a:sym typeface="Open Sans"/>
              </a:rPr>
              <a:t>This removes any feeling of being ‘channelled’ (for both parties) and ‘sets the scene’ for another meeting to discuss needs/wants and service offers </a:t>
            </a:r>
            <a:r>
              <a:rPr lang="en" sz="1700" u="sng">
                <a:solidFill>
                  <a:srgbClr val="434343"/>
                </a:solidFill>
                <a:latin typeface="Open Sans"/>
                <a:ea typeface="Open Sans"/>
                <a:cs typeface="Open Sans"/>
                <a:sym typeface="Open Sans"/>
              </a:rPr>
              <a:t>AFTER</a:t>
            </a:r>
            <a:r>
              <a:rPr lang="en" sz="1700">
                <a:solidFill>
                  <a:srgbClr val="434343"/>
                </a:solidFill>
                <a:latin typeface="Open Sans"/>
                <a:ea typeface="Open Sans"/>
                <a:cs typeface="Open Sans"/>
                <a:sym typeface="Open Sans"/>
              </a:rPr>
              <a:t> the client REFLECTS ON THEIR RECENT EXPERIENCE.</a:t>
            </a:r>
            <a:endParaRPr sz="1700">
              <a:solidFill>
                <a:srgbClr val="434343"/>
              </a:solidFill>
              <a:latin typeface="Open Sans"/>
              <a:ea typeface="Open Sans"/>
              <a:cs typeface="Open Sans"/>
              <a:sym typeface="Open Sans"/>
            </a:endParaRPr>
          </a:p>
          <a:p>
            <a:pPr marL="0" marR="0" lvl="0" indent="0" algn="l" rtl="0">
              <a:lnSpc>
                <a:spcPct val="115000"/>
              </a:lnSpc>
              <a:spcBef>
                <a:spcPts val="0"/>
              </a:spcBef>
              <a:spcAft>
                <a:spcPts val="0"/>
              </a:spcAft>
              <a:buClr>
                <a:srgbClr val="000000"/>
              </a:buClr>
              <a:buSzPts val="1400"/>
              <a:buFont typeface="Arial"/>
              <a:buNone/>
            </a:pPr>
            <a:endParaRPr sz="1100" i="0" u="none" strike="noStrike" cap="none">
              <a:solidFill>
                <a:srgbClr val="434343"/>
              </a:solidFill>
              <a:latin typeface="Open Sans"/>
              <a:ea typeface="Open Sans"/>
              <a:cs typeface="Open Sans"/>
              <a:sym typeface="Open Sa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80"/>
        <p:cNvGrpSpPr/>
        <p:nvPr/>
      </p:nvGrpSpPr>
      <p:grpSpPr>
        <a:xfrm>
          <a:off x="0" y="0"/>
          <a:ext cx="0" cy="0"/>
          <a:chOff x="0" y="0"/>
          <a:chExt cx="0" cy="0"/>
        </a:xfrm>
      </p:grpSpPr>
      <p:sp>
        <p:nvSpPr>
          <p:cNvPr id="281" name="Google Shape;281;p43"/>
          <p:cNvSpPr txBox="1">
            <a:spLocks noGrp="1"/>
          </p:cNvSpPr>
          <p:nvPr>
            <p:ph type="title"/>
          </p:nvPr>
        </p:nvSpPr>
        <p:spPr>
          <a:xfrm>
            <a:off x="221075" y="139300"/>
            <a:ext cx="8631000" cy="4560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rgbClr val="D8D8D8"/>
              </a:buClr>
              <a:buSzPts val="2000"/>
              <a:buFont typeface="Architects Daughter"/>
              <a:buNone/>
            </a:pPr>
            <a:r>
              <a:rPr lang="en" sz="1700">
                <a:solidFill>
                  <a:srgbClr val="002B64"/>
                </a:solidFill>
                <a:latin typeface="Open Sans"/>
                <a:ea typeface="Open Sans"/>
                <a:cs typeface="Open Sans"/>
                <a:sym typeface="Open Sans"/>
              </a:rPr>
              <a:t>(Confident &amp; Experienced Advisor) Approach &amp; Sales Process Decision Tree</a:t>
            </a:r>
            <a:endParaRPr sz="1700">
              <a:solidFill>
                <a:srgbClr val="002B64"/>
              </a:solidFill>
              <a:latin typeface="Open Sans"/>
              <a:ea typeface="Open Sans"/>
              <a:cs typeface="Open Sans"/>
              <a:sym typeface="Open Sans"/>
            </a:endParaRPr>
          </a:p>
        </p:txBody>
      </p:sp>
      <p:sp>
        <p:nvSpPr>
          <p:cNvPr id="282" name="Google Shape;282;p4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SzPts val="900"/>
              <a:buNone/>
            </a:pPr>
            <a:fld id="{00000000-1234-1234-1234-123412341234}" type="slidenum">
              <a:rPr lang="en" sz="1100"/>
              <a:t>6</a:t>
            </a:fld>
            <a:endParaRPr sz="1100"/>
          </a:p>
        </p:txBody>
      </p:sp>
      <p:sp>
        <p:nvSpPr>
          <p:cNvPr id="283" name="Google Shape;283;p43"/>
          <p:cNvSpPr/>
          <p:nvPr/>
        </p:nvSpPr>
        <p:spPr>
          <a:xfrm>
            <a:off x="49427" y="49427"/>
            <a:ext cx="9038967" cy="89876"/>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84" name="Google Shape;284;p43"/>
          <p:cNvSpPr/>
          <p:nvPr/>
        </p:nvSpPr>
        <p:spPr>
          <a:xfrm>
            <a:off x="49427" y="5004196"/>
            <a:ext cx="579223" cy="89876"/>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85" name="Google Shape;285;p43"/>
          <p:cNvSpPr/>
          <p:nvPr/>
        </p:nvSpPr>
        <p:spPr>
          <a:xfrm>
            <a:off x="1513702" y="5004196"/>
            <a:ext cx="7574692" cy="89876"/>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86" name="Google Shape;286;p43"/>
          <p:cNvSpPr/>
          <p:nvPr/>
        </p:nvSpPr>
        <p:spPr>
          <a:xfrm rot="-5400000">
            <a:off x="6612699" y="2528501"/>
            <a:ext cx="4864893" cy="86496"/>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87" name="Google Shape;287;p43"/>
          <p:cNvSpPr/>
          <p:nvPr/>
        </p:nvSpPr>
        <p:spPr>
          <a:xfrm rot="-5400000">
            <a:off x="-2339772" y="2528501"/>
            <a:ext cx="4864893" cy="86496"/>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88" name="Google Shape;288;p43"/>
          <p:cNvSpPr/>
          <p:nvPr/>
        </p:nvSpPr>
        <p:spPr>
          <a:xfrm>
            <a:off x="5330974" y="670162"/>
            <a:ext cx="926757" cy="456185"/>
          </a:xfrm>
          <a:prstGeom prst="roundRect">
            <a:avLst>
              <a:gd name="adj" fmla="val 16667"/>
            </a:avLst>
          </a:prstGeom>
          <a:solidFill>
            <a:srgbClr val="757070"/>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 sz="900" b="0" i="0" u="none" strike="noStrike" cap="none">
                <a:solidFill>
                  <a:schemeClr val="lt1"/>
                </a:solidFill>
                <a:latin typeface="Calibri"/>
                <a:ea typeface="Calibri"/>
                <a:cs typeface="Calibri"/>
                <a:sym typeface="Calibri"/>
              </a:rPr>
              <a:t>Targeted Prospect</a:t>
            </a:r>
            <a:endParaRPr sz="900" b="0" i="0" u="none" strike="noStrike" cap="none">
              <a:solidFill>
                <a:schemeClr val="lt1"/>
              </a:solidFill>
              <a:latin typeface="Calibri"/>
              <a:ea typeface="Calibri"/>
              <a:cs typeface="Calibri"/>
              <a:sym typeface="Calibri"/>
            </a:endParaRPr>
          </a:p>
        </p:txBody>
      </p:sp>
      <p:sp>
        <p:nvSpPr>
          <p:cNvPr id="289" name="Google Shape;289;p43"/>
          <p:cNvSpPr/>
          <p:nvPr/>
        </p:nvSpPr>
        <p:spPr>
          <a:xfrm>
            <a:off x="3655952" y="4456525"/>
            <a:ext cx="2333886" cy="475735"/>
          </a:xfrm>
          <a:prstGeom prst="roundRect">
            <a:avLst>
              <a:gd name="adj" fmla="val 16667"/>
            </a:avLst>
          </a:prstGeom>
          <a:solidFill>
            <a:srgbClr val="FFFF00"/>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 sz="900" b="0" i="0" u="none" strike="noStrike" cap="none">
                <a:solidFill>
                  <a:schemeClr val="dk1"/>
                </a:solidFill>
                <a:latin typeface="Calibri"/>
                <a:ea typeface="Calibri"/>
                <a:cs typeface="Calibri"/>
                <a:sym typeface="Calibri"/>
              </a:rPr>
              <a:t>Approach &amp; Engage using the Lite Fundamentals (Campaign) sales process</a:t>
            </a:r>
            <a:endParaRPr sz="900" b="0" i="0" u="none" strike="noStrike" cap="none">
              <a:solidFill>
                <a:schemeClr val="dk1"/>
              </a:solidFill>
              <a:latin typeface="Calibri"/>
              <a:ea typeface="Calibri"/>
              <a:cs typeface="Calibri"/>
              <a:sym typeface="Calibri"/>
            </a:endParaRPr>
          </a:p>
        </p:txBody>
      </p:sp>
      <p:sp>
        <p:nvSpPr>
          <p:cNvPr id="290" name="Google Shape;290;p43"/>
          <p:cNvSpPr/>
          <p:nvPr/>
        </p:nvSpPr>
        <p:spPr>
          <a:xfrm>
            <a:off x="246460" y="4463636"/>
            <a:ext cx="2835677" cy="475735"/>
          </a:xfrm>
          <a:prstGeom prst="roundRect">
            <a:avLst>
              <a:gd name="adj" fmla="val 16667"/>
            </a:avLst>
          </a:prstGeom>
          <a:solidFill>
            <a:srgbClr val="00B0F0"/>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 sz="900" b="0" i="0" u="none" strike="noStrike" cap="none">
                <a:solidFill>
                  <a:schemeClr val="lt1"/>
                </a:solidFill>
                <a:latin typeface="Calibri"/>
                <a:ea typeface="Calibri"/>
                <a:cs typeface="Calibri"/>
                <a:sym typeface="Calibri"/>
              </a:rPr>
              <a:t>Approach &amp; Engage via the ‘Planning Outcomes Review’ Doc &amp; select appropriate planning session as a means to scope and upsell</a:t>
            </a:r>
            <a:endParaRPr sz="900" b="0" i="0" u="none" strike="noStrike" cap="none">
              <a:solidFill>
                <a:schemeClr val="lt1"/>
              </a:solidFill>
              <a:latin typeface="Calibri"/>
              <a:ea typeface="Calibri"/>
              <a:cs typeface="Calibri"/>
              <a:sym typeface="Calibri"/>
            </a:endParaRPr>
          </a:p>
        </p:txBody>
      </p:sp>
      <p:sp>
        <p:nvSpPr>
          <p:cNvPr id="291" name="Google Shape;291;p43"/>
          <p:cNvSpPr/>
          <p:nvPr/>
        </p:nvSpPr>
        <p:spPr>
          <a:xfrm>
            <a:off x="6571040" y="4470748"/>
            <a:ext cx="2333886" cy="468623"/>
          </a:xfrm>
          <a:prstGeom prst="roundRect">
            <a:avLst>
              <a:gd name="adj" fmla="val 16667"/>
            </a:avLst>
          </a:prstGeom>
          <a:solidFill>
            <a:srgbClr val="7030A0"/>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 sz="900" b="0" i="0" u="none" strike="noStrike" cap="none">
                <a:solidFill>
                  <a:schemeClr val="lt1"/>
                </a:solidFill>
                <a:latin typeface="Calibri"/>
                <a:ea typeface="Calibri"/>
                <a:cs typeface="Calibri"/>
                <a:sym typeface="Calibri"/>
              </a:rPr>
              <a:t>Approach &amp; Engage using the Total Needs sales process</a:t>
            </a:r>
            <a:endParaRPr sz="900" b="0" i="0" u="none" strike="noStrike" cap="none">
              <a:solidFill>
                <a:schemeClr val="lt1"/>
              </a:solidFill>
              <a:latin typeface="Calibri"/>
              <a:ea typeface="Calibri"/>
              <a:cs typeface="Calibri"/>
              <a:sym typeface="Calibri"/>
            </a:endParaRPr>
          </a:p>
        </p:txBody>
      </p:sp>
      <p:sp>
        <p:nvSpPr>
          <p:cNvPr id="292" name="Google Shape;292;p43"/>
          <p:cNvSpPr/>
          <p:nvPr/>
        </p:nvSpPr>
        <p:spPr>
          <a:xfrm>
            <a:off x="7515932" y="644941"/>
            <a:ext cx="926757" cy="475735"/>
          </a:xfrm>
          <a:prstGeom prst="roundRect">
            <a:avLst>
              <a:gd name="adj" fmla="val 16667"/>
            </a:avLst>
          </a:prstGeom>
          <a:solidFill>
            <a:schemeClr val="accent2"/>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 sz="900" b="0" i="0" u="none" strike="noStrike" cap="none">
                <a:solidFill>
                  <a:schemeClr val="lt1"/>
                </a:solidFill>
                <a:latin typeface="Calibri"/>
                <a:ea typeface="Calibri"/>
                <a:cs typeface="Calibri"/>
                <a:sym typeface="Calibri"/>
              </a:rPr>
              <a:t>Referral Received or </a:t>
            </a:r>
            <a:r>
              <a:rPr lang="en" sz="900">
                <a:solidFill>
                  <a:schemeClr val="lt1"/>
                </a:solidFill>
                <a:latin typeface="Calibri"/>
                <a:ea typeface="Calibri"/>
                <a:cs typeface="Calibri"/>
                <a:sym typeface="Calibri"/>
              </a:rPr>
              <a:t>‘Walk-In’</a:t>
            </a:r>
            <a:endParaRPr sz="900" b="0" i="0" u="none" strike="noStrike" cap="none">
              <a:solidFill>
                <a:schemeClr val="lt1"/>
              </a:solidFill>
              <a:latin typeface="Calibri"/>
              <a:ea typeface="Calibri"/>
              <a:cs typeface="Calibri"/>
              <a:sym typeface="Calibri"/>
            </a:endParaRPr>
          </a:p>
        </p:txBody>
      </p:sp>
      <p:sp>
        <p:nvSpPr>
          <p:cNvPr id="293" name="Google Shape;293;p43"/>
          <p:cNvSpPr/>
          <p:nvPr/>
        </p:nvSpPr>
        <p:spPr>
          <a:xfrm>
            <a:off x="2270070" y="650612"/>
            <a:ext cx="926757" cy="475735"/>
          </a:xfrm>
          <a:prstGeom prst="roundRect">
            <a:avLst>
              <a:gd name="adj" fmla="val 16667"/>
            </a:avLst>
          </a:prstGeom>
          <a:solidFill>
            <a:srgbClr val="002060"/>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 sz="900" b="0" i="0" u="none" strike="noStrike" cap="none">
                <a:solidFill>
                  <a:schemeClr val="lt1"/>
                </a:solidFill>
                <a:latin typeface="Calibri"/>
                <a:ea typeface="Calibri"/>
                <a:cs typeface="Calibri"/>
                <a:sym typeface="Calibri"/>
              </a:rPr>
              <a:t>Existing Client</a:t>
            </a:r>
            <a:endParaRPr sz="900" b="0" i="0" u="none" strike="noStrike" cap="none">
              <a:solidFill>
                <a:schemeClr val="lt1"/>
              </a:solidFill>
              <a:latin typeface="Calibri"/>
              <a:ea typeface="Calibri"/>
              <a:cs typeface="Calibri"/>
              <a:sym typeface="Calibri"/>
            </a:endParaRPr>
          </a:p>
        </p:txBody>
      </p:sp>
      <p:sp>
        <p:nvSpPr>
          <p:cNvPr id="294" name="Google Shape;294;p43"/>
          <p:cNvSpPr/>
          <p:nvPr/>
        </p:nvSpPr>
        <p:spPr>
          <a:xfrm>
            <a:off x="221070" y="1260148"/>
            <a:ext cx="2167544" cy="753666"/>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 sz="900" b="0" i="0" u="none" strike="noStrike" cap="none">
                <a:solidFill>
                  <a:schemeClr val="lt1"/>
                </a:solidFill>
                <a:latin typeface="Calibri"/>
                <a:ea typeface="Calibri"/>
                <a:cs typeface="Calibri"/>
                <a:sym typeface="Calibri"/>
              </a:rPr>
              <a:t>Are you confident enough to start the process in a more consultative manner? (Less scripted/ structure but you </a:t>
            </a:r>
            <a:r>
              <a:rPr lang="en" sz="900">
                <a:solidFill>
                  <a:schemeClr val="lt1"/>
                </a:solidFill>
                <a:latin typeface="Calibri"/>
                <a:ea typeface="Calibri"/>
                <a:cs typeface="Calibri"/>
                <a:sym typeface="Calibri"/>
              </a:rPr>
              <a:t>must</a:t>
            </a:r>
            <a:r>
              <a:rPr lang="en" sz="900" b="0" i="0" u="none" strike="noStrike" cap="none">
                <a:solidFill>
                  <a:schemeClr val="lt1"/>
                </a:solidFill>
                <a:latin typeface="Calibri"/>
                <a:ea typeface="Calibri"/>
                <a:cs typeface="Calibri"/>
                <a:sym typeface="Calibri"/>
              </a:rPr>
              <a:t> ‘think on your feet’ to scope and draw to conclusion)</a:t>
            </a:r>
            <a:endParaRPr sz="900" b="0" i="0" u="none" strike="noStrike" cap="none">
              <a:solidFill>
                <a:schemeClr val="lt1"/>
              </a:solidFill>
              <a:latin typeface="Calibri"/>
              <a:ea typeface="Calibri"/>
              <a:cs typeface="Calibri"/>
              <a:sym typeface="Calibri"/>
            </a:endParaRPr>
          </a:p>
        </p:txBody>
      </p:sp>
      <p:sp>
        <p:nvSpPr>
          <p:cNvPr id="295" name="Google Shape;295;p43"/>
          <p:cNvSpPr/>
          <p:nvPr/>
        </p:nvSpPr>
        <p:spPr>
          <a:xfrm>
            <a:off x="3135921" y="1264765"/>
            <a:ext cx="1608212" cy="553059"/>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 sz="900" b="0" i="0" u="none" strike="noStrike" cap="none">
                <a:solidFill>
                  <a:schemeClr val="lt1"/>
                </a:solidFill>
                <a:latin typeface="Calibri"/>
                <a:ea typeface="Calibri"/>
                <a:cs typeface="Calibri"/>
                <a:sym typeface="Calibri"/>
              </a:rPr>
              <a:t>Client has done project or advisory work with you before</a:t>
            </a:r>
            <a:endParaRPr sz="900" b="0" i="0" u="none" strike="noStrike" cap="none">
              <a:solidFill>
                <a:schemeClr val="lt1"/>
              </a:solidFill>
              <a:latin typeface="Calibri"/>
              <a:ea typeface="Calibri"/>
              <a:cs typeface="Calibri"/>
              <a:sym typeface="Calibri"/>
            </a:endParaRPr>
          </a:p>
        </p:txBody>
      </p:sp>
      <p:sp>
        <p:nvSpPr>
          <p:cNvPr id="296" name="Google Shape;296;p43"/>
          <p:cNvSpPr/>
          <p:nvPr/>
        </p:nvSpPr>
        <p:spPr>
          <a:xfrm>
            <a:off x="2923940" y="2347706"/>
            <a:ext cx="1857929" cy="688872"/>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 sz="900" b="0" i="0" u="none" strike="noStrike" cap="none">
                <a:solidFill>
                  <a:schemeClr val="lt1"/>
                </a:solidFill>
                <a:latin typeface="Calibri"/>
                <a:ea typeface="Calibri"/>
                <a:cs typeface="Calibri"/>
                <a:sym typeface="Calibri"/>
              </a:rPr>
              <a:t>Client fits small business profile; you suspect fee resistance</a:t>
            </a:r>
            <a:r>
              <a:rPr lang="en" sz="900">
                <a:solidFill>
                  <a:schemeClr val="lt1"/>
                </a:solidFill>
                <a:latin typeface="Calibri"/>
                <a:ea typeface="Calibri"/>
                <a:cs typeface="Calibri"/>
                <a:sym typeface="Calibri"/>
              </a:rPr>
              <a:t>;</a:t>
            </a:r>
            <a:r>
              <a:rPr lang="en" sz="900" b="0" i="0" u="none" strike="noStrike" cap="none">
                <a:solidFill>
                  <a:schemeClr val="lt1"/>
                </a:solidFill>
                <a:latin typeface="Calibri"/>
                <a:ea typeface="Calibri"/>
                <a:cs typeface="Calibri"/>
                <a:sym typeface="Calibri"/>
              </a:rPr>
              <a:t> client also lacks fundamental knowledge of basic $ management principles</a:t>
            </a:r>
            <a:endParaRPr sz="900" b="0" i="0" u="none" strike="noStrike" cap="none">
              <a:solidFill>
                <a:schemeClr val="lt1"/>
              </a:solidFill>
              <a:latin typeface="Calibri"/>
              <a:ea typeface="Calibri"/>
              <a:cs typeface="Calibri"/>
              <a:sym typeface="Calibri"/>
            </a:endParaRPr>
          </a:p>
        </p:txBody>
      </p:sp>
      <p:sp>
        <p:nvSpPr>
          <p:cNvPr id="297" name="Google Shape;297;p43"/>
          <p:cNvSpPr/>
          <p:nvPr/>
        </p:nvSpPr>
        <p:spPr>
          <a:xfrm>
            <a:off x="2669828" y="3469191"/>
            <a:ext cx="2308491" cy="486517"/>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 sz="900" b="0" i="0" u="none" strike="noStrike" cap="none">
                <a:solidFill>
                  <a:schemeClr val="lt1"/>
                </a:solidFill>
                <a:latin typeface="Calibri"/>
                <a:ea typeface="Calibri"/>
                <a:cs typeface="Calibri"/>
                <a:sym typeface="Calibri"/>
              </a:rPr>
              <a:t>Is the client smaller in size; growth focused but has only used you for compliance work or basic forecasting or tax issues</a:t>
            </a:r>
            <a:endParaRPr sz="900" b="0" i="0" u="none" strike="noStrike" cap="none">
              <a:solidFill>
                <a:schemeClr val="lt1"/>
              </a:solidFill>
              <a:latin typeface="Calibri"/>
              <a:ea typeface="Calibri"/>
              <a:cs typeface="Calibri"/>
              <a:sym typeface="Calibri"/>
            </a:endParaRPr>
          </a:p>
        </p:txBody>
      </p:sp>
      <p:sp>
        <p:nvSpPr>
          <p:cNvPr id="298" name="Google Shape;298;p43"/>
          <p:cNvSpPr/>
          <p:nvPr/>
        </p:nvSpPr>
        <p:spPr>
          <a:xfrm>
            <a:off x="641197" y="2554374"/>
            <a:ext cx="1554440" cy="350754"/>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 sz="900" b="0" i="0" u="none" strike="noStrike" cap="none">
                <a:solidFill>
                  <a:schemeClr val="lt1"/>
                </a:solidFill>
                <a:latin typeface="Calibri"/>
                <a:ea typeface="Calibri"/>
                <a:cs typeface="Calibri"/>
                <a:sym typeface="Calibri"/>
              </a:rPr>
              <a:t>Approach for Education based session</a:t>
            </a:r>
            <a:endParaRPr sz="900" b="0" i="0" u="none" strike="noStrike" cap="none">
              <a:solidFill>
                <a:schemeClr val="lt1"/>
              </a:solidFill>
              <a:latin typeface="Calibri"/>
              <a:ea typeface="Calibri"/>
              <a:cs typeface="Calibri"/>
              <a:sym typeface="Calibri"/>
            </a:endParaRPr>
          </a:p>
        </p:txBody>
      </p:sp>
      <p:sp>
        <p:nvSpPr>
          <p:cNvPr id="299" name="Google Shape;299;p43"/>
          <p:cNvSpPr/>
          <p:nvPr/>
        </p:nvSpPr>
        <p:spPr>
          <a:xfrm>
            <a:off x="632075" y="3106318"/>
            <a:ext cx="1372839" cy="350754"/>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 sz="900" b="0" i="0" u="none" strike="noStrike" cap="none">
                <a:solidFill>
                  <a:schemeClr val="lt1"/>
                </a:solidFill>
                <a:latin typeface="Calibri"/>
                <a:ea typeface="Calibri"/>
                <a:cs typeface="Calibri"/>
                <a:sym typeface="Calibri"/>
              </a:rPr>
              <a:t>Client enjoyed education session &amp; wants more</a:t>
            </a:r>
            <a:endParaRPr sz="900" b="0" i="0" u="none" strike="noStrike" cap="none">
              <a:solidFill>
                <a:schemeClr val="lt1"/>
              </a:solidFill>
              <a:latin typeface="Calibri"/>
              <a:ea typeface="Calibri"/>
              <a:cs typeface="Calibri"/>
              <a:sym typeface="Calibri"/>
            </a:endParaRPr>
          </a:p>
        </p:txBody>
      </p:sp>
      <p:sp>
        <p:nvSpPr>
          <p:cNvPr id="300" name="Google Shape;300;p43"/>
          <p:cNvSpPr/>
          <p:nvPr/>
        </p:nvSpPr>
        <p:spPr>
          <a:xfrm>
            <a:off x="601029" y="3972446"/>
            <a:ext cx="1573167" cy="367958"/>
          </a:xfrm>
          <a:prstGeom prst="roundRect">
            <a:avLst>
              <a:gd name="adj" fmla="val 16667"/>
            </a:avLst>
          </a:prstGeom>
          <a:solidFill>
            <a:srgbClr val="FF5757"/>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 sz="900" b="0" i="0" u="none" strike="noStrike" cap="none">
                <a:solidFill>
                  <a:schemeClr val="lt1"/>
                </a:solidFill>
                <a:latin typeface="Calibri"/>
                <a:ea typeface="Calibri"/>
                <a:cs typeface="Calibri"/>
                <a:sym typeface="Calibri"/>
              </a:rPr>
              <a:t>‘Park’ process until client project pushes the need</a:t>
            </a:r>
            <a:endParaRPr sz="900" b="0" i="0" u="none" strike="noStrike" cap="none">
              <a:solidFill>
                <a:schemeClr val="lt1"/>
              </a:solidFill>
              <a:latin typeface="Calibri"/>
              <a:ea typeface="Calibri"/>
              <a:cs typeface="Calibri"/>
              <a:sym typeface="Calibri"/>
            </a:endParaRPr>
          </a:p>
        </p:txBody>
      </p:sp>
      <p:sp>
        <p:nvSpPr>
          <p:cNvPr id="301" name="Google Shape;301;p43"/>
          <p:cNvSpPr/>
          <p:nvPr/>
        </p:nvSpPr>
        <p:spPr>
          <a:xfrm>
            <a:off x="7909121" y="3100872"/>
            <a:ext cx="1017891" cy="415173"/>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 sz="900" b="0" i="0" u="none" strike="noStrike" cap="none">
                <a:solidFill>
                  <a:schemeClr val="lt1"/>
                </a:solidFill>
                <a:latin typeface="Calibri"/>
                <a:ea typeface="Calibri"/>
                <a:cs typeface="Calibri"/>
                <a:sym typeface="Calibri"/>
              </a:rPr>
              <a:t>Client fits ‘smaller business’ profile</a:t>
            </a:r>
            <a:endParaRPr sz="900" b="0" i="0" u="none" strike="noStrike" cap="none">
              <a:solidFill>
                <a:schemeClr val="lt1"/>
              </a:solidFill>
              <a:latin typeface="Calibri"/>
              <a:ea typeface="Calibri"/>
              <a:cs typeface="Calibri"/>
              <a:sym typeface="Calibri"/>
            </a:endParaRPr>
          </a:p>
        </p:txBody>
      </p:sp>
      <p:sp>
        <p:nvSpPr>
          <p:cNvPr id="302" name="Google Shape;302;p43"/>
          <p:cNvSpPr/>
          <p:nvPr/>
        </p:nvSpPr>
        <p:spPr>
          <a:xfrm>
            <a:off x="5978014" y="2478163"/>
            <a:ext cx="945678" cy="415173"/>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 sz="900" b="0" i="0" u="none" strike="noStrike" cap="none">
                <a:solidFill>
                  <a:schemeClr val="lt1"/>
                </a:solidFill>
                <a:latin typeface="Calibri"/>
                <a:ea typeface="Calibri"/>
                <a:cs typeface="Calibri"/>
                <a:sym typeface="Calibri"/>
              </a:rPr>
              <a:t>Client fits ‘larger business’ profile</a:t>
            </a:r>
            <a:endParaRPr sz="900" b="0" i="0" u="none" strike="noStrike" cap="none">
              <a:solidFill>
                <a:schemeClr val="lt1"/>
              </a:solidFill>
              <a:latin typeface="Calibri"/>
              <a:ea typeface="Calibri"/>
              <a:cs typeface="Calibri"/>
              <a:sym typeface="Calibri"/>
            </a:endParaRPr>
          </a:p>
        </p:txBody>
      </p:sp>
      <p:sp>
        <p:nvSpPr>
          <p:cNvPr id="303" name="Google Shape;303;p43"/>
          <p:cNvSpPr/>
          <p:nvPr/>
        </p:nvSpPr>
        <p:spPr>
          <a:xfrm>
            <a:off x="7277840" y="1301140"/>
            <a:ext cx="1390813" cy="415173"/>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 sz="900" b="0" i="0" u="none" strike="noStrike" cap="none">
                <a:solidFill>
                  <a:schemeClr val="lt1"/>
                </a:solidFill>
                <a:latin typeface="Calibri"/>
                <a:ea typeface="Calibri"/>
                <a:cs typeface="Calibri"/>
                <a:sym typeface="Calibri"/>
              </a:rPr>
              <a:t>Client has specific issue or interest in service offer</a:t>
            </a:r>
            <a:endParaRPr sz="900" b="0" i="0" u="none" strike="noStrike" cap="none">
              <a:solidFill>
                <a:schemeClr val="lt1"/>
              </a:solidFill>
              <a:latin typeface="Calibri"/>
              <a:ea typeface="Calibri"/>
              <a:cs typeface="Calibri"/>
              <a:sym typeface="Calibri"/>
            </a:endParaRPr>
          </a:p>
        </p:txBody>
      </p:sp>
      <p:sp>
        <p:nvSpPr>
          <p:cNvPr id="304" name="Google Shape;304;p43"/>
          <p:cNvSpPr/>
          <p:nvPr/>
        </p:nvSpPr>
        <p:spPr>
          <a:xfrm>
            <a:off x="6998578" y="2315276"/>
            <a:ext cx="1524478" cy="486516"/>
          </a:xfrm>
          <a:prstGeom prst="roundRect">
            <a:avLst>
              <a:gd name="adj" fmla="val 16667"/>
            </a:avLst>
          </a:prstGeom>
          <a:solidFill>
            <a:srgbClr val="0C0C0C"/>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 sz="900" b="0" i="0" u="none" strike="noStrike" cap="none">
                <a:solidFill>
                  <a:schemeClr val="lt1"/>
                </a:solidFill>
                <a:latin typeface="Calibri"/>
                <a:ea typeface="Calibri"/>
                <a:cs typeface="Calibri"/>
                <a:sym typeface="Calibri"/>
              </a:rPr>
              <a:t>Solve this client issue but position wider to Loop other service offers in future</a:t>
            </a:r>
            <a:endParaRPr sz="900" b="0" i="0" u="none" strike="noStrike" cap="none">
              <a:solidFill>
                <a:schemeClr val="lt1"/>
              </a:solidFill>
              <a:latin typeface="Calibri"/>
              <a:ea typeface="Calibri"/>
              <a:cs typeface="Calibri"/>
              <a:sym typeface="Calibri"/>
            </a:endParaRPr>
          </a:p>
        </p:txBody>
      </p:sp>
      <p:sp>
        <p:nvSpPr>
          <p:cNvPr id="305" name="Google Shape;305;p43"/>
          <p:cNvSpPr/>
          <p:nvPr/>
        </p:nvSpPr>
        <p:spPr>
          <a:xfrm>
            <a:off x="5197795" y="1361801"/>
            <a:ext cx="1193100" cy="415200"/>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 sz="900" b="0" i="0" u="none" strike="noStrike" cap="none">
                <a:solidFill>
                  <a:schemeClr val="lt1"/>
                </a:solidFill>
                <a:latin typeface="Calibri"/>
                <a:ea typeface="Calibri"/>
                <a:cs typeface="Calibri"/>
                <a:sym typeface="Calibri"/>
              </a:rPr>
              <a:t>First meeting reveals client ‘sophistication’</a:t>
            </a:r>
            <a:endParaRPr sz="900" b="0" i="0" u="none" strike="noStrike" cap="none">
              <a:solidFill>
                <a:schemeClr val="lt1"/>
              </a:solidFill>
              <a:latin typeface="Calibri"/>
              <a:ea typeface="Calibri"/>
              <a:cs typeface="Calibri"/>
              <a:sym typeface="Calibri"/>
            </a:endParaRPr>
          </a:p>
        </p:txBody>
      </p:sp>
      <p:sp>
        <p:nvSpPr>
          <p:cNvPr id="306" name="Google Shape;306;p43"/>
          <p:cNvSpPr/>
          <p:nvPr/>
        </p:nvSpPr>
        <p:spPr>
          <a:xfrm>
            <a:off x="4926488" y="2677796"/>
            <a:ext cx="1017891" cy="480512"/>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 sz="900" b="0" i="0" u="none" strike="noStrike" cap="none">
                <a:solidFill>
                  <a:schemeClr val="lt1"/>
                </a:solidFill>
                <a:latin typeface="Calibri"/>
                <a:ea typeface="Calibri"/>
                <a:cs typeface="Calibri"/>
                <a:sym typeface="Calibri"/>
              </a:rPr>
              <a:t>Client fits ‘smaller business’ profile</a:t>
            </a:r>
            <a:endParaRPr sz="900" b="0" i="0" u="none" strike="noStrike" cap="none">
              <a:solidFill>
                <a:schemeClr val="lt1"/>
              </a:solidFill>
              <a:latin typeface="Calibri"/>
              <a:ea typeface="Calibri"/>
              <a:cs typeface="Calibri"/>
              <a:sym typeface="Calibri"/>
            </a:endParaRPr>
          </a:p>
        </p:txBody>
      </p:sp>
      <p:sp>
        <p:nvSpPr>
          <p:cNvPr id="307" name="Google Shape;307;p43"/>
          <p:cNvSpPr/>
          <p:nvPr/>
        </p:nvSpPr>
        <p:spPr>
          <a:xfrm>
            <a:off x="370270" y="2131810"/>
            <a:ext cx="330252" cy="286070"/>
          </a:xfrm>
          <a:prstGeom prst="roundRect">
            <a:avLst>
              <a:gd name="adj" fmla="val 16667"/>
            </a:avLst>
          </a:prstGeom>
          <a:solidFill>
            <a:srgbClr val="00B050"/>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 sz="900" b="0" i="0" u="none" strike="noStrike" cap="none">
                <a:solidFill>
                  <a:schemeClr val="lt1"/>
                </a:solidFill>
                <a:latin typeface="Calibri"/>
                <a:ea typeface="Calibri"/>
                <a:cs typeface="Calibri"/>
                <a:sym typeface="Calibri"/>
              </a:rPr>
              <a:t>YES</a:t>
            </a:r>
            <a:endParaRPr sz="900" b="0" i="0" u="none" strike="noStrike" cap="none">
              <a:solidFill>
                <a:schemeClr val="lt1"/>
              </a:solidFill>
              <a:latin typeface="Calibri"/>
              <a:ea typeface="Calibri"/>
              <a:cs typeface="Calibri"/>
              <a:sym typeface="Calibri"/>
            </a:endParaRPr>
          </a:p>
        </p:txBody>
      </p:sp>
      <p:sp>
        <p:nvSpPr>
          <p:cNvPr id="308" name="Google Shape;308;p43"/>
          <p:cNvSpPr/>
          <p:nvPr/>
        </p:nvSpPr>
        <p:spPr>
          <a:xfrm>
            <a:off x="1302306" y="2136503"/>
            <a:ext cx="330252" cy="286070"/>
          </a:xfrm>
          <a:prstGeom prst="roundRect">
            <a:avLst>
              <a:gd name="adj" fmla="val 16667"/>
            </a:avLst>
          </a:prstGeom>
          <a:solidFill>
            <a:srgbClr val="FF0000"/>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 sz="900" b="0" i="0" u="none" strike="noStrike" cap="none">
                <a:solidFill>
                  <a:schemeClr val="lt1"/>
                </a:solidFill>
                <a:latin typeface="Calibri"/>
                <a:ea typeface="Calibri"/>
                <a:cs typeface="Calibri"/>
                <a:sym typeface="Calibri"/>
              </a:rPr>
              <a:t>NO</a:t>
            </a:r>
            <a:endParaRPr sz="900" b="0" i="0" u="none" strike="noStrike" cap="none">
              <a:solidFill>
                <a:schemeClr val="lt1"/>
              </a:solidFill>
              <a:latin typeface="Calibri"/>
              <a:ea typeface="Calibri"/>
              <a:cs typeface="Calibri"/>
              <a:sym typeface="Calibri"/>
            </a:endParaRPr>
          </a:p>
        </p:txBody>
      </p:sp>
      <p:sp>
        <p:nvSpPr>
          <p:cNvPr id="309" name="Google Shape;309;p43"/>
          <p:cNvSpPr/>
          <p:nvPr/>
        </p:nvSpPr>
        <p:spPr>
          <a:xfrm>
            <a:off x="4026883" y="4067345"/>
            <a:ext cx="330252" cy="286070"/>
          </a:xfrm>
          <a:prstGeom prst="roundRect">
            <a:avLst>
              <a:gd name="adj" fmla="val 16667"/>
            </a:avLst>
          </a:prstGeom>
          <a:solidFill>
            <a:srgbClr val="00B050"/>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 sz="900" b="0" i="0" u="none" strike="noStrike" cap="none">
                <a:solidFill>
                  <a:schemeClr val="lt1"/>
                </a:solidFill>
                <a:latin typeface="Calibri"/>
                <a:ea typeface="Calibri"/>
                <a:cs typeface="Calibri"/>
                <a:sym typeface="Calibri"/>
              </a:rPr>
              <a:t>YES</a:t>
            </a:r>
            <a:endParaRPr sz="900" b="0" i="0" u="none" strike="noStrike" cap="none">
              <a:solidFill>
                <a:schemeClr val="lt1"/>
              </a:solidFill>
              <a:latin typeface="Calibri"/>
              <a:ea typeface="Calibri"/>
              <a:cs typeface="Calibri"/>
              <a:sym typeface="Calibri"/>
            </a:endParaRPr>
          </a:p>
        </p:txBody>
      </p:sp>
      <p:sp>
        <p:nvSpPr>
          <p:cNvPr id="310" name="Google Shape;310;p43"/>
          <p:cNvSpPr/>
          <p:nvPr/>
        </p:nvSpPr>
        <p:spPr>
          <a:xfrm>
            <a:off x="7352883" y="1876657"/>
            <a:ext cx="330252" cy="286070"/>
          </a:xfrm>
          <a:prstGeom prst="roundRect">
            <a:avLst>
              <a:gd name="adj" fmla="val 16667"/>
            </a:avLst>
          </a:prstGeom>
          <a:solidFill>
            <a:srgbClr val="00B050"/>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 sz="900" b="0" i="0" u="none" strike="noStrike" cap="none">
                <a:solidFill>
                  <a:schemeClr val="lt1"/>
                </a:solidFill>
                <a:latin typeface="Calibri"/>
                <a:ea typeface="Calibri"/>
                <a:cs typeface="Calibri"/>
                <a:sym typeface="Calibri"/>
              </a:rPr>
              <a:t>YES</a:t>
            </a:r>
            <a:endParaRPr sz="900" b="0" i="0" u="none" strike="noStrike" cap="none">
              <a:solidFill>
                <a:schemeClr val="lt1"/>
              </a:solidFill>
              <a:latin typeface="Calibri"/>
              <a:ea typeface="Calibri"/>
              <a:cs typeface="Calibri"/>
              <a:sym typeface="Calibri"/>
            </a:endParaRPr>
          </a:p>
        </p:txBody>
      </p:sp>
      <p:sp>
        <p:nvSpPr>
          <p:cNvPr id="311" name="Google Shape;311;p43"/>
          <p:cNvSpPr/>
          <p:nvPr/>
        </p:nvSpPr>
        <p:spPr>
          <a:xfrm>
            <a:off x="3534853" y="1949124"/>
            <a:ext cx="330252" cy="286070"/>
          </a:xfrm>
          <a:prstGeom prst="roundRect">
            <a:avLst>
              <a:gd name="adj" fmla="val 16667"/>
            </a:avLst>
          </a:prstGeom>
          <a:solidFill>
            <a:srgbClr val="00B050"/>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 sz="900" b="0" i="0" u="none" strike="noStrike" cap="none">
                <a:solidFill>
                  <a:schemeClr val="lt1"/>
                </a:solidFill>
                <a:latin typeface="Calibri"/>
                <a:ea typeface="Calibri"/>
                <a:cs typeface="Calibri"/>
                <a:sym typeface="Calibri"/>
              </a:rPr>
              <a:t>YES</a:t>
            </a:r>
            <a:endParaRPr sz="900" b="0" i="0" u="none" strike="noStrike" cap="none">
              <a:solidFill>
                <a:schemeClr val="lt1"/>
              </a:solidFill>
              <a:latin typeface="Calibri"/>
              <a:ea typeface="Calibri"/>
              <a:cs typeface="Calibri"/>
              <a:sym typeface="Calibri"/>
            </a:endParaRPr>
          </a:p>
        </p:txBody>
      </p:sp>
      <p:sp>
        <p:nvSpPr>
          <p:cNvPr id="312" name="Google Shape;312;p43"/>
          <p:cNvSpPr/>
          <p:nvPr/>
        </p:nvSpPr>
        <p:spPr>
          <a:xfrm>
            <a:off x="3553090" y="3101821"/>
            <a:ext cx="330252" cy="286070"/>
          </a:xfrm>
          <a:prstGeom prst="roundRect">
            <a:avLst>
              <a:gd name="adj" fmla="val 16667"/>
            </a:avLst>
          </a:prstGeom>
          <a:solidFill>
            <a:srgbClr val="00B050"/>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 sz="900" b="0" i="0" u="none" strike="noStrike" cap="none">
                <a:solidFill>
                  <a:schemeClr val="lt1"/>
                </a:solidFill>
                <a:latin typeface="Calibri"/>
                <a:ea typeface="Calibri"/>
                <a:cs typeface="Calibri"/>
                <a:sym typeface="Calibri"/>
              </a:rPr>
              <a:t>YES</a:t>
            </a:r>
            <a:endParaRPr sz="900" b="0" i="0" u="none" strike="noStrike" cap="none">
              <a:solidFill>
                <a:schemeClr val="lt1"/>
              </a:solidFill>
              <a:latin typeface="Calibri"/>
              <a:ea typeface="Calibri"/>
              <a:cs typeface="Calibri"/>
              <a:sym typeface="Calibri"/>
            </a:endParaRPr>
          </a:p>
        </p:txBody>
      </p:sp>
      <p:sp>
        <p:nvSpPr>
          <p:cNvPr id="313" name="Google Shape;313;p43"/>
          <p:cNvSpPr/>
          <p:nvPr/>
        </p:nvSpPr>
        <p:spPr>
          <a:xfrm>
            <a:off x="6106514" y="2010802"/>
            <a:ext cx="330252" cy="286070"/>
          </a:xfrm>
          <a:prstGeom prst="roundRect">
            <a:avLst>
              <a:gd name="adj" fmla="val 16667"/>
            </a:avLst>
          </a:prstGeom>
          <a:solidFill>
            <a:srgbClr val="00B050"/>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 sz="900" b="0" i="0" u="none" strike="noStrike" cap="none">
                <a:solidFill>
                  <a:schemeClr val="lt1"/>
                </a:solidFill>
                <a:latin typeface="Calibri"/>
                <a:ea typeface="Calibri"/>
                <a:cs typeface="Calibri"/>
                <a:sym typeface="Calibri"/>
              </a:rPr>
              <a:t>YES</a:t>
            </a:r>
            <a:endParaRPr sz="900" b="0" i="0" u="none" strike="noStrike" cap="none">
              <a:solidFill>
                <a:schemeClr val="lt1"/>
              </a:solidFill>
              <a:latin typeface="Calibri"/>
              <a:ea typeface="Calibri"/>
              <a:cs typeface="Calibri"/>
              <a:sym typeface="Calibri"/>
            </a:endParaRPr>
          </a:p>
        </p:txBody>
      </p:sp>
      <p:sp>
        <p:nvSpPr>
          <p:cNvPr id="314" name="Google Shape;314;p43"/>
          <p:cNvSpPr/>
          <p:nvPr/>
        </p:nvSpPr>
        <p:spPr>
          <a:xfrm>
            <a:off x="5202951" y="3419448"/>
            <a:ext cx="330252" cy="286070"/>
          </a:xfrm>
          <a:prstGeom prst="roundRect">
            <a:avLst>
              <a:gd name="adj" fmla="val 16667"/>
            </a:avLst>
          </a:prstGeom>
          <a:solidFill>
            <a:srgbClr val="00B050"/>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 sz="900" b="0" i="0" u="none" strike="noStrike" cap="none">
                <a:solidFill>
                  <a:schemeClr val="lt1"/>
                </a:solidFill>
                <a:latin typeface="Calibri"/>
                <a:ea typeface="Calibri"/>
                <a:cs typeface="Calibri"/>
                <a:sym typeface="Calibri"/>
              </a:rPr>
              <a:t>YES</a:t>
            </a:r>
            <a:endParaRPr sz="900" b="0" i="0" u="none" strike="noStrike" cap="none">
              <a:solidFill>
                <a:schemeClr val="lt1"/>
              </a:solidFill>
              <a:latin typeface="Calibri"/>
              <a:ea typeface="Calibri"/>
              <a:cs typeface="Calibri"/>
              <a:sym typeface="Calibri"/>
            </a:endParaRPr>
          </a:p>
        </p:txBody>
      </p:sp>
      <p:sp>
        <p:nvSpPr>
          <p:cNvPr id="315" name="Google Shape;315;p43"/>
          <p:cNvSpPr/>
          <p:nvPr/>
        </p:nvSpPr>
        <p:spPr>
          <a:xfrm>
            <a:off x="7995862" y="3972000"/>
            <a:ext cx="330252" cy="286070"/>
          </a:xfrm>
          <a:prstGeom prst="roundRect">
            <a:avLst>
              <a:gd name="adj" fmla="val 16667"/>
            </a:avLst>
          </a:prstGeom>
          <a:solidFill>
            <a:srgbClr val="00B050"/>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 sz="900" b="0" i="0" u="none" strike="noStrike" cap="none">
                <a:solidFill>
                  <a:schemeClr val="lt1"/>
                </a:solidFill>
                <a:latin typeface="Calibri"/>
                <a:ea typeface="Calibri"/>
                <a:cs typeface="Calibri"/>
                <a:sym typeface="Calibri"/>
              </a:rPr>
              <a:t>YES</a:t>
            </a:r>
            <a:endParaRPr sz="900" b="0" i="0" u="none" strike="noStrike" cap="none">
              <a:solidFill>
                <a:schemeClr val="lt1"/>
              </a:solidFill>
              <a:latin typeface="Calibri"/>
              <a:ea typeface="Calibri"/>
              <a:cs typeface="Calibri"/>
              <a:sym typeface="Calibri"/>
            </a:endParaRPr>
          </a:p>
        </p:txBody>
      </p:sp>
      <p:sp>
        <p:nvSpPr>
          <p:cNvPr id="316" name="Google Shape;316;p43"/>
          <p:cNvSpPr/>
          <p:nvPr/>
        </p:nvSpPr>
        <p:spPr>
          <a:xfrm>
            <a:off x="1282392" y="3540835"/>
            <a:ext cx="330252" cy="286070"/>
          </a:xfrm>
          <a:prstGeom prst="roundRect">
            <a:avLst>
              <a:gd name="adj" fmla="val 16667"/>
            </a:avLst>
          </a:prstGeom>
          <a:solidFill>
            <a:srgbClr val="00B050"/>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 sz="900" b="0" i="0" u="none" strike="noStrike" cap="none">
                <a:solidFill>
                  <a:schemeClr val="lt1"/>
                </a:solidFill>
                <a:latin typeface="Calibri"/>
                <a:ea typeface="Calibri"/>
                <a:cs typeface="Calibri"/>
                <a:sym typeface="Calibri"/>
              </a:rPr>
              <a:t>YES</a:t>
            </a:r>
            <a:endParaRPr sz="900" b="0" i="0" u="none" strike="noStrike" cap="none">
              <a:solidFill>
                <a:schemeClr val="lt1"/>
              </a:solidFill>
              <a:latin typeface="Calibri"/>
              <a:ea typeface="Calibri"/>
              <a:cs typeface="Calibri"/>
              <a:sym typeface="Calibri"/>
            </a:endParaRPr>
          </a:p>
        </p:txBody>
      </p:sp>
      <p:sp>
        <p:nvSpPr>
          <p:cNvPr id="317" name="Google Shape;317;p43"/>
          <p:cNvSpPr/>
          <p:nvPr/>
        </p:nvSpPr>
        <p:spPr>
          <a:xfrm>
            <a:off x="4007210" y="1942676"/>
            <a:ext cx="330252" cy="286070"/>
          </a:xfrm>
          <a:prstGeom prst="roundRect">
            <a:avLst>
              <a:gd name="adj" fmla="val 16667"/>
            </a:avLst>
          </a:prstGeom>
          <a:solidFill>
            <a:srgbClr val="FF0000"/>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 sz="900" b="0" i="0" u="none" strike="noStrike" cap="none">
                <a:solidFill>
                  <a:schemeClr val="lt1"/>
                </a:solidFill>
                <a:latin typeface="Calibri"/>
                <a:ea typeface="Calibri"/>
                <a:cs typeface="Calibri"/>
                <a:sym typeface="Calibri"/>
              </a:rPr>
              <a:t>NO</a:t>
            </a:r>
            <a:endParaRPr sz="900" b="0" i="0" u="none" strike="noStrike" cap="none">
              <a:solidFill>
                <a:schemeClr val="lt1"/>
              </a:solidFill>
              <a:latin typeface="Calibri"/>
              <a:ea typeface="Calibri"/>
              <a:cs typeface="Calibri"/>
              <a:sym typeface="Calibri"/>
            </a:endParaRPr>
          </a:p>
        </p:txBody>
      </p:sp>
      <p:sp>
        <p:nvSpPr>
          <p:cNvPr id="318" name="Google Shape;318;p43"/>
          <p:cNvSpPr/>
          <p:nvPr/>
        </p:nvSpPr>
        <p:spPr>
          <a:xfrm>
            <a:off x="4026883" y="3100629"/>
            <a:ext cx="330252" cy="286070"/>
          </a:xfrm>
          <a:prstGeom prst="roundRect">
            <a:avLst>
              <a:gd name="adj" fmla="val 16667"/>
            </a:avLst>
          </a:prstGeom>
          <a:solidFill>
            <a:srgbClr val="FF0000"/>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 sz="900" b="0" i="0" u="none" strike="noStrike" cap="none">
                <a:solidFill>
                  <a:schemeClr val="lt1"/>
                </a:solidFill>
                <a:latin typeface="Calibri"/>
                <a:ea typeface="Calibri"/>
                <a:cs typeface="Calibri"/>
                <a:sym typeface="Calibri"/>
              </a:rPr>
              <a:t>NO</a:t>
            </a:r>
            <a:endParaRPr sz="900" b="0" i="0" u="none" strike="noStrike" cap="none">
              <a:solidFill>
                <a:schemeClr val="lt1"/>
              </a:solidFill>
              <a:latin typeface="Calibri"/>
              <a:ea typeface="Calibri"/>
              <a:cs typeface="Calibri"/>
              <a:sym typeface="Calibri"/>
            </a:endParaRPr>
          </a:p>
        </p:txBody>
      </p:sp>
      <p:sp>
        <p:nvSpPr>
          <p:cNvPr id="319" name="Google Shape;319;p43"/>
          <p:cNvSpPr/>
          <p:nvPr/>
        </p:nvSpPr>
        <p:spPr>
          <a:xfrm>
            <a:off x="827168" y="3535659"/>
            <a:ext cx="330252" cy="286070"/>
          </a:xfrm>
          <a:prstGeom prst="roundRect">
            <a:avLst>
              <a:gd name="adj" fmla="val 16667"/>
            </a:avLst>
          </a:prstGeom>
          <a:solidFill>
            <a:srgbClr val="FF0000"/>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 sz="900" b="0" i="0" u="none" strike="noStrike" cap="none">
                <a:solidFill>
                  <a:schemeClr val="lt1"/>
                </a:solidFill>
                <a:latin typeface="Calibri"/>
                <a:ea typeface="Calibri"/>
                <a:cs typeface="Calibri"/>
                <a:sym typeface="Calibri"/>
              </a:rPr>
              <a:t>NO</a:t>
            </a:r>
            <a:endParaRPr sz="900" b="0" i="0" u="none" strike="noStrike" cap="none">
              <a:solidFill>
                <a:schemeClr val="lt1"/>
              </a:solidFill>
              <a:latin typeface="Calibri"/>
              <a:ea typeface="Calibri"/>
              <a:cs typeface="Calibri"/>
              <a:sym typeface="Calibri"/>
            </a:endParaRPr>
          </a:p>
        </p:txBody>
      </p:sp>
      <p:sp>
        <p:nvSpPr>
          <p:cNvPr id="320" name="Google Shape;320;p43"/>
          <p:cNvSpPr/>
          <p:nvPr/>
        </p:nvSpPr>
        <p:spPr>
          <a:xfrm>
            <a:off x="5238448" y="2012481"/>
            <a:ext cx="330252" cy="286070"/>
          </a:xfrm>
          <a:prstGeom prst="roundRect">
            <a:avLst>
              <a:gd name="adj" fmla="val 16667"/>
            </a:avLst>
          </a:prstGeom>
          <a:solidFill>
            <a:srgbClr val="FF0000"/>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 sz="900" b="0" i="0" u="none" strike="noStrike" cap="none">
                <a:solidFill>
                  <a:schemeClr val="lt1"/>
                </a:solidFill>
                <a:latin typeface="Calibri"/>
                <a:ea typeface="Calibri"/>
                <a:cs typeface="Calibri"/>
                <a:sym typeface="Calibri"/>
              </a:rPr>
              <a:t>NO</a:t>
            </a:r>
            <a:endParaRPr sz="900" b="0" i="0" u="none" strike="noStrike" cap="none">
              <a:solidFill>
                <a:schemeClr val="lt1"/>
              </a:solidFill>
              <a:latin typeface="Calibri"/>
              <a:ea typeface="Calibri"/>
              <a:cs typeface="Calibri"/>
              <a:sym typeface="Calibri"/>
            </a:endParaRPr>
          </a:p>
        </p:txBody>
      </p:sp>
      <p:sp>
        <p:nvSpPr>
          <p:cNvPr id="321" name="Google Shape;321;p43"/>
          <p:cNvSpPr/>
          <p:nvPr/>
        </p:nvSpPr>
        <p:spPr>
          <a:xfrm>
            <a:off x="4565077" y="4061901"/>
            <a:ext cx="330252" cy="286070"/>
          </a:xfrm>
          <a:prstGeom prst="roundRect">
            <a:avLst>
              <a:gd name="adj" fmla="val 16667"/>
            </a:avLst>
          </a:prstGeom>
          <a:solidFill>
            <a:srgbClr val="FF0000"/>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 sz="900" b="0" i="0" u="none" strike="noStrike" cap="none">
                <a:solidFill>
                  <a:schemeClr val="lt1"/>
                </a:solidFill>
                <a:latin typeface="Calibri"/>
                <a:ea typeface="Calibri"/>
                <a:cs typeface="Calibri"/>
                <a:sym typeface="Calibri"/>
              </a:rPr>
              <a:t>NO</a:t>
            </a:r>
            <a:endParaRPr sz="900" b="0" i="0" u="none" strike="noStrike" cap="none">
              <a:solidFill>
                <a:schemeClr val="lt1"/>
              </a:solidFill>
              <a:latin typeface="Calibri"/>
              <a:ea typeface="Calibri"/>
              <a:cs typeface="Calibri"/>
              <a:sym typeface="Calibri"/>
            </a:endParaRPr>
          </a:p>
        </p:txBody>
      </p:sp>
      <p:sp>
        <p:nvSpPr>
          <p:cNvPr id="322" name="Google Shape;322;p43"/>
          <p:cNvSpPr/>
          <p:nvPr/>
        </p:nvSpPr>
        <p:spPr>
          <a:xfrm>
            <a:off x="8463608" y="3826905"/>
            <a:ext cx="330252" cy="286070"/>
          </a:xfrm>
          <a:prstGeom prst="roundRect">
            <a:avLst>
              <a:gd name="adj" fmla="val 16667"/>
            </a:avLst>
          </a:prstGeom>
          <a:solidFill>
            <a:srgbClr val="FF0000"/>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 sz="900" b="0" i="0" u="none" strike="noStrike" cap="none">
                <a:solidFill>
                  <a:schemeClr val="lt1"/>
                </a:solidFill>
                <a:latin typeface="Calibri"/>
                <a:ea typeface="Calibri"/>
                <a:cs typeface="Calibri"/>
                <a:sym typeface="Calibri"/>
              </a:rPr>
              <a:t>NO</a:t>
            </a:r>
            <a:endParaRPr sz="900" b="0" i="0" u="none" strike="noStrike" cap="none">
              <a:solidFill>
                <a:schemeClr val="lt1"/>
              </a:solidFill>
              <a:latin typeface="Calibri"/>
              <a:ea typeface="Calibri"/>
              <a:cs typeface="Calibri"/>
              <a:sym typeface="Calibri"/>
            </a:endParaRPr>
          </a:p>
        </p:txBody>
      </p:sp>
      <p:sp>
        <p:nvSpPr>
          <p:cNvPr id="323" name="Google Shape;323;p43"/>
          <p:cNvSpPr/>
          <p:nvPr/>
        </p:nvSpPr>
        <p:spPr>
          <a:xfrm>
            <a:off x="6029143" y="3111753"/>
            <a:ext cx="330252" cy="286070"/>
          </a:xfrm>
          <a:prstGeom prst="roundRect">
            <a:avLst>
              <a:gd name="adj" fmla="val 16667"/>
            </a:avLst>
          </a:prstGeom>
          <a:solidFill>
            <a:srgbClr val="FF0000"/>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 sz="900" b="0" i="0" u="none" strike="noStrike" cap="none">
                <a:solidFill>
                  <a:schemeClr val="lt1"/>
                </a:solidFill>
                <a:latin typeface="Calibri"/>
                <a:ea typeface="Calibri"/>
                <a:cs typeface="Calibri"/>
                <a:sym typeface="Calibri"/>
              </a:rPr>
              <a:t>NO</a:t>
            </a:r>
            <a:endParaRPr sz="900" b="0" i="0" u="none" strike="noStrike" cap="none">
              <a:solidFill>
                <a:schemeClr val="lt1"/>
              </a:solidFill>
              <a:latin typeface="Calibri"/>
              <a:ea typeface="Calibri"/>
              <a:cs typeface="Calibri"/>
              <a:sym typeface="Calibri"/>
            </a:endParaRPr>
          </a:p>
        </p:txBody>
      </p:sp>
      <p:sp>
        <p:nvSpPr>
          <p:cNvPr id="324" name="Google Shape;324;p43"/>
          <p:cNvSpPr/>
          <p:nvPr/>
        </p:nvSpPr>
        <p:spPr>
          <a:xfrm>
            <a:off x="8542288" y="1907813"/>
            <a:ext cx="330252" cy="286070"/>
          </a:xfrm>
          <a:prstGeom prst="roundRect">
            <a:avLst>
              <a:gd name="adj" fmla="val 16667"/>
            </a:avLst>
          </a:prstGeom>
          <a:solidFill>
            <a:srgbClr val="FF0000"/>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 sz="900" b="0" i="0" u="none" strike="noStrike" cap="none">
                <a:solidFill>
                  <a:schemeClr val="lt1"/>
                </a:solidFill>
                <a:latin typeface="Calibri"/>
                <a:ea typeface="Calibri"/>
                <a:cs typeface="Calibri"/>
                <a:sym typeface="Calibri"/>
              </a:rPr>
              <a:t>NO</a:t>
            </a:r>
            <a:endParaRPr sz="900" b="0" i="0" u="none" strike="noStrike" cap="none">
              <a:solidFill>
                <a:schemeClr val="lt1"/>
              </a:solidFill>
              <a:latin typeface="Calibri"/>
              <a:ea typeface="Calibri"/>
              <a:cs typeface="Calibri"/>
              <a:sym typeface="Calibri"/>
            </a:endParaRPr>
          </a:p>
        </p:txBody>
      </p:sp>
      <p:cxnSp>
        <p:nvCxnSpPr>
          <p:cNvPr id="325" name="Google Shape;325;p43"/>
          <p:cNvCxnSpPr>
            <a:stCxn id="292" idx="2"/>
            <a:endCxn id="303" idx="0"/>
          </p:cNvCxnSpPr>
          <p:nvPr/>
        </p:nvCxnSpPr>
        <p:spPr>
          <a:xfrm flipH="1">
            <a:off x="7973310" y="1120676"/>
            <a:ext cx="6000" cy="180600"/>
          </a:xfrm>
          <a:prstGeom prst="straightConnector1">
            <a:avLst/>
          </a:prstGeom>
          <a:noFill/>
          <a:ln w="25400" cap="flat" cmpd="sng">
            <a:solidFill>
              <a:srgbClr val="002060"/>
            </a:solidFill>
            <a:prstDash val="solid"/>
            <a:miter lim="800000"/>
            <a:headEnd type="none" w="sm" len="sm"/>
            <a:tailEnd type="triangle" w="med" len="med"/>
          </a:ln>
        </p:spPr>
      </p:cxnSp>
      <p:cxnSp>
        <p:nvCxnSpPr>
          <p:cNvPr id="326" name="Google Shape;326;p43"/>
          <p:cNvCxnSpPr>
            <a:endCxn id="310" idx="0"/>
          </p:cNvCxnSpPr>
          <p:nvPr/>
        </p:nvCxnSpPr>
        <p:spPr>
          <a:xfrm>
            <a:off x="7509909" y="1704457"/>
            <a:ext cx="8100" cy="172200"/>
          </a:xfrm>
          <a:prstGeom prst="straightConnector1">
            <a:avLst/>
          </a:prstGeom>
          <a:noFill/>
          <a:ln w="25400" cap="flat" cmpd="sng">
            <a:solidFill>
              <a:srgbClr val="002060"/>
            </a:solidFill>
            <a:prstDash val="solid"/>
            <a:miter lim="800000"/>
            <a:headEnd type="none" w="sm" len="sm"/>
            <a:tailEnd type="triangle" w="med" len="med"/>
          </a:ln>
        </p:spPr>
      </p:cxnSp>
      <p:cxnSp>
        <p:nvCxnSpPr>
          <p:cNvPr id="327" name="Google Shape;327;p43"/>
          <p:cNvCxnSpPr>
            <a:endCxn id="324" idx="0"/>
          </p:cNvCxnSpPr>
          <p:nvPr/>
        </p:nvCxnSpPr>
        <p:spPr>
          <a:xfrm>
            <a:off x="8262214" y="1713713"/>
            <a:ext cx="445200" cy="194100"/>
          </a:xfrm>
          <a:prstGeom prst="straightConnector1">
            <a:avLst/>
          </a:prstGeom>
          <a:noFill/>
          <a:ln w="25400" cap="flat" cmpd="sng">
            <a:solidFill>
              <a:srgbClr val="002060"/>
            </a:solidFill>
            <a:prstDash val="solid"/>
            <a:miter lim="800000"/>
            <a:headEnd type="none" w="sm" len="sm"/>
            <a:tailEnd type="triangle" w="med" len="med"/>
          </a:ln>
        </p:spPr>
      </p:cxnSp>
      <p:cxnSp>
        <p:nvCxnSpPr>
          <p:cNvPr id="328" name="Google Shape;328;p43"/>
          <p:cNvCxnSpPr/>
          <p:nvPr/>
        </p:nvCxnSpPr>
        <p:spPr>
          <a:xfrm>
            <a:off x="7515932" y="2151261"/>
            <a:ext cx="8911" cy="164014"/>
          </a:xfrm>
          <a:prstGeom prst="straightConnector1">
            <a:avLst/>
          </a:prstGeom>
          <a:noFill/>
          <a:ln w="25400" cap="flat" cmpd="sng">
            <a:solidFill>
              <a:srgbClr val="002060"/>
            </a:solidFill>
            <a:prstDash val="solid"/>
            <a:miter lim="800000"/>
            <a:headEnd type="none" w="sm" len="sm"/>
            <a:tailEnd type="triangle" w="med" len="med"/>
          </a:ln>
        </p:spPr>
      </p:cxnSp>
      <p:cxnSp>
        <p:nvCxnSpPr>
          <p:cNvPr id="329" name="Google Shape;329;p43"/>
          <p:cNvCxnSpPr>
            <a:stCxn id="324" idx="2"/>
          </p:cNvCxnSpPr>
          <p:nvPr/>
        </p:nvCxnSpPr>
        <p:spPr>
          <a:xfrm>
            <a:off x="8707414" y="2193883"/>
            <a:ext cx="19500" cy="930600"/>
          </a:xfrm>
          <a:prstGeom prst="straightConnector1">
            <a:avLst/>
          </a:prstGeom>
          <a:noFill/>
          <a:ln w="25400" cap="flat" cmpd="sng">
            <a:solidFill>
              <a:srgbClr val="002060"/>
            </a:solidFill>
            <a:prstDash val="solid"/>
            <a:miter lim="800000"/>
            <a:headEnd type="none" w="sm" len="sm"/>
            <a:tailEnd type="triangle" w="med" len="med"/>
          </a:ln>
        </p:spPr>
      </p:cxnSp>
      <p:cxnSp>
        <p:nvCxnSpPr>
          <p:cNvPr id="330" name="Google Shape;330;p43"/>
          <p:cNvCxnSpPr/>
          <p:nvPr/>
        </p:nvCxnSpPr>
        <p:spPr>
          <a:xfrm>
            <a:off x="8707414" y="3482179"/>
            <a:ext cx="5509" cy="321210"/>
          </a:xfrm>
          <a:prstGeom prst="straightConnector1">
            <a:avLst/>
          </a:prstGeom>
          <a:noFill/>
          <a:ln w="25400" cap="flat" cmpd="sng">
            <a:solidFill>
              <a:srgbClr val="002060"/>
            </a:solidFill>
            <a:prstDash val="solid"/>
            <a:miter lim="800000"/>
            <a:headEnd type="none" w="sm" len="sm"/>
            <a:tailEnd type="triangle" w="med" len="med"/>
          </a:ln>
        </p:spPr>
      </p:cxnSp>
      <p:cxnSp>
        <p:nvCxnSpPr>
          <p:cNvPr id="331" name="Google Shape;331;p43"/>
          <p:cNvCxnSpPr/>
          <p:nvPr/>
        </p:nvCxnSpPr>
        <p:spPr>
          <a:xfrm>
            <a:off x="8710988" y="4076137"/>
            <a:ext cx="1936" cy="394611"/>
          </a:xfrm>
          <a:prstGeom prst="straightConnector1">
            <a:avLst/>
          </a:prstGeom>
          <a:noFill/>
          <a:ln w="25400" cap="flat" cmpd="sng">
            <a:solidFill>
              <a:srgbClr val="7030A0"/>
            </a:solidFill>
            <a:prstDash val="solid"/>
            <a:miter lim="800000"/>
            <a:headEnd type="none" w="sm" len="sm"/>
            <a:tailEnd type="triangle" w="med" len="med"/>
          </a:ln>
        </p:spPr>
      </p:cxnSp>
      <p:cxnSp>
        <p:nvCxnSpPr>
          <p:cNvPr id="332" name="Google Shape;332;p43"/>
          <p:cNvCxnSpPr>
            <a:endCxn id="315" idx="0"/>
          </p:cNvCxnSpPr>
          <p:nvPr/>
        </p:nvCxnSpPr>
        <p:spPr>
          <a:xfrm>
            <a:off x="8160988" y="3516000"/>
            <a:ext cx="0" cy="456000"/>
          </a:xfrm>
          <a:prstGeom prst="straightConnector1">
            <a:avLst/>
          </a:prstGeom>
          <a:noFill/>
          <a:ln w="25400" cap="flat" cmpd="sng">
            <a:solidFill>
              <a:srgbClr val="002060"/>
            </a:solidFill>
            <a:prstDash val="solid"/>
            <a:miter lim="800000"/>
            <a:headEnd type="none" w="sm" len="sm"/>
            <a:tailEnd type="triangle" w="med" len="med"/>
          </a:ln>
        </p:spPr>
      </p:cxnSp>
      <p:cxnSp>
        <p:nvCxnSpPr>
          <p:cNvPr id="333" name="Google Shape;333;p43"/>
          <p:cNvCxnSpPr>
            <a:endCxn id="305" idx="0"/>
          </p:cNvCxnSpPr>
          <p:nvPr/>
        </p:nvCxnSpPr>
        <p:spPr>
          <a:xfrm>
            <a:off x="5794345" y="1039001"/>
            <a:ext cx="0" cy="322800"/>
          </a:xfrm>
          <a:prstGeom prst="straightConnector1">
            <a:avLst/>
          </a:prstGeom>
          <a:noFill/>
          <a:ln w="25400" cap="flat" cmpd="sng">
            <a:solidFill>
              <a:srgbClr val="002B64"/>
            </a:solidFill>
            <a:prstDash val="solid"/>
            <a:miter lim="800000"/>
            <a:headEnd type="none" w="sm" len="sm"/>
            <a:tailEnd type="triangle" w="med" len="med"/>
          </a:ln>
        </p:spPr>
      </p:cxnSp>
      <p:cxnSp>
        <p:nvCxnSpPr>
          <p:cNvPr id="334" name="Google Shape;334;p43"/>
          <p:cNvCxnSpPr>
            <a:endCxn id="313" idx="0"/>
          </p:cNvCxnSpPr>
          <p:nvPr/>
        </p:nvCxnSpPr>
        <p:spPr>
          <a:xfrm>
            <a:off x="6270140" y="1773502"/>
            <a:ext cx="1500" cy="237300"/>
          </a:xfrm>
          <a:prstGeom prst="straightConnector1">
            <a:avLst/>
          </a:prstGeom>
          <a:noFill/>
          <a:ln w="25400" cap="flat" cmpd="sng">
            <a:solidFill>
              <a:srgbClr val="002060"/>
            </a:solidFill>
            <a:prstDash val="solid"/>
            <a:miter lim="800000"/>
            <a:headEnd type="none" w="sm" len="sm"/>
            <a:tailEnd type="triangle" w="med" len="med"/>
          </a:ln>
        </p:spPr>
      </p:cxnSp>
      <p:cxnSp>
        <p:nvCxnSpPr>
          <p:cNvPr id="335" name="Google Shape;335;p43"/>
          <p:cNvCxnSpPr>
            <a:stCxn id="320" idx="2"/>
          </p:cNvCxnSpPr>
          <p:nvPr/>
        </p:nvCxnSpPr>
        <p:spPr>
          <a:xfrm>
            <a:off x="5403574" y="2298551"/>
            <a:ext cx="0" cy="360600"/>
          </a:xfrm>
          <a:prstGeom prst="straightConnector1">
            <a:avLst/>
          </a:prstGeom>
          <a:noFill/>
          <a:ln w="25400" cap="flat" cmpd="sng">
            <a:solidFill>
              <a:srgbClr val="002060"/>
            </a:solidFill>
            <a:prstDash val="solid"/>
            <a:miter lim="800000"/>
            <a:headEnd type="none" w="sm" len="sm"/>
            <a:tailEnd type="triangle" w="med" len="med"/>
          </a:ln>
        </p:spPr>
      </p:cxnSp>
      <p:cxnSp>
        <p:nvCxnSpPr>
          <p:cNvPr id="336" name="Google Shape;336;p43"/>
          <p:cNvCxnSpPr/>
          <p:nvPr/>
        </p:nvCxnSpPr>
        <p:spPr>
          <a:xfrm>
            <a:off x="5403574" y="1790440"/>
            <a:ext cx="1365" cy="237421"/>
          </a:xfrm>
          <a:prstGeom prst="straightConnector1">
            <a:avLst/>
          </a:prstGeom>
          <a:noFill/>
          <a:ln w="25400" cap="flat" cmpd="sng">
            <a:solidFill>
              <a:srgbClr val="002060"/>
            </a:solidFill>
            <a:prstDash val="solid"/>
            <a:miter lim="800000"/>
            <a:headEnd type="none" w="sm" len="sm"/>
            <a:tailEnd type="triangle" w="med" len="med"/>
          </a:ln>
        </p:spPr>
      </p:cxnSp>
      <p:cxnSp>
        <p:nvCxnSpPr>
          <p:cNvPr id="337" name="Google Shape;337;p43"/>
          <p:cNvCxnSpPr>
            <a:stCxn id="306" idx="2"/>
          </p:cNvCxnSpPr>
          <p:nvPr/>
        </p:nvCxnSpPr>
        <p:spPr>
          <a:xfrm>
            <a:off x="5435434" y="3158308"/>
            <a:ext cx="0" cy="237000"/>
          </a:xfrm>
          <a:prstGeom prst="straightConnector1">
            <a:avLst/>
          </a:prstGeom>
          <a:noFill/>
          <a:ln w="25400" cap="flat" cmpd="sng">
            <a:solidFill>
              <a:srgbClr val="002060"/>
            </a:solidFill>
            <a:prstDash val="solid"/>
            <a:miter lim="800000"/>
            <a:headEnd type="none" w="sm" len="sm"/>
            <a:tailEnd type="triangle" w="med" len="med"/>
          </a:ln>
        </p:spPr>
      </p:cxnSp>
      <p:cxnSp>
        <p:nvCxnSpPr>
          <p:cNvPr id="338" name="Google Shape;338;p43"/>
          <p:cNvCxnSpPr/>
          <p:nvPr/>
        </p:nvCxnSpPr>
        <p:spPr>
          <a:xfrm>
            <a:off x="5430434" y="3680730"/>
            <a:ext cx="14451" cy="775795"/>
          </a:xfrm>
          <a:prstGeom prst="straightConnector1">
            <a:avLst/>
          </a:prstGeom>
          <a:noFill/>
          <a:ln w="25400" cap="flat" cmpd="sng">
            <a:solidFill>
              <a:srgbClr val="FFFF00"/>
            </a:solidFill>
            <a:prstDash val="solid"/>
            <a:miter lim="800000"/>
            <a:headEnd type="none" w="sm" len="sm"/>
            <a:tailEnd type="triangle" w="med" len="med"/>
          </a:ln>
        </p:spPr>
      </p:cxnSp>
      <p:cxnSp>
        <p:nvCxnSpPr>
          <p:cNvPr id="339" name="Google Shape;339;p43"/>
          <p:cNvCxnSpPr/>
          <p:nvPr/>
        </p:nvCxnSpPr>
        <p:spPr>
          <a:xfrm>
            <a:off x="6265502" y="2290845"/>
            <a:ext cx="4774" cy="187318"/>
          </a:xfrm>
          <a:prstGeom prst="straightConnector1">
            <a:avLst/>
          </a:prstGeom>
          <a:noFill/>
          <a:ln w="25400" cap="flat" cmpd="sng">
            <a:solidFill>
              <a:srgbClr val="002060"/>
            </a:solidFill>
            <a:prstDash val="solid"/>
            <a:miter lim="800000"/>
            <a:headEnd type="none" w="sm" len="sm"/>
            <a:tailEnd type="triangle" w="med" len="med"/>
          </a:ln>
        </p:spPr>
      </p:cxnSp>
      <p:cxnSp>
        <p:nvCxnSpPr>
          <p:cNvPr id="340" name="Google Shape;340;p43"/>
          <p:cNvCxnSpPr/>
          <p:nvPr/>
        </p:nvCxnSpPr>
        <p:spPr>
          <a:xfrm>
            <a:off x="6545940" y="2886565"/>
            <a:ext cx="0" cy="214307"/>
          </a:xfrm>
          <a:prstGeom prst="straightConnector1">
            <a:avLst/>
          </a:prstGeom>
          <a:noFill/>
          <a:ln w="25400" cap="flat" cmpd="sng">
            <a:solidFill>
              <a:srgbClr val="002060"/>
            </a:solidFill>
            <a:prstDash val="solid"/>
            <a:miter lim="800000"/>
            <a:headEnd type="none" w="sm" len="sm"/>
            <a:tailEnd type="triangle" w="med" len="med"/>
          </a:ln>
        </p:spPr>
      </p:cxnSp>
      <p:sp>
        <p:nvSpPr>
          <p:cNvPr id="341" name="Google Shape;341;p43"/>
          <p:cNvSpPr/>
          <p:nvPr/>
        </p:nvSpPr>
        <p:spPr>
          <a:xfrm>
            <a:off x="5594657" y="3563502"/>
            <a:ext cx="1891993" cy="614601"/>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 sz="900" b="0" i="0" u="none" strike="noStrike" cap="none">
                <a:solidFill>
                  <a:schemeClr val="lt1"/>
                </a:solidFill>
                <a:latin typeface="Calibri"/>
                <a:ea typeface="Calibri"/>
                <a:cs typeface="Calibri"/>
                <a:sym typeface="Calibri"/>
              </a:rPr>
              <a:t>Still use Lite Fundamentals sales process but modify your offer to include shorter or longer session times for certain content</a:t>
            </a:r>
            <a:endParaRPr sz="900" b="0" i="0" u="none" strike="noStrike" cap="none">
              <a:solidFill>
                <a:schemeClr val="lt1"/>
              </a:solidFill>
              <a:latin typeface="Calibri"/>
              <a:ea typeface="Calibri"/>
              <a:cs typeface="Calibri"/>
              <a:sym typeface="Calibri"/>
            </a:endParaRPr>
          </a:p>
        </p:txBody>
      </p:sp>
      <p:cxnSp>
        <p:nvCxnSpPr>
          <p:cNvPr id="342" name="Google Shape;342;p43"/>
          <p:cNvCxnSpPr>
            <a:stCxn id="343" idx="3"/>
          </p:cNvCxnSpPr>
          <p:nvPr/>
        </p:nvCxnSpPr>
        <p:spPr>
          <a:xfrm>
            <a:off x="6774410" y="3235880"/>
            <a:ext cx="803400" cy="1234800"/>
          </a:xfrm>
          <a:prstGeom prst="bentConnector2">
            <a:avLst/>
          </a:prstGeom>
          <a:noFill/>
          <a:ln w="25400" cap="flat" cmpd="sng">
            <a:solidFill>
              <a:srgbClr val="7030A0"/>
            </a:solidFill>
            <a:prstDash val="solid"/>
            <a:miter lim="800000"/>
            <a:headEnd type="none" w="sm" len="sm"/>
            <a:tailEnd type="triangle" w="med" len="med"/>
          </a:ln>
        </p:spPr>
      </p:cxnSp>
      <p:cxnSp>
        <p:nvCxnSpPr>
          <p:cNvPr id="344" name="Google Shape;344;p43"/>
          <p:cNvCxnSpPr>
            <a:stCxn id="323" idx="2"/>
          </p:cNvCxnSpPr>
          <p:nvPr/>
        </p:nvCxnSpPr>
        <p:spPr>
          <a:xfrm>
            <a:off x="6194269" y="3397823"/>
            <a:ext cx="0" cy="165600"/>
          </a:xfrm>
          <a:prstGeom prst="straightConnector1">
            <a:avLst/>
          </a:prstGeom>
          <a:noFill/>
          <a:ln w="25400" cap="flat" cmpd="sng">
            <a:solidFill>
              <a:srgbClr val="002060"/>
            </a:solidFill>
            <a:prstDash val="solid"/>
            <a:miter lim="800000"/>
            <a:headEnd type="none" w="sm" len="sm"/>
            <a:tailEnd type="triangle" w="med" len="med"/>
          </a:ln>
        </p:spPr>
      </p:cxnSp>
      <p:cxnSp>
        <p:nvCxnSpPr>
          <p:cNvPr id="345" name="Google Shape;345;p43"/>
          <p:cNvCxnSpPr/>
          <p:nvPr/>
        </p:nvCxnSpPr>
        <p:spPr>
          <a:xfrm flipH="1">
            <a:off x="5978063" y="4239418"/>
            <a:ext cx="2017800" cy="366975"/>
          </a:xfrm>
          <a:prstGeom prst="bentConnector3">
            <a:avLst>
              <a:gd name="adj1" fmla="val 76334"/>
            </a:avLst>
          </a:prstGeom>
          <a:noFill/>
          <a:ln w="25400" cap="flat" cmpd="sng">
            <a:solidFill>
              <a:srgbClr val="FFFF00"/>
            </a:solidFill>
            <a:prstDash val="solid"/>
            <a:miter lim="800000"/>
            <a:headEnd type="none" w="sm" len="sm"/>
            <a:tailEnd type="triangle" w="med" len="med"/>
          </a:ln>
        </p:spPr>
      </p:cxnSp>
      <p:cxnSp>
        <p:nvCxnSpPr>
          <p:cNvPr id="346" name="Google Shape;346;p43"/>
          <p:cNvCxnSpPr>
            <a:stCxn id="293" idx="3"/>
          </p:cNvCxnSpPr>
          <p:nvPr/>
        </p:nvCxnSpPr>
        <p:spPr>
          <a:xfrm>
            <a:off x="3196827" y="888480"/>
            <a:ext cx="808200" cy="360300"/>
          </a:xfrm>
          <a:prstGeom prst="bentConnector3">
            <a:avLst>
              <a:gd name="adj1" fmla="val 100456"/>
            </a:avLst>
          </a:prstGeom>
          <a:noFill/>
          <a:ln w="25400" cap="flat" cmpd="sng">
            <a:solidFill>
              <a:srgbClr val="002060"/>
            </a:solidFill>
            <a:prstDash val="solid"/>
            <a:miter lim="800000"/>
            <a:headEnd type="none" w="sm" len="sm"/>
            <a:tailEnd type="triangle" w="med" len="med"/>
          </a:ln>
        </p:spPr>
      </p:cxnSp>
      <p:cxnSp>
        <p:nvCxnSpPr>
          <p:cNvPr id="347" name="Google Shape;347;p43"/>
          <p:cNvCxnSpPr>
            <a:stCxn id="311" idx="1"/>
          </p:cNvCxnSpPr>
          <p:nvPr/>
        </p:nvCxnSpPr>
        <p:spPr>
          <a:xfrm rot="10800000">
            <a:off x="2388853" y="1881859"/>
            <a:ext cx="1146000" cy="210300"/>
          </a:xfrm>
          <a:prstGeom prst="bentConnector3">
            <a:avLst>
              <a:gd name="adj1" fmla="val 50004"/>
            </a:avLst>
          </a:prstGeom>
          <a:noFill/>
          <a:ln w="25400" cap="flat" cmpd="sng">
            <a:solidFill>
              <a:srgbClr val="002B64"/>
            </a:solidFill>
            <a:prstDash val="solid"/>
            <a:miter lim="800000"/>
            <a:headEnd type="none" w="sm" len="sm"/>
            <a:tailEnd type="triangle" w="med" len="med"/>
          </a:ln>
        </p:spPr>
      </p:cxnSp>
      <p:cxnSp>
        <p:nvCxnSpPr>
          <p:cNvPr id="348" name="Google Shape;348;p43"/>
          <p:cNvCxnSpPr/>
          <p:nvPr/>
        </p:nvCxnSpPr>
        <p:spPr>
          <a:xfrm>
            <a:off x="521491" y="2019692"/>
            <a:ext cx="0" cy="116197"/>
          </a:xfrm>
          <a:prstGeom prst="straightConnector1">
            <a:avLst/>
          </a:prstGeom>
          <a:noFill/>
          <a:ln w="25400" cap="flat" cmpd="sng">
            <a:solidFill>
              <a:srgbClr val="002060"/>
            </a:solidFill>
            <a:prstDash val="solid"/>
            <a:miter lim="800000"/>
            <a:headEnd type="none" w="sm" len="sm"/>
            <a:tailEnd type="triangle" w="med" len="med"/>
          </a:ln>
        </p:spPr>
      </p:cxnSp>
      <p:cxnSp>
        <p:nvCxnSpPr>
          <p:cNvPr id="349" name="Google Shape;349;p43"/>
          <p:cNvCxnSpPr/>
          <p:nvPr/>
        </p:nvCxnSpPr>
        <p:spPr>
          <a:xfrm flipH="1">
            <a:off x="428548" y="2400424"/>
            <a:ext cx="14671" cy="2056101"/>
          </a:xfrm>
          <a:prstGeom prst="straightConnector1">
            <a:avLst/>
          </a:prstGeom>
          <a:noFill/>
          <a:ln w="25400" cap="flat" cmpd="sng">
            <a:solidFill>
              <a:srgbClr val="00B0F0"/>
            </a:solidFill>
            <a:prstDash val="solid"/>
            <a:miter lim="800000"/>
            <a:headEnd type="none" w="sm" len="sm"/>
            <a:tailEnd type="triangle" w="med" len="med"/>
          </a:ln>
        </p:spPr>
      </p:cxnSp>
      <p:cxnSp>
        <p:nvCxnSpPr>
          <p:cNvPr id="350" name="Google Shape;350;p43"/>
          <p:cNvCxnSpPr/>
          <p:nvPr/>
        </p:nvCxnSpPr>
        <p:spPr>
          <a:xfrm>
            <a:off x="1467432" y="2019691"/>
            <a:ext cx="0" cy="116197"/>
          </a:xfrm>
          <a:prstGeom prst="straightConnector1">
            <a:avLst/>
          </a:prstGeom>
          <a:noFill/>
          <a:ln w="25400" cap="flat" cmpd="sng">
            <a:solidFill>
              <a:srgbClr val="002060"/>
            </a:solidFill>
            <a:prstDash val="solid"/>
            <a:miter lim="800000"/>
            <a:headEnd type="none" w="sm" len="sm"/>
            <a:tailEnd type="triangle" w="med" len="med"/>
          </a:ln>
        </p:spPr>
      </p:cxnSp>
      <p:cxnSp>
        <p:nvCxnSpPr>
          <p:cNvPr id="351" name="Google Shape;351;p43"/>
          <p:cNvCxnSpPr>
            <a:stCxn id="308" idx="3"/>
            <a:endCxn id="297" idx="1"/>
          </p:cNvCxnSpPr>
          <p:nvPr/>
        </p:nvCxnSpPr>
        <p:spPr>
          <a:xfrm>
            <a:off x="1632558" y="2279538"/>
            <a:ext cx="1037400" cy="1432800"/>
          </a:xfrm>
          <a:prstGeom prst="bentConnector3">
            <a:avLst>
              <a:gd name="adj1" fmla="val 71444"/>
            </a:avLst>
          </a:prstGeom>
          <a:noFill/>
          <a:ln w="25400" cap="flat" cmpd="sng">
            <a:solidFill>
              <a:srgbClr val="002060"/>
            </a:solidFill>
            <a:prstDash val="solid"/>
            <a:miter lim="800000"/>
            <a:headEnd type="none" w="sm" len="sm"/>
            <a:tailEnd type="triangle" w="med" len="med"/>
          </a:ln>
        </p:spPr>
      </p:cxnSp>
      <p:cxnSp>
        <p:nvCxnSpPr>
          <p:cNvPr id="352" name="Google Shape;352;p43"/>
          <p:cNvCxnSpPr/>
          <p:nvPr/>
        </p:nvCxnSpPr>
        <p:spPr>
          <a:xfrm>
            <a:off x="4895329" y="4258070"/>
            <a:ext cx="1675800" cy="500175"/>
          </a:xfrm>
          <a:prstGeom prst="bentConnector3">
            <a:avLst>
              <a:gd name="adj1" fmla="val 75068"/>
            </a:avLst>
          </a:prstGeom>
          <a:noFill/>
          <a:ln w="25400" cap="flat" cmpd="sng">
            <a:solidFill>
              <a:srgbClr val="7030A0"/>
            </a:solidFill>
            <a:prstDash val="solid"/>
            <a:miter lim="800000"/>
            <a:headEnd type="none" w="sm" len="sm"/>
            <a:tailEnd type="triangle" w="med" len="med"/>
          </a:ln>
        </p:spPr>
      </p:cxnSp>
      <p:cxnSp>
        <p:nvCxnSpPr>
          <p:cNvPr id="353" name="Google Shape;353;p43"/>
          <p:cNvCxnSpPr>
            <a:stCxn id="312" idx="1"/>
            <a:endCxn id="298" idx="3"/>
          </p:cNvCxnSpPr>
          <p:nvPr/>
        </p:nvCxnSpPr>
        <p:spPr>
          <a:xfrm rot="10800000">
            <a:off x="2195590" y="2729756"/>
            <a:ext cx="1357500" cy="515100"/>
          </a:xfrm>
          <a:prstGeom prst="bentConnector3">
            <a:avLst>
              <a:gd name="adj1" fmla="val 63655"/>
            </a:avLst>
          </a:prstGeom>
          <a:noFill/>
          <a:ln w="25400" cap="flat" cmpd="sng">
            <a:solidFill>
              <a:srgbClr val="002B64"/>
            </a:solidFill>
            <a:prstDash val="solid"/>
            <a:miter lim="800000"/>
            <a:headEnd type="none" w="sm" len="sm"/>
            <a:tailEnd type="triangle" w="med" len="med"/>
          </a:ln>
        </p:spPr>
      </p:cxnSp>
      <p:cxnSp>
        <p:nvCxnSpPr>
          <p:cNvPr id="354" name="Google Shape;354;p43"/>
          <p:cNvCxnSpPr/>
          <p:nvPr/>
        </p:nvCxnSpPr>
        <p:spPr>
          <a:xfrm>
            <a:off x="1460492" y="2889499"/>
            <a:ext cx="1365" cy="237421"/>
          </a:xfrm>
          <a:prstGeom prst="straightConnector1">
            <a:avLst/>
          </a:prstGeom>
          <a:noFill/>
          <a:ln w="25400" cap="flat" cmpd="sng">
            <a:solidFill>
              <a:srgbClr val="002060"/>
            </a:solidFill>
            <a:prstDash val="solid"/>
            <a:miter lim="800000"/>
            <a:headEnd type="none" w="sm" len="sm"/>
            <a:tailEnd type="triangle" w="med" len="med"/>
          </a:ln>
        </p:spPr>
      </p:cxnSp>
      <p:cxnSp>
        <p:nvCxnSpPr>
          <p:cNvPr id="355" name="Google Shape;355;p43"/>
          <p:cNvCxnSpPr/>
          <p:nvPr/>
        </p:nvCxnSpPr>
        <p:spPr>
          <a:xfrm>
            <a:off x="1449440" y="3433685"/>
            <a:ext cx="0" cy="116197"/>
          </a:xfrm>
          <a:prstGeom prst="straightConnector1">
            <a:avLst/>
          </a:prstGeom>
          <a:noFill/>
          <a:ln w="25400" cap="flat" cmpd="sng">
            <a:solidFill>
              <a:srgbClr val="002060"/>
            </a:solidFill>
            <a:prstDash val="solid"/>
            <a:miter lim="800000"/>
            <a:headEnd type="none" w="sm" len="sm"/>
            <a:tailEnd type="triangle" w="med" len="med"/>
          </a:ln>
        </p:spPr>
      </p:cxnSp>
      <p:cxnSp>
        <p:nvCxnSpPr>
          <p:cNvPr id="356" name="Google Shape;356;p43"/>
          <p:cNvCxnSpPr/>
          <p:nvPr/>
        </p:nvCxnSpPr>
        <p:spPr>
          <a:xfrm>
            <a:off x="992294" y="3457946"/>
            <a:ext cx="0" cy="116197"/>
          </a:xfrm>
          <a:prstGeom prst="straightConnector1">
            <a:avLst/>
          </a:prstGeom>
          <a:noFill/>
          <a:ln w="25400" cap="flat" cmpd="sng">
            <a:solidFill>
              <a:srgbClr val="002060"/>
            </a:solidFill>
            <a:prstDash val="solid"/>
            <a:miter lim="800000"/>
            <a:headEnd type="none" w="sm" len="sm"/>
            <a:tailEnd type="triangle" w="med" len="med"/>
          </a:ln>
        </p:spPr>
      </p:cxnSp>
      <p:cxnSp>
        <p:nvCxnSpPr>
          <p:cNvPr id="357" name="Google Shape;357;p43"/>
          <p:cNvCxnSpPr/>
          <p:nvPr/>
        </p:nvCxnSpPr>
        <p:spPr>
          <a:xfrm>
            <a:off x="992294" y="3826905"/>
            <a:ext cx="0" cy="116197"/>
          </a:xfrm>
          <a:prstGeom prst="straightConnector1">
            <a:avLst/>
          </a:prstGeom>
          <a:noFill/>
          <a:ln w="25400" cap="flat" cmpd="sng">
            <a:solidFill>
              <a:srgbClr val="002060"/>
            </a:solidFill>
            <a:prstDash val="solid"/>
            <a:miter lim="800000"/>
            <a:headEnd type="none" w="sm" len="sm"/>
            <a:tailEnd type="triangle" w="med" len="med"/>
          </a:ln>
        </p:spPr>
      </p:cxnSp>
      <p:cxnSp>
        <p:nvCxnSpPr>
          <p:cNvPr id="358" name="Google Shape;358;p43"/>
          <p:cNvCxnSpPr/>
          <p:nvPr/>
        </p:nvCxnSpPr>
        <p:spPr>
          <a:xfrm>
            <a:off x="1612644" y="3803389"/>
            <a:ext cx="2211525" cy="353025"/>
          </a:xfrm>
          <a:prstGeom prst="bentConnector3">
            <a:avLst>
              <a:gd name="adj1" fmla="val 37146"/>
            </a:avLst>
          </a:prstGeom>
          <a:noFill/>
          <a:ln w="25400" cap="flat" cmpd="sng">
            <a:solidFill>
              <a:srgbClr val="FFFF00"/>
            </a:solidFill>
            <a:prstDash val="solid"/>
            <a:miter lim="800000"/>
            <a:headEnd type="none" w="sm" len="sm"/>
            <a:tailEnd type="none" w="sm" len="sm"/>
          </a:ln>
        </p:spPr>
      </p:cxnSp>
      <p:cxnSp>
        <p:nvCxnSpPr>
          <p:cNvPr id="359" name="Google Shape;359;p43"/>
          <p:cNvCxnSpPr/>
          <p:nvPr/>
        </p:nvCxnSpPr>
        <p:spPr>
          <a:xfrm>
            <a:off x="3815773" y="4162326"/>
            <a:ext cx="4775" cy="294199"/>
          </a:xfrm>
          <a:prstGeom prst="straightConnector1">
            <a:avLst/>
          </a:prstGeom>
          <a:noFill/>
          <a:ln w="25400" cap="flat" cmpd="sng">
            <a:solidFill>
              <a:srgbClr val="FFFF00"/>
            </a:solidFill>
            <a:prstDash val="solid"/>
            <a:miter lim="800000"/>
            <a:headEnd type="none" w="sm" len="sm"/>
            <a:tailEnd type="triangle" w="med" len="med"/>
          </a:ln>
        </p:spPr>
      </p:cxnSp>
      <p:sp>
        <p:nvSpPr>
          <p:cNvPr id="343" name="Google Shape;343;p43"/>
          <p:cNvSpPr/>
          <p:nvPr/>
        </p:nvSpPr>
        <p:spPr>
          <a:xfrm>
            <a:off x="6444158" y="3092845"/>
            <a:ext cx="330252" cy="286070"/>
          </a:xfrm>
          <a:prstGeom prst="roundRect">
            <a:avLst>
              <a:gd name="adj" fmla="val 16667"/>
            </a:avLst>
          </a:prstGeom>
          <a:solidFill>
            <a:srgbClr val="00B050"/>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 sz="900" b="0" i="0" u="none" strike="noStrike" cap="none">
                <a:solidFill>
                  <a:schemeClr val="lt1"/>
                </a:solidFill>
                <a:latin typeface="Calibri"/>
                <a:ea typeface="Calibri"/>
                <a:cs typeface="Calibri"/>
                <a:sym typeface="Calibri"/>
              </a:rPr>
              <a:t>YES</a:t>
            </a:r>
            <a:endParaRPr sz="900" b="0" i="0" u="none" strike="noStrike" cap="none">
              <a:solidFill>
                <a:schemeClr val="lt1"/>
              </a:solidFill>
              <a:latin typeface="Calibri"/>
              <a:ea typeface="Calibri"/>
              <a:cs typeface="Calibri"/>
              <a:sym typeface="Calibri"/>
            </a:endParaRPr>
          </a:p>
        </p:txBody>
      </p:sp>
      <p:cxnSp>
        <p:nvCxnSpPr>
          <p:cNvPr id="360" name="Google Shape;360;p43"/>
          <p:cNvCxnSpPr/>
          <p:nvPr/>
        </p:nvCxnSpPr>
        <p:spPr>
          <a:xfrm>
            <a:off x="6194269" y="2886323"/>
            <a:ext cx="0" cy="214307"/>
          </a:xfrm>
          <a:prstGeom prst="straightConnector1">
            <a:avLst/>
          </a:prstGeom>
          <a:noFill/>
          <a:ln w="25400" cap="flat" cmpd="sng">
            <a:solidFill>
              <a:srgbClr val="002060"/>
            </a:solidFill>
            <a:prstDash val="solid"/>
            <a:miter lim="800000"/>
            <a:headEnd type="none" w="sm" len="sm"/>
            <a:tailEnd type="triangle" w="med" len="med"/>
          </a:ln>
        </p:spPr>
      </p:cxnSp>
      <p:cxnSp>
        <p:nvCxnSpPr>
          <p:cNvPr id="361" name="Google Shape;361;p43"/>
          <p:cNvCxnSpPr/>
          <p:nvPr/>
        </p:nvCxnSpPr>
        <p:spPr>
          <a:xfrm>
            <a:off x="4172315" y="1740853"/>
            <a:ext cx="0" cy="214200"/>
          </a:xfrm>
          <a:prstGeom prst="straightConnector1">
            <a:avLst/>
          </a:prstGeom>
          <a:noFill/>
          <a:ln w="25400" cap="flat" cmpd="sng">
            <a:solidFill>
              <a:srgbClr val="002060"/>
            </a:solidFill>
            <a:prstDash val="solid"/>
            <a:miter lim="800000"/>
            <a:headEnd type="none" w="sm" len="sm"/>
            <a:tailEnd type="triangle" w="med" len="med"/>
          </a:ln>
        </p:spPr>
      </p:cxnSp>
      <p:cxnSp>
        <p:nvCxnSpPr>
          <p:cNvPr id="362" name="Google Shape;362;p43"/>
          <p:cNvCxnSpPr/>
          <p:nvPr/>
        </p:nvCxnSpPr>
        <p:spPr>
          <a:xfrm>
            <a:off x="3699965" y="1741453"/>
            <a:ext cx="0" cy="214200"/>
          </a:xfrm>
          <a:prstGeom prst="straightConnector1">
            <a:avLst/>
          </a:prstGeom>
          <a:noFill/>
          <a:ln w="25400" cap="flat" cmpd="sng">
            <a:solidFill>
              <a:srgbClr val="002060"/>
            </a:solidFill>
            <a:prstDash val="solid"/>
            <a:miter lim="800000"/>
            <a:headEnd type="none" w="sm" len="sm"/>
            <a:tailEnd type="triangle" w="med" len="med"/>
          </a:ln>
        </p:spPr>
      </p:cxnSp>
      <p:cxnSp>
        <p:nvCxnSpPr>
          <p:cNvPr id="363" name="Google Shape;363;p43"/>
          <p:cNvCxnSpPr>
            <a:stCxn id="312" idx="0"/>
          </p:cNvCxnSpPr>
          <p:nvPr/>
        </p:nvCxnSpPr>
        <p:spPr>
          <a:xfrm rot="10800000">
            <a:off x="3716416" y="2999821"/>
            <a:ext cx="1800" cy="102000"/>
          </a:xfrm>
          <a:prstGeom prst="straightConnector1">
            <a:avLst/>
          </a:prstGeom>
          <a:noFill/>
          <a:ln w="28575" cap="flat" cmpd="sng">
            <a:solidFill>
              <a:srgbClr val="002060"/>
            </a:solidFill>
            <a:prstDash val="solid"/>
            <a:round/>
            <a:headEnd type="none" w="med" len="med"/>
            <a:tailEnd type="none" w="med" len="med"/>
          </a:ln>
        </p:spPr>
      </p:cxnSp>
      <p:cxnSp>
        <p:nvCxnSpPr>
          <p:cNvPr id="364" name="Google Shape;364;p43"/>
          <p:cNvCxnSpPr/>
          <p:nvPr/>
        </p:nvCxnSpPr>
        <p:spPr>
          <a:xfrm rot="10800000">
            <a:off x="4175266" y="2999821"/>
            <a:ext cx="1800" cy="102000"/>
          </a:xfrm>
          <a:prstGeom prst="straightConnector1">
            <a:avLst/>
          </a:prstGeom>
          <a:noFill/>
          <a:ln w="28575" cap="flat" cmpd="sng">
            <a:solidFill>
              <a:srgbClr val="002060"/>
            </a:solidFill>
            <a:prstDash val="solid"/>
            <a:round/>
            <a:headEnd type="none" w="med" len="med"/>
            <a:tailEnd type="none" w="med" len="med"/>
          </a:ln>
        </p:spPr>
      </p:cxnSp>
      <p:cxnSp>
        <p:nvCxnSpPr>
          <p:cNvPr id="365" name="Google Shape;365;p43"/>
          <p:cNvCxnSpPr/>
          <p:nvPr/>
        </p:nvCxnSpPr>
        <p:spPr>
          <a:xfrm rot="10800000">
            <a:off x="4175266" y="3360008"/>
            <a:ext cx="1800" cy="102000"/>
          </a:xfrm>
          <a:prstGeom prst="straightConnector1">
            <a:avLst/>
          </a:prstGeom>
          <a:noFill/>
          <a:ln w="28575" cap="flat" cmpd="sng">
            <a:solidFill>
              <a:srgbClr val="002060"/>
            </a:solidFill>
            <a:prstDash val="solid"/>
            <a:round/>
            <a:headEnd type="none" w="med" len="med"/>
            <a:tailEnd type="none" w="med" len="med"/>
          </a:ln>
        </p:spPr>
      </p:cxnSp>
      <p:cxnSp>
        <p:nvCxnSpPr>
          <p:cNvPr id="366" name="Google Shape;366;p43"/>
          <p:cNvCxnSpPr/>
          <p:nvPr/>
        </p:nvCxnSpPr>
        <p:spPr>
          <a:xfrm rot="10800000">
            <a:off x="4193729" y="3960521"/>
            <a:ext cx="1800" cy="102000"/>
          </a:xfrm>
          <a:prstGeom prst="straightConnector1">
            <a:avLst/>
          </a:prstGeom>
          <a:noFill/>
          <a:ln w="28575" cap="flat" cmpd="sng">
            <a:solidFill>
              <a:srgbClr val="002B64"/>
            </a:solidFill>
            <a:prstDash val="solid"/>
            <a:round/>
            <a:headEnd type="none" w="med" len="med"/>
            <a:tailEnd type="none" w="med" len="med"/>
          </a:ln>
        </p:spPr>
      </p:cxnSp>
      <p:cxnSp>
        <p:nvCxnSpPr>
          <p:cNvPr id="367" name="Google Shape;367;p43"/>
          <p:cNvCxnSpPr/>
          <p:nvPr/>
        </p:nvCxnSpPr>
        <p:spPr>
          <a:xfrm rot="10800000">
            <a:off x="4193716" y="4371908"/>
            <a:ext cx="1800" cy="102000"/>
          </a:xfrm>
          <a:prstGeom prst="straightConnector1">
            <a:avLst/>
          </a:prstGeom>
          <a:noFill/>
          <a:ln w="28575" cap="flat" cmpd="sng">
            <a:solidFill>
              <a:srgbClr val="002B64"/>
            </a:solidFill>
            <a:prstDash val="solid"/>
            <a:round/>
            <a:headEnd type="none" w="med" len="med"/>
            <a:tailEnd type="none" w="med" len="med"/>
          </a:ln>
        </p:spPr>
      </p:cxnSp>
      <p:cxnSp>
        <p:nvCxnSpPr>
          <p:cNvPr id="368" name="Google Shape;368;p43"/>
          <p:cNvCxnSpPr/>
          <p:nvPr/>
        </p:nvCxnSpPr>
        <p:spPr>
          <a:xfrm rot="10800000">
            <a:off x="4708504" y="3969383"/>
            <a:ext cx="1800" cy="102000"/>
          </a:xfrm>
          <a:prstGeom prst="straightConnector1">
            <a:avLst/>
          </a:prstGeom>
          <a:noFill/>
          <a:ln w="28575" cap="flat" cmpd="sng">
            <a:solidFill>
              <a:srgbClr val="002B64"/>
            </a:solidFill>
            <a:prstDash val="solid"/>
            <a:round/>
            <a:headEnd type="none" w="med" len="med"/>
            <a:tailEnd type="none" w="med" len="med"/>
          </a:ln>
        </p:spPr>
      </p:cxnSp>
      <p:cxnSp>
        <p:nvCxnSpPr>
          <p:cNvPr id="369" name="Google Shape;369;p43"/>
          <p:cNvCxnSpPr/>
          <p:nvPr/>
        </p:nvCxnSpPr>
        <p:spPr>
          <a:xfrm rot="10800000">
            <a:off x="4166566" y="2223833"/>
            <a:ext cx="1800" cy="102000"/>
          </a:xfrm>
          <a:prstGeom prst="straightConnector1">
            <a:avLst/>
          </a:prstGeom>
          <a:noFill/>
          <a:ln w="28575" cap="flat" cmpd="sng">
            <a:solidFill>
              <a:srgbClr val="002060"/>
            </a:solidFill>
            <a:prstDash val="solid"/>
            <a:round/>
            <a:headEnd type="none" w="med" len="med"/>
            <a:tailEnd type="none" w="med" len="med"/>
          </a:ln>
        </p:spPr>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73"/>
        <p:cNvGrpSpPr/>
        <p:nvPr/>
      </p:nvGrpSpPr>
      <p:grpSpPr>
        <a:xfrm>
          <a:off x="0" y="0"/>
          <a:ext cx="0" cy="0"/>
          <a:chOff x="0" y="0"/>
          <a:chExt cx="0" cy="0"/>
        </a:xfrm>
      </p:grpSpPr>
      <p:sp>
        <p:nvSpPr>
          <p:cNvPr id="374" name="Google Shape;374;p4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SzPts val="900"/>
              <a:buNone/>
            </a:pPr>
            <a:fld id="{00000000-1234-1234-1234-123412341234}" type="slidenum">
              <a:rPr lang="en" sz="1100"/>
              <a:t>7</a:t>
            </a:fld>
            <a:endParaRPr sz="1100"/>
          </a:p>
        </p:txBody>
      </p:sp>
      <p:sp>
        <p:nvSpPr>
          <p:cNvPr id="375" name="Google Shape;375;p44"/>
          <p:cNvSpPr/>
          <p:nvPr/>
        </p:nvSpPr>
        <p:spPr>
          <a:xfrm>
            <a:off x="49427" y="49427"/>
            <a:ext cx="90390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76" name="Google Shape;376;p44"/>
          <p:cNvSpPr/>
          <p:nvPr/>
        </p:nvSpPr>
        <p:spPr>
          <a:xfrm>
            <a:off x="49427" y="5004196"/>
            <a:ext cx="5793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77" name="Google Shape;377;p44"/>
          <p:cNvSpPr/>
          <p:nvPr/>
        </p:nvSpPr>
        <p:spPr>
          <a:xfrm>
            <a:off x="1513702" y="5004196"/>
            <a:ext cx="75747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78" name="Google Shape;378;p44"/>
          <p:cNvSpPr/>
          <p:nvPr/>
        </p:nvSpPr>
        <p:spPr>
          <a:xfrm rot="-5400000">
            <a:off x="6612697"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79" name="Google Shape;379;p44"/>
          <p:cNvSpPr/>
          <p:nvPr/>
        </p:nvSpPr>
        <p:spPr>
          <a:xfrm rot="-5400000">
            <a:off x="-2339773"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80" name="Google Shape;380;p44"/>
          <p:cNvSpPr txBox="1">
            <a:spLocks noGrp="1"/>
          </p:cNvSpPr>
          <p:nvPr>
            <p:ph type="title"/>
          </p:nvPr>
        </p:nvSpPr>
        <p:spPr>
          <a:xfrm>
            <a:off x="182175" y="139400"/>
            <a:ext cx="7574700" cy="5820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lt1"/>
              </a:buClr>
              <a:buSzPts val="2400"/>
              <a:buFont typeface="Architects Daughter"/>
              <a:buNone/>
            </a:pPr>
            <a:r>
              <a:rPr lang="en" sz="2400">
                <a:solidFill>
                  <a:srgbClr val="002B64"/>
                </a:solidFill>
                <a:latin typeface="Open Sans"/>
                <a:ea typeface="Open Sans"/>
                <a:cs typeface="Open Sans"/>
                <a:sym typeface="Open Sans"/>
              </a:rPr>
              <a:t>Prepare Your (Campaign) Approach</a:t>
            </a:r>
            <a:r>
              <a:rPr lang="en" sz="2400" i="0" u="none" strike="noStrike" cap="none">
                <a:solidFill>
                  <a:srgbClr val="002B64"/>
                </a:solidFill>
                <a:latin typeface="Open Sans"/>
                <a:ea typeface="Open Sans"/>
                <a:cs typeface="Open Sans"/>
                <a:sym typeface="Open Sans"/>
              </a:rPr>
              <a:t> </a:t>
            </a:r>
            <a:endParaRPr sz="2400" i="0" u="none" strike="noStrike" cap="none">
              <a:solidFill>
                <a:srgbClr val="002B64"/>
              </a:solidFill>
              <a:latin typeface="Open Sans"/>
              <a:ea typeface="Open Sans"/>
              <a:cs typeface="Open Sans"/>
              <a:sym typeface="Open Sans"/>
            </a:endParaRPr>
          </a:p>
        </p:txBody>
      </p:sp>
      <p:graphicFrame>
        <p:nvGraphicFramePr>
          <p:cNvPr id="381" name="Google Shape;381;p44"/>
          <p:cNvGraphicFramePr/>
          <p:nvPr/>
        </p:nvGraphicFramePr>
        <p:xfrm>
          <a:off x="246300" y="721250"/>
          <a:ext cx="3000000" cy="3000000"/>
        </p:xfrm>
        <a:graphic>
          <a:graphicData uri="http://schemas.openxmlformats.org/drawingml/2006/table">
            <a:tbl>
              <a:tblPr>
                <a:noFill/>
                <a:tableStyleId>{4DEFB63D-484E-49B7-AC69-4C271AFB24B3}</a:tableStyleId>
              </a:tblPr>
              <a:tblGrid>
                <a:gridCol w="2081350">
                  <a:extLst>
                    <a:ext uri="{9D8B030D-6E8A-4147-A177-3AD203B41FA5}">
                      <a16:colId xmlns:a16="http://schemas.microsoft.com/office/drawing/2014/main" val="20000"/>
                    </a:ext>
                  </a:extLst>
                </a:gridCol>
                <a:gridCol w="2020675">
                  <a:extLst>
                    <a:ext uri="{9D8B030D-6E8A-4147-A177-3AD203B41FA5}">
                      <a16:colId xmlns:a16="http://schemas.microsoft.com/office/drawing/2014/main" val="20001"/>
                    </a:ext>
                  </a:extLst>
                </a:gridCol>
                <a:gridCol w="2712950">
                  <a:extLst>
                    <a:ext uri="{9D8B030D-6E8A-4147-A177-3AD203B41FA5}">
                      <a16:colId xmlns:a16="http://schemas.microsoft.com/office/drawing/2014/main" val="20002"/>
                    </a:ext>
                  </a:extLst>
                </a:gridCol>
                <a:gridCol w="1850625">
                  <a:extLst>
                    <a:ext uri="{9D8B030D-6E8A-4147-A177-3AD203B41FA5}">
                      <a16:colId xmlns:a16="http://schemas.microsoft.com/office/drawing/2014/main" val="20003"/>
                    </a:ext>
                  </a:extLst>
                </a:gridCol>
              </a:tblGrid>
              <a:tr h="421625">
                <a:tc>
                  <a:txBody>
                    <a:bodyPr/>
                    <a:lstStyle/>
                    <a:p>
                      <a:pPr marL="0" lvl="0" indent="0" algn="l" rtl="0">
                        <a:lnSpc>
                          <a:spcPct val="115000"/>
                        </a:lnSpc>
                        <a:spcBef>
                          <a:spcPts val="0"/>
                        </a:spcBef>
                        <a:spcAft>
                          <a:spcPts val="0"/>
                        </a:spcAft>
                        <a:buNone/>
                      </a:pPr>
                      <a:r>
                        <a:rPr lang="en" sz="1100" b="1">
                          <a:solidFill>
                            <a:srgbClr val="002B64"/>
                          </a:solidFill>
                          <a:latin typeface="Open Sans"/>
                          <a:ea typeface="Open Sans"/>
                          <a:cs typeface="Open Sans"/>
                          <a:sym typeface="Open Sans"/>
                        </a:rPr>
                        <a:t>Approach Method</a:t>
                      </a:r>
                      <a:endParaRPr sz="1100" b="1">
                        <a:solidFill>
                          <a:srgbClr val="002B64"/>
                        </a:solidFill>
                        <a:latin typeface="Open Sans"/>
                        <a:ea typeface="Open Sans"/>
                        <a:cs typeface="Open Sans"/>
                        <a:sym typeface="Open Sans"/>
                      </a:endParaRPr>
                    </a:p>
                  </a:txBody>
                  <a:tcPr marL="91425" marR="91425" marT="91425" marB="91425">
                    <a:lnL w="9525" cap="flat" cmpd="sng">
                      <a:solidFill>
                        <a:srgbClr val="3A3838"/>
                      </a:solidFill>
                      <a:prstDash val="solid"/>
                      <a:round/>
                      <a:headEnd type="none" w="sm" len="sm"/>
                      <a:tailEnd type="none" w="sm" len="sm"/>
                    </a:lnL>
                    <a:lnR w="9525" cap="flat" cmpd="sng">
                      <a:solidFill>
                        <a:srgbClr val="3A3838"/>
                      </a:solidFill>
                      <a:prstDash val="solid"/>
                      <a:round/>
                      <a:headEnd type="none" w="sm" len="sm"/>
                      <a:tailEnd type="none" w="sm" len="sm"/>
                    </a:lnR>
                    <a:lnT w="9525" cap="flat" cmpd="sng">
                      <a:solidFill>
                        <a:srgbClr val="3A3838"/>
                      </a:solidFill>
                      <a:prstDash val="solid"/>
                      <a:round/>
                      <a:headEnd type="none" w="sm" len="sm"/>
                      <a:tailEnd type="none" w="sm" len="sm"/>
                    </a:lnT>
                    <a:lnB w="9525" cap="flat" cmpd="sng">
                      <a:solidFill>
                        <a:srgbClr val="3A3838"/>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100" b="1">
                          <a:solidFill>
                            <a:srgbClr val="002B64"/>
                          </a:solidFill>
                          <a:latin typeface="Open Sans"/>
                          <a:ea typeface="Open Sans"/>
                          <a:cs typeface="Open Sans"/>
                          <a:sym typeface="Open Sans"/>
                        </a:rPr>
                        <a:t>Relationship Status</a:t>
                      </a:r>
                      <a:endParaRPr sz="1100" b="1">
                        <a:solidFill>
                          <a:srgbClr val="002B64"/>
                        </a:solidFill>
                        <a:latin typeface="Open Sans"/>
                        <a:ea typeface="Open Sans"/>
                        <a:cs typeface="Open Sans"/>
                        <a:sym typeface="Open Sans"/>
                      </a:endParaRPr>
                    </a:p>
                  </a:txBody>
                  <a:tcPr marL="91425" marR="91425" marT="91425" marB="91425">
                    <a:lnL w="9525" cap="flat" cmpd="sng">
                      <a:solidFill>
                        <a:srgbClr val="3A3838"/>
                      </a:solidFill>
                      <a:prstDash val="solid"/>
                      <a:round/>
                      <a:headEnd type="none" w="sm" len="sm"/>
                      <a:tailEnd type="none" w="sm" len="sm"/>
                    </a:lnL>
                    <a:lnR w="9525" cap="flat" cmpd="sng">
                      <a:solidFill>
                        <a:srgbClr val="3A3838"/>
                      </a:solidFill>
                      <a:prstDash val="solid"/>
                      <a:round/>
                      <a:headEnd type="none" w="sm" len="sm"/>
                      <a:tailEnd type="none" w="sm" len="sm"/>
                    </a:lnR>
                    <a:lnT w="9525" cap="flat" cmpd="sng">
                      <a:solidFill>
                        <a:srgbClr val="3A3838"/>
                      </a:solidFill>
                      <a:prstDash val="solid"/>
                      <a:round/>
                      <a:headEnd type="none" w="sm" len="sm"/>
                      <a:tailEnd type="none" w="sm" len="sm"/>
                    </a:lnT>
                    <a:lnB w="9525" cap="flat" cmpd="sng">
                      <a:solidFill>
                        <a:srgbClr val="3A3838"/>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100" b="1">
                          <a:solidFill>
                            <a:srgbClr val="002B64"/>
                          </a:solidFill>
                          <a:latin typeface="Open Sans"/>
                          <a:ea typeface="Open Sans"/>
                          <a:cs typeface="Open Sans"/>
                          <a:sym typeface="Open Sans"/>
                        </a:rPr>
                        <a:t>Steps to Discovery/ Alignment Meeting</a:t>
                      </a:r>
                      <a:endParaRPr sz="1100" b="1">
                        <a:solidFill>
                          <a:srgbClr val="002B64"/>
                        </a:solidFill>
                        <a:latin typeface="Open Sans"/>
                        <a:ea typeface="Open Sans"/>
                        <a:cs typeface="Open Sans"/>
                        <a:sym typeface="Open Sans"/>
                      </a:endParaRPr>
                    </a:p>
                  </a:txBody>
                  <a:tcPr marL="91425" marR="91425" marT="91425" marB="91425">
                    <a:lnL w="9525" cap="flat" cmpd="sng">
                      <a:solidFill>
                        <a:srgbClr val="3A3838"/>
                      </a:solidFill>
                      <a:prstDash val="solid"/>
                      <a:round/>
                      <a:headEnd type="none" w="sm" len="sm"/>
                      <a:tailEnd type="none" w="sm" len="sm"/>
                    </a:lnL>
                    <a:lnR w="9525" cap="flat" cmpd="sng">
                      <a:solidFill>
                        <a:srgbClr val="3A3838"/>
                      </a:solidFill>
                      <a:prstDash val="solid"/>
                      <a:round/>
                      <a:headEnd type="none" w="sm" len="sm"/>
                      <a:tailEnd type="none" w="sm" len="sm"/>
                    </a:lnR>
                    <a:lnT w="9525" cap="flat" cmpd="sng">
                      <a:solidFill>
                        <a:srgbClr val="3A3838"/>
                      </a:solidFill>
                      <a:prstDash val="solid"/>
                      <a:round/>
                      <a:headEnd type="none" w="sm" len="sm"/>
                      <a:tailEnd type="none" w="sm" len="sm"/>
                    </a:lnT>
                    <a:lnB w="9525" cap="flat" cmpd="sng">
                      <a:solidFill>
                        <a:srgbClr val="3A3838"/>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100" b="1">
                          <a:solidFill>
                            <a:srgbClr val="002B64"/>
                          </a:solidFill>
                          <a:latin typeface="Open Sans"/>
                          <a:ea typeface="Open Sans"/>
                          <a:cs typeface="Open Sans"/>
                          <a:sym typeface="Open Sans"/>
                        </a:rPr>
                        <a:t>Discovery/ Alignment Meeting Style</a:t>
                      </a:r>
                      <a:endParaRPr sz="1100" b="1">
                        <a:solidFill>
                          <a:srgbClr val="002B64"/>
                        </a:solidFill>
                        <a:latin typeface="Open Sans"/>
                        <a:ea typeface="Open Sans"/>
                        <a:cs typeface="Open Sans"/>
                        <a:sym typeface="Open Sans"/>
                      </a:endParaRPr>
                    </a:p>
                  </a:txBody>
                  <a:tcPr marL="91425" marR="91425" marT="91425" marB="91425">
                    <a:lnL w="9525" cap="flat" cmpd="sng">
                      <a:solidFill>
                        <a:srgbClr val="3A3838"/>
                      </a:solidFill>
                      <a:prstDash val="solid"/>
                      <a:round/>
                      <a:headEnd type="none" w="sm" len="sm"/>
                      <a:tailEnd type="none" w="sm" len="sm"/>
                    </a:lnL>
                    <a:lnR w="9525" cap="flat" cmpd="sng">
                      <a:solidFill>
                        <a:srgbClr val="3A3838"/>
                      </a:solidFill>
                      <a:prstDash val="solid"/>
                      <a:round/>
                      <a:headEnd type="none" w="sm" len="sm"/>
                      <a:tailEnd type="none" w="sm" len="sm"/>
                    </a:lnR>
                    <a:lnT w="9525" cap="flat" cmpd="sng">
                      <a:solidFill>
                        <a:srgbClr val="3A3838"/>
                      </a:solidFill>
                      <a:prstDash val="solid"/>
                      <a:round/>
                      <a:headEnd type="none" w="sm" len="sm"/>
                      <a:tailEnd type="none" w="sm" len="sm"/>
                    </a:lnT>
                    <a:lnB w="9525" cap="flat" cmpd="sng">
                      <a:solidFill>
                        <a:srgbClr val="3A3838"/>
                      </a:solidFill>
                      <a:prstDash val="solid"/>
                      <a:round/>
                      <a:headEnd type="none" w="sm" len="sm"/>
                      <a:tailEnd type="none" w="sm" len="sm"/>
                    </a:lnB>
                  </a:tcPr>
                </a:tc>
                <a:extLst>
                  <a:ext uri="{0D108BD9-81ED-4DB2-BD59-A6C34878D82A}">
                    <a16:rowId xmlns:a16="http://schemas.microsoft.com/office/drawing/2014/main" val="10000"/>
                  </a:ext>
                </a:extLst>
              </a:tr>
              <a:tr h="961150">
                <a:tc>
                  <a:txBody>
                    <a:bodyPr/>
                    <a:lstStyle/>
                    <a:p>
                      <a:pPr marL="0" lvl="0" indent="0" algn="just" rtl="0">
                        <a:lnSpc>
                          <a:spcPct val="115000"/>
                        </a:lnSpc>
                        <a:spcBef>
                          <a:spcPts val="0"/>
                        </a:spcBef>
                        <a:spcAft>
                          <a:spcPts val="0"/>
                        </a:spcAft>
                        <a:buNone/>
                      </a:pPr>
                      <a:r>
                        <a:rPr lang="en" sz="900">
                          <a:solidFill>
                            <a:srgbClr val="434343"/>
                          </a:solidFill>
                          <a:latin typeface="Open Sans"/>
                          <a:ea typeface="Open Sans"/>
                          <a:cs typeface="Open Sans"/>
                          <a:sym typeface="Open Sans"/>
                        </a:rPr>
                        <a:t>Direct Approach – Phone Call</a:t>
                      </a:r>
                      <a:endParaRPr sz="900">
                        <a:solidFill>
                          <a:srgbClr val="434343"/>
                        </a:solidFill>
                        <a:latin typeface="Open Sans"/>
                        <a:ea typeface="Open Sans"/>
                        <a:cs typeface="Open Sans"/>
                        <a:sym typeface="Open Sans"/>
                      </a:endParaRPr>
                    </a:p>
                  </a:txBody>
                  <a:tcPr marL="91425" marR="91425" marT="91425" marB="91425">
                    <a:lnL w="9525" cap="flat" cmpd="sng">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3A3838"/>
                      </a:solidFill>
                      <a:prstDash val="solid"/>
                      <a:round/>
                      <a:headEnd type="none" w="sm" len="sm"/>
                      <a:tailEnd type="none" w="sm" len="sm"/>
                    </a:lnT>
                    <a:lnB w="9525" cap="flat" cmpd="sng">
                      <a:solidFill>
                        <a:srgbClr val="B7B7B7"/>
                      </a:solidFill>
                      <a:prstDash val="solid"/>
                      <a:round/>
                      <a:headEnd type="none" w="sm" len="sm"/>
                      <a:tailEnd type="none" w="sm" len="sm"/>
                    </a:lnB>
                    <a:solidFill>
                      <a:srgbClr val="B7B7B7"/>
                    </a:solidFill>
                  </a:tcPr>
                </a:tc>
                <a:tc>
                  <a:txBody>
                    <a:bodyPr/>
                    <a:lstStyle/>
                    <a:p>
                      <a:pPr marL="0" lvl="0" indent="0" algn="just" rtl="0">
                        <a:lnSpc>
                          <a:spcPct val="115000"/>
                        </a:lnSpc>
                        <a:spcBef>
                          <a:spcPts val="0"/>
                        </a:spcBef>
                        <a:spcAft>
                          <a:spcPts val="0"/>
                        </a:spcAft>
                        <a:buNone/>
                      </a:pPr>
                      <a:r>
                        <a:rPr lang="en" sz="900" b="1">
                          <a:solidFill>
                            <a:srgbClr val="002060"/>
                          </a:solidFill>
                          <a:latin typeface="Open Sans"/>
                          <a:ea typeface="Open Sans"/>
                          <a:cs typeface="Open Sans"/>
                          <a:sym typeface="Open Sans"/>
                        </a:rPr>
                        <a:t>Warm &amp; Receptive, Open to New Ideas (Easily pass the “How was your weekend?” test)</a:t>
                      </a:r>
                      <a:endParaRPr sz="900" b="1">
                        <a:solidFill>
                          <a:srgbClr val="002060"/>
                        </a:solidFill>
                        <a:latin typeface="Open Sans"/>
                        <a:ea typeface="Open Sans"/>
                        <a:cs typeface="Open Sans"/>
                        <a:sym typeface="Open Sans"/>
                      </a:endParaRPr>
                    </a:p>
                  </a:txBody>
                  <a:tcPr marL="91425" marR="91425" marT="91425" marB="91425">
                    <a:lnL w="9525" cap="flat" cmpd="sng">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3A3838"/>
                      </a:solidFill>
                      <a:prstDash val="solid"/>
                      <a:round/>
                      <a:headEnd type="none" w="sm" len="sm"/>
                      <a:tailEnd type="none" w="sm" len="sm"/>
                    </a:lnT>
                    <a:lnB w="9525" cap="flat" cmpd="sng">
                      <a:solidFill>
                        <a:srgbClr val="B7B7B7"/>
                      </a:solidFill>
                      <a:prstDash val="solid"/>
                      <a:round/>
                      <a:headEnd type="none" w="sm" len="sm"/>
                      <a:tailEnd type="none" w="sm" len="sm"/>
                    </a:lnB>
                    <a:solidFill>
                      <a:srgbClr val="B7B7B7"/>
                    </a:solidFill>
                  </a:tcPr>
                </a:tc>
                <a:tc>
                  <a:txBody>
                    <a:bodyPr/>
                    <a:lstStyle/>
                    <a:p>
                      <a:pPr marL="0" lvl="0" indent="0" algn="just" rtl="0">
                        <a:lnSpc>
                          <a:spcPct val="115000"/>
                        </a:lnSpc>
                        <a:spcBef>
                          <a:spcPts val="0"/>
                        </a:spcBef>
                        <a:spcAft>
                          <a:spcPts val="0"/>
                        </a:spcAft>
                        <a:buNone/>
                      </a:pPr>
                      <a:r>
                        <a:rPr lang="en" sz="900">
                          <a:solidFill>
                            <a:srgbClr val="434343"/>
                          </a:solidFill>
                          <a:latin typeface="Open Sans"/>
                          <a:ea typeface="Open Sans"/>
                          <a:cs typeface="Open Sans"/>
                          <a:sym typeface="Open Sans"/>
                        </a:rPr>
                        <a:t>1</a:t>
                      </a:r>
                      <a:endParaRPr sz="900">
                        <a:solidFill>
                          <a:srgbClr val="434343"/>
                        </a:solidFill>
                        <a:latin typeface="Open Sans"/>
                        <a:ea typeface="Open Sans"/>
                        <a:cs typeface="Open Sans"/>
                        <a:sym typeface="Open Sans"/>
                      </a:endParaRPr>
                    </a:p>
                  </a:txBody>
                  <a:tcPr marL="91425" marR="91425" marT="91425" marB="91425">
                    <a:lnL w="9525" cap="flat" cmpd="sng">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3A3838"/>
                      </a:solidFill>
                      <a:prstDash val="solid"/>
                      <a:round/>
                      <a:headEnd type="none" w="sm" len="sm"/>
                      <a:tailEnd type="none" w="sm" len="sm"/>
                    </a:lnT>
                    <a:lnB w="9525" cap="flat" cmpd="sng">
                      <a:solidFill>
                        <a:srgbClr val="B7B7B7"/>
                      </a:solidFill>
                      <a:prstDash val="solid"/>
                      <a:round/>
                      <a:headEnd type="none" w="sm" len="sm"/>
                      <a:tailEnd type="none" w="sm" len="sm"/>
                    </a:lnB>
                    <a:solidFill>
                      <a:srgbClr val="B7B7B7"/>
                    </a:solidFill>
                  </a:tcPr>
                </a:tc>
                <a:tc>
                  <a:txBody>
                    <a:bodyPr/>
                    <a:lstStyle/>
                    <a:p>
                      <a:pPr marL="0" lvl="0" indent="0" algn="l" rtl="0">
                        <a:lnSpc>
                          <a:spcPct val="115000"/>
                        </a:lnSpc>
                        <a:spcBef>
                          <a:spcPts val="0"/>
                        </a:spcBef>
                        <a:spcAft>
                          <a:spcPts val="0"/>
                        </a:spcAft>
                        <a:buNone/>
                      </a:pPr>
                      <a:r>
                        <a:rPr lang="en" sz="900">
                          <a:solidFill>
                            <a:srgbClr val="434343"/>
                          </a:solidFill>
                          <a:latin typeface="Open Sans"/>
                          <a:ea typeface="Open Sans"/>
                          <a:cs typeface="Open Sans"/>
                          <a:sym typeface="Open Sans"/>
                        </a:rPr>
                        <a:t>Growth Curve</a:t>
                      </a:r>
                      <a:endParaRPr sz="900">
                        <a:solidFill>
                          <a:srgbClr val="434343"/>
                        </a:solidFill>
                        <a:latin typeface="Open Sans"/>
                        <a:ea typeface="Open Sans"/>
                        <a:cs typeface="Open Sans"/>
                        <a:sym typeface="Open Sans"/>
                      </a:endParaRPr>
                    </a:p>
                    <a:p>
                      <a:pPr marL="0" lvl="0" indent="0" algn="l" rtl="0">
                        <a:lnSpc>
                          <a:spcPct val="115000"/>
                        </a:lnSpc>
                        <a:spcBef>
                          <a:spcPts val="0"/>
                        </a:spcBef>
                        <a:spcAft>
                          <a:spcPts val="0"/>
                        </a:spcAft>
                        <a:buNone/>
                      </a:pPr>
                      <a:r>
                        <a:rPr lang="en" sz="900">
                          <a:solidFill>
                            <a:srgbClr val="434343"/>
                          </a:solidFill>
                          <a:latin typeface="Open Sans"/>
                          <a:ea typeface="Open Sans"/>
                          <a:cs typeface="Open Sans"/>
                          <a:sym typeface="Open Sans"/>
                        </a:rPr>
                        <a:t>EOY/ Volatility Review</a:t>
                      </a:r>
                      <a:endParaRPr sz="900">
                        <a:solidFill>
                          <a:srgbClr val="434343"/>
                        </a:solidFill>
                        <a:latin typeface="Open Sans"/>
                        <a:ea typeface="Open Sans"/>
                        <a:cs typeface="Open Sans"/>
                        <a:sym typeface="Open Sans"/>
                      </a:endParaRPr>
                    </a:p>
                    <a:p>
                      <a:pPr marL="0" lvl="0" indent="0" algn="l" rtl="0">
                        <a:lnSpc>
                          <a:spcPct val="115000"/>
                        </a:lnSpc>
                        <a:spcBef>
                          <a:spcPts val="0"/>
                        </a:spcBef>
                        <a:spcAft>
                          <a:spcPts val="0"/>
                        </a:spcAft>
                        <a:buNone/>
                      </a:pPr>
                      <a:r>
                        <a:rPr lang="en" sz="900">
                          <a:solidFill>
                            <a:srgbClr val="434343"/>
                          </a:solidFill>
                          <a:latin typeface="Open Sans"/>
                          <a:ea typeface="Open Sans"/>
                          <a:cs typeface="Open Sans"/>
                          <a:sym typeface="Open Sans"/>
                        </a:rPr>
                        <a:t>Revenue Model</a:t>
                      </a:r>
                      <a:endParaRPr sz="900">
                        <a:solidFill>
                          <a:srgbClr val="434343"/>
                        </a:solidFill>
                        <a:latin typeface="Open Sans"/>
                        <a:ea typeface="Open Sans"/>
                        <a:cs typeface="Open Sans"/>
                        <a:sym typeface="Open Sans"/>
                      </a:endParaRPr>
                    </a:p>
                    <a:p>
                      <a:pPr marL="0" lvl="0" indent="0" algn="l" rtl="0">
                        <a:lnSpc>
                          <a:spcPct val="115000"/>
                        </a:lnSpc>
                        <a:spcBef>
                          <a:spcPts val="0"/>
                        </a:spcBef>
                        <a:spcAft>
                          <a:spcPts val="0"/>
                        </a:spcAft>
                        <a:buNone/>
                      </a:pPr>
                      <a:r>
                        <a:rPr lang="en" sz="900">
                          <a:solidFill>
                            <a:srgbClr val="434343"/>
                          </a:solidFill>
                          <a:latin typeface="Open Sans"/>
                          <a:ea typeface="Open Sans"/>
                          <a:cs typeface="Open Sans"/>
                          <a:sym typeface="Open Sans"/>
                        </a:rPr>
                        <a:t>How you rate tables</a:t>
                      </a:r>
                      <a:endParaRPr sz="900">
                        <a:solidFill>
                          <a:srgbClr val="434343"/>
                        </a:solidFill>
                        <a:latin typeface="Open Sans"/>
                        <a:ea typeface="Open Sans"/>
                        <a:cs typeface="Open Sans"/>
                        <a:sym typeface="Open Sans"/>
                      </a:endParaRPr>
                    </a:p>
                    <a:p>
                      <a:pPr marL="0" lvl="0" indent="0" algn="l" rtl="0">
                        <a:lnSpc>
                          <a:spcPct val="115000"/>
                        </a:lnSpc>
                        <a:spcBef>
                          <a:spcPts val="0"/>
                        </a:spcBef>
                        <a:spcAft>
                          <a:spcPts val="0"/>
                        </a:spcAft>
                        <a:buNone/>
                      </a:pPr>
                      <a:r>
                        <a:rPr lang="en" sz="900">
                          <a:solidFill>
                            <a:srgbClr val="434343"/>
                          </a:solidFill>
                          <a:latin typeface="Open Sans"/>
                          <a:ea typeface="Open Sans"/>
                          <a:cs typeface="Open Sans"/>
                          <a:sym typeface="Open Sans"/>
                        </a:rPr>
                        <a:t>Strategic Planning Template</a:t>
                      </a:r>
                      <a:endParaRPr sz="900">
                        <a:solidFill>
                          <a:srgbClr val="434343"/>
                        </a:solidFill>
                        <a:latin typeface="Open Sans"/>
                        <a:ea typeface="Open Sans"/>
                        <a:cs typeface="Open Sans"/>
                        <a:sym typeface="Open Sans"/>
                      </a:endParaRPr>
                    </a:p>
                  </a:txBody>
                  <a:tcPr marL="91425" marR="91425" marT="91425" marB="91425">
                    <a:lnL w="9525" cap="flat" cmpd="sng">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3A3838"/>
                      </a:solidFill>
                      <a:prstDash val="solid"/>
                      <a:round/>
                      <a:headEnd type="none" w="sm" len="sm"/>
                      <a:tailEnd type="none" w="sm" len="sm"/>
                    </a:lnT>
                    <a:lnB w="9525" cap="flat" cmpd="sng">
                      <a:solidFill>
                        <a:srgbClr val="B7B7B7"/>
                      </a:solidFill>
                      <a:prstDash val="solid"/>
                      <a:round/>
                      <a:headEnd type="none" w="sm" len="sm"/>
                      <a:tailEnd type="none" w="sm" len="sm"/>
                    </a:lnB>
                    <a:solidFill>
                      <a:srgbClr val="B7B7B7"/>
                    </a:solidFill>
                  </a:tcPr>
                </a:tc>
                <a:extLst>
                  <a:ext uri="{0D108BD9-81ED-4DB2-BD59-A6C34878D82A}">
                    <a16:rowId xmlns:a16="http://schemas.microsoft.com/office/drawing/2014/main" val="10001"/>
                  </a:ext>
                </a:extLst>
              </a:tr>
              <a:tr h="783625">
                <a:tc>
                  <a:txBody>
                    <a:bodyPr/>
                    <a:lstStyle/>
                    <a:p>
                      <a:pPr marL="0" lvl="0" indent="0" algn="just" rtl="0">
                        <a:lnSpc>
                          <a:spcPct val="115000"/>
                        </a:lnSpc>
                        <a:spcBef>
                          <a:spcPts val="0"/>
                        </a:spcBef>
                        <a:spcAft>
                          <a:spcPts val="0"/>
                        </a:spcAft>
                        <a:buNone/>
                      </a:pPr>
                      <a:r>
                        <a:rPr lang="en" sz="900">
                          <a:solidFill>
                            <a:srgbClr val="434343"/>
                          </a:solidFill>
                          <a:latin typeface="Open Sans"/>
                          <a:ea typeface="Open Sans"/>
                          <a:cs typeface="Open Sans"/>
                          <a:sym typeface="Open Sans"/>
                        </a:rPr>
                        <a:t>Pre-Approach EMail (</a:t>
                      </a:r>
                      <a:r>
                        <a:rPr lang="en" sz="900" b="1">
                          <a:solidFill>
                            <a:srgbClr val="434343"/>
                          </a:solidFill>
                          <a:latin typeface="Open Sans"/>
                          <a:ea typeface="Open Sans"/>
                          <a:cs typeface="Open Sans"/>
                          <a:sym typeface="Open Sans"/>
                        </a:rPr>
                        <a:t>Quiz</a:t>
                      </a:r>
                      <a:r>
                        <a:rPr lang="en" sz="900">
                          <a:solidFill>
                            <a:srgbClr val="434343"/>
                          </a:solidFill>
                          <a:latin typeface="Open Sans"/>
                          <a:ea typeface="Open Sans"/>
                          <a:cs typeface="Open Sans"/>
                          <a:sym typeface="Open Sans"/>
                        </a:rPr>
                        <a:t>/ </a:t>
                      </a:r>
                      <a:r>
                        <a:rPr lang="en" sz="900" b="1">
                          <a:solidFill>
                            <a:srgbClr val="434343"/>
                          </a:solidFill>
                          <a:latin typeface="Open Sans"/>
                          <a:ea typeface="Open Sans"/>
                          <a:cs typeface="Open Sans"/>
                          <a:sym typeface="Open Sans"/>
                        </a:rPr>
                        <a:t>Video Link</a:t>
                      </a:r>
                      <a:r>
                        <a:rPr lang="en" sz="900">
                          <a:solidFill>
                            <a:srgbClr val="434343"/>
                          </a:solidFill>
                          <a:latin typeface="Open Sans"/>
                          <a:ea typeface="Open Sans"/>
                          <a:cs typeface="Open Sans"/>
                          <a:sym typeface="Open Sans"/>
                        </a:rPr>
                        <a:t>) then Phone Call</a:t>
                      </a:r>
                      <a:endParaRPr sz="900">
                        <a:solidFill>
                          <a:srgbClr val="434343"/>
                        </a:solidFill>
                        <a:latin typeface="Open Sans"/>
                        <a:ea typeface="Open Sans"/>
                        <a:cs typeface="Open Sans"/>
                        <a:sym typeface="Open Sans"/>
                      </a:endParaRPr>
                    </a:p>
                  </a:txBody>
                  <a:tcPr marL="91425" marR="91425" marT="91425" marB="91425">
                    <a:lnL w="9525" cap="flat" cmpd="sng">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B7B7B7"/>
                      </a:solidFill>
                      <a:prstDash val="solid"/>
                      <a:round/>
                      <a:headEnd type="none" w="sm" len="sm"/>
                      <a:tailEnd type="none" w="sm" len="sm"/>
                    </a:lnB>
                    <a:solidFill>
                      <a:srgbClr val="FFFFFF"/>
                    </a:solidFill>
                  </a:tcPr>
                </a:tc>
                <a:tc>
                  <a:txBody>
                    <a:bodyPr/>
                    <a:lstStyle/>
                    <a:p>
                      <a:pPr marL="0" lvl="0" indent="0" algn="just" rtl="0">
                        <a:lnSpc>
                          <a:spcPct val="115000"/>
                        </a:lnSpc>
                        <a:spcBef>
                          <a:spcPts val="0"/>
                        </a:spcBef>
                        <a:spcAft>
                          <a:spcPts val="0"/>
                        </a:spcAft>
                        <a:buNone/>
                      </a:pPr>
                      <a:r>
                        <a:rPr lang="en" sz="900" b="1">
                          <a:solidFill>
                            <a:srgbClr val="002060"/>
                          </a:solidFill>
                          <a:latin typeface="Open Sans"/>
                          <a:ea typeface="Open Sans"/>
                          <a:cs typeface="Open Sans"/>
                          <a:sym typeface="Open Sans"/>
                        </a:rPr>
                        <a:t>Warm but Wary, still guarded around arena</a:t>
                      </a:r>
                      <a:endParaRPr sz="900" b="1">
                        <a:solidFill>
                          <a:srgbClr val="002060"/>
                        </a:solidFill>
                        <a:latin typeface="Open Sans"/>
                        <a:ea typeface="Open Sans"/>
                        <a:cs typeface="Open Sans"/>
                        <a:sym typeface="Open Sans"/>
                      </a:endParaRPr>
                    </a:p>
                  </a:txBody>
                  <a:tcPr marL="91425" marR="91425" marT="91425" marB="91425">
                    <a:lnL w="9525" cap="flat" cmpd="sng">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B7B7B7"/>
                      </a:solidFill>
                      <a:prstDash val="solid"/>
                      <a:round/>
                      <a:headEnd type="none" w="sm" len="sm"/>
                      <a:tailEnd type="none" w="sm" len="sm"/>
                    </a:lnB>
                    <a:solidFill>
                      <a:srgbClr val="FFFFFF"/>
                    </a:solidFill>
                  </a:tcPr>
                </a:tc>
                <a:tc>
                  <a:txBody>
                    <a:bodyPr/>
                    <a:lstStyle/>
                    <a:p>
                      <a:pPr marL="0" lvl="0" indent="0" algn="just" rtl="0">
                        <a:lnSpc>
                          <a:spcPct val="115000"/>
                        </a:lnSpc>
                        <a:spcBef>
                          <a:spcPts val="0"/>
                        </a:spcBef>
                        <a:spcAft>
                          <a:spcPts val="0"/>
                        </a:spcAft>
                        <a:buNone/>
                      </a:pPr>
                      <a:r>
                        <a:rPr lang="en" sz="900">
                          <a:solidFill>
                            <a:srgbClr val="434343"/>
                          </a:solidFill>
                          <a:latin typeface="Open Sans"/>
                          <a:ea typeface="Open Sans"/>
                          <a:cs typeface="Open Sans"/>
                          <a:sym typeface="Open Sans"/>
                        </a:rPr>
                        <a:t>3 (1. Phone to ask for permission to send quiz or video link. 2. ‘Prime’ the client via online quiz or video. 3. Phone to ask for the meeting)</a:t>
                      </a:r>
                      <a:endParaRPr sz="900">
                        <a:solidFill>
                          <a:srgbClr val="434343"/>
                        </a:solidFill>
                        <a:latin typeface="Open Sans"/>
                        <a:ea typeface="Open Sans"/>
                        <a:cs typeface="Open Sans"/>
                        <a:sym typeface="Open Sans"/>
                      </a:endParaRPr>
                    </a:p>
                  </a:txBody>
                  <a:tcPr marL="91425" marR="91425" marT="91425" marB="91425">
                    <a:lnL w="9525" cap="flat" cmpd="sng">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B7B7B7"/>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 sz="900">
                          <a:solidFill>
                            <a:srgbClr val="434343"/>
                          </a:solidFill>
                          <a:latin typeface="Open Sans"/>
                          <a:ea typeface="Open Sans"/>
                          <a:cs typeface="Open Sans"/>
                          <a:sym typeface="Open Sans"/>
                        </a:rPr>
                        <a:t>Growth Curve</a:t>
                      </a:r>
                      <a:endParaRPr sz="900">
                        <a:solidFill>
                          <a:srgbClr val="434343"/>
                        </a:solidFill>
                        <a:latin typeface="Open Sans"/>
                        <a:ea typeface="Open Sans"/>
                        <a:cs typeface="Open Sans"/>
                        <a:sym typeface="Open Sans"/>
                      </a:endParaRPr>
                    </a:p>
                    <a:p>
                      <a:pPr marL="0" lvl="0" indent="0" algn="l" rtl="0">
                        <a:lnSpc>
                          <a:spcPct val="115000"/>
                        </a:lnSpc>
                        <a:spcBef>
                          <a:spcPts val="0"/>
                        </a:spcBef>
                        <a:spcAft>
                          <a:spcPts val="0"/>
                        </a:spcAft>
                        <a:buClr>
                          <a:schemeClr val="dk1"/>
                        </a:buClr>
                        <a:buSzPts val="1100"/>
                        <a:buFont typeface="Arial"/>
                        <a:buNone/>
                      </a:pPr>
                      <a:r>
                        <a:rPr lang="en" sz="900">
                          <a:solidFill>
                            <a:srgbClr val="434343"/>
                          </a:solidFill>
                          <a:latin typeface="Open Sans"/>
                          <a:ea typeface="Open Sans"/>
                          <a:cs typeface="Open Sans"/>
                          <a:sym typeface="Open Sans"/>
                        </a:rPr>
                        <a:t>EOY/ Volatility Review</a:t>
                      </a:r>
                      <a:endParaRPr sz="900">
                        <a:solidFill>
                          <a:srgbClr val="434343"/>
                        </a:solidFill>
                        <a:latin typeface="Open Sans"/>
                        <a:ea typeface="Open Sans"/>
                        <a:cs typeface="Open Sans"/>
                        <a:sym typeface="Open Sans"/>
                      </a:endParaRPr>
                    </a:p>
                    <a:p>
                      <a:pPr marL="0" lvl="0" indent="0" algn="l" rtl="0">
                        <a:lnSpc>
                          <a:spcPct val="115000"/>
                        </a:lnSpc>
                        <a:spcBef>
                          <a:spcPts val="0"/>
                        </a:spcBef>
                        <a:spcAft>
                          <a:spcPts val="0"/>
                        </a:spcAft>
                        <a:buNone/>
                      </a:pPr>
                      <a:r>
                        <a:rPr lang="en" sz="900">
                          <a:solidFill>
                            <a:srgbClr val="434343"/>
                          </a:solidFill>
                          <a:latin typeface="Open Sans"/>
                          <a:ea typeface="Open Sans"/>
                          <a:cs typeface="Open Sans"/>
                          <a:sym typeface="Open Sans"/>
                        </a:rPr>
                        <a:t>Revenue Model</a:t>
                      </a:r>
                      <a:endParaRPr sz="900">
                        <a:solidFill>
                          <a:srgbClr val="434343"/>
                        </a:solidFill>
                        <a:latin typeface="Open Sans"/>
                        <a:ea typeface="Open Sans"/>
                        <a:cs typeface="Open Sans"/>
                        <a:sym typeface="Open Sans"/>
                      </a:endParaRPr>
                    </a:p>
                    <a:p>
                      <a:pPr marL="0" lvl="0" indent="0" algn="l" rtl="0">
                        <a:lnSpc>
                          <a:spcPct val="115000"/>
                        </a:lnSpc>
                        <a:spcBef>
                          <a:spcPts val="0"/>
                        </a:spcBef>
                        <a:spcAft>
                          <a:spcPts val="0"/>
                        </a:spcAft>
                        <a:buNone/>
                      </a:pPr>
                      <a:r>
                        <a:rPr lang="en" sz="900">
                          <a:solidFill>
                            <a:srgbClr val="434343"/>
                          </a:solidFill>
                          <a:latin typeface="Open Sans"/>
                          <a:ea typeface="Open Sans"/>
                          <a:cs typeface="Open Sans"/>
                          <a:sym typeface="Open Sans"/>
                        </a:rPr>
                        <a:t>How you rate tables</a:t>
                      </a:r>
                      <a:endParaRPr sz="900">
                        <a:solidFill>
                          <a:srgbClr val="434343"/>
                        </a:solidFill>
                        <a:latin typeface="Open Sans"/>
                        <a:ea typeface="Open Sans"/>
                        <a:cs typeface="Open Sans"/>
                        <a:sym typeface="Open Sans"/>
                      </a:endParaRPr>
                    </a:p>
                  </a:txBody>
                  <a:tcPr marL="91425" marR="91425" marT="91425" marB="91425">
                    <a:lnL w="9525" cap="flat" cmpd="sng">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3A3838"/>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753275">
                <a:tc>
                  <a:txBody>
                    <a:bodyPr/>
                    <a:lstStyle/>
                    <a:p>
                      <a:pPr marL="0" lvl="0" indent="0" algn="just" rtl="0">
                        <a:lnSpc>
                          <a:spcPct val="115000"/>
                        </a:lnSpc>
                        <a:spcBef>
                          <a:spcPts val="0"/>
                        </a:spcBef>
                        <a:spcAft>
                          <a:spcPts val="0"/>
                        </a:spcAft>
                        <a:buNone/>
                      </a:pPr>
                      <a:r>
                        <a:rPr lang="en" sz="900">
                          <a:solidFill>
                            <a:srgbClr val="434343"/>
                          </a:solidFill>
                          <a:latin typeface="Open Sans"/>
                          <a:ea typeface="Open Sans"/>
                          <a:cs typeface="Open Sans"/>
                          <a:sym typeface="Open Sans"/>
                        </a:rPr>
                        <a:t>Pre-Approach EMail sequence (depth charges?) then Phone Call, then ‘intro’ meeting before actual discovery meeting.</a:t>
                      </a:r>
                      <a:endParaRPr sz="900">
                        <a:solidFill>
                          <a:srgbClr val="434343"/>
                        </a:solidFill>
                        <a:latin typeface="Open Sans"/>
                        <a:ea typeface="Open Sans"/>
                        <a:cs typeface="Open Sans"/>
                        <a:sym typeface="Open Sans"/>
                      </a:endParaRPr>
                    </a:p>
                  </a:txBody>
                  <a:tcPr marL="91425" marR="91425" marT="91425" marB="91425">
                    <a:lnL w="9525" cap="flat" cmpd="sng">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B7B7B7"/>
                      </a:solidFill>
                      <a:prstDash val="solid"/>
                      <a:round/>
                      <a:headEnd type="none" w="sm" len="sm"/>
                      <a:tailEnd type="none" w="sm" len="sm"/>
                    </a:lnB>
                    <a:solidFill>
                      <a:srgbClr val="B7B7B7"/>
                    </a:solidFill>
                  </a:tcPr>
                </a:tc>
                <a:tc>
                  <a:txBody>
                    <a:bodyPr/>
                    <a:lstStyle/>
                    <a:p>
                      <a:pPr marL="0" lvl="0" indent="0" algn="just" rtl="0">
                        <a:lnSpc>
                          <a:spcPct val="115000"/>
                        </a:lnSpc>
                        <a:spcBef>
                          <a:spcPts val="0"/>
                        </a:spcBef>
                        <a:spcAft>
                          <a:spcPts val="0"/>
                        </a:spcAft>
                        <a:buNone/>
                      </a:pPr>
                      <a:r>
                        <a:rPr lang="en" sz="900" b="1">
                          <a:solidFill>
                            <a:srgbClr val="002060"/>
                          </a:solidFill>
                          <a:latin typeface="Open Sans"/>
                          <a:ea typeface="Open Sans"/>
                          <a:cs typeface="Open Sans"/>
                          <a:sym typeface="Open Sans"/>
                        </a:rPr>
                        <a:t>Cool but engages, perhaps multiple decision makers? Need to ‘see before they move’.</a:t>
                      </a:r>
                      <a:endParaRPr sz="900" b="1">
                        <a:solidFill>
                          <a:srgbClr val="002060"/>
                        </a:solidFill>
                        <a:latin typeface="Open Sans"/>
                        <a:ea typeface="Open Sans"/>
                        <a:cs typeface="Open Sans"/>
                        <a:sym typeface="Open Sans"/>
                      </a:endParaRPr>
                    </a:p>
                  </a:txBody>
                  <a:tcPr marL="91425" marR="91425" marT="91425" marB="91425">
                    <a:lnL w="9525" cap="flat" cmpd="sng">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B7B7B7"/>
                      </a:solidFill>
                      <a:prstDash val="solid"/>
                      <a:round/>
                      <a:headEnd type="none" w="sm" len="sm"/>
                      <a:tailEnd type="none" w="sm" len="sm"/>
                    </a:lnB>
                    <a:solidFill>
                      <a:srgbClr val="B7B7B7"/>
                    </a:solidFill>
                  </a:tcPr>
                </a:tc>
                <a:tc>
                  <a:txBody>
                    <a:bodyPr/>
                    <a:lstStyle/>
                    <a:p>
                      <a:pPr marL="0" lvl="0" indent="0" algn="just" rtl="0">
                        <a:lnSpc>
                          <a:spcPct val="115000"/>
                        </a:lnSpc>
                        <a:spcBef>
                          <a:spcPts val="0"/>
                        </a:spcBef>
                        <a:spcAft>
                          <a:spcPts val="0"/>
                        </a:spcAft>
                        <a:buNone/>
                      </a:pPr>
                      <a:r>
                        <a:rPr lang="en" sz="900">
                          <a:solidFill>
                            <a:srgbClr val="434343"/>
                          </a:solidFill>
                          <a:latin typeface="Open Sans"/>
                          <a:ea typeface="Open Sans"/>
                          <a:cs typeface="Open Sans"/>
                          <a:sym typeface="Open Sans"/>
                        </a:rPr>
                        <a:t>3 (1. Educating about the need, via multiple email or webinar. 2. Position the meeting during phone call, 3. Run a ‘taster’ meeting before ‘Deep Dive’ Discovery/ Alignment meeting)</a:t>
                      </a:r>
                      <a:endParaRPr sz="900">
                        <a:solidFill>
                          <a:srgbClr val="434343"/>
                        </a:solidFill>
                        <a:latin typeface="Open Sans"/>
                        <a:ea typeface="Open Sans"/>
                        <a:cs typeface="Open Sans"/>
                        <a:sym typeface="Open Sans"/>
                      </a:endParaRPr>
                    </a:p>
                  </a:txBody>
                  <a:tcPr marL="91425" marR="91425" marT="91425" marB="91425">
                    <a:lnL w="9525" cap="flat" cmpd="sng">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B7B7B7"/>
                      </a:solidFill>
                      <a:prstDash val="solid"/>
                      <a:round/>
                      <a:headEnd type="none" w="sm" len="sm"/>
                      <a:tailEnd type="none" w="sm" len="sm"/>
                    </a:lnB>
                    <a:solidFill>
                      <a:srgbClr val="B7B7B7"/>
                    </a:solidFill>
                  </a:tcPr>
                </a:tc>
                <a:tc>
                  <a:txBody>
                    <a:bodyPr/>
                    <a:lstStyle/>
                    <a:p>
                      <a:pPr marL="0" lvl="0" indent="0" algn="l" rtl="0">
                        <a:lnSpc>
                          <a:spcPct val="115000"/>
                        </a:lnSpc>
                        <a:spcBef>
                          <a:spcPts val="0"/>
                        </a:spcBef>
                        <a:spcAft>
                          <a:spcPts val="0"/>
                        </a:spcAft>
                        <a:buNone/>
                      </a:pPr>
                      <a:r>
                        <a:rPr lang="en" sz="900">
                          <a:solidFill>
                            <a:srgbClr val="434343"/>
                          </a:solidFill>
                          <a:latin typeface="Open Sans"/>
                          <a:ea typeface="Open Sans"/>
                          <a:cs typeface="Open Sans"/>
                          <a:sym typeface="Open Sans"/>
                        </a:rPr>
                        <a:t>Growth Curve</a:t>
                      </a:r>
                      <a:endParaRPr sz="900">
                        <a:solidFill>
                          <a:srgbClr val="434343"/>
                        </a:solidFill>
                        <a:latin typeface="Open Sans"/>
                        <a:ea typeface="Open Sans"/>
                        <a:cs typeface="Open Sans"/>
                        <a:sym typeface="Open Sans"/>
                      </a:endParaRPr>
                    </a:p>
                    <a:p>
                      <a:pPr marL="0" lvl="0" indent="0" algn="l" rtl="0">
                        <a:lnSpc>
                          <a:spcPct val="115000"/>
                        </a:lnSpc>
                        <a:spcBef>
                          <a:spcPts val="0"/>
                        </a:spcBef>
                        <a:spcAft>
                          <a:spcPts val="0"/>
                        </a:spcAft>
                        <a:buClr>
                          <a:schemeClr val="dk1"/>
                        </a:buClr>
                        <a:buSzPts val="1100"/>
                        <a:buFont typeface="Arial"/>
                        <a:buNone/>
                      </a:pPr>
                      <a:r>
                        <a:rPr lang="en" sz="900">
                          <a:solidFill>
                            <a:srgbClr val="434343"/>
                          </a:solidFill>
                          <a:latin typeface="Open Sans"/>
                          <a:ea typeface="Open Sans"/>
                          <a:cs typeface="Open Sans"/>
                          <a:sym typeface="Open Sans"/>
                        </a:rPr>
                        <a:t>EOY/ Volatility Review</a:t>
                      </a:r>
                      <a:endParaRPr sz="900">
                        <a:solidFill>
                          <a:srgbClr val="434343"/>
                        </a:solidFill>
                        <a:latin typeface="Open Sans"/>
                        <a:ea typeface="Open Sans"/>
                        <a:cs typeface="Open Sans"/>
                        <a:sym typeface="Open Sans"/>
                      </a:endParaRPr>
                    </a:p>
                    <a:p>
                      <a:pPr marL="0" lvl="0" indent="0" algn="l" rtl="0">
                        <a:lnSpc>
                          <a:spcPct val="115000"/>
                        </a:lnSpc>
                        <a:spcBef>
                          <a:spcPts val="0"/>
                        </a:spcBef>
                        <a:spcAft>
                          <a:spcPts val="0"/>
                        </a:spcAft>
                        <a:buNone/>
                      </a:pPr>
                      <a:r>
                        <a:rPr lang="en" sz="900">
                          <a:solidFill>
                            <a:srgbClr val="434343"/>
                          </a:solidFill>
                          <a:latin typeface="Open Sans"/>
                          <a:ea typeface="Open Sans"/>
                          <a:cs typeface="Open Sans"/>
                          <a:sym typeface="Open Sans"/>
                        </a:rPr>
                        <a:t>Revenue Model</a:t>
                      </a:r>
                      <a:endParaRPr sz="900">
                        <a:solidFill>
                          <a:srgbClr val="434343"/>
                        </a:solidFill>
                        <a:latin typeface="Open Sans"/>
                        <a:ea typeface="Open Sans"/>
                        <a:cs typeface="Open Sans"/>
                        <a:sym typeface="Open Sans"/>
                      </a:endParaRPr>
                    </a:p>
                    <a:p>
                      <a:pPr marL="0" lvl="0" indent="0" algn="l" rtl="0">
                        <a:lnSpc>
                          <a:spcPct val="115000"/>
                        </a:lnSpc>
                        <a:spcBef>
                          <a:spcPts val="0"/>
                        </a:spcBef>
                        <a:spcAft>
                          <a:spcPts val="0"/>
                        </a:spcAft>
                        <a:buNone/>
                      </a:pPr>
                      <a:endParaRPr sz="900">
                        <a:solidFill>
                          <a:srgbClr val="434343"/>
                        </a:solidFill>
                        <a:latin typeface="Open Sans"/>
                        <a:ea typeface="Open Sans"/>
                        <a:cs typeface="Open Sans"/>
                        <a:sym typeface="Open Sans"/>
                      </a:endParaRPr>
                    </a:p>
                  </a:txBody>
                  <a:tcPr marL="91425" marR="91425" marT="91425" marB="91425">
                    <a:lnL w="9525" cap="flat" cmpd="sng">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3A3838"/>
                      </a:solidFill>
                      <a:prstDash val="solid"/>
                      <a:round/>
                      <a:headEnd type="none" w="sm" len="sm"/>
                      <a:tailEnd type="none" w="sm" len="sm"/>
                    </a:lnT>
                    <a:lnB w="9525" cap="flat" cmpd="sng">
                      <a:solidFill>
                        <a:srgbClr val="B7B7B7"/>
                      </a:solidFill>
                      <a:prstDash val="solid"/>
                      <a:round/>
                      <a:headEnd type="none" w="sm" len="sm"/>
                      <a:tailEnd type="none" w="sm" len="sm"/>
                    </a:lnB>
                    <a:solidFill>
                      <a:srgbClr val="B7B7B7"/>
                    </a:solidFill>
                  </a:tcPr>
                </a:tc>
                <a:extLst>
                  <a:ext uri="{0D108BD9-81ED-4DB2-BD59-A6C34878D82A}">
                    <a16:rowId xmlns:a16="http://schemas.microsoft.com/office/drawing/2014/main" val="10003"/>
                  </a:ext>
                </a:extLst>
              </a:tr>
              <a:tr h="789700">
                <a:tc>
                  <a:txBody>
                    <a:bodyPr/>
                    <a:lstStyle/>
                    <a:p>
                      <a:pPr marL="0" lvl="0" indent="0" algn="just" rtl="0">
                        <a:lnSpc>
                          <a:spcPct val="115000"/>
                        </a:lnSpc>
                        <a:spcBef>
                          <a:spcPts val="0"/>
                        </a:spcBef>
                        <a:spcAft>
                          <a:spcPts val="0"/>
                        </a:spcAft>
                        <a:buNone/>
                      </a:pPr>
                      <a:r>
                        <a:rPr lang="en" sz="900">
                          <a:solidFill>
                            <a:srgbClr val="434343"/>
                          </a:solidFill>
                          <a:latin typeface="Open Sans"/>
                          <a:ea typeface="Open Sans"/>
                          <a:cs typeface="Open Sans"/>
                          <a:sym typeface="Open Sans"/>
                        </a:rPr>
                        <a:t>Group Positioning – Seminar to introduce concept</a:t>
                      </a:r>
                      <a:endParaRPr sz="900">
                        <a:solidFill>
                          <a:srgbClr val="434343"/>
                        </a:solidFill>
                        <a:latin typeface="Open Sans"/>
                        <a:ea typeface="Open Sans"/>
                        <a:cs typeface="Open Sans"/>
                        <a:sym typeface="Open Sans"/>
                      </a:endParaRPr>
                    </a:p>
                  </a:txBody>
                  <a:tcPr marL="91425" marR="91425" marT="91425" marB="91425">
                    <a:lnL w="9525" cap="flat" cmpd="sng">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B7B7B7"/>
                      </a:solidFill>
                      <a:prstDash val="solid"/>
                      <a:round/>
                      <a:headEnd type="none" w="sm" len="sm"/>
                      <a:tailEnd type="none" w="sm" len="sm"/>
                    </a:lnB>
                    <a:solidFill>
                      <a:srgbClr val="FFFFFF"/>
                    </a:solidFill>
                  </a:tcPr>
                </a:tc>
                <a:tc>
                  <a:txBody>
                    <a:bodyPr/>
                    <a:lstStyle/>
                    <a:p>
                      <a:pPr marL="0" lvl="0" indent="0" algn="just" rtl="0">
                        <a:lnSpc>
                          <a:spcPct val="115000"/>
                        </a:lnSpc>
                        <a:spcBef>
                          <a:spcPts val="0"/>
                        </a:spcBef>
                        <a:spcAft>
                          <a:spcPts val="0"/>
                        </a:spcAft>
                        <a:buNone/>
                      </a:pPr>
                      <a:r>
                        <a:rPr lang="en" sz="900" b="1">
                          <a:solidFill>
                            <a:srgbClr val="002060"/>
                          </a:solidFill>
                          <a:latin typeface="Open Sans"/>
                          <a:ea typeface="Open Sans"/>
                          <a:cs typeface="Open Sans"/>
                          <a:sym typeface="Open Sans"/>
                        </a:rPr>
                        <a:t>(Group)</a:t>
                      </a:r>
                      <a:endParaRPr sz="900" b="1">
                        <a:solidFill>
                          <a:srgbClr val="002060"/>
                        </a:solidFill>
                        <a:latin typeface="Open Sans"/>
                        <a:ea typeface="Open Sans"/>
                        <a:cs typeface="Open Sans"/>
                        <a:sym typeface="Open Sans"/>
                      </a:endParaRPr>
                    </a:p>
                    <a:p>
                      <a:pPr marL="0" lvl="0" indent="0" algn="just" rtl="0">
                        <a:lnSpc>
                          <a:spcPct val="115000"/>
                        </a:lnSpc>
                        <a:spcBef>
                          <a:spcPts val="0"/>
                        </a:spcBef>
                        <a:spcAft>
                          <a:spcPts val="0"/>
                        </a:spcAft>
                        <a:buNone/>
                      </a:pPr>
                      <a:r>
                        <a:rPr lang="en" sz="900" b="1">
                          <a:solidFill>
                            <a:srgbClr val="002060"/>
                          </a:solidFill>
                          <a:latin typeface="Open Sans"/>
                          <a:ea typeface="Open Sans"/>
                          <a:cs typeface="Open Sans"/>
                          <a:sym typeface="Open Sans"/>
                        </a:rPr>
                        <a:t>Cool to new ideas, need time to reflect</a:t>
                      </a:r>
                      <a:endParaRPr sz="900" b="1">
                        <a:solidFill>
                          <a:srgbClr val="002060"/>
                        </a:solidFill>
                        <a:latin typeface="Open Sans"/>
                        <a:ea typeface="Open Sans"/>
                        <a:cs typeface="Open Sans"/>
                        <a:sym typeface="Open Sans"/>
                      </a:endParaRPr>
                    </a:p>
                  </a:txBody>
                  <a:tcPr marL="91425" marR="91425" marT="91425" marB="91425">
                    <a:lnL w="9525" cap="flat" cmpd="sng">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B7B7B7"/>
                      </a:solidFill>
                      <a:prstDash val="solid"/>
                      <a:round/>
                      <a:headEnd type="none" w="sm" len="sm"/>
                      <a:tailEnd type="none" w="sm" len="sm"/>
                    </a:lnB>
                    <a:solidFill>
                      <a:srgbClr val="FFFFFF"/>
                    </a:solidFill>
                  </a:tcPr>
                </a:tc>
                <a:tc>
                  <a:txBody>
                    <a:bodyPr/>
                    <a:lstStyle/>
                    <a:p>
                      <a:pPr marL="0" lvl="0" indent="0" algn="just" rtl="0">
                        <a:lnSpc>
                          <a:spcPct val="115000"/>
                        </a:lnSpc>
                        <a:spcBef>
                          <a:spcPts val="0"/>
                        </a:spcBef>
                        <a:spcAft>
                          <a:spcPts val="0"/>
                        </a:spcAft>
                        <a:buNone/>
                      </a:pPr>
                      <a:r>
                        <a:rPr lang="en" sz="900">
                          <a:solidFill>
                            <a:srgbClr val="434343"/>
                          </a:solidFill>
                          <a:latin typeface="Open Sans"/>
                          <a:ea typeface="Open Sans"/>
                          <a:cs typeface="Open Sans"/>
                          <a:sym typeface="Open Sans"/>
                        </a:rPr>
                        <a:t>2 (1. Invite to seminar, conduct the event &amp; then follow-up to invite to a 2. ‘personal discovery session’)</a:t>
                      </a:r>
                      <a:endParaRPr sz="900">
                        <a:solidFill>
                          <a:srgbClr val="434343"/>
                        </a:solidFill>
                        <a:latin typeface="Open Sans"/>
                        <a:ea typeface="Open Sans"/>
                        <a:cs typeface="Open Sans"/>
                        <a:sym typeface="Open Sans"/>
                      </a:endParaRPr>
                    </a:p>
                  </a:txBody>
                  <a:tcPr marL="91425" marR="91425" marT="91425" marB="91425">
                    <a:lnL w="9525" cap="flat" cmpd="sng">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B7B7B7"/>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 sz="900">
                          <a:solidFill>
                            <a:srgbClr val="434343"/>
                          </a:solidFill>
                          <a:latin typeface="Open Sans"/>
                          <a:ea typeface="Open Sans"/>
                          <a:cs typeface="Open Sans"/>
                          <a:sym typeface="Open Sans"/>
                        </a:rPr>
                        <a:t>Growth Curve</a:t>
                      </a:r>
                      <a:endParaRPr sz="900">
                        <a:solidFill>
                          <a:srgbClr val="434343"/>
                        </a:solidFill>
                        <a:latin typeface="Open Sans"/>
                        <a:ea typeface="Open Sans"/>
                        <a:cs typeface="Open Sans"/>
                        <a:sym typeface="Open Sans"/>
                      </a:endParaRPr>
                    </a:p>
                    <a:p>
                      <a:pPr marL="0" lvl="0" indent="0" algn="l" rtl="0">
                        <a:lnSpc>
                          <a:spcPct val="115000"/>
                        </a:lnSpc>
                        <a:spcBef>
                          <a:spcPts val="0"/>
                        </a:spcBef>
                        <a:spcAft>
                          <a:spcPts val="0"/>
                        </a:spcAft>
                        <a:buClr>
                          <a:schemeClr val="dk1"/>
                        </a:buClr>
                        <a:buSzPts val="1100"/>
                        <a:buFont typeface="Arial"/>
                        <a:buNone/>
                      </a:pPr>
                      <a:r>
                        <a:rPr lang="en" sz="900">
                          <a:solidFill>
                            <a:srgbClr val="434343"/>
                          </a:solidFill>
                          <a:latin typeface="Open Sans"/>
                          <a:ea typeface="Open Sans"/>
                          <a:cs typeface="Open Sans"/>
                          <a:sym typeface="Open Sans"/>
                        </a:rPr>
                        <a:t>EOY/ Volatility Review</a:t>
                      </a:r>
                      <a:endParaRPr sz="900">
                        <a:solidFill>
                          <a:srgbClr val="434343"/>
                        </a:solidFill>
                        <a:latin typeface="Open Sans"/>
                        <a:ea typeface="Open Sans"/>
                        <a:cs typeface="Open Sans"/>
                        <a:sym typeface="Open Sans"/>
                      </a:endParaRPr>
                    </a:p>
                    <a:p>
                      <a:pPr marL="0" lvl="0" indent="0" algn="l" rtl="0">
                        <a:lnSpc>
                          <a:spcPct val="115000"/>
                        </a:lnSpc>
                        <a:spcBef>
                          <a:spcPts val="0"/>
                        </a:spcBef>
                        <a:spcAft>
                          <a:spcPts val="0"/>
                        </a:spcAft>
                        <a:buNone/>
                      </a:pPr>
                      <a:r>
                        <a:rPr lang="en" sz="900">
                          <a:solidFill>
                            <a:srgbClr val="434343"/>
                          </a:solidFill>
                          <a:latin typeface="Open Sans"/>
                          <a:ea typeface="Open Sans"/>
                          <a:cs typeface="Open Sans"/>
                          <a:sym typeface="Open Sans"/>
                        </a:rPr>
                        <a:t>Revenue Model</a:t>
                      </a:r>
                      <a:endParaRPr sz="900">
                        <a:solidFill>
                          <a:srgbClr val="434343"/>
                        </a:solidFill>
                        <a:latin typeface="Open Sans"/>
                        <a:ea typeface="Open Sans"/>
                        <a:cs typeface="Open Sans"/>
                        <a:sym typeface="Open Sans"/>
                      </a:endParaRPr>
                    </a:p>
                    <a:p>
                      <a:pPr marL="0" lvl="0" indent="0" algn="l" rtl="0">
                        <a:lnSpc>
                          <a:spcPct val="115000"/>
                        </a:lnSpc>
                        <a:spcBef>
                          <a:spcPts val="0"/>
                        </a:spcBef>
                        <a:spcAft>
                          <a:spcPts val="0"/>
                        </a:spcAft>
                        <a:buNone/>
                      </a:pPr>
                      <a:r>
                        <a:rPr lang="en" sz="900">
                          <a:solidFill>
                            <a:srgbClr val="434343"/>
                          </a:solidFill>
                          <a:latin typeface="Open Sans"/>
                          <a:ea typeface="Open Sans"/>
                          <a:cs typeface="Open Sans"/>
                          <a:sym typeface="Open Sans"/>
                        </a:rPr>
                        <a:t>How you rate tables</a:t>
                      </a:r>
                      <a:endParaRPr sz="900">
                        <a:solidFill>
                          <a:srgbClr val="434343"/>
                        </a:solidFill>
                        <a:latin typeface="Open Sans"/>
                        <a:ea typeface="Open Sans"/>
                        <a:cs typeface="Open Sans"/>
                        <a:sym typeface="Open Sans"/>
                      </a:endParaRPr>
                    </a:p>
                  </a:txBody>
                  <a:tcPr marL="91425" marR="91425" marT="91425" marB="91425">
                    <a:lnL w="9525" cap="flat" cmpd="sng">
                      <a:solidFill>
                        <a:srgbClr val="B7B7B7"/>
                      </a:solidFill>
                      <a:prstDash val="solid"/>
                      <a:round/>
                      <a:headEnd type="none" w="sm" len="sm"/>
                      <a:tailEnd type="none" w="sm" len="sm"/>
                    </a:lnL>
                    <a:lnR w="9525" cap="flat" cmpd="sng">
                      <a:solidFill>
                        <a:srgbClr val="B7B7B7"/>
                      </a:solidFill>
                      <a:prstDash val="solid"/>
                      <a:round/>
                      <a:headEnd type="none" w="sm" len="sm"/>
                      <a:tailEnd type="none" w="sm" len="sm"/>
                    </a:lnR>
                    <a:lnT w="9525" cap="flat" cmpd="sng">
                      <a:solidFill>
                        <a:srgbClr val="B7B7B7"/>
                      </a:solidFill>
                      <a:prstDash val="solid"/>
                      <a:round/>
                      <a:headEnd type="none" w="sm" len="sm"/>
                      <a:tailEnd type="none" w="sm" len="sm"/>
                    </a:lnT>
                    <a:lnB w="9525" cap="flat" cmpd="sng">
                      <a:solidFill>
                        <a:srgbClr val="B7B7B7"/>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85"/>
        <p:cNvGrpSpPr/>
        <p:nvPr/>
      </p:nvGrpSpPr>
      <p:grpSpPr>
        <a:xfrm>
          <a:off x="0" y="0"/>
          <a:ext cx="0" cy="0"/>
          <a:chOff x="0" y="0"/>
          <a:chExt cx="0" cy="0"/>
        </a:xfrm>
      </p:grpSpPr>
      <p:sp>
        <p:nvSpPr>
          <p:cNvPr id="386" name="Google Shape;386;p45"/>
          <p:cNvSpPr txBox="1">
            <a:spLocks noGrp="1"/>
          </p:cNvSpPr>
          <p:nvPr>
            <p:ph type="title"/>
          </p:nvPr>
        </p:nvSpPr>
        <p:spPr>
          <a:xfrm>
            <a:off x="250025" y="192274"/>
            <a:ext cx="8094000" cy="5637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lt1"/>
              </a:buClr>
              <a:buSzPts val="2400"/>
              <a:buFont typeface="Architects Daughter"/>
              <a:buNone/>
            </a:pPr>
            <a:r>
              <a:rPr lang="en" sz="2400" i="0" u="none" strike="noStrike" cap="none">
                <a:solidFill>
                  <a:srgbClr val="002B64"/>
                </a:solidFill>
                <a:latin typeface="Open Sans"/>
                <a:ea typeface="Open Sans"/>
                <a:cs typeface="Open Sans"/>
                <a:sym typeface="Open Sans"/>
              </a:rPr>
              <a:t>The </a:t>
            </a:r>
            <a:r>
              <a:rPr lang="en" sz="2400">
                <a:solidFill>
                  <a:srgbClr val="002B64"/>
                </a:solidFill>
                <a:latin typeface="Open Sans"/>
                <a:ea typeface="Open Sans"/>
                <a:cs typeface="Open Sans"/>
                <a:sym typeface="Open Sans"/>
              </a:rPr>
              <a:t>(Honey &amp; Mumford) 4 Processing Styles</a:t>
            </a:r>
            <a:endParaRPr sz="2400" i="0" u="none" strike="noStrike" cap="none">
              <a:solidFill>
                <a:srgbClr val="002B64"/>
              </a:solidFill>
              <a:latin typeface="Open Sans"/>
              <a:ea typeface="Open Sans"/>
              <a:cs typeface="Open Sans"/>
              <a:sym typeface="Open Sans"/>
            </a:endParaRPr>
          </a:p>
        </p:txBody>
      </p:sp>
      <p:sp>
        <p:nvSpPr>
          <p:cNvPr id="387" name="Google Shape;387;p45"/>
          <p:cNvSpPr txBox="1">
            <a:spLocks noGrp="1"/>
          </p:cNvSpPr>
          <p:nvPr>
            <p:ph type="body" idx="1"/>
          </p:nvPr>
        </p:nvSpPr>
        <p:spPr>
          <a:xfrm>
            <a:off x="250025" y="808825"/>
            <a:ext cx="8566200" cy="4134300"/>
          </a:xfrm>
          <a:prstGeom prst="rect">
            <a:avLst/>
          </a:prstGeom>
          <a:noFill/>
          <a:ln>
            <a:noFill/>
          </a:ln>
        </p:spPr>
        <p:txBody>
          <a:bodyPr spcFirstLastPara="1" wrap="square" lIns="68575" tIns="34275" rIns="68575" bIns="34275" anchor="t" anchorCtr="0">
            <a:noAutofit/>
          </a:bodyPr>
          <a:lstStyle/>
          <a:p>
            <a:pPr marL="0" marR="0" lvl="0" indent="0" algn="just" rtl="0">
              <a:lnSpc>
                <a:spcPct val="115000"/>
              </a:lnSpc>
              <a:spcBef>
                <a:spcPts val="0"/>
              </a:spcBef>
              <a:spcAft>
                <a:spcPts val="0"/>
              </a:spcAft>
              <a:buClr>
                <a:schemeClr val="lt1"/>
              </a:buClr>
              <a:buSzPts val="1100"/>
              <a:buFont typeface="Arial"/>
              <a:buNone/>
            </a:pPr>
            <a:r>
              <a:rPr lang="en" sz="1100" b="1" i="0" u="none" strike="noStrike" cap="none">
                <a:solidFill>
                  <a:srgbClr val="002B64"/>
                </a:solidFill>
                <a:latin typeface="Open Sans"/>
                <a:ea typeface="Open Sans"/>
                <a:cs typeface="Open Sans"/>
                <a:sym typeface="Open Sans"/>
              </a:rPr>
              <a:t>1. </a:t>
            </a:r>
            <a:r>
              <a:rPr lang="en" sz="1100" b="1">
                <a:solidFill>
                  <a:srgbClr val="002B64"/>
                </a:solidFill>
                <a:latin typeface="Open Sans"/>
                <a:ea typeface="Open Sans"/>
                <a:cs typeface="Open Sans"/>
                <a:sym typeface="Open Sans"/>
              </a:rPr>
              <a:t>Activist</a:t>
            </a:r>
            <a:endParaRPr sz="1100" b="1" i="0" u="none" strike="noStrike" cap="none">
              <a:solidFill>
                <a:srgbClr val="002B64"/>
              </a:solidFill>
              <a:latin typeface="Open Sans"/>
              <a:ea typeface="Open Sans"/>
              <a:cs typeface="Open Sans"/>
              <a:sym typeface="Open Sans"/>
            </a:endParaRPr>
          </a:p>
          <a:p>
            <a:pPr marL="0" marR="0" lvl="0" indent="0" algn="just" rtl="0">
              <a:lnSpc>
                <a:spcPct val="115000"/>
              </a:lnSpc>
              <a:spcBef>
                <a:spcPts val="800"/>
              </a:spcBef>
              <a:spcAft>
                <a:spcPts val="0"/>
              </a:spcAft>
              <a:buClr>
                <a:schemeClr val="lt1"/>
              </a:buClr>
              <a:buSzPts val="1100"/>
              <a:buFont typeface="Arial"/>
              <a:buNone/>
            </a:pPr>
            <a:r>
              <a:rPr lang="en" sz="1100" i="0" u="none" strike="noStrike" cap="none">
                <a:solidFill>
                  <a:srgbClr val="434343"/>
                </a:solidFill>
                <a:latin typeface="Open Sans"/>
                <a:ea typeface="Open Sans"/>
                <a:cs typeface="Open Sans"/>
                <a:sym typeface="Open Sans"/>
              </a:rPr>
              <a:t>	</a:t>
            </a:r>
            <a:r>
              <a:rPr lang="en" sz="1100">
                <a:solidFill>
                  <a:srgbClr val="434343"/>
                </a:solidFill>
                <a:latin typeface="Open Sans"/>
                <a:ea typeface="Open Sans"/>
                <a:cs typeface="Open Sans"/>
                <a:sym typeface="Open Sans"/>
              </a:rPr>
              <a:t>Impulsive, Quick to decide: “I like it, I want it now”. They interested in sequence of ACTION - explain the ‘steps to purchase’.</a:t>
            </a:r>
            <a:endParaRPr sz="1100">
              <a:solidFill>
                <a:srgbClr val="434343"/>
              </a:solidFill>
              <a:latin typeface="Open Sans"/>
              <a:ea typeface="Open Sans"/>
              <a:cs typeface="Open Sans"/>
              <a:sym typeface="Open Sans"/>
            </a:endParaRPr>
          </a:p>
          <a:p>
            <a:pPr marL="0" marR="0" lvl="0" indent="0" algn="just" rtl="0">
              <a:lnSpc>
                <a:spcPct val="115000"/>
              </a:lnSpc>
              <a:spcBef>
                <a:spcPts val="800"/>
              </a:spcBef>
              <a:spcAft>
                <a:spcPts val="0"/>
              </a:spcAft>
              <a:buClr>
                <a:schemeClr val="lt1"/>
              </a:buClr>
              <a:buSzPts val="1100"/>
              <a:buFont typeface="Arial"/>
              <a:buNone/>
            </a:pPr>
            <a:r>
              <a:rPr lang="en" sz="1100" b="1" i="0" u="none" strike="noStrike" cap="none">
                <a:solidFill>
                  <a:srgbClr val="002B64"/>
                </a:solidFill>
                <a:latin typeface="Open Sans"/>
                <a:ea typeface="Open Sans"/>
                <a:cs typeface="Open Sans"/>
                <a:sym typeface="Open Sans"/>
              </a:rPr>
              <a:t>2. </a:t>
            </a:r>
            <a:r>
              <a:rPr lang="en" sz="1100" b="1">
                <a:solidFill>
                  <a:srgbClr val="002B64"/>
                </a:solidFill>
                <a:latin typeface="Open Sans"/>
                <a:ea typeface="Open Sans"/>
                <a:cs typeface="Open Sans"/>
                <a:sym typeface="Open Sans"/>
              </a:rPr>
              <a:t>Pragmatist</a:t>
            </a:r>
            <a:endParaRPr sz="1100" b="1" i="0" u="none" strike="noStrike" cap="none">
              <a:solidFill>
                <a:srgbClr val="002B64"/>
              </a:solidFill>
              <a:latin typeface="Open Sans"/>
              <a:ea typeface="Open Sans"/>
              <a:cs typeface="Open Sans"/>
              <a:sym typeface="Open Sans"/>
            </a:endParaRPr>
          </a:p>
          <a:p>
            <a:pPr marL="0" marR="0" lvl="0" indent="0" algn="just" rtl="0">
              <a:lnSpc>
                <a:spcPct val="115000"/>
              </a:lnSpc>
              <a:spcBef>
                <a:spcPts val="800"/>
              </a:spcBef>
              <a:spcAft>
                <a:spcPts val="0"/>
              </a:spcAft>
              <a:buClr>
                <a:schemeClr val="lt1"/>
              </a:buClr>
              <a:buSzPts val="1100"/>
              <a:buFont typeface="Arial"/>
              <a:buNone/>
            </a:pPr>
            <a:r>
              <a:rPr lang="en" sz="1100" i="0" u="none" strike="noStrike" cap="none">
                <a:solidFill>
                  <a:srgbClr val="434343"/>
                </a:solidFill>
                <a:latin typeface="Open Sans"/>
                <a:ea typeface="Open Sans"/>
                <a:cs typeface="Open Sans"/>
                <a:sym typeface="Open Sans"/>
              </a:rPr>
              <a:t>	</a:t>
            </a:r>
            <a:r>
              <a:rPr lang="en" sz="1100">
                <a:solidFill>
                  <a:srgbClr val="434343"/>
                </a:solidFill>
                <a:latin typeface="Open Sans"/>
                <a:ea typeface="Open Sans"/>
                <a:cs typeface="Open Sans"/>
                <a:sym typeface="Open Sans"/>
              </a:rPr>
              <a:t>Emotive but want reassurance; they seek PROOF - provide data, testimonials, statistics, case study examples etc.</a:t>
            </a:r>
            <a:endParaRPr sz="1100">
              <a:solidFill>
                <a:srgbClr val="434343"/>
              </a:solidFill>
              <a:latin typeface="Open Sans"/>
              <a:ea typeface="Open Sans"/>
              <a:cs typeface="Open Sans"/>
              <a:sym typeface="Open Sans"/>
            </a:endParaRPr>
          </a:p>
          <a:p>
            <a:pPr marL="0" marR="0" lvl="0" indent="0" algn="just" rtl="0">
              <a:lnSpc>
                <a:spcPct val="115000"/>
              </a:lnSpc>
              <a:spcBef>
                <a:spcPts val="800"/>
              </a:spcBef>
              <a:spcAft>
                <a:spcPts val="0"/>
              </a:spcAft>
              <a:buClr>
                <a:schemeClr val="lt1"/>
              </a:buClr>
              <a:buSzPts val="1100"/>
              <a:buFont typeface="Arial"/>
              <a:buNone/>
            </a:pPr>
            <a:r>
              <a:rPr lang="en" sz="1100" b="1" i="0" u="none" strike="noStrike" cap="none">
                <a:solidFill>
                  <a:srgbClr val="002B64"/>
                </a:solidFill>
                <a:latin typeface="Open Sans"/>
                <a:ea typeface="Open Sans"/>
                <a:cs typeface="Open Sans"/>
                <a:sym typeface="Open Sans"/>
              </a:rPr>
              <a:t>3. </a:t>
            </a:r>
            <a:r>
              <a:rPr lang="en" sz="1100" b="1">
                <a:solidFill>
                  <a:srgbClr val="002B64"/>
                </a:solidFill>
                <a:latin typeface="Open Sans"/>
                <a:ea typeface="Open Sans"/>
                <a:cs typeface="Open Sans"/>
                <a:sym typeface="Open Sans"/>
              </a:rPr>
              <a:t>Reflector</a:t>
            </a:r>
            <a:endParaRPr sz="1100" b="1" i="0" u="none" strike="noStrike" cap="none">
              <a:solidFill>
                <a:srgbClr val="002B64"/>
              </a:solidFill>
              <a:latin typeface="Open Sans"/>
              <a:ea typeface="Open Sans"/>
              <a:cs typeface="Open Sans"/>
              <a:sym typeface="Open Sans"/>
            </a:endParaRPr>
          </a:p>
          <a:p>
            <a:pPr marL="0" marR="0" lvl="0" indent="0" algn="just" rtl="0">
              <a:lnSpc>
                <a:spcPct val="115000"/>
              </a:lnSpc>
              <a:spcBef>
                <a:spcPts val="800"/>
              </a:spcBef>
              <a:spcAft>
                <a:spcPts val="0"/>
              </a:spcAft>
              <a:buClr>
                <a:schemeClr val="lt1"/>
              </a:buClr>
              <a:buSzPts val="1100"/>
              <a:buFont typeface="Arial"/>
              <a:buNone/>
            </a:pPr>
            <a:r>
              <a:rPr lang="en" sz="1100" i="0" u="none" strike="noStrike" cap="none">
                <a:solidFill>
                  <a:srgbClr val="434343"/>
                </a:solidFill>
                <a:latin typeface="Open Sans"/>
                <a:ea typeface="Open Sans"/>
                <a:cs typeface="Open Sans"/>
                <a:sym typeface="Open Sans"/>
              </a:rPr>
              <a:t>	</a:t>
            </a:r>
            <a:r>
              <a:rPr lang="en" sz="1100">
                <a:solidFill>
                  <a:srgbClr val="434343"/>
                </a:solidFill>
                <a:latin typeface="Open Sans"/>
                <a:ea typeface="Open Sans"/>
                <a:cs typeface="Open Sans"/>
                <a:sym typeface="Open Sans"/>
              </a:rPr>
              <a:t>They need TIME; making decisions disturb them emotionally so they need to withdraw and work through the process.</a:t>
            </a:r>
            <a:endParaRPr sz="1100">
              <a:solidFill>
                <a:srgbClr val="434343"/>
              </a:solidFill>
              <a:latin typeface="Open Sans"/>
              <a:ea typeface="Open Sans"/>
              <a:cs typeface="Open Sans"/>
              <a:sym typeface="Open Sans"/>
            </a:endParaRPr>
          </a:p>
          <a:p>
            <a:pPr marL="0" marR="0" lvl="0" indent="0" algn="just" rtl="0">
              <a:lnSpc>
                <a:spcPct val="115000"/>
              </a:lnSpc>
              <a:spcBef>
                <a:spcPts val="800"/>
              </a:spcBef>
              <a:spcAft>
                <a:spcPts val="0"/>
              </a:spcAft>
              <a:buClr>
                <a:schemeClr val="lt1"/>
              </a:buClr>
              <a:buSzPts val="1100"/>
              <a:buFont typeface="Arial"/>
              <a:buNone/>
            </a:pPr>
            <a:r>
              <a:rPr lang="en" sz="1100" b="1" i="0" u="none" strike="noStrike" cap="none">
                <a:solidFill>
                  <a:srgbClr val="002B64"/>
                </a:solidFill>
                <a:latin typeface="Open Sans"/>
                <a:ea typeface="Open Sans"/>
                <a:cs typeface="Open Sans"/>
                <a:sym typeface="Open Sans"/>
              </a:rPr>
              <a:t>4. </a:t>
            </a:r>
            <a:r>
              <a:rPr lang="en" sz="1100" b="1">
                <a:solidFill>
                  <a:srgbClr val="002B64"/>
                </a:solidFill>
                <a:latin typeface="Open Sans"/>
                <a:ea typeface="Open Sans"/>
                <a:cs typeface="Open Sans"/>
                <a:sym typeface="Open Sans"/>
              </a:rPr>
              <a:t>Theorist</a:t>
            </a:r>
            <a:endParaRPr sz="1100" b="1" i="0" u="none" strike="noStrike" cap="none">
              <a:solidFill>
                <a:srgbClr val="002B64"/>
              </a:solidFill>
              <a:latin typeface="Open Sans"/>
              <a:ea typeface="Open Sans"/>
              <a:cs typeface="Open Sans"/>
              <a:sym typeface="Open Sans"/>
            </a:endParaRPr>
          </a:p>
          <a:p>
            <a:pPr marL="0" marR="0" lvl="0" indent="0" algn="just" rtl="0">
              <a:lnSpc>
                <a:spcPct val="115000"/>
              </a:lnSpc>
              <a:spcBef>
                <a:spcPts val="800"/>
              </a:spcBef>
              <a:spcAft>
                <a:spcPts val="0"/>
              </a:spcAft>
              <a:buClr>
                <a:schemeClr val="lt1"/>
              </a:buClr>
              <a:buSzPts val="1100"/>
              <a:buFont typeface="Arial"/>
              <a:buNone/>
            </a:pPr>
            <a:r>
              <a:rPr lang="en" sz="1100" i="0" u="none" strike="noStrike" cap="none">
                <a:solidFill>
                  <a:srgbClr val="434343"/>
                </a:solidFill>
                <a:latin typeface="Open Sans"/>
                <a:ea typeface="Open Sans"/>
                <a:cs typeface="Open Sans"/>
                <a:sym typeface="Open Sans"/>
              </a:rPr>
              <a:t>	</a:t>
            </a:r>
            <a:r>
              <a:rPr lang="en" sz="1100">
                <a:solidFill>
                  <a:srgbClr val="434343"/>
                </a:solidFill>
                <a:latin typeface="Open Sans"/>
                <a:ea typeface="Open Sans"/>
                <a:cs typeface="Open Sans"/>
                <a:sym typeface="Open Sans"/>
              </a:rPr>
              <a:t>They need to CONTRIBUTE; allow them to voice their thoughts and ideas on the solution and the purchase/ delivery/ installation process. Explain the areas that are ‘not open to variance’ but invite them to ‘help get the best outcome for everyone’.</a:t>
            </a:r>
            <a:endParaRPr sz="1100">
              <a:solidFill>
                <a:srgbClr val="434343"/>
              </a:solidFill>
              <a:latin typeface="Open Sans"/>
              <a:ea typeface="Open Sans"/>
              <a:cs typeface="Open Sans"/>
              <a:sym typeface="Open Sans"/>
            </a:endParaRPr>
          </a:p>
          <a:p>
            <a:pPr marL="0" marR="0" lvl="0" indent="0" algn="l" rtl="0">
              <a:lnSpc>
                <a:spcPct val="90000"/>
              </a:lnSpc>
              <a:spcBef>
                <a:spcPts val="800"/>
              </a:spcBef>
              <a:spcAft>
                <a:spcPts val="0"/>
              </a:spcAft>
              <a:buClr>
                <a:schemeClr val="lt1"/>
              </a:buClr>
              <a:buSzPts val="1100"/>
              <a:buFont typeface="Arial"/>
              <a:buNone/>
            </a:pPr>
            <a:endParaRPr sz="1100">
              <a:solidFill>
                <a:srgbClr val="434343"/>
              </a:solidFill>
              <a:latin typeface="Open Sans"/>
              <a:ea typeface="Open Sans"/>
              <a:cs typeface="Open Sans"/>
              <a:sym typeface="Open Sans"/>
            </a:endParaRPr>
          </a:p>
          <a:p>
            <a:pPr marL="0" marR="0" lvl="0" indent="0" algn="just" rtl="0">
              <a:lnSpc>
                <a:spcPct val="115000"/>
              </a:lnSpc>
              <a:spcBef>
                <a:spcPts val="800"/>
              </a:spcBef>
              <a:spcAft>
                <a:spcPts val="0"/>
              </a:spcAft>
              <a:buClr>
                <a:schemeClr val="lt1"/>
              </a:buClr>
              <a:buSzPts val="1100"/>
              <a:buFont typeface="Arial"/>
              <a:buNone/>
            </a:pPr>
            <a:r>
              <a:rPr lang="en" sz="1100">
                <a:solidFill>
                  <a:srgbClr val="434343"/>
                </a:solidFill>
                <a:latin typeface="Open Sans"/>
                <a:ea typeface="Open Sans"/>
                <a:cs typeface="Open Sans"/>
                <a:sym typeface="Open Sans"/>
              </a:rPr>
              <a:t>The ‘trick’ is not to attempt to guess the person’s dominant processing style but rather, to DESIGN a sales process that considers the processing / decision needs of the customer and make the process ALLOW for each style - every time.</a:t>
            </a:r>
            <a:endParaRPr sz="1100">
              <a:solidFill>
                <a:srgbClr val="434343"/>
              </a:solidFill>
              <a:latin typeface="Open Sans"/>
              <a:ea typeface="Open Sans"/>
              <a:cs typeface="Open Sans"/>
              <a:sym typeface="Open Sans"/>
            </a:endParaRPr>
          </a:p>
          <a:p>
            <a:pPr marL="0" marR="0" lvl="0" indent="0" algn="just" rtl="0">
              <a:lnSpc>
                <a:spcPct val="115000"/>
              </a:lnSpc>
              <a:spcBef>
                <a:spcPts val="800"/>
              </a:spcBef>
              <a:spcAft>
                <a:spcPts val="0"/>
              </a:spcAft>
              <a:buClr>
                <a:schemeClr val="lt1"/>
              </a:buClr>
              <a:buSzPts val="1100"/>
              <a:buFont typeface="Arial"/>
              <a:buNone/>
            </a:pPr>
            <a:r>
              <a:rPr lang="en" sz="1100">
                <a:solidFill>
                  <a:srgbClr val="434343"/>
                </a:solidFill>
                <a:latin typeface="Open Sans"/>
                <a:ea typeface="Open Sans"/>
                <a:cs typeface="Open Sans"/>
                <a:sym typeface="Open Sans"/>
              </a:rPr>
              <a:t>This makes life far easier for both the salesperson AND the customer as predictable tensions can be avoided, and ‘buyers remorse’ significantly reduced, simply by letting people decide in a manner that suits them.</a:t>
            </a:r>
            <a:endParaRPr sz="1100">
              <a:solidFill>
                <a:srgbClr val="434343"/>
              </a:solidFill>
              <a:latin typeface="Open Sans"/>
              <a:ea typeface="Open Sans"/>
              <a:cs typeface="Open Sans"/>
              <a:sym typeface="Open Sans"/>
            </a:endParaRPr>
          </a:p>
        </p:txBody>
      </p:sp>
      <p:sp>
        <p:nvSpPr>
          <p:cNvPr id="388" name="Google Shape;388;p45"/>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en"/>
              <a:t>8</a:t>
            </a:fld>
            <a:endParaRPr/>
          </a:p>
        </p:txBody>
      </p:sp>
      <p:sp>
        <p:nvSpPr>
          <p:cNvPr id="389" name="Google Shape;389;p45"/>
          <p:cNvSpPr/>
          <p:nvPr/>
        </p:nvSpPr>
        <p:spPr>
          <a:xfrm>
            <a:off x="49427" y="49427"/>
            <a:ext cx="90390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90" name="Google Shape;390;p45"/>
          <p:cNvSpPr/>
          <p:nvPr/>
        </p:nvSpPr>
        <p:spPr>
          <a:xfrm>
            <a:off x="49427" y="5004196"/>
            <a:ext cx="5793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91" name="Google Shape;391;p45"/>
          <p:cNvSpPr/>
          <p:nvPr/>
        </p:nvSpPr>
        <p:spPr>
          <a:xfrm>
            <a:off x="1513702" y="5004196"/>
            <a:ext cx="75747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92" name="Google Shape;392;p45"/>
          <p:cNvSpPr/>
          <p:nvPr/>
        </p:nvSpPr>
        <p:spPr>
          <a:xfrm rot="-5400000">
            <a:off x="6612697"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93" name="Google Shape;393;p45"/>
          <p:cNvSpPr/>
          <p:nvPr/>
        </p:nvSpPr>
        <p:spPr>
          <a:xfrm rot="-5400000">
            <a:off x="-2339773"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97"/>
        <p:cNvGrpSpPr/>
        <p:nvPr/>
      </p:nvGrpSpPr>
      <p:grpSpPr>
        <a:xfrm>
          <a:off x="0" y="0"/>
          <a:ext cx="0" cy="0"/>
          <a:chOff x="0" y="0"/>
          <a:chExt cx="0" cy="0"/>
        </a:xfrm>
      </p:grpSpPr>
      <p:sp>
        <p:nvSpPr>
          <p:cNvPr id="398" name="Google Shape;398;p46"/>
          <p:cNvSpPr/>
          <p:nvPr/>
        </p:nvSpPr>
        <p:spPr>
          <a:xfrm>
            <a:off x="562717" y="784207"/>
            <a:ext cx="249900" cy="4178100"/>
          </a:xfrm>
          <a:prstGeom prst="round2SameRect">
            <a:avLst>
              <a:gd name="adj1" fmla="val 45271"/>
              <a:gd name="adj2" fmla="val 0"/>
            </a:avLst>
          </a:prstGeom>
          <a:solidFill>
            <a:srgbClr val="B9B9B9"/>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900">
              <a:solidFill>
                <a:schemeClr val="dk1"/>
              </a:solidFill>
              <a:latin typeface="Lato Light"/>
              <a:ea typeface="Lato Light"/>
              <a:cs typeface="Lato Light"/>
              <a:sym typeface="Lato Light"/>
            </a:endParaRPr>
          </a:p>
        </p:txBody>
      </p:sp>
      <p:sp>
        <p:nvSpPr>
          <p:cNvPr id="399" name="Google Shape;399;p46"/>
          <p:cNvSpPr/>
          <p:nvPr/>
        </p:nvSpPr>
        <p:spPr>
          <a:xfrm>
            <a:off x="562717" y="1019402"/>
            <a:ext cx="2717550" cy="406674"/>
          </a:xfrm>
          <a:custGeom>
            <a:avLst/>
            <a:gdLst/>
            <a:ahLst/>
            <a:cxnLst/>
            <a:rect l="l" t="t" r="r" b="b"/>
            <a:pathLst>
              <a:path w="21600" h="21600" extrusionOk="0">
                <a:moveTo>
                  <a:pt x="0" y="0"/>
                </a:moveTo>
                <a:lnTo>
                  <a:pt x="0" y="21600"/>
                </a:lnTo>
                <a:lnTo>
                  <a:pt x="18971" y="21600"/>
                </a:lnTo>
                <a:lnTo>
                  <a:pt x="21600" y="10800"/>
                </a:lnTo>
                <a:lnTo>
                  <a:pt x="18971" y="0"/>
                </a:lnTo>
                <a:lnTo>
                  <a:pt x="0" y="0"/>
                </a:lnTo>
                <a:close/>
              </a:path>
            </a:pathLst>
          </a:custGeom>
          <a:solidFill>
            <a:schemeClr val="accent1"/>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900">
              <a:solidFill>
                <a:schemeClr val="dk1"/>
              </a:solidFill>
              <a:latin typeface="Lato Light"/>
              <a:ea typeface="Lato Light"/>
              <a:cs typeface="Lato Light"/>
              <a:sym typeface="Lato Light"/>
            </a:endParaRPr>
          </a:p>
        </p:txBody>
      </p:sp>
      <p:sp>
        <p:nvSpPr>
          <p:cNvPr id="400" name="Google Shape;400;p46"/>
          <p:cNvSpPr txBox="1"/>
          <p:nvPr/>
        </p:nvSpPr>
        <p:spPr>
          <a:xfrm>
            <a:off x="904820" y="1115042"/>
            <a:ext cx="2025300" cy="230700"/>
          </a:xfrm>
          <a:prstGeom prst="rect">
            <a:avLst/>
          </a:prstGeom>
          <a:noFill/>
          <a:ln>
            <a:noFill/>
          </a:ln>
        </p:spPr>
        <p:txBody>
          <a:bodyPr spcFirstLastPara="1" wrap="square" lIns="68575" tIns="34275" rIns="68575" bIns="34275" anchor="ctr" anchorCtr="0">
            <a:noAutofit/>
          </a:bodyPr>
          <a:lstStyle/>
          <a:p>
            <a:pPr marL="0" marR="0" lvl="0" indent="0" algn="l" rtl="0">
              <a:spcBef>
                <a:spcPts val="0"/>
              </a:spcBef>
              <a:spcAft>
                <a:spcPts val="0"/>
              </a:spcAft>
              <a:buNone/>
            </a:pPr>
            <a:r>
              <a:rPr lang="en" sz="1100" b="1">
                <a:solidFill>
                  <a:schemeClr val="lt1"/>
                </a:solidFill>
                <a:latin typeface="Open Sans"/>
                <a:ea typeface="Open Sans"/>
                <a:cs typeface="Open Sans"/>
                <a:sym typeface="Open Sans"/>
              </a:rPr>
              <a:t>Positioning</a:t>
            </a:r>
            <a:endParaRPr sz="1100">
              <a:latin typeface="Open Sans"/>
              <a:ea typeface="Open Sans"/>
              <a:cs typeface="Open Sans"/>
              <a:sym typeface="Open Sans"/>
            </a:endParaRPr>
          </a:p>
        </p:txBody>
      </p:sp>
      <p:sp>
        <p:nvSpPr>
          <p:cNvPr id="401" name="Google Shape;401;p46"/>
          <p:cNvSpPr/>
          <p:nvPr/>
        </p:nvSpPr>
        <p:spPr>
          <a:xfrm>
            <a:off x="558703" y="1633197"/>
            <a:ext cx="2717550" cy="406674"/>
          </a:xfrm>
          <a:custGeom>
            <a:avLst/>
            <a:gdLst/>
            <a:ahLst/>
            <a:cxnLst/>
            <a:rect l="l" t="t" r="r" b="b"/>
            <a:pathLst>
              <a:path w="21600" h="21600" extrusionOk="0">
                <a:moveTo>
                  <a:pt x="0" y="0"/>
                </a:moveTo>
                <a:lnTo>
                  <a:pt x="0" y="21600"/>
                </a:lnTo>
                <a:lnTo>
                  <a:pt x="18971" y="21600"/>
                </a:lnTo>
                <a:lnTo>
                  <a:pt x="21600" y="10800"/>
                </a:lnTo>
                <a:lnTo>
                  <a:pt x="18971" y="0"/>
                </a:lnTo>
                <a:lnTo>
                  <a:pt x="0" y="0"/>
                </a:lnTo>
                <a:close/>
              </a:path>
            </a:pathLst>
          </a:custGeom>
          <a:solidFill>
            <a:schemeClr val="accent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900">
              <a:solidFill>
                <a:schemeClr val="dk1"/>
              </a:solidFill>
              <a:latin typeface="Lato Light"/>
              <a:ea typeface="Lato Light"/>
              <a:cs typeface="Lato Light"/>
              <a:sym typeface="Lato Light"/>
            </a:endParaRPr>
          </a:p>
        </p:txBody>
      </p:sp>
      <p:sp>
        <p:nvSpPr>
          <p:cNvPr id="402" name="Google Shape;402;p46"/>
          <p:cNvSpPr/>
          <p:nvPr/>
        </p:nvSpPr>
        <p:spPr>
          <a:xfrm>
            <a:off x="558703" y="2246992"/>
            <a:ext cx="2717550" cy="406674"/>
          </a:xfrm>
          <a:custGeom>
            <a:avLst/>
            <a:gdLst/>
            <a:ahLst/>
            <a:cxnLst/>
            <a:rect l="l" t="t" r="r" b="b"/>
            <a:pathLst>
              <a:path w="21600" h="21600" extrusionOk="0">
                <a:moveTo>
                  <a:pt x="0" y="0"/>
                </a:moveTo>
                <a:lnTo>
                  <a:pt x="0" y="21600"/>
                </a:lnTo>
                <a:lnTo>
                  <a:pt x="18971" y="21600"/>
                </a:lnTo>
                <a:lnTo>
                  <a:pt x="21600" y="10800"/>
                </a:lnTo>
                <a:lnTo>
                  <a:pt x="18971" y="0"/>
                </a:lnTo>
                <a:lnTo>
                  <a:pt x="0" y="0"/>
                </a:lnTo>
                <a:close/>
              </a:path>
            </a:pathLst>
          </a:custGeom>
          <a:solidFill>
            <a:srgbClr val="009999"/>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900">
              <a:solidFill>
                <a:schemeClr val="dk1"/>
              </a:solidFill>
              <a:latin typeface="Lato Light"/>
              <a:ea typeface="Lato Light"/>
              <a:cs typeface="Lato Light"/>
              <a:sym typeface="Lato Light"/>
            </a:endParaRPr>
          </a:p>
        </p:txBody>
      </p:sp>
      <p:sp>
        <p:nvSpPr>
          <p:cNvPr id="403" name="Google Shape;403;p46"/>
          <p:cNvSpPr/>
          <p:nvPr/>
        </p:nvSpPr>
        <p:spPr>
          <a:xfrm>
            <a:off x="558703" y="2858563"/>
            <a:ext cx="2717550" cy="406674"/>
          </a:xfrm>
          <a:custGeom>
            <a:avLst/>
            <a:gdLst/>
            <a:ahLst/>
            <a:cxnLst/>
            <a:rect l="l" t="t" r="r" b="b"/>
            <a:pathLst>
              <a:path w="21600" h="21600" extrusionOk="0">
                <a:moveTo>
                  <a:pt x="0" y="0"/>
                </a:moveTo>
                <a:lnTo>
                  <a:pt x="0" y="21600"/>
                </a:lnTo>
                <a:lnTo>
                  <a:pt x="18971" y="21600"/>
                </a:lnTo>
                <a:lnTo>
                  <a:pt x="21600" y="10800"/>
                </a:lnTo>
                <a:lnTo>
                  <a:pt x="18971" y="0"/>
                </a:lnTo>
                <a:lnTo>
                  <a:pt x="0" y="0"/>
                </a:lnTo>
                <a:close/>
              </a:path>
            </a:pathLst>
          </a:custGeom>
          <a:solidFill>
            <a:srgbClr val="7030A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900">
              <a:solidFill>
                <a:schemeClr val="dk1"/>
              </a:solidFill>
              <a:latin typeface="Lato Light"/>
              <a:ea typeface="Lato Light"/>
              <a:cs typeface="Lato Light"/>
              <a:sym typeface="Lato Light"/>
            </a:endParaRPr>
          </a:p>
        </p:txBody>
      </p:sp>
      <p:sp>
        <p:nvSpPr>
          <p:cNvPr id="404" name="Google Shape;404;p46"/>
          <p:cNvSpPr/>
          <p:nvPr/>
        </p:nvSpPr>
        <p:spPr>
          <a:xfrm>
            <a:off x="558703" y="3470135"/>
            <a:ext cx="2717550" cy="406674"/>
          </a:xfrm>
          <a:custGeom>
            <a:avLst/>
            <a:gdLst/>
            <a:ahLst/>
            <a:cxnLst/>
            <a:rect l="l" t="t" r="r" b="b"/>
            <a:pathLst>
              <a:path w="21600" h="21600" extrusionOk="0">
                <a:moveTo>
                  <a:pt x="0" y="0"/>
                </a:moveTo>
                <a:lnTo>
                  <a:pt x="0" y="21600"/>
                </a:lnTo>
                <a:lnTo>
                  <a:pt x="18971" y="21600"/>
                </a:lnTo>
                <a:lnTo>
                  <a:pt x="21600" y="10800"/>
                </a:lnTo>
                <a:lnTo>
                  <a:pt x="18971" y="0"/>
                </a:lnTo>
                <a:lnTo>
                  <a:pt x="0" y="0"/>
                </a:lnTo>
                <a:close/>
              </a:path>
            </a:pathLst>
          </a:custGeom>
          <a:solidFill>
            <a:schemeClr val="accent6"/>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900">
              <a:solidFill>
                <a:schemeClr val="dk1"/>
              </a:solidFill>
              <a:latin typeface="Lato Light"/>
              <a:ea typeface="Lato Light"/>
              <a:cs typeface="Lato Light"/>
              <a:sym typeface="Lato Light"/>
            </a:endParaRPr>
          </a:p>
        </p:txBody>
      </p:sp>
      <p:sp>
        <p:nvSpPr>
          <p:cNvPr id="405" name="Google Shape;405;p46"/>
          <p:cNvSpPr/>
          <p:nvPr/>
        </p:nvSpPr>
        <p:spPr>
          <a:xfrm>
            <a:off x="558703" y="4083922"/>
            <a:ext cx="2717550" cy="406674"/>
          </a:xfrm>
          <a:custGeom>
            <a:avLst/>
            <a:gdLst/>
            <a:ahLst/>
            <a:cxnLst/>
            <a:rect l="l" t="t" r="r" b="b"/>
            <a:pathLst>
              <a:path w="21600" h="21600" extrusionOk="0">
                <a:moveTo>
                  <a:pt x="0" y="0"/>
                </a:moveTo>
                <a:lnTo>
                  <a:pt x="0" y="21600"/>
                </a:lnTo>
                <a:lnTo>
                  <a:pt x="18971" y="21600"/>
                </a:lnTo>
                <a:lnTo>
                  <a:pt x="21600" y="10800"/>
                </a:lnTo>
                <a:lnTo>
                  <a:pt x="18971" y="0"/>
                </a:lnTo>
                <a:lnTo>
                  <a:pt x="0" y="0"/>
                </a:lnTo>
                <a:close/>
              </a:path>
            </a:pathLst>
          </a:custGeom>
          <a:solidFill>
            <a:srgbClr val="75707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900">
              <a:solidFill>
                <a:schemeClr val="dk1"/>
              </a:solidFill>
              <a:latin typeface="Lato Light"/>
              <a:ea typeface="Lato Light"/>
              <a:cs typeface="Lato Light"/>
              <a:sym typeface="Lato Light"/>
            </a:endParaRPr>
          </a:p>
        </p:txBody>
      </p:sp>
      <p:sp>
        <p:nvSpPr>
          <p:cNvPr id="406" name="Google Shape;406;p46"/>
          <p:cNvSpPr txBox="1"/>
          <p:nvPr/>
        </p:nvSpPr>
        <p:spPr>
          <a:xfrm>
            <a:off x="920802" y="1758243"/>
            <a:ext cx="2025300" cy="230700"/>
          </a:xfrm>
          <a:prstGeom prst="rect">
            <a:avLst/>
          </a:prstGeom>
          <a:noFill/>
          <a:ln>
            <a:noFill/>
          </a:ln>
        </p:spPr>
        <p:txBody>
          <a:bodyPr spcFirstLastPara="1" wrap="square" lIns="68575" tIns="34275" rIns="68575" bIns="34275" anchor="ctr" anchorCtr="0">
            <a:noAutofit/>
          </a:bodyPr>
          <a:lstStyle/>
          <a:p>
            <a:pPr marL="0" marR="0" lvl="0" indent="0" algn="l" rtl="0">
              <a:spcBef>
                <a:spcPts val="0"/>
              </a:spcBef>
              <a:spcAft>
                <a:spcPts val="0"/>
              </a:spcAft>
              <a:buNone/>
            </a:pPr>
            <a:r>
              <a:rPr lang="en" sz="1100" b="1">
                <a:solidFill>
                  <a:schemeClr val="lt1"/>
                </a:solidFill>
                <a:latin typeface="Open Sans"/>
                <a:ea typeface="Open Sans"/>
                <a:cs typeface="Open Sans"/>
                <a:sym typeface="Open Sans"/>
              </a:rPr>
              <a:t>Needs / Wants</a:t>
            </a:r>
            <a:endParaRPr sz="1100">
              <a:latin typeface="Open Sans"/>
              <a:ea typeface="Open Sans"/>
              <a:cs typeface="Open Sans"/>
              <a:sym typeface="Open Sans"/>
            </a:endParaRPr>
          </a:p>
        </p:txBody>
      </p:sp>
      <p:sp>
        <p:nvSpPr>
          <p:cNvPr id="407" name="Google Shape;407;p46"/>
          <p:cNvSpPr txBox="1"/>
          <p:nvPr/>
        </p:nvSpPr>
        <p:spPr>
          <a:xfrm>
            <a:off x="904819" y="2344617"/>
            <a:ext cx="2025300" cy="230700"/>
          </a:xfrm>
          <a:prstGeom prst="rect">
            <a:avLst/>
          </a:prstGeom>
          <a:noFill/>
          <a:ln>
            <a:noFill/>
          </a:ln>
        </p:spPr>
        <p:txBody>
          <a:bodyPr spcFirstLastPara="1" wrap="square" lIns="68575" tIns="34275" rIns="68575" bIns="34275" anchor="ctr" anchorCtr="0">
            <a:noAutofit/>
          </a:bodyPr>
          <a:lstStyle/>
          <a:p>
            <a:pPr marL="0" marR="0" lvl="0" indent="0" algn="l" rtl="0">
              <a:spcBef>
                <a:spcPts val="0"/>
              </a:spcBef>
              <a:spcAft>
                <a:spcPts val="0"/>
              </a:spcAft>
              <a:buNone/>
            </a:pPr>
            <a:r>
              <a:rPr lang="en" sz="1100" b="1">
                <a:solidFill>
                  <a:schemeClr val="lt1"/>
                </a:solidFill>
                <a:latin typeface="Open Sans"/>
                <a:ea typeface="Open Sans"/>
                <a:cs typeface="Open Sans"/>
                <a:sym typeface="Open Sans"/>
              </a:rPr>
              <a:t>Qualification</a:t>
            </a:r>
            <a:endParaRPr sz="1100">
              <a:latin typeface="Open Sans"/>
              <a:ea typeface="Open Sans"/>
              <a:cs typeface="Open Sans"/>
              <a:sym typeface="Open Sans"/>
            </a:endParaRPr>
          </a:p>
        </p:txBody>
      </p:sp>
      <p:sp>
        <p:nvSpPr>
          <p:cNvPr id="408" name="Google Shape;408;p46"/>
          <p:cNvSpPr txBox="1"/>
          <p:nvPr/>
        </p:nvSpPr>
        <p:spPr>
          <a:xfrm>
            <a:off x="904819" y="2946495"/>
            <a:ext cx="2025300" cy="230700"/>
          </a:xfrm>
          <a:prstGeom prst="rect">
            <a:avLst/>
          </a:prstGeom>
          <a:noFill/>
          <a:ln>
            <a:noFill/>
          </a:ln>
        </p:spPr>
        <p:txBody>
          <a:bodyPr spcFirstLastPara="1" wrap="square" lIns="68575" tIns="34275" rIns="68575" bIns="34275" anchor="ctr" anchorCtr="0">
            <a:noAutofit/>
          </a:bodyPr>
          <a:lstStyle/>
          <a:p>
            <a:pPr marL="0" marR="0" lvl="0" indent="0" algn="l" rtl="0">
              <a:spcBef>
                <a:spcPts val="0"/>
              </a:spcBef>
              <a:spcAft>
                <a:spcPts val="0"/>
              </a:spcAft>
              <a:buNone/>
            </a:pPr>
            <a:r>
              <a:rPr lang="en" sz="1100" b="1">
                <a:solidFill>
                  <a:schemeClr val="lt1"/>
                </a:solidFill>
                <a:latin typeface="Open Sans"/>
                <a:ea typeface="Open Sans"/>
                <a:cs typeface="Open Sans"/>
                <a:sym typeface="Open Sans"/>
              </a:rPr>
              <a:t>Presentation</a:t>
            </a:r>
            <a:endParaRPr sz="1100">
              <a:latin typeface="Open Sans"/>
              <a:ea typeface="Open Sans"/>
              <a:cs typeface="Open Sans"/>
              <a:sym typeface="Open Sans"/>
            </a:endParaRPr>
          </a:p>
        </p:txBody>
      </p:sp>
      <p:sp>
        <p:nvSpPr>
          <p:cNvPr id="409" name="Google Shape;409;p46"/>
          <p:cNvSpPr txBox="1"/>
          <p:nvPr/>
        </p:nvSpPr>
        <p:spPr>
          <a:xfrm>
            <a:off x="920801" y="3558067"/>
            <a:ext cx="2025300" cy="230700"/>
          </a:xfrm>
          <a:prstGeom prst="rect">
            <a:avLst/>
          </a:prstGeom>
          <a:noFill/>
          <a:ln>
            <a:noFill/>
          </a:ln>
        </p:spPr>
        <p:txBody>
          <a:bodyPr spcFirstLastPara="1" wrap="square" lIns="68575" tIns="34275" rIns="68575" bIns="34275" anchor="ctr" anchorCtr="0">
            <a:noAutofit/>
          </a:bodyPr>
          <a:lstStyle/>
          <a:p>
            <a:pPr marL="0" marR="0" lvl="0" indent="0" algn="l" rtl="0">
              <a:spcBef>
                <a:spcPts val="0"/>
              </a:spcBef>
              <a:spcAft>
                <a:spcPts val="0"/>
              </a:spcAft>
              <a:buNone/>
            </a:pPr>
            <a:r>
              <a:rPr lang="en" sz="1100" b="1">
                <a:solidFill>
                  <a:schemeClr val="lt1"/>
                </a:solidFill>
                <a:latin typeface="Open Sans"/>
                <a:ea typeface="Open Sans"/>
                <a:cs typeface="Open Sans"/>
                <a:sym typeface="Open Sans"/>
              </a:rPr>
              <a:t>Elimination</a:t>
            </a:r>
            <a:endParaRPr sz="1100">
              <a:latin typeface="Open Sans"/>
              <a:ea typeface="Open Sans"/>
              <a:cs typeface="Open Sans"/>
              <a:sym typeface="Open Sans"/>
            </a:endParaRPr>
          </a:p>
        </p:txBody>
      </p:sp>
      <p:sp>
        <p:nvSpPr>
          <p:cNvPr id="410" name="Google Shape;410;p46"/>
          <p:cNvSpPr txBox="1"/>
          <p:nvPr/>
        </p:nvSpPr>
        <p:spPr>
          <a:xfrm>
            <a:off x="904818" y="4171853"/>
            <a:ext cx="2025300" cy="230700"/>
          </a:xfrm>
          <a:prstGeom prst="rect">
            <a:avLst/>
          </a:prstGeom>
          <a:noFill/>
          <a:ln>
            <a:noFill/>
          </a:ln>
        </p:spPr>
        <p:txBody>
          <a:bodyPr spcFirstLastPara="1" wrap="square" lIns="68575" tIns="34275" rIns="68575" bIns="34275" anchor="ctr" anchorCtr="0">
            <a:noAutofit/>
          </a:bodyPr>
          <a:lstStyle/>
          <a:p>
            <a:pPr marL="0" marR="0" lvl="0" indent="0" algn="l" rtl="0">
              <a:spcBef>
                <a:spcPts val="0"/>
              </a:spcBef>
              <a:spcAft>
                <a:spcPts val="0"/>
              </a:spcAft>
              <a:buNone/>
            </a:pPr>
            <a:r>
              <a:rPr lang="en" sz="1100" b="1">
                <a:solidFill>
                  <a:schemeClr val="lt1"/>
                </a:solidFill>
                <a:latin typeface="Open Sans"/>
                <a:ea typeface="Open Sans"/>
                <a:cs typeface="Open Sans"/>
                <a:sym typeface="Open Sans"/>
              </a:rPr>
              <a:t>Win - Win</a:t>
            </a:r>
            <a:endParaRPr sz="1100">
              <a:latin typeface="Open Sans"/>
              <a:ea typeface="Open Sans"/>
              <a:cs typeface="Open Sans"/>
              <a:sym typeface="Open Sans"/>
            </a:endParaRPr>
          </a:p>
        </p:txBody>
      </p:sp>
      <p:sp>
        <p:nvSpPr>
          <p:cNvPr id="411" name="Google Shape;411;p46"/>
          <p:cNvSpPr txBox="1"/>
          <p:nvPr/>
        </p:nvSpPr>
        <p:spPr>
          <a:xfrm>
            <a:off x="3699045" y="1063118"/>
            <a:ext cx="5194500" cy="254100"/>
          </a:xfrm>
          <a:prstGeom prst="rect">
            <a:avLst/>
          </a:prstGeom>
          <a:noFill/>
          <a:ln>
            <a:noFill/>
          </a:ln>
        </p:spPr>
        <p:txBody>
          <a:bodyPr spcFirstLastPara="1" wrap="square" lIns="81550" tIns="40775" rIns="81550" bIns="40775" anchor="t" anchorCtr="0">
            <a:noAutofit/>
          </a:bodyPr>
          <a:lstStyle/>
          <a:p>
            <a:pPr marL="0" marR="0" lvl="0" indent="0" algn="l" rtl="0">
              <a:lnSpc>
                <a:spcPct val="154166"/>
              </a:lnSpc>
              <a:spcBef>
                <a:spcPts val="0"/>
              </a:spcBef>
              <a:spcAft>
                <a:spcPts val="0"/>
              </a:spcAft>
              <a:buClr>
                <a:schemeClr val="lt1"/>
              </a:buClr>
              <a:buSzPts val="900"/>
              <a:buFont typeface="Arial"/>
              <a:buNone/>
            </a:pPr>
            <a:r>
              <a:rPr lang="en" sz="900" u="none">
                <a:solidFill>
                  <a:srgbClr val="434343"/>
                </a:solidFill>
                <a:latin typeface="Open Sans"/>
                <a:ea typeface="Open Sans"/>
                <a:cs typeface="Open Sans"/>
                <a:sym typeface="Open Sans"/>
              </a:rPr>
              <a:t>Do they fit my profile, Are they approachable?</a:t>
            </a:r>
            <a:endParaRPr sz="900" u="none">
              <a:solidFill>
                <a:srgbClr val="434343"/>
              </a:solidFill>
              <a:latin typeface="Open Sans"/>
              <a:ea typeface="Open Sans"/>
              <a:cs typeface="Open Sans"/>
              <a:sym typeface="Open Sans"/>
            </a:endParaRPr>
          </a:p>
        </p:txBody>
      </p:sp>
      <p:sp>
        <p:nvSpPr>
          <p:cNvPr id="412" name="Google Shape;412;p46"/>
          <p:cNvSpPr txBox="1"/>
          <p:nvPr/>
        </p:nvSpPr>
        <p:spPr>
          <a:xfrm>
            <a:off x="3699045" y="1619598"/>
            <a:ext cx="5194500" cy="433800"/>
          </a:xfrm>
          <a:prstGeom prst="rect">
            <a:avLst/>
          </a:prstGeom>
          <a:noFill/>
          <a:ln>
            <a:noFill/>
          </a:ln>
        </p:spPr>
        <p:txBody>
          <a:bodyPr spcFirstLastPara="1" wrap="square" lIns="81550" tIns="40775" rIns="81550" bIns="40775" anchor="t" anchorCtr="0">
            <a:noAutofit/>
          </a:bodyPr>
          <a:lstStyle/>
          <a:p>
            <a:pPr marL="0" marR="0" lvl="0" indent="0" algn="l" rtl="0">
              <a:lnSpc>
                <a:spcPct val="154166"/>
              </a:lnSpc>
              <a:spcBef>
                <a:spcPts val="0"/>
              </a:spcBef>
              <a:spcAft>
                <a:spcPts val="0"/>
              </a:spcAft>
              <a:buClr>
                <a:schemeClr val="lt1"/>
              </a:buClr>
              <a:buSzPts val="900"/>
              <a:buFont typeface="Arial"/>
              <a:buNone/>
            </a:pPr>
            <a:r>
              <a:rPr lang="en" sz="900" u="none">
                <a:solidFill>
                  <a:srgbClr val="434343"/>
                </a:solidFill>
                <a:latin typeface="Open Sans"/>
                <a:ea typeface="Open Sans"/>
                <a:cs typeface="Open Sans"/>
                <a:sym typeface="Open Sans"/>
              </a:rPr>
              <a:t>Does the prospect have a legitimate need/want for my product or service, Will it be a profitable &amp; enjoyable engagement for me?</a:t>
            </a:r>
            <a:endParaRPr sz="900" u="none">
              <a:solidFill>
                <a:srgbClr val="434343"/>
              </a:solidFill>
              <a:latin typeface="Open Sans"/>
              <a:ea typeface="Open Sans"/>
              <a:cs typeface="Open Sans"/>
              <a:sym typeface="Open Sans"/>
            </a:endParaRPr>
          </a:p>
        </p:txBody>
      </p:sp>
      <p:sp>
        <p:nvSpPr>
          <p:cNvPr id="413" name="Google Shape;413;p46"/>
          <p:cNvSpPr txBox="1"/>
          <p:nvPr/>
        </p:nvSpPr>
        <p:spPr>
          <a:xfrm>
            <a:off x="3699047" y="2220017"/>
            <a:ext cx="5194500" cy="436800"/>
          </a:xfrm>
          <a:prstGeom prst="rect">
            <a:avLst/>
          </a:prstGeom>
          <a:noFill/>
          <a:ln>
            <a:noFill/>
          </a:ln>
        </p:spPr>
        <p:txBody>
          <a:bodyPr spcFirstLastPara="1" wrap="square" lIns="81550" tIns="40775" rIns="81550" bIns="40775" anchor="t" anchorCtr="0">
            <a:noAutofit/>
          </a:bodyPr>
          <a:lstStyle/>
          <a:p>
            <a:pPr marL="0" marR="0" lvl="0" indent="0" algn="l" rtl="0">
              <a:lnSpc>
                <a:spcPct val="154166"/>
              </a:lnSpc>
              <a:spcBef>
                <a:spcPts val="0"/>
              </a:spcBef>
              <a:spcAft>
                <a:spcPts val="0"/>
              </a:spcAft>
              <a:buClr>
                <a:schemeClr val="lt1"/>
              </a:buClr>
              <a:buSzPts val="900"/>
              <a:buFont typeface="Arial"/>
              <a:buNone/>
            </a:pPr>
            <a:r>
              <a:rPr lang="en" sz="900" u="none">
                <a:solidFill>
                  <a:srgbClr val="434343"/>
                </a:solidFill>
                <a:latin typeface="Open Sans"/>
                <a:ea typeface="Open Sans"/>
                <a:cs typeface="Open Sans"/>
                <a:sym typeface="Open Sans"/>
              </a:rPr>
              <a:t>Does the prospect have the Financial &amp; Non-Financial Means to be able to complete a transaction with me? (Time, Money, Health, Age, etc.)</a:t>
            </a:r>
            <a:endParaRPr sz="900" u="none">
              <a:solidFill>
                <a:srgbClr val="434343"/>
              </a:solidFill>
              <a:latin typeface="Open Sans"/>
              <a:ea typeface="Open Sans"/>
              <a:cs typeface="Open Sans"/>
              <a:sym typeface="Open Sans"/>
            </a:endParaRPr>
          </a:p>
        </p:txBody>
      </p:sp>
      <p:sp>
        <p:nvSpPr>
          <p:cNvPr id="414" name="Google Shape;414;p46"/>
          <p:cNvSpPr txBox="1"/>
          <p:nvPr/>
        </p:nvSpPr>
        <p:spPr>
          <a:xfrm>
            <a:off x="3699046" y="2843521"/>
            <a:ext cx="5194500" cy="436800"/>
          </a:xfrm>
          <a:prstGeom prst="rect">
            <a:avLst/>
          </a:prstGeom>
          <a:noFill/>
          <a:ln>
            <a:noFill/>
          </a:ln>
        </p:spPr>
        <p:txBody>
          <a:bodyPr spcFirstLastPara="1" wrap="square" lIns="81550" tIns="40775" rIns="81550" bIns="40775" anchor="t" anchorCtr="0">
            <a:noAutofit/>
          </a:bodyPr>
          <a:lstStyle/>
          <a:p>
            <a:pPr marL="0" marR="0" lvl="0" indent="0" algn="l" rtl="0">
              <a:lnSpc>
                <a:spcPct val="154166"/>
              </a:lnSpc>
              <a:spcBef>
                <a:spcPts val="0"/>
              </a:spcBef>
              <a:spcAft>
                <a:spcPts val="0"/>
              </a:spcAft>
              <a:buClr>
                <a:schemeClr val="lt1"/>
              </a:buClr>
              <a:buSzPts val="900"/>
              <a:buFont typeface="Arial"/>
              <a:buNone/>
            </a:pPr>
            <a:r>
              <a:rPr lang="en" sz="900" u="none">
                <a:solidFill>
                  <a:srgbClr val="434343"/>
                </a:solidFill>
                <a:latin typeface="Open Sans"/>
                <a:ea typeface="Open Sans"/>
                <a:cs typeface="Open Sans"/>
                <a:sym typeface="Open Sans"/>
              </a:rPr>
              <a:t>Does my product or service offer satisfy their needs &amp; wants; Is it a win-win, Is there anything I’ve missed that could prevent us doing business?</a:t>
            </a:r>
            <a:endParaRPr sz="900" u="none">
              <a:solidFill>
                <a:srgbClr val="434343"/>
              </a:solidFill>
              <a:latin typeface="Open Sans"/>
              <a:ea typeface="Open Sans"/>
              <a:cs typeface="Open Sans"/>
              <a:sym typeface="Open Sans"/>
            </a:endParaRPr>
          </a:p>
        </p:txBody>
      </p:sp>
      <p:sp>
        <p:nvSpPr>
          <p:cNvPr id="415" name="Google Shape;415;p46"/>
          <p:cNvSpPr/>
          <p:nvPr/>
        </p:nvSpPr>
        <p:spPr>
          <a:xfrm>
            <a:off x="3699047" y="3456044"/>
            <a:ext cx="5194500" cy="420600"/>
          </a:xfrm>
          <a:prstGeom prst="rect">
            <a:avLst/>
          </a:prstGeom>
          <a:noFill/>
          <a:ln>
            <a:noFill/>
          </a:ln>
        </p:spPr>
        <p:txBody>
          <a:bodyPr spcFirstLastPara="1" wrap="square" lIns="68575" tIns="34275" rIns="68575" bIns="34275" anchor="t" anchorCtr="0">
            <a:noAutofit/>
          </a:bodyPr>
          <a:lstStyle/>
          <a:p>
            <a:pPr marL="0" marR="0" lvl="0" indent="0" algn="l" rtl="0">
              <a:lnSpc>
                <a:spcPct val="154166"/>
              </a:lnSpc>
              <a:spcBef>
                <a:spcPts val="0"/>
              </a:spcBef>
              <a:spcAft>
                <a:spcPts val="0"/>
              </a:spcAft>
              <a:buNone/>
            </a:pPr>
            <a:r>
              <a:rPr lang="en" sz="900">
                <a:solidFill>
                  <a:srgbClr val="434343"/>
                </a:solidFill>
                <a:latin typeface="Open Sans"/>
                <a:ea typeface="Open Sans"/>
                <a:cs typeface="Open Sans"/>
                <a:sym typeface="Open Sans"/>
              </a:rPr>
              <a:t>What can I ‘take off the table’ to narrow the focus of decision, will the prospect allow me to engage in their ‘decision space’?</a:t>
            </a:r>
            <a:endParaRPr sz="900">
              <a:solidFill>
                <a:srgbClr val="434343"/>
              </a:solidFill>
              <a:latin typeface="Open Sans"/>
              <a:ea typeface="Open Sans"/>
              <a:cs typeface="Open Sans"/>
              <a:sym typeface="Open Sans"/>
            </a:endParaRPr>
          </a:p>
        </p:txBody>
      </p:sp>
      <p:sp>
        <p:nvSpPr>
          <p:cNvPr id="416" name="Google Shape;416;p46"/>
          <p:cNvSpPr/>
          <p:nvPr/>
        </p:nvSpPr>
        <p:spPr>
          <a:xfrm>
            <a:off x="3699047" y="4056657"/>
            <a:ext cx="5194500" cy="423600"/>
          </a:xfrm>
          <a:prstGeom prst="rect">
            <a:avLst/>
          </a:prstGeom>
          <a:noFill/>
          <a:ln>
            <a:noFill/>
          </a:ln>
        </p:spPr>
        <p:txBody>
          <a:bodyPr spcFirstLastPara="1" wrap="square" lIns="68575" tIns="34275" rIns="68575" bIns="34275" anchor="t" anchorCtr="0">
            <a:noAutofit/>
          </a:bodyPr>
          <a:lstStyle/>
          <a:p>
            <a:pPr marL="0" marR="0" lvl="0" indent="0" algn="l" rtl="0">
              <a:lnSpc>
                <a:spcPct val="154166"/>
              </a:lnSpc>
              <a:spcBef>
                <a:spcPts val="0"/>
              </a:spcBef>
              <a:spcAft>
                <a:spcPts val="0"/>
              </a:spcAft>
              <a:buNone/>
            </a:pPr>
            <a:r>
              <a:rPr lang="en" sz="900">
                <a:solidFill>
                  <a:srgbClr val="434343"/>
                </a:solidFill>
                <a:latin typeface="Open Sans"/>
                <a:ea typeface="Open Sans"/>
                <a:cs typeface="Open Sans"/>
                <a:sym typeface="Open Sans"/>
              </a:rPr>
              <a:t>Is the answer yes/no or a reduction or layered delivery over time, If so why/why not and How long, Is their request acceptable to me/business?</a:t>
            </a:r>
            <a:endParaRPr sz="900">
              <a:solidFill>
                <a:srgbClr val="434343"/>
              </a:solidFill>
              <a:latin typeface="Open Sans"/>
              <a:ea typeface="Open Sans"/>
              <a:cs typeface="Open Sans"/>
              <a:sym typeface="Open Sans"/>
            </a:endParaRPr>
          </a:p>
        </p:txBody>
      </p:sp>
      <p:sp>
        <p:nvSpPr>
          <p:cNvPr id="417" name="Google Shape;417;p46"/>
          <p:cNvSpPr/>
          <p:nvPr/>
        </p:nvSpPr>
        <p:spPr>
          <a:xfrm rot="-5400000">
            <a:off x="6612697"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418" name="Google Shape;418;p46"/>
          <p:cNvSpPr/>
          <p:nvPr/>
        </p:nvSpPr>
        <p:spPr>
          <a:xfrm>
            <a:off x="49427" y="49427"/>
            <a:ext cx="9039000" cy="897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419" name="Google Shape;419;p46"/>
          <p:cNvSpPr/>
          <p:nvPr/>
        </p:nvSpPr>
        <p:spPr>
          <a:xfrm>
            <a:off x="1513702" y="5004196"/>
            <a:ext cx="7574700" cy="897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420" name="Google Shape;420;p46"/>
          <p:cNvSpPr/>
          <p:nvPr/>
        </p:nvSpPr>
        <p:spPr>
          <a:xfrm rot="-5400000">
            <a:off x="-2339773"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421" name="Google Shape;421;p46"/>
          <p:cNvSpPr/>
          <p:nvPr/>
        </p:nvSpPr>
        <p:spPr>
          <a:xfrm>
            <a:off x="49427" y="5004196"/>
            <a:ext cx="579000" cy="897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422" name="Google Shape;422;p46"/>
          <p:cNvSpPr txBox="1"/>
          <p:nvPr/>
        </p:nvSpPr>
        <p:spPr>
          <a:xfrm>
            <a:off x="601400" y="1080621"/>
            <a:ext cx="166200" cy="2769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sz="1400">
                <a:solidFill>
                  <a:schemeClr val="lt1"/>
                </a:solidFill>
                <a:latin typeface="Architects Daughter"/>
                <a:ea typeface="Architects Daughter"/>
                <a:cs typeface="Architects Daughter"/>
                <a:sym typeface="Architects Daughter"/>
              </a:rPr>
              <a:t>1</a:t>
            </a:r>
            <a:endParaRPr sz="1400">
              <a:solidFill>
                <a:schemeClr val="lt1"/>
              </a:solidFill>
              <a:latin typeface="Architects Daughter"/>
              <a:ea typeface="Architects Daughter"/>
              <a:cs typeface="Architects Daughter"/>
              <a:sym typeface="Architects Daughter"/>
            </a:endParaRPr>
          </a:p>
        </p:txBody>
      </p:sp>
      <p:sp>
        <p:nvSpPr>
          <p:cNvPr id="423" name="Google Shape;423;p46"/>
          <p:cNvSpPr txBox="1"/>
          <p:nvPr/>
        </p:nvSpPr>
        <p:spPr>
          <a:xfrm>
            <a:off x="550084" y="1721845"/>
            <a:ext cx="262200" cy="2769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sz="1400">
                <a:solidFill>
                  <a:schemeClr val="lt1"/>
                </a:solidFill>
                <a:latin typeface="Architects Daughter"/>
                <a:ea typeface="Architects Daughter"/>
                <a:cs typeface="Architects Daughter"/>
                <a:sym typeface="Architects Daughter"/>
              </a:rPr>
              <a:t>2</a:t>
            </a:r>
            <a:endParaRPr sz="1400">
              <a:solidFill>
                <a:schemeClr val="lt1"/>
              </a:solidFill>
              <a:latin typeface="Architects Daughter"/>
              <a:ea typeface="Architects Daughter"/>
              <a:cs typeface="Architects Daughter"/>
              <a:sym typeface="Architects Daughter"/>
            </a:endParaRPr>
          </a:p>
        </p:txBody>
      </p:sp>
      <p:sp>
        <p:nvSpPr>
          <p:cNvPr id="424" name="Google Shape;424;p46"/>
          <p:cNvSpPr txBox="1"/>
          <p:nvPr/>
        </p:nvSpPr>
        <p:spPr>
          <a:xfrm>
            <a:off x="565896" y="2316955"/>
            <a:ext cx="249000" cy="2769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sz="1400">
                <a:solidFill>
                  <a:schemeClr val="lt1"/>
                </a:solidFill>
                <a:latin typeface="Architects Daughter"/>
                <a:ea typeface="Architects Daughter"/>
                <a:cs typeface="Architects Daughter"/>
                <a:sym typeface="Architects Daughter"/>
              </a:rPr>
              <a:t>3</a:t>
            </a:r>
            <a:endParaRPr sz="1400">
              <a:solidFill>
                <a:schemeClr val="lt1"/>
              </a:solidFill>
              <a:latin typeface="Architects Daughter"/>
              <a:ea typeface="Architects Daughter"/>
              <a:cs typeface="Architects Daughter"/>
              <a:sym typeface="Architects Daughter"/>
            </a:endParaRPr>
          </a:p>
        </p:txBody>
      </p:sp>
      <p:sp>
        <p:nvSpPr>
          <p:cNvPr id="425" name="Google Shape;425;p46"/>
          <p:cNvSpPr txBox="1"/>
          <p:nvPr/>
        </p:nvSpPr>
        <p:spPr>
          <a:xfrm>
            <a:off x="538663" y="2936348"/>
            <a:ext cx="285000" cy="2769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sz="1400">
                <a:solidFill>
                  <a:schemeClr val="lt1"/>
                </a:solidFill>
                <a:latin typeface="Architects Daughter"/>
                <a:ea typeface="Architects Daughter"/>
                <a:cs typeface="Architects Daughter"/>
                <a:sym typeface="Architects Daughter"/>
              </a:rPr>
              <a:t>4</a:t>
            </a:r>
            <a:endParaRPr sz="1400">
              <a:solidFill>
                <a:schemeClr val="lt1"/>
              </a:solidFill>
              <a:latin typeface="Architects Daughter"/>
              <a:ea typeface="Architects Daughter"/>
              <a:cs typeface="Architects Daughter"/>
              <a:sym typeface="Architects Daughter"/>
            </a:endParaRPr>
          </a:p>
        </p:txBody>
      </p:sp>
      <p:sp>
        <p:nvSpPr>
          <p:cNvPr id="426" name="Google Shape;426;p46"/>
          <p:cNvSpPr txBox="1"/>
          <p:nvPr/>
        </p:nvSpPr>
        <p:spPr>
          <a:xfrm>
            <a:off x="556116" y="3564233"/>
            <a:ext cx="291000" cy="2769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sz="1400">
                <a:solidFill>
                  <a:schemeClr val="lt1"/>
                </a:solidFill>
                <a:latin typeface="Architects Daughter"/>
                <a:ea typeface="Architects Daughter"/>
                <a:cs typeface="Architects Daughter"/>
                <a:sym typeface="Architects Daughter"/>
              </a:rPr>
              <a:t>5</a:t>
            </a:r>
            <a:endParaRPr sz="1400">
              <a:solidFill>
                <a:schemeClr val="lt1"/>
              </a:solidFill>
              <a:latin typeface="Architects Daughter"/>
              <a:ea typeface="Architects Daughter"/>
              <a:cs typeface="Architects Daughter"/>
              <a:sym typeface="Architects Daughter"/>
            </a:endParaRPr>
          </a:p>
        </p:txBody>
      </p:sp>
      <p:sp>
        <p:nvSpPr>
          <p:cNvPr id="427" name="Google Shape;427;p46"/>
          <p:cNvSpPr txBox="1"/>
          <p:nvPr/>
        </p:nvSpPr>
        <p:spPr>
          <a:xfrm>
            <a:off x="547155" y="4182829"/>
            <a:ext cx="274200" cy="2769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sz="1400">
                <a:solidFill>
                  <a:schemeClr val="lt1"/>
                </a:solidFill>
                <a:latin typeface="Architects Daughter"/>
                <a:ea typeface="Architects Daughter"/>
                <a:cs typeface="Architects Daughter"/>
                <a:sym typeface="Architects Daughter"/>
              </a:rPr>
              <a:t>6</a:t>
            </a:r>
            <a:endParaRPr sz="1400">
              <a:solidFill>
                <a:schemeClr val="lt1"/>
              </a:solidFill>
              <a:latin typeface="Architects Daughter"/>
              <a:ea typeface="Architects Daughter"/>
              <a:cs typeface="Architects Daughter"/>
              <a:sym typeface="Architects Daughter"/>
            </a:endParaRPr>
          </a:p>
        </p:txBody>
      </p:sp>
      <p:sp>
        <p:nvSpPr>
          <p:cNvPr id="428" name="Google Shape;428;p46"/>
          <p:cNvSpPr txBox="1">
            <a:spLocks noGrp="1"/>
          </p:cNvSpPr>
          <p:nvPr>
            <p:ph type="title" idx="4294967295"/>
          </p:nvPr>
        </p:nvSpPr>
        <p:spPr>
          <a:xfrm>
            <a:off x="250025" y="192275"/>
            <a:ext cx="7000800" cy="5637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lt1"/>
              </a:buClr>
              <a:buSzPts val="2400"/>
              <a:buFont typeface="Architects Daughter"/>
              <a:buNone/>
            </a:pPr>
            <a:r>
              <a:rPr lang="en" sz="2400" i="0" u="none" strike="noStrike" cap="none">
                <a:solidFill>
                  <a:srgbClr val="002B64"/>
                </a:solidFill>
                <a:latin typeface="Open Sans"/>
                <a:ea typeface="Open Sans"/>
                <a:cs typeface="Open Sans"/>
                <a:sym typeface="Open Sans"/>
              </a:rPr>
              <a:t>The Logical </a:t>
            </a:r>
            <a:r>
              <a:rPr lang="en" sz="2400">
                <a:solidFill>
                  <a:srgbClr val="002B64"/>
                </a:solidFill>
                <a:latin typeface="Open Sans"/>
                <a:ea typeface="Open Sans"/>
                <a:cs typeface="Open Sans"/>
                <a:sym typeface="Open Sans"/>
              </a:rPr>
              <a:t>(Campaign) Decision Points</a:t>
            </a:r>
            <a:endParaRPr sz="2400" i="0" u="none" strike="noStrike" cap="none">
              <a:solidFill>
                <a:srgbClr val="002B64"/>
              </a:solidFill>
              <a:latin typeface="Open Sans"/>
              <a:ea typeface="Open Sans"/>
              <a:cs typeface="Open Sans"/>
              <a:sym typeface="Open Sans"/>
            </a:endParaRPr>
          </a:p>
        </p:txBody>
      </p:sp>
      <p:pic>
        <p:nvPicPr>
          <p:cNvPr id="429" name="Google Shape;429;p46"/>
          <p:cNvPicPr preferRelativeResize="0"/>
          <p:nvPr/>
        </p:nvPicPr>
        <p:blipFill rotWithShape="1">
          <a:blip r:embed="rId3">
            <a:alphaModFix/>
          </a:blip>
          <a:srcRect t="3419" b="3428"/>
          <a:stretch/>
        </p:blipFill>
        <p:spPr>
          <a:xfrm>
            <a:off x="626925" y="4628126"/>
            <a:ext cx="886774" cy="4485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33"/>
        <p:cNvGrpSpPr/>
        <p:nvPr/>
      </p:nvGrpSpPr>
      <p:grpSpPr>
        <a:xfrm>
          <a:off x="0" y="0"/>
          <a:ext cx="0" cy="0"/>
          <a:chOff x="0" y="0"/>
          <a:chExt cx="0" cy="0"/>
        </a:xfrm>
      </p:grpSpPr>
      <p:sp>
        <p:nvSpPr>
          <p:cNvPr id="434" name="Google Shape;434;p47"/>
          <p:cNvSpPr/>
          <p:nvPr/>
        </p:nvSpPr>
        <p:spPr>
          <a:xfrm>
            <a:off x="562717" y="784207"/>
            <a:ext cx="249900" cy="4178100"/>
          </a:xfrm>
          <a:prstGeom prst="round2SameRect">
            <a:avLst>
              <a:gd name="adj1" fmla="val 45271"/>
              <a:gd name="adj2" fmla="val 0"/>
            </a:avLst>
          </a:prstGeom>
          <a:solidFill>
            <a:srgbClr val="B9B9B9"/>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900">
              <a:solidFill>
                <a:schemeClr val="dk1"/>
              </a:solidFill>
              <a:latin typeface="Lato Light"/>
              <a:ea typeface="Lato Light"/>
              <a:cs typeface="Lato Light"/>
              <a:sym typeface="Lato Light"/>
            </a:endParaRPr>
          </a:p>
        </p:txBody>
      </p:sp>
      <p:sp>
        <p:nvSpPr>
          <p:cNvPr id="435" name="Google Shape;435;p47"/>
          <p:cNvSpPr/>
          <p:nvPr/>
        </p:nvSpPr>
        <p:spPr>
          <a:xfrm>
            <a:off x="562717" y="1019402"/>
            <a:ext cx="2717550" cy="406674"/>
          </a:xfrm>
          <a:custGeom>
            <a:avLst/>
            <a:gdLst/>
            <a:ahLst/>
            <a:cxnLst/>
            <a:rect l="l" t="t" r="r" b="b"/>
            <a:pathLst>
              <a:path w="21600" h="21600" extrusionOk="0">
                <a:moveTo>
                  <a:pt x="0" y="0"/>
                </a:moveTo>
                <a:lnTo>
                  <a:pt x="0" y="21600"/>
                </a:lnTo>
                <a:lnTo>
                  <a:pt x="18971" y="21600"/>
                </a:lnTo>
                <a:lnTo>
                  <a:pt x="21600" y="10800"/>
                </a:lnTo>
                <a:lnTo>
                  <a:pt x="18971" y="0"/>
                </a:lnTo>
                <a:lnTo>
                  <a:pt x="0" y="0"/>
                </a:lnTo>
                <a:close/>
              </a:path>
            </a:pathLst>
          </a:custGeom>
          <a:solidFill>
            <a:srgbClr val="00B05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900">
              <a:solidFill>
                <a:schemeClr val="dk1"/>
              </a:solidFill>
              <a:latin typeface="Lato Light"/>
              <a:ea typeface="Lato Light"/>
              <a:cs typeface="Lato Light"/>
              <a:sym typeface="Lato Light"/>
            </a:endParaRPr>
          </a:p>
        </p:txBody>
      </p:sp>
      <p:sp>
        <p:nvSpPr>
          <p:cNvPr id="436" name="Google Shape;436;p47"/>
          <p:cNvSpPr txBox="1"/>
          <p:nvPr/>
        </p:nvSpPr>
        <p:spPr>
          <a:xfrm>
            <a:off x="904820" y="1115042"/>
            <a:ext cx="2025300" cy="230700"/>
          </a:xfrm>
          <a:prstGeom prst="rect">
            <a:avLst/>
          </a:prstGeom>
          <a:noFill/>
          <a:ln>
            <a:noFill/>
          </a:ln>
        </p:spPr>
        <p:txBody>
          <a:bodyPr spcFirstLastPara="1" wrap="square" lIns="68575" tIns="34275" rIns="68575" bIns="34275" anchor="ctr" anchorCtr="0">
            <a:noAutofit/>
          </a:bodyPr>
          <a:lstStyle/>
          <a:p>
            <a:pPr marL="0" marR="0" lvl="0" indent="0" algn="l" rtl="0">
              <a:spcBef>
                <a:spcPts val="0"/>
              </a:spcBef>
              <a:spcAft>
                <a:spcPts val="0"/>
              </a:spcAft>
              <a:buNone/>
            </a:pPr>
            <a:r>
              <a:rPr lang="en" sz="1100" b="1">
                <a:solidFill>
                  <a:schemeClr val="lt1"/>
                </a:solidFill>
                <a:latin typeface="Open Sans"/>
                <a:ea typeface="Open Sans"/>
                <a:cs typeface="Open Sans"/>
                <a:sym typeface="Open Sans"/>
              </a:rPr>
              <a:t>Research</a:t>
            </a:r>
            <a:endParaRPr sz="1100" b="1">
              <a:solidFill>
                <a:schemeClr val="lt1"/>
              </a:solidFill>
              <a:latin typeface="Open Sans"/>
              <a:ea typeface="Open Sans"/>
              <a:cs typeface="Open Sans"/>
              <a:sym typeface="Open Sans"/>
            </a:endParaRPr>
          </a:p>
        </p:txBody>
      </p:sp>
      <p:sp>
        <p:nvSpPr>
          <p:cNvPr id="437" name="Google Shape;437;p47"/>
          <p:cNvSpPr/>
          <p:nvPr/>
        </p:nvSpPr>
        <p:spPr>
          <a:xfrm>
            <a:off x="558703" y="1633197"/>
            <a:ext cx="2717550" cy="406674"/>
          </a:xfrm>
          <a:custGeom>
            <a:avLst/>
            <a:gdLst/>
            <a:ahLst/>
            <a:cxnLst/>
            <a:rect l="l" t="t" r="r" b="b"/>
            <a:pathLst>
              <a:path w="21600" h="21600" extrusionOk="0">
                <a:moveTo>
                  <a:pt x="0" y="0"/>
                </a:moveTo>
                <a:lnTo>
                  <a:pt x="0" y="21600"/>
                </a:lnTo>
                <a:lnTo>
                  <a:pt x="18971" y="21600"/>
                </a:lnTo>
                <a:lnTo>
                  <a:pt x="21600" y="10800"/>
                </a:lnTo>
                <a:lnTo>
                  <a:pt x="18971" y="0"/>
                </a:lnTo>
                <a:lnTo>
                  <a:pt x="0" y="0"/>
                </a:lnTo>
                <a:close/>
              </a:path>
            </a:pathLst>
          </a:custGeom>
          <a:solidFill>
            <a:schemeClr val="accent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900">
              <a:solidFill>
                <a:schemeClr val="dk1"/>
              </a:solidFill>
              <a:latin typeface="Lato Light"/>
              <a:ea typeface="Lato Light"/>
              <a:cs typeface="Lato Light"/>
              <a:sym typeface="Lato Light"/>
            </a:endParaRPr>
          </a:p>
        </p:txBody>
      </p:sp>
      <p:sp>
        <p:nvSpPr>
          <p:cNvPr id="438" name="Google Shape;438;p47"/>
          <p:cNvSpPr/>
          <p:nvPr/>
        </p:nvSpPr>
        <p:spPr>
          <a:xfrm>
            <a:off x="558703" y="2246992"/>
            <a:ext cx="2717550" cy="406674"/>
          </a:xfrm>
          <a:custGeom>
            <a:avLst/>
            <a:gdLst/>
            <a:ahLst/>
            <a:cxnLst/>
            <a:rect l="l" t="t" r="r" b="b"/>
            <a:pathLst>
              <a:path w="21600" h="21600" extrusionOk="0">
                <a:moveTo>
                  <a:pt x="0" y="0"/>
                </a:moveTo>
                <a:lnTo>
                  <a:pt x="0" y="21600"/>
                </a:lnTo>
                <a:lnTo>
                  <a:pt x="18971" y="21600"/>
                </a:lnTo>
                <a:lnTo>
                  <a:pt x="21600" y="10800"/>
                </a:lnTo>
                <a:lnTo>
                  <a:pt x="18971" y="0"/>
                </a:lnTo>
                <a:lnTo>
                  <a:pt x="0" y="0"/>
                </a:lnTo>
                <a:close/>
              </a:path>
            </a:pathLst>
          </a:custGeom>
          <a:solidFill>
            <a:srgbClr val="00B0F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900">
              <a:solidFill>
                <a:schemeClr val="dk1"/>
              </a:solidFill>
              <a:latin typeface="Lato Light"/>
              <a:ea typeface="Lato Light"/>
              <a:cs typeface="Lato Light"/>
              <a:sym typeface="Lato Light"/>
            </a:endParaRPr>
          </a:p>
        </p:txBody>
      </p:sp>
      <p:sp>
        <p:nvSpPr>
          <p:cNvPr id="439" name="Google Shape;439;p47"/>
          <p:cNvSpPr/>
          <p:nvPr/>
        </p:nvSpPr>
        <p:spPr>
          <a:xfrm>
            <a:off x="558703" y="2858563"/>
            <a:ext cx="2717550" cy="406674"/>
          </a:xfrm>
          <a:custGeom>
            <a:avLst/>
            <a:gdLst/>
            <a:ahLst/>
            <a:cxnLst/>
            <a:rect l="l" t="t" r="r" b="b"/>
            <a:pathLst>
              <a:path w="21600" h="21600" extrusionOk="0">
                <a:moveTo>
                  <a:pt x="0" y="0"/>
                </a:moveTo>
                <a:lnTo>
                  <a:pt x="0" y="21600"/>
                </a:lnTo>
                <a:lnTo>
                  <a:pt x="18971" y="21600"/>
                </a:lnTo>
                <a:lnTo>
                  <a:pt x="21600" y="10800"/>
                </a:lnTo>
                <a:lnTo>
                  <a:pt x="18971" y="0"/>
                </a:lnTo>
                <a:lnTo>
                  <a:pt x="0" y="0"/>
                </a:lnTo>
                <a:close/>
              </a:path>
            </a:pathLst>
          </a:custGeom>
          <a:solidFill>
            <a:schemeClr val="dk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900">
              <a:solidFill>
                <a:schemeClr val="dk1"/>
              </a:solidFill>
              <a:latin typeface="Lato Light"/>
              <a:ea typeface="Lato Light"/>
              <a:cs typeface="Lato Light"/>
              <a:sym typeface="Lato Light"/>
            </a:endParaRPr>
          </a:p>
        </p:txBody>
      </p:sp>
      <p:sp>
        <p:nvSpPr>
          <p:cNvPr id="440" name="Google Shape;440;p47"/>
          <p:cNvSpPr/>
          <p:nvPr/>
        </p:nvSpPr>
        <p:spPr>
          <a:xfrm>
            <a:off x="558703" y="3470135"/>
            <a:ext cx="2717550" cy="406674"/>
          </a:xfrm>
          <a:custGeom>
            <a:avLst/>
            <a:gdLst/>
            <a:ahLst/>
            <a:cxnLst/>
            <a:rect l="l" t="t" r="r" b="b"/>
            <a:pathLst>
              <a:path w="21600" h="21600" extrusionOk="0">
                <a:moveTo>
                  <a:pt x="0" y="0"/>
                </a:moveTo>
                <a:lnTo>
                  <a:pt x="0" y="21600"/>
                </a:lnTo>
                <a:lnTo>
                  <a:pt x="18971" y="21600"/>
                </a:lnTo>
                <a:lnTo>
                  <a:pt x="21600" y="10800"/>
                </a:lnTo>
                <a:lnTo>
                  <a:pt x="18971" y="0"/>
                </a:lnTo>
                <a:lnTo>
                  <a:pt x="0" y="0"/>
                </a:lnTo>
                <a:close/>
              </a:path>
            </a:pathLst>
          </a:custGeom>
          <a:solidFill>
            <a:srgbClr val="2F5496"/>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900">
              <a:solidFill>
                <a:schemeClr val="dk1"/>
              </a:solidFill>
              <a:latin typeface="Lato Light"/>
              <a:ea typeface="Lato Light"/>
              <a:cs typeface="Lato Light"/>
              <a:sym typeface="Lato Light"/>
            </a:endParaRPr>
          </a:p>
        </p:txBody>
      </p:sp>
      <p:sp>
        <p:nvSpPr>
          <p:cNvPr id="441" name="Google Shape;441;p47"/>
          <p:cNvSpPr/>
          <p:nvPr/>
        </p:nvSpPr>
        <p:spPr>
          <a:xfrm>
            <a:off x="558703" y="4083922"/>
            <a:ext cx="2717550" cy="406674"/>
          </a:xfrm>
          <a:custGeom>
            <a:avLst/>
            <a:gdLst/>
            <a:ahLst/>
            <a:cxnLst/>
            <a:rect l="l" t="t" r="r" b="b"/>
            <a:pathLst>
              <a:path w="21600" h="21600" extrusionOk="0">
                <a:moveTo>
                  <a:pt x="0" y="0"/>
                </a:moveTo>
                <a:lnTo>
                  <a:pt x="0" y="21600"/>
                </a:lnTo>
                <a:lnTo>
                  <a:pt x="18971" y="21600"/>
                </a:lnTo>
                <a:lnTo>
                  <a:pt x="21600" y="10800"/>
                </a:lnTo>
                <a:lnTo>
                  <a:pt x="18971" y="0"/>
                </a:lnTo>
                <a:lnTo>
                  <a:pt x="0" y="0"/>
                </a:lnTo>
                <a:close/>
              </a:path>
            </a:pathLst>
          </a:custGeom>
          <a:solidFill>
            <a:srgbClr val="C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900">
              <a:solidFill>
                <a:schemeClr val="dk1"/>
              </a:solidFill>
              <a:latin typeface="Lato Light"/>
              <a:ea typeface="Lato Light"/>
              <a:cs typeface="Lato Light"/>
              <a:sym typeface="Lato Light"/>
            </a:endParaRPr>
          </a:p>
        </p:txBody>
      </p:sp>
      <p:sp>
        <p:nvSpPr>
          <p:cNvPr id="442" name="Google Shape;442;p47"/>
          <p:cNvSpPr txBox="1"/>
          <p:nvPr/>
        </p:nvSpPr>
        <p:spPr>
          <a:xfrm>
            <a:off x="920802" y="1758243"/>
            <a:ext cx="2025300" cy="230700"/>
          </a:xfrm>
          <a:prstGeom prst="rect">
            <a:avLst/>
          </a:prstGeom>
          <a:noFill/>
          <a:ln>
            <a:noFill/>
          </a:ln>
        </p:spPr>
        <p:txBody>
          <a:bodyPr spcFirstLastPara="1" wrap="square" lIns="68575" tIns="34275" rIns="68575" bIns="34275" anchor="ctr" anchorCtr="0">
            <a:noAutofit/>
          </a:bodyPr>
          <a:lstStyle/>
          <a:p>
            <a:pPr marL="0" marR="0" lvl="0" indent="0" algn="l" rtl="0">
              <a:spcBef>
                <a:spcPts val="0"/>
              </a:spcBef>
              <a:spcAft>
                <a:spcPts val="0"/>
              </a:spcAft>
              <a:buNone/>
            </a:pPr>
            <a:r>
              <a:rPr lang="en" sz="1100" b="1">
                <a:solidFill>
                  <a:schemeClr val="lt1"/>
                </a:solidFill>
                <a:latin typeface="Open Sans"/>
                <a:ea typeface="Open Sans"/>
                <a:cs typeface="Open Sans"/>
                <a:sym typeface="Open Sans"/>
              </a:rPr>
              <a:t>Phone Call</a:t>
            </a:r>
            <a:endParaRPr sz="1100">
              <a:latin typeface="Open Sans"/>
              <a:ea typeface="Open Sans"/>
              <a:cs typeface="Open Sans"/>
              <a:sym typeface="Open Sans"/>
            </a:endParaRPr>
          </a:p>
        </p:txBody>
      </p:sp>
      <p:sp>
        <p:nvSpPr>
          <p:cNvPr id="443" name="Google Shape;443;p47"/>
          <p:cNvSpPr txBox="1"/>
          <p:nvPr/>
        </p:nvSpPr>
        <p:spPr>
          <a:xfrm>
            <a:off x="904819" y="2344617"/>
            <a:ext cx="2025300" cy="230700"/>
          </a:xfrm>
          <a:prstGeom prst="rect">
            <a:avLst/>
          </a:prstGeom>
          <a:noFill/>
          <a:ln>
            <a:noFill/>
          </a:ln>
        </p:spPr>
        <p:txBody>
          <a:bodyPr spcFirstLastPara="1" wrap="square" lIns="68575" tIns="34275" rIns="68575" bIns="34275" anchor="ctr" anchorCtr="0">
            <a:noAutofit/>
          </a:bodyPr>
          <a:lstStyle/>
          <a:p>
            <a:pPr marL="0" marR="0" lvl="0" indent="0" algn="l" rtl="0">
              <a:spcBef>
                <a:spcPts val="0"/>
              </a:spcBef>
              <a:spcAft>
                <a:spcPts val="0"/>
              </a:spcAft>
              <a:buNone/>
            </a:pPr>
            <a:r>
              <a:rPr lang="en" sz="1100" b="1">
                <a:solidFill>
                  <a:schemeClr val="lt1"/>
                </a:solidFill>
                <a:latin typeface="Open Sans"/>
                <a:ea typeface="Open Sans"/>
                <a:cs typeface="Open Sans"/>
                <a:sym typeface="Open Sans"/>
              </a:rPr>
              <a:t>Introduction</a:t>
            </a:r>
            <a:endParaRPr sz="1100">
              <a:latin typeface="Open Sans"/>
              <a:ea typeface="Open Sans"/>
              <a:cs typeface="Open Sans"/>
              <a:sym typeface="Open Sans"/>
            </a:endParaRPr>
          </a:p>
        </p:txBody>
      </p:sp>
      <p:sp>
        <p:nvSpPr>
          <p:cNvPr id="444" name="Google Shape;444;p47"/>
          <p:cNvSpPr txBox="1"/>
          <p:nvPr/>
        </p:nvSpPr>
        <p:spPr>
          <a:xfrm>
            <a:off x="904819" y="2946495"/>
            <a:ext cx="2025300" cy="230700"/>
          </a:xfrm>
          <a:prstGeom prst="rect">
            <a:avLst/>
          </a:prstGeom>
          <a:noFill/>
          <a:ln>
            <a:noFill/>
          </a:ln>
        </p:spPr>
        <p:txBody>
          <a:bodyPr spcFirstLastPara="1" wrap="square" lIns="68575" tIns="34275" rIns="68575" bIns="34275" anchor="ctr" anchorCtr="0">
            <a:noAutofit/>
          </a:bodyPr>
          <a:lstStyle/>
          <a:p>
            <a:pPr marL="0" marR="0" lvl="0" indent="0" algn="l" rtl="0">
              <a:spcBef>
                <a:spcPts val="0"/>
              </a:spcBef>
              <a:spcAft>
                <a:spcPts val="0"/>
              </a:spcAft>
              <a:buNone/>
            </a:pPr>
            <a:r>
              <a:rPr lang="en" sz="1100" b="1">
                <a:solidFill>
                  <a:schemeClr val="lt1"/>
                </a:solidFill>
                <a:latin typeface="Open Sans"/>
                <a:ea typeface="Open Sans"/>
                <a:cs typeface="Open Sans"/>
                <a:sym typeface="Open Sans"/>
              </a:rPr>
              <a:t>Scope</a:t>
            </a:r>
            <a:endParaRPr sz="1100">
              <a:latin typeface="Open Sans"/>
              <a:ea typeface="Open Sans"/>
              <a:cs typeface="Open Sans"/>
              <a:sym typeface="Open Sans"/>
            </a:endParaRPr>
          </a:p>
        </p:txBody>
      </p:sp>
      <p:sp>
        <p:nvSpPr>
          <p:cNvPr id="445" name="Google Shape;445;p47"/>
          <p:cNvSpPr txBox="1"/>
          <p:nvPr/>
        </p:nvSpPr>
        <p:spPr>
          <a:xfrm>
            <a:off x="920801" y="3558067"/>
            <a:ext cx="2025300" cy="230700"/>
          </a:xfrm>
          <a:prstGeom prst="rect">
            <a:avLst/>
          </a:prstGeom>
          <a:noFill/>
          <a:ln>
            <a:noFill/>
          </a:ln>
        </p:spPr>
        <p:txBody>
          <a:bodyPr spcFirstLastPara="1" wrap="square" lIns="68575" tIns="34275" rIns="68575" bIns="34275" anchor="ctr" anchorCtr="0">
            <a:noAutofit/>
          </a:bodyPr>
          <a:lstStyle/>
          <a:p>
            <a:pPr marL="0" marR="0" lvl="0" indent="0" algn="l" rtl="0">
              <a:spcBef>
                <a:spcPts val="0"/>
              </a:spcBef>
              <a:spcAft>
                <a:spcPts val="0"/>
              </a:spcAft>
              <a:buNone/>
            </a:pPr>
            <a:r>
              <a:rPr lang="en" sz="1100" b="1">
                <a:solidFill>
                  <a:schemeClr val="lt1"/>
                </a:solidFill>
                <a:latin typeface="Open Sans"/>
                <a:ea typeface="Open Sans"/>
                <a:cs typeface="Open Sans"/>
                <a:sym typeface="Open Sans"/>
              </a:rPr>
              <a:t>Presentation</a:t>
            </a:r>
            <a:endParaRPr sz="1100">
              <a:latin typeface="Open Sans"/>
              <a:ea typeface="Open Sans"/>
              <a:cs typeface="Open Sans"/>
              <a:sym typeface="Open Sans"/>
            </a:endParaRPr>
          </a:p>
        </p:txBody>
      </p:sp>
      <p:sp>
        <p:nvSpPr>
          <p:cNvPr id="446" name="Google Shape;446;p47"/>
          <p:cNvSpPr txBox="1"/>
          <p:nvPr/>
        </p:nvSpPr>
        <p:spPr>
          <a:xfrm>
            <a:off x="904818" y="4171853"/>
            <a:ext cx="2025300" cy="230700"/>
          </a:xfrm>
          <a:prstGeom prst="rect">
            <a:avLst/>
          </a:prstGeom>
          <a:noFill/>
          <a:ln>
            <a:noFill/>
          </a:ln>
        </p:spPr>
        <p:txBody>
          <a:bodyPr spcFirstLastPara="1" wrap="square" lIns="68575" tIns="34275" rIns="68575" bIns="34275" anchor="ctr" anchorCtr="0">
            <a:noAutofit/>
          </a:bodyPr>
          <a:lstStyle/>
          <a:p>
            <a:pPr marL="0" marR="0" lvl="0" indent="0" algn="l" rtl="0">
              <a:spcBef>
                <a:spcPts val="0"/>
              </a:spcBef>
              <a:spcAft>
                <a:spcPts val="0"/>
              </a:spcAft>
              <a:buNone/>
            </a:pPr>
            <a:r>
              <a:rPr lang="en" sz="1100" b="1">
                <a:solidFill>
                  <a:schemeClr val="lt1"/>
                </a:solidFill>
                <a:latin typeface="Open Sans"/>
                <a:ea typeface="Open Sans"/>
                <a:cs typeface="Open Sans"/>
                <a:sym typeface="Open Sans"/>
              </a:rPr>
              <a:t>Implementation</a:t>
            </a:r>
            <a:endParaRPr sz="1100">
              <a:latin typeface="Open Sans"/>
              <a:ea typeface="Open Sans"/>
              <a:cs typeface="Open Sans"/>
              <a:sym typeface="Open Sans"/>
            </a:endParaRPr>
          </a:p>
        </p:txBody>
      </p:sp>
      <p:sp>
        <p:nvSpPr>
          <p:cNvPr id="447" name="Google Shape;447;p47"/>
          <p:cNvSpPr txBox="1"/>
          <p:nvPr/>
        </p:nvSpPr>
        <p:spPr>
          <a:xfrm>
            <a:off x="3699045" y="1063118"/>
            <a:ext cx="5194500" cy="254100"/>
          </a:xfrm>
          <a:prstGeom prst="rect">
            <a:avLst/>
          </a:prstGeom>
          <a:noFill/>
          <a:ln>
            <a:noFill/>
          </a:ln>
        </p:spPr>
        <p:txBody>
          <a:bodyPr spcFirstLastPara="1" wrap="square" lIns="81550" tIns="40775" rIns="81550" bIns="40775" anchor="t" anchorCtr="0">
            <a:noAutofit/>
          </a:bodyPr>
          <a:lstStyle/>
          <a:p>
            <a:pPr marL="0" marR="0" lvl="0" indent="0" algn="l" rtl="0">
              <a:lnSpc>
                <a:spcPct val="168181"/>
              </a:lnSpc>
              <a:spcBef>
                <a:spcPts val="0"/>
              </a:spcBef>
              <a:spcAft>
                <a:spcPts val="0"/>
              </a:spcAft>
              <a:buClr>
                <a:schemeClr val="lt1"/>
              </a:buClr>
              <a:buSzPts val="800"/>
              <a:buFont typeface="Arial"/>
              <a:buNone/>
            </a:pPr>
            <a:r>
              <a:rPr lang="en" sz="800">
                <a:solidFill>
                  <a:srgbClr val="434343"/>
                </a:solidFill>
                <a:latin typeface="Open Sans"/>
                <a:ea typeface="Open Sans"/>
                <a:cs typeface="Open Sans"/>
                <a:sym typeface="Open Sans"/>
              </a:rPr>
              <a:t>Is the customer willing to engage with me, is the decision maker present?</a:t>
            </a:r>
            <a:endParaRPr sz="800">
              <a:solidFill>
                <a:srgbClr val="434343"/>
              </a:solidFill>
              <a:latin typeface="Open Sans"/>
              <a:ea typeface="Open Sans"/>
              <a:cs typeface="Open Sans"/>
              <a:sym typeface="Open Sans"/>
            </a:endParaRPr>
          </a:p>
        </p:txBody>
      </p:sp>
      <p:sp>
        <p:nvSpPr>
          <p:cNvPr id="448" name="Google Shape;448;p47"/>
          <p:cNvSpPr txBox="1"/>
          <p:nvPr/>
        </p:nvSpPr>
        <p:spPr>
          <a:xfrm>
            <a:off x="3699045" y="1679209"/>
            <a:ext cx="5194500" cy="254100"/>
          </a:xfrm>
          <a:prstGeom prst="rect">
            <a:avLst/>
          </a:prstGeom>
          <a:noFill/>
          <a:ln>
            <a:noFill/>
          </a:ln>
        </p:spPr>
        <p:txBody>
          <a:bodyPr spcFirstLastPara="1" wrap="square" lIns="81550" tIns="40775" rIns="81550" bIns="40775" anchor="t" anchorCtr="0">
            <a:noAutofit/>
          </a:bodyPr>
          <a:lstStyle/>
          <a:p>
            <a:pPr marL="0" marR="0" lvl="0" indent="0" algn="l" rtl="0">
              <a:lnSpc>
                <a:spcPct val="168181"/>
              </a:lnSpc>
              <a:spcBef>
                <a:spcPts val="0"/>
              </a:spcBef>
              <a:spcAft>
                <a:spcPts val="0"/>
              </a:spcAft>
              <a:buClr>
                <a:schemeClr val="lt1"/>
              </a:buClr>
              <a:buSzPts val="800"/>
              <a:buFont typeface="Arial"/>
              <a:buNone/>
            </a:pPr>
            <a:r>
              <a:rPr lang="en" sz="800">
                <a:solidFill>
                  <a:srgbClr val="434343"/>
                </a:solidFill>
                <a:latin typeface="Open Sans"/>
                <a:ea typeface="Open Sans"/>
                <a:cs typeface="Open Sans"/>
                <a:sym typeface="Open Sans"/>
              </a:rPr>
              <a:t>Will they agree to meet, Are they open minded?</a:t>
            </a:r>
            <a:endParaRPr sz="800">
              <a:solidFill>
                <a:srgbClr val="434343"/>
              </a:solidFill>
              <a:latin typeface="Open Sans"/>
              <a:ea typeface="Open Sans"/>
              <a:cs typeface="Open Sans"/>
              <a:sym typeface="Open Sans"/>
            </a:endParaRPr>
          </a:p>
        </p:txBody>
      </p:sp>
      <p:sp>
        <p:nvSpPr>
          <p:cNvPr id="449" name="Google Shape;449;p47"/>
          <p:cNvSpPr txBox="1"/>
          <p:nvPr/>
        </p:nvSpPr>
        <p:spPr>
          <a:xfrm>
            <a:off x="3699050" y="2295274"/>
            <a:ext cx="5194500" cy="361500"/>
          </a:xfrm>
          <a:prstGeom prst="rect">
            <a:avLst/>
          </a:prstGeom>
          <a:noFill/>
          <a:ln>
            <a:noFill/>
          </a:ln>
        </p:spPr>
        <p:txBody>
          <a:bodyPr spcFirstLastPara="1" wrap="square" lIns="81550" tIns="40775" rIns="81550" bIns="40775" anchor="t" anchorCtr="0">
            <a:noAutofit/>
          </a:bodyPr>
          <a:lstStyle/>
          <a:p>
            <a:pPr marL="0" marR="0" lvl="0" indent="0" algn="l" rtl="0">
              <a:lnSpc>
                <a:spcPct val="115000"/>
              </a:lnSpc>
              <a:spcBef>
                <a:spcPts val="0"/>
              </a:spcBef>
              <a:spcAft>
                <a:spcPts val="0"/>
              </a:spcAft>
              <a:buClr>
                <a:schemeClr val="lt1"/>
              </a:buClr>
              <a:buSzPts val="800"/>
              <a:buFont typeface="Arial"/>
              <a:buNone/>
            </a:pPr>
            <a:r>
              <a:rPr lang="en" sz="800">
                <a:solidFill>
                  <a:srgbClr val="434343"/>
                </a:solidFill>
                <a:latin typeface="Open Sans"/>
                <a:ea typeface="Open Sans"/>
                <a:cs typeface="Open Sans"/>
                <a:sym typeface="Open Sans"/>
              </a:rPr>
              <a:t>Is there a need for further discussion, What are the chances of doing business now or in the future, Who else needs to make the decision?</a:t>
            </a:r>
            <a:endParaRPr sz="800">
              <a:solidFill>
                <a:srgbClr val="434343"/>
              </a:solidFill>
              <a:latin typeface="Open Sans"/>
              <a:ea typeface="Open Sans"/>
              <a:cs typeface="Open Sans"/>
              <a:sym typeface="Open Sans"/>
            </a:endParaRPr>
          </a:p>
        </p:txBody>
      </p:sp>
      <p:sp>
        <p:nvSpPr>
          <p:cNvPr id="450" name="Google Shape;450;p47"/>
          <p:cNvSpPr txBox="1"/>
          <p:nvPr/>
        </p:nvSpPr>
        <p:spPr>
          <a:xfrm>
            <a:off x="3699050" y="2917650"/>
            <a:ext cx="5194500" cy="361500"/>
          </a:xfrm>
          <a:prstGeom prst="rect">
            <a:avLst/>
          </a:prstGeom>
          <a:noFill/>
          <a:ln>
            <a:noFill/>
          </a:ln>
        </p:spPr>
        <p:txBody>
          <a:bodyPr spcFirstLastPara="1" wrap="square" lIns="81550" tIns="40775" rIns="81550" bIns="40775" anchor="t" anchorCtr="0">
            <a:noAutofit/>
          </a:bodyPr>
          <a:lstStyle/>
          <a:p>
            <a:pPr marL="0" marR="0" lvl="0" indent="0" algn="l" rtl="0">
              <a:lnSpc>
                <a:spcPct val="115000"/>
              </a:lnSpc>
              <a:spcBef>
                <a:spcPts val="0"/>
              </a:spcBef>
              <a:spcAft>
                <a:spcPts val="0"/>
              </a:spcAft>
              <a:buClr>
                <a:schemeClr val="lt1"/>
              </a:buClr>
              <a:buSzPts val="800"/>
              <a:buFont typeface="Arial"/>
              <a:buNone/>
            </a:pPr>
            <a:r>
              <a:rPr lang="en" sz="800">
                <a:solidFill>
                  <a:srgbClr val="434343"/>
                </a:solidFill>
                <a:latin typeface="Open Sans"/>
                <a:ea typeface="Open Sans"/>
                <a:cs typeface="Open Sans"/>
                <a:sym typeface="Open Sans"/>
              </a:rPr>
              <a:t>Does the prospect have a legitimate need/want for my product or service, what are the complexities/drivers of the engagement and will it be a profitable &amp; enjoyable engagement for me?</a:t>
            </a:r>
            <a:endParaRPr sz="800">
              <a:solidFill>
                <a:srgbClr val="434343"/>
              </a:solidFill>
              <a:latin typeface="Open Sans"/>
              <a:ea typeface="Open Sans"/>
              <a:cs typeface="Open Sans"/>
              <a:sym typeface="Open Sans"/>
            </a:endParaRPr>
          </a:p>
        </p:txBody>
      </p:sp>
      <p:sp>
        <p:nvSpPr>
          <p:cNvPr id="451" name="Google Shape;451;p47"/>
          <p:cNvSpPr/>
          <p:nvPr/>
        </p:nvSpPr>
        <p:spPr>
          <a:xfrm>
            <a:off x="3699050" y="3515149"/>
            <a:ext cx="5194500" cy="361500"/>
          </a:xfrm>
          <a:prstGeom prst="rect">
            <a:avLst/>
          </a:prstGeom>
          <a:noFill/>
          <a:ln>
            <a:noFill/>
          </a:ln>
        </p:spPr>
        <p:txBody>
          <a:bodyPr spcFirstLastPara="1" wrap="square" lIns="68575" tIns="34275" rIns="68575" bIns="34275" anchor="t" anchorCtr="0">
            <a:noAutofit/>
          </a:bodyPr>
          <a:lstStyle/>
          <a:p>
            <a:pPr marL="0" marR="0" lvl="0" indent="0" algn="l" rtl="0">
              <a:lnSpc>
                <a:spcPct val="115000"/>
              </a:lnSpc>
              <a:spcBef>
                <a:spcPts val="0"/>
              </a:spcBef>
              <a:spcAft>
                <a:spcPts val="0"/>
              </a:spcAft>
              <a:buNone/>
            </a:pPr>
            <a:r>
              <a:rPr lang="en" sz="800">
                <a:solidFill>
                  <a:srgbClr val="434343"/>
                </a:solidFill>
                <a:latin typeface="Open Sans"/>
                <a:ea typeface="Open Sans"/>
                <a:cs typeface="Open Sans"/>
                <a:sym typeface="Open Sans"/>
              </a:rPr>
              <a:t>Does my product or service offer satisfy their expectations, needs &amp; wants, Is it a win-win, Is there anything I’ve missed that could prevent us doing business?</a:t>
            </a:r>
            <a:endParaRPr sz="800">
              <a:solidFill>
                <a:srgbClr val="434343"/>
              </a:solidFill>
              <a:latin typeface="Open Sans"/>
              <a:ea typeface="Open Sans"/>
              <a:cs typeface="Open Sans"/>
              <a:sym typeface="Open Sans"/>
            </a:endParaRPr>
          </a:p>
        </p:txBody>
      </p:sp>
      <p:sp>
        <p:nvSpPr>
          <p:cNvPr id="452" name="Google Shape;452;p47"/>
          <p:cNvSpPr/>
          <p:nvPr/>
        </p:nvSpPr>
        <p:spPr>
          <a:xfrm>
            <a:off x="3699050" y="4141375"/>
            <a:ext cx="5194500" cy="406800"/>
          </a:xfrm>
          <a:prstGeom prst="rect">
            <a:avLst/>
          </a:prstGeom>
          <a:noFill/>
          <a:ln>
            <a:noFill/>
          </a:ln>
        </p:spPr>
        <p:txBody>
          <a:bodyPr spcFirstLastPara="1" wrap="square" lIns="68575" tIns="34275" rIns="68575" bIns="34275" anchor="t" anchorCtr="0">
            <a:noAutofit/>
          </a:bodyPr>
          <a:lstStyle/>
          <a:p>
            <a:pPr marL="0" marR="0" lvl="0" indent="0" algn="l" rtl="0">
              <a:lnSpc>
                <a:spcPct val="115000"/>
              </a:lnSpc>
              <a:spcBef>
                <a:spcPts val="0"/>
              </a:spcBef>
              <a:spcAft>
                <a:spcPts val="0"/>
              </a:spcAft>
              <a:buNone/>
            </a:pPr>
            <a:r>
              <a:rPr lang="en" sz="800">
                <a:solidFill>
                  <a:srgbClr val="434343"/>
                </a:solidFill>
                <a:latin typeface="Open Sans"/>
                <a:ea typeface="Open Sans"/>
                <a:cs typeface="Open Sans"/>
                <a:sym typeface="Open Sans"/>
              </a:rPr>
              <a:t>Is the answer yes/no or a reduction or layered delivery over time, If so why/why not and How long, Is their request acceptable to me/business?</a:t>
            </a:r>
            <a:endParaRPr sz="800">
              <a:solidFill>
                <a:srgbClr val="434343"/>
              </a:solidFill>
              <a:latin typeface="Open Sans"/>
              <a:ea typeface="Open Sans"/>
              <a:cs typeface="Open Sans"/>
              <a:sym typeface="Open Sans"/>
            </a:endParaRPr>
          </a:p>
        </p:txBody>
      </p:sp>
      <p:sp>
        <p:nvSpPr>
          <p:cNvPr id="453" name="Google Shape;453;p47"/>
          <p:cNvSpPr/>
          <p:nvPr/>
        </p:nvSpPr>
        <p:spPr>
          <a:xfrm rot="-5400000">
            <a:off x="6612697"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454" name="Google Shape;454;p47"/>
          <p:cNvSpPr/>
          <p:nvPr/>
        </p:nvSpPr>
        <p:spPr>
          <a:xfrm>
            <a:off x="49427" y="49427"/>
            <a:ext cx="9039000" cy="897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455" name="Google Shape;455;p47"/>
          <p:cNvSpPr/>
          <p:nvPr/>
        </p:nvSpPr>
        <p:spPr>
          <a:xfrm>
            <a:off x="1513702" y="5004196"/>
            <a:ext cx="7574700" cy="897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456" name="Google Shape;456;p47"/>
          <p:cNvSpPr/>
          <p:nvPr/>
        </p:nvSpPr>
        <p:spPr>
          <a:xfrm rot="-5400000">
            <a:off x="-2339773"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457" name="Google Shape;457;p47"/>
          <p:cNvSpPr/>
          <p:nvPr/>
        </p:nvSpPr>
        <p:spPr>
          <a:xfrm>
            <a:off x="49427" y="5004196"/>
            <a:ext cx="579000" cy="897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458" name="Google Shape;458;p47"/>
          <p:cNvSpPr txBox="1"/>
          <p:nvPr/>
        </p:nvSpPr>
        <p:spPr>
          <a:xfrm>
            <a:off x="601400" y="1080621"/>
            <a:ext cx="166200" cy="2769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sz="1400">
                <a:solidFill>
                  <a:schemeClr val="lt1"/>
                </a:solidFill>
                <a:latin typeface="Architects Daughter"/>
                <a:ea typeface="Architects Daughter"/>
                <a:cs typeface="Architects Daughter"/>
                <a:sym typeface="Architects Daughter"/>
              </a:rPr>
              <a:t>1</a:t>
            </a:r>
            <a:endParaRPr sz="1400">
              <a:solidFill>
                <a:schemeClr val="lt1"/>
              </a:solidFill>
              <a:latin typeface="Architects Daughter"/>
              <a:ea typeface="Architects Daughter"/>
              <a:cs typeface="Architects Daughter"/>
              <a:sym typeface="Architects Daughter"/>
            </a:endParaRPr>
          </a:p>
        </p:txBody>
      </p:sp>
      <p:sp>
        <p:nvSpPr>
          <p:cNvPr id="459" name="Google Shape;459;p47"/>
          <p:cNvSpPr txBox="1"/>
          <p:nvPr/>
        </p:nvSpPr>
        <p:spPr>
          <a:xfrm>
            <a:off x="550084" y="1721845"/>
            <a:ext cx="262200" cy="2769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sz="1400">
                <a:solidFill>
                  <a:schemeClr val="lt1"/>
                </a:solidFill>
                <a:latin typeface="Architects Daughter"/>
                <a:ea typeface="Architects Daughter"/>
                <a:cs typeface="Architects Daughter"/>
                <a:sym typeface="Architects Daughter"/>
              </a:rPr>
              <a:t>2</a:t>
            </a:r>
            <a:endParaRPr sz="1400">
              <a:solidFill>
                <a:schemeClr val="lt1"/>
              </a:solidFill>
              <a:latin typeface="Architects Daughter"/>
              <a:ea typeface="Architects Daughter"/>
              <a:cs typeface="Architects Daughter"/>
              <a:sym typeface="Architects Daughter"/>
            </a:endParaRPr>
          </a:p>
        </p:txBody>
      </p:sp>
      <p:sp>
        <p:nvSpPr>
          <p:cNvPr id="460" name="Google Shape;460;p47"/>
          <p:cNvSpPr txBox="1"/>
          <p:nvPr/>
        </p:nvSpPr>
        <p:spPr>
          <a:xfrm>
            <a:off x="565896" y="2316955"/>
            <a:ext cx="249000" cy="2769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sz="1400">
                <a:solidFill>
                  <a:schemeClr val="lt1"/>
                </a:solidFill>
                <a:latin typeface="Architects Daughter"/>
                <a:ea typeface="Architects Daughter"/>
                <a:cs typeface="Architects Daughter"/>
                <a:sym typeface="Architects Daughter"/>
              </a:rPr>
              <a:t>3</a:t>
            </a:r>
            <a:endParaRPr sz="1400">
              <a:solidFill>
                <a:schemeClr val="lt1"/>
              </a:solidFill>
              <a:latin typeface="Architects Daughter"/>
              <a:ea typeface="Architects Daughter"/>
              <a:cs typeface="Architects Daughter"/>
              <a:sym typeface="Architects Daughter"/>
            </a:endParaRPr>
          </a:p>
        </p:txBody>
      </p:sp>
      <p:sp>
        <p:nvSpPr>
          <p:cNvPr id="461" name="Google Shape;461;p47"/>
          <p:cNvSpPr txBox="1"/>
          <p:nvPr/>
        </p:nvSpPr>
        <p:spPr>
          <a:xfrm>
            <a:off x="538663" y="2936348"/>
            <a:ext cx="285000" cy="2769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sz="1400">
                <a:solidFill>
                  <a:schemeClr val="lt1"/>
                </a:solidFill>
                <a:latin typeface="Architects Daughter"/>
                <a:ea typeface="Architects Daughter"/>
                <a:cs typeface="Architects Daughter"/>
                <a:sym typeface="Architects Daughter"/>
              </a:rPr>
              <a:t>4</a:t>
            </a:r>
            <a:endParaRPr sz="1400">
              <a:solidFill>
                <a:schemeClr val="lt1"/>
              </a:solidFill>
              <a:latin typeface="Architects Daughter"/>
              <a:ea typeface="Architects Daughter"/>
              <a:cs typeface="Architects Daughter"/>
              <a:sym typeface="Architects Daughter"/>
            </a:endParaRPr>
          </a:p>
        </p:txBody>
      </p:sp>
      <p:sp>
        <p:nvSpPr>
          <p:cNvPr id="462" name="Google Shape;462;p47"/>
          <p:cNvSpPr txBox="1"/>
          <p:nvPr/>
        </p:nvSpPr>
        <p:spPr>
          <a:xfrm>
            <a:off x="556116" y="3564233"/>
            <a:ext cx="291000" cy="2769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sz="1400">
                <a:solidFill>
                  <a:schemeClr val="lt1"/>
                </a:solidFill>
                <a:latin typeface="Architects Daughter"/>
                <a:ea typeface="Architects Daughter"/>
                <a:cs typeface="Architects Daughter"/>
                <a:sym typeface="Architects Daughter"/>
              </a:rPr>
              <a:t>5</a:t>
            </a:r>
            <a:endParaRPr sz="1400">
              <a:solidFill>
                <a:schemeClr val="lt1"/>
              </a:solidFill>
              <a:latin typeface="Architects Daughter"/>
              <a:ea typeface="Architects Daughter"/>
              <a:cs typeface="Architects Daughter"/>
              <a:sym typeface="Architects Daughter"/>
            </a:endParaRPr>
          </a:p>
        </p:txBody>
      </p:sp>
      <p:sp>
        <p:nvSpPr>
          <p:cNvPr id="463" name="Google Shape;463;p47"/>
          <p:cNvSpPr txBox="1"/>
          <p:nvPr/>
        </p:nvSpPr>
        <p:spPr>
          <a:xfrm>
            <a:off x="547155" y="4182829"/>
            <a:ext cx="274200" cy="2769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sz="1400">
                <a:solidFill>
                  <a:schemeClr val="lt1"/>
                </a:solidFill>
                <a:latin typeface="Architects Daughter"/>
                <a:ea typeface="Architects Daughter"/>
                <a:cs typeface="Architects Daughter"/>
                <a:sym typeface="Architects Daughter"/>
              </a:rPr>
              <a:t>6</a:t>
            </a:r>
            <a:endParaRPr sz="1400">
              <a:solidFill>
                <a:schemeClr val="lt1"/>
              </a:solidFill>
              <a:latin typeface="Architects Daughter"/>
              <a:ea typeface="Architects Daughter"/>
              <a:cs typeface="Architects Daughter"/>
              <a:sym typeface="Architects Daughter"/>
            </a:endParaRPr>
          </a:p>
        </p:txBody>
      </p:sp>
      <p:sp>
        <p:nvSpPr>
          <p:cNvPr id="464" name="Google Shape;464;p47"/>
          <p:cNvSpPr txBox="1">
            <a:spLocks noGrp="1"/>
          </p:cNvSpPr>
          <p:nvPr>
            <p:ph type="title" idx="4294967295"/>
          </p:nvPr>
        </p:nvSpPr>
        <p:spPr>
          <a:xfrm>
            <a:off x="250025" y="192275"/>
            <a:ext cx="7000800" cy="5637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lt1"/>
              </a:buClr>
              <a:buSzPts val="2400"/>
              <a:buFont typeface="Architects Daughter"/>
              <a:buNone/>
            </a:pPr>
            <a:r>
              <a:rPr lang="en" sz="2400" i="0" u="none" strike="noStrike" cap="none">
                <a:solidFill>
                  <a:srgbClr val="002B64"/>
                </a:solidFill>
                <a:latin typeface="Open Sans"/>
                <a:ea typeface="Open Sans"/>
                <a:cs typeface="Open Sans"/>
                <a:sym typeface="Open Sans"/>
              </a:rPr>
              <a:t>The Logical </a:t>
            </a:r>
            <a:r>
              <a:rPr lang="en" sz="2400">
                <a:solidFill>
                  <a:srgbClr val="002B64"/>
                </a:solidFill>
                <a:latin typeface="Open Sans"/>
                <a:ea typeface="Open Sans"/>
                <a:cs typeface="Open Sans"/>
                <a:sym typeface="Open Sans"/>
              </a:rPr>
              <a:t>(Total Needs) Decision Points</a:t>
            </a:r>
            <a:endParaRPr sz="2400" i="0" u="none" strike="noStrike" cap="none">
              <a:solidFill>
                <a:srgbClr val="002B64"/>
              </a:solidFill>
              <a:latin typeface="Open Sans"/>
              <a:ea typeface="Open Sans"/>
              <a:cs typeface="Open Sans"/>
              <a:sym typeface="Open Sans"/>
            </a:endParaRPr>
          </a:p>
        </p:txBody>
      </p:sp>
      <p:pic>
        <p:nvPicPr>
          <p:cNvPr id="465" name="Google Shape;465;p47"/>
          <p:cNvPicPr preferRelativeResize="0"/>
          <p:nvPr/>
        </p:nvPicPr>
        <p:blipFill rotWithShape="1">
          <a:blip r:embed="rId3">
            <a:alphaModFix/>
          </a:blip>
          <a:srcRect t="3419" b="3428"/>
          <a:stretch/>
        </p:blipFill>
        <p:spPr>
          <a:xfrm>
            <a:off x="626925" y="4628126"/>
            <a:ext cx="886774" cy="4485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69"/>
        <p:cNvGrpSpPr/>
        <p:nvPr/>
      </p:nvGrpSpPr>
      <p:grpSpPr>
        <a:xfrm>
          <a:off x="0" y="0"/>
          <a:ext cx="0" cy="0"/>
          <a:chOff x="0" y="0"/>
          <a:chExt cx="0" cy="0"/>
        </a:xfrm>
      </p:grpSpPr>
      <p:sp>
        <p:nvSpPr>
          <p:cNvPr id="470" name="Google Shape;470;p48"/>
          <p:cNvSpPr txBox="1">
            <a:spLocks noGrp="1"/>
          </p:cNvSpPr>
          <p:nvPr>
            <p:ph type="title"/>
          </p:nvPr>
        </p:nvSpPr>
        <p:spPr>
          <a:xfrm>
            <a:off x="252356" y="139313"/>
            <a:ext cx="8140050" cy="75375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rgbClr val="A5A5A5"/>
              </a:buClr>
              <a:buSzPts val="2400"/>
              <a:buFont typeface="Architects Daughter"/>
              <a:buNone/>
            </a:pPr>
            <a:r>
              <a:rPr lang="en" sz="2400">
                <a:solidFill>
                  <a:srgbClr val="002B64"/>
                </a:solidFill>
                <a:latin typeface="Open Sans"/>
                <a:ea typeface="Open Sans"/>
                <a:cs typeface="Open Sans"/>
                <a:sym typeface="Open Sans"/>
              </a:rPr>
              <a:t>5 CRITICAL Sales Process Reminders</a:t>
            </a:r>
            <a:endParaRPr sz="2400">
              <a:solidFill>
                <a:srgbClr val="002B64"/>
              </a:solidFill>
              <a:latin typeface="Open Sans"/>
              <a:ea typeface="Open Sans"/>
              <a:cs typeface="Open Sans"/>
              <a:sym typeface="Open Sans"/>
            </a:endParaRPr>
          </a:p>
        </p:txBody>
      </p:sp>
      <p:sp>
        <p:nvSpPr>
          <p:cNvPr id="471" name="Google Shape;471;p48"/>
          <p:cNvSpPr txBox="1">
            <a:spLocks noGrp="1"/>
          </p:cNvSpPr>
          <p:nvPr>
            <p:ph type="body" idx="1"/>
          </p:nvPr>
        </p:nvSpPr>
        <p:spPr>
          <a:xfrm>
            <a:off x="252350" y="819800"/>
            <a:ext cx="8619900" cy="3753000"/>
          </a:xfrm>
          <a:prstGeom prst="rect">
            <a:avLst/>
          </a:prstGeom>
          <a:noFill/>
          <a:ln>
            <a:noFill/>
          </a:ln>
        </p:spPr>
        <p:txBody>
          <a:bodyPr spcFirstLastPara="1" wrap="square" lIns="68575" tIns="34275" rIns="68575" bIns="34275" anchor="t" anchorCtr="0">
            <a:noAutofit/>
          </a:bodyPr>
          <a:lstStyle/>
          <a:p>
            <a:pPr marL="254000" lvl="0" indent="-266700" algn="just" rtl="0">
              <a:lnSpc>
                <a:spcPct val="115000"/>
              </a:lnSpc>
              <a:spcBef>
                <a:spcPts val="0"/>
              </a:spcBef>
              <a:spcAft>
                <a:spcPts val="0"/>
              </a:spcAft>
              <a:buClr>
                <a:srgbClr val="434343"/>
              </a:buClr>
              <a:buSzPts val="1200"/>
              <a:buFont typeface="Open Sans"/>
              <a:buAutoNum type="arabicPeriod"/>
            </a:pPr>
            <a:r>
              <a:rPr lang="en" sz="1200">
                <a:solidFill>
                  <a:srgbClr val="434343"/>
                </a:solidFill>
                <a:latin typeface="Open Sans"/>
                <a:ea typeface="Open Sans"/>
                <a:cs typeface="Open Sans"/>
                <a:sym typeface="Open Sans"/>
              </a:rPr>
              <a:t>The transition from ‘Selling’ to ‘Consulting’ should be seamless; think of your entire process as ‘Serving’. </a:t>
            </a:r>
            <a:endParaRPr sz="1200">
              <a:solidFill>
                <a:srgbClr val="434343"/>
              </a:solidFill>
              <a:latin typeface="Open Sans"/>
              <a:ea typeface="Open Sans"/>
              <a:cs typeface="Open Sans"/>
              <a:sym typeface="Open Sans"/>
            </a:endParaRPr>
          </a:p>
          <a:p>
            <a:pPr marL="254000" lvl="0" indent="-266700" algn="just" rtl="0">
              <a:lnSpc>
                <a:spcPct val="115000"/>
              </a:lnSpc>
              <a:spcBef>
                <a:spcPts val="800"/>
              </a:spcBef>
              <a:spcAft>
                <a:spcPts val="0"/>
              </a:spcAft>
              <a:buClr>
                <a:srgbClr val="434343"/>
              </a:buClr>
              <a:buSzPts val="1200"/>
              <a:buFont typeface="Open Sans"/>
              <a:buAutoNum type="arabicPeriod"/>
            </a:pPr>
            <a:r>
              <a:rPr lang="en" sz="1200">
                <a:solidFill>
                  <a:srgbClr val="434343"/>
                </a:solidFill>
                <a:latin typeface="Open Sans"/>
                <a:ea typeface="Open Sans"/>
                <a:cs typeface="Open Sans"/>
                <a:sym typeface="Open Sans"/>
              </a:rPr>
              <a:t>‘Serving’ requires an open mind and open heart; remove judgement from the equation. If you’re focused on the outcomes for yourself or your firm, rather than the genuine opportunity for your client, then you’re more likely to allow judgement (of yourself and of the client) to erode your authentic dealings.</a:t>
            </a:r>
            <a:endParaRPr sz="1200">
              <a:solidFill>
                <a:srgbClr val="434343"/>
              </a:solidFill>
              <a:latin typeface="Open Sans"/>
              <a:ea typeface="Open Sans"/>
              <a:cs typeface="Open Sans"/>
              <a:sym typeface="Open Sans"/>
            </a:endParaRPr>
          </a:p>
          <a:p>
            <a:pPr marL="254000" lvl="0" indent="-266700" algn="just" rtl="0">
              <a:lnSpc>
                <a:spcPct val="115000"/>
              </a:lnSpc>
              <a:spcBef>
                <a:spcPts val="800"/>
              </a:spcBef>
              <a:spcAft>
                <a:spcPts val="0"/>
              </a:spcAft>
              <a:buClr>
                <a:srgbClr val="434343"/>
              </a:buClr>
              <a:buSzPts val="1200"/>
              <a:buFont typeface="Open Sans"/>
              <a:buAutoNum type="arabicPeriod"/>
            </a:pPr>
            <a:r>
              <a:rPr lang="en" sz="1200">
                <a:solidFill>
                  <a:srgbClr val="434343"/>
                </a:solidFill>
                <a:latin typeface="Open Sans"/>
                <a:ea typeface="Open Sans"/>
                <a:cs typeface="Open Sans"/>
                <a:sym typeface="Open Sans"/>
              </a:rPr>
              <a:t>‘Perspective’ is critical to build confidence for both parties. Perspective requires a collaboration of views WHICH IS WHY it’s so important to include a scenario model (what if google sheet) as early as you can in the sales process. The model establishes clarity and increases client belief (at the same time – it allows you to qualify the legitimate opportunity)</a:t>
            </a:r>
            <a:endParaRPr sz="1200">
              <a:solidFill>
                <a:srgbClr val="434343"/>
              </a:solidFill>
              <a:latin typeface="Open Sans"/>
              <a:ea typeface="Open Sans"/>
              <a:cs typeface="Open Sans"/>
              <a:sym typeface="Open Sans"/>
            </a:endParaRPr>
          </a:p>
          <a:p>
            <a:pPr marL="254000" lvl="0" indent="-266700" algn="just" rtl="0">
              <a:lnSpc>
                <a:spcPct val="115000"/>
              </a:lnSpc>
              <a:spcBef>
                <a:spcPts val="800"/>
              </a:spcBef>
              <a:spcAft>
                <a:spcPts val="0"/>
              </a:spcAft>
              <a:buClr>
                <a:srgbClr val="434343"/>
              </a:buClr>
              <a:buSzPts val="1200"/>
              <a:buFont typeface="Open Sans"/>
              <a:buAutoNum type="arabicPeriod"/>
            </a:pPr>
            <a:r>
              <a:rPr lang="en" sz="1200">
                <a:solidFill>
                  <a:srgbClr val="434343"/>
                </a:solidFill>
                <a:latin typeface="Open Sans"/>
                <a:ea typeface="Open Sans"/>
                <a:cs typeface="Open Sans"/>
                <a:sym typeface="Open Sans"/>
              </a:rPr>
              <a:t>SLIDING SCALE questions (“how do you rate yourself on a 1-5...”) reduces judgement BECAUSE it introduces context into the assessment; this allows people to access their ‘problem solving’ brain function and (provided your tone and body posture is congruent with your client) settles your client’s amygdala and therein, their ‘fight or flight’ response.</a:t>
            </a:r>
            <a:endParaRPr sz="1200">
              <a:solidFill>
                <a:srgbClr val="434343"/>
              </a:solidFill>
              <a:latin typeface="Open Sans"/>
              <a:ea typeface="Open Sans"/>
              <a:cs typeface="Open Sans"/>
              <a:sym typeface="Open Sans"/>
            </a:endParaRPr>
          </a:p>
          <a:p>
            <a:pPr marL="254000" lvl="0" indent="-266700" algn="just" rtl="0">
              <a:lnSpc>
                <a:spcPct val="115000"/>
              </a:lnSpc>
              <a:spcBef>
                <a:spcPts val="800"/>
              </a:spcBef>
              <a:spcAft>
                <a:spcPts val="0"/>
              </a:spcAft>
              <a:buClr>
                <a:srgbClr val="434343"/>
              </a:buClr>
              <a:buSzPts val="1200"/>
              <a:buFont typeface="Open Sans"/>
              <a:buAutoNum type="arabicPeriod"/>
            </a:pPr>
            <a:r>
              <a:rPr lang="en" sz="1200">
                <a:solidFill>
                  <a:srgbClr val="434343"/>
                </a:solidFill>
                <a:latin typeface="Open Sans"/>
                <a:ea typeface="Open Sans"/>
                <a:cs typeface="Open Sans"/>
                <a:sym typeface="Open Sans"/>
              </a:rPr>
              <a:t>Don’t make the process ‘too easy’ for the client; in order to get their ATTENTION – you need a bit of TENSION. This means, they have to be confronted with the ‘gap’ between their current position and their desired position; THEY ALSO HAVE TO have made a series of micro-decisions in your favour which is why the “Could you live with these 3 requirements” script is so important. (covered in the Lite Sales Track )</a:t>
            </a:r>
            <a:endParaRPr sz="1200">
              <a:solidFill>
                <a:srgbClr val="434343"/>
              </a:solidFill>
              <a:latin typeface="Open Sans"/>
              <a:ea typeface="Open Sans"/>
              <a:cs typeface="Open Sans"/>
              <a:sym typeface="Open Sans"/>
            </a:endParaRPr>
          </a:p>
          <a:p>
            <a:pPr marL="177800" lvl="0" indent="-114300" algn="just" rtl="0">
              <a:lnSpc>
                <a:spcPct val="150000"/>
              </a:lnSpc>
              <a:spcBef>
                <a:spcPts val="800"/>
              </a:spcBef>
              <a:spcAft>
                <a:spcPts val="0"/>
              </a:spcAft>
              <a:buClr>
                <a:schemeClr val="dk1"/>
              </a:buClr>
              <a:buSzPts val="1000"/>
              <a:buNone/>
            </a:pPr>
            <a:endParaRPr sz="1000">
              <a:solidFill>
                <a:srgbClr val="434343"/>
              </a:solidFill>
              <a:latin typeface="Open Sans"/>
              <a:ea typeface="Open Sans"/>
              <a:cs typeface="Open Sans"/>
              <a:sym typeface="Open Sans"/>
            </a:endParaRPr>
          </a:p>
        </p:txBody>
      </p:sp>
      <p:sp>
        <p:nvSpPr>
          <p:cNvPr id="472" name="Google Shape;472;p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SzPts val="900"/>
              <a:buNone/>
            </a:pPr>
            <a:fld id="{00000000-1234-1234-1234-123412341234}" type="slidenum">
              <a:rPr lang="en" sz="1100"/>
              <a:t>11</a:t>
            </a:fld>
            <a:endParaRPr sz="1100"/>
          </a:p>
        </p:txBody>
      </p:sp>
      <p:sp>
        <p:nvSpPr>
          <p:cNvPr id="473" name="Google Shape;473;p48"/>
          <p:cNvSpPr/>
          <p:nvPr/>
        </p:nvSpPr>
        <p:spPr>
          <a:xfrm>
            <a:off x="49427" y="49427"/>
            <a:ext cx="9038967" cy="89876"/>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474" name="Google Shape;474;p48"/>
          <p:cNvSpPr/>
          <p:nvPr/>
        </p:nvSpPr>
        <p:spPr>
          <a:xfrm>
            <a:off x="49427" y="5004196"/>
            <a:ext cx="579223" cy="89876"/>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475" name="Google Shape;475;p48"/>
          <p:cNvSpPr/>
          <p:nvPr/>
        </p:nvSpPr>
        <p:spPr>
          <a:xfrm>
            <a:off x="1513702" y="5004196"/>
            <a:ext cx="7574692" cy="89876"/>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476" name="Google Shape;476;p48"/>
          <p:cNvSpPr/>
          <p:nvPr/>
        </p:nvSpPr>
        <p:spPr>
          <a:xfrm rot="-5400000">
            <a:off x="6612699" y="2528501"/>
            <a:ext cx="4864893" cy="86496"/>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477" name="Google Shape;477;p48"/>
          <p:cNvSpPr/>
          <p:nvPr/>
        </p:nvSpPr>
        <p:spPr>
          <a:xfrm rot="-5400000">
            <a:off x="-2339772" y="2528501"/>
            <a:ext cx="4864893" cy="86496"/>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81"/>
        <p:cNvGrpSpPr/>
        <p:nvPr/>
      </p:nvGrpSpPr>
      <p:grpSpPr>
        <a:xfrm>
          <a:off x="0" y="0"/>
          <a:ext cx="0" cy="0"/>
          <a:chOff x="0" y="0"/>
          <a:chExt cx="0" cy="0"/>
        </a:xfrm>
      </p:grpSpPr>
      <p:sp>
        <p:nvSpPr>
          <p:cNvPr id="482" name="Google Shape;482;p49"/>
          <p:cNvSpPr txBox="1">
            <a:spLocks noGrp="1"/>
          </p:cNvSpPr>
          <p:nvPr>
            <p:ph type="title"/>
          </p:nvPr>
        </p:nvSpPr>
        <p:spPr>
          <a:xfrm>
            <a:off x="190875" y="139300"/>
            <a:ext cx="8238000" cy="4632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rgbClr val="A5A5A5"/>
              </a:buClr>
              <a:buSzPts val="2400"/>
              <a:buFont typeface="Architects Daughter"/>
              <a:buNone/>
            </a:pPr>
            <a:r>
              <a:rPr lang="en" sz="2400">
                <a:solidFill>
                  <a:srgbClr val="002B64"/>
                </a:solidFill>
                <a:latin typeface="Open Sans"/>
                <a:ea typeface="Open Sans"/>
                <a:cs typeface="Open Sans"/>
                <a:sym typeface="Open Sans"/>
              </a:rPr>
              <a:t>Your ‘Behind the Scenes’ Toolbox Suitability</a:t>
            </a:r>
            <a:endParaRPr sz="2400">
              <a:solidFill>
                <a:srgbClr val="002B64"/>
              </a:solidFill>
              <a:latin typeface="Open Sans"/>
              <a:ea typeface="Open Sans"/>
              <a:cs typeface="Open Sans"/>
              <a:sym typeface="Open Sans"/>
            </a:endParaRPr>
          </a:p>
        </p:txBody>
      </p:sp>
      <p:sp>
        <p:nvSpPr>
          <p:cNvPr id="483" name="Google Shape;483;p49"/>
          <p:cNvSpPr txBox="1">
            <a:spLocks noGrp="1"/>
          </p:cNvSpPr>
          <p:nvPr>
            <p:ph type="body" idx="1"/>
          </p:nvPr>
        </p:nvSpPr>
        <p:spPr>
          <a:xfrm>
            <a:off x="240955" y="602536"/>
            <a:ext cx="8655911" cy="302645"/>
          </a:xfrm>
          <a:prstGeom prst="rect">
            <a:avLst/>
          </a:prstGeom>
          <a:noFill/>
          <a:ln>
            <a:noFill/>
          </a:ln>
        </p:spPr>
        <p:txBody>
          <a:bodyPr spcFirstLastPara="1" wrap="square" lIns="68575" tIns="34275" rIns="68575" bIns="34275" anchor="t" anchorCtr="0">
            <a:noAutofit/>
          </a:bodyPr>
          <a:lstStyle/>
          <a:p>
            <a:pPr marL="0" lvl="0" indent="0" algn="ctr" rtl="0">
              <a:lnSpc>
                <a:spcPct val="150000"/>
              </a:lnSpc>
              <a:spcBef>
                <a:spcPts val="0"/>
              </a:spcBef>
              <a:spcAft>
                <a:spcPts val="0"/>
              </a:spcAft>
              <a:buClr>
                <a:schemeClr val="lt1"/>
              </a:buClr>
              <a:buSzPts val="1000"/>
              <a:buNone/>
            </a:pPr>
            <a:r>
              <a:rPr lang="en" sz="1000">
                <a:solidFill>
                  <a:srgbClr val="002B64"/>
                </a:solidFill>
                <a:latin typeface="Open Sans"/>
                <a:ea typeface="Open Sans"/>
                <a:cs typeface="Open Sans"/>
                <a:sym typeface="Open Sans"/>
              </a:rPr>
              <a:t>To a man with just a hammer, everything looks like a nail...</a:t>
            </a:r>
            <a:endParaRPr sz="1100">
              <a:solidFill>
                <a:srgbClr val="002B64"/>
              </a:solidFill>
              <a:latin typeface="Open Sans"/>
              <a:ea typeface="Open Sans"/>
              <a:cs typeface="Open Sans"/>
              <a:sym typeface="Open Sans"/>
            </a:endParaRPr>
          </a:p>
          <a:p>
            <a:pPr marL="0" lvl="0" indent="0" algn="just" rtl="0">
              <a:lnSpc>
                <a:spcPct val="150000"/>
              </a:lnSpc>
              <a:spcBef>
                <a:spcPts val="800"/>
              </a:spcBef>
              <a:spcAft>
                <a:spcPts val="0"/>
              </a:spcAft>
              <a:buClr>
                <a:schemeClr val="dk1"/>
              </a:buClr>
              <a:buSzPts val="1000"/>
              <a:buNone/>
            </a:pPr>
            <a:endParaRPr sz="1000">
              <a:solidFill>
                <a:srgbClr val="002B64"/>
              </a:solidFill>
              <a:latin typeface="Open Sans"/>
              <a:ea typeface="Open Sans"/>
              <a:cs typeface="Open Sans"/>
              <a:sym typeface="Open Sans"/>
            </a:endParaRPr>
          </a:p>
        </p:txBody>
      </p:sp>
      <p:sp>
        <p:nvSpPr>
          <p:cNvPr id="484" name="Google Shape;484;p4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SzPts val="900"/>
              <a:buNone/>
            </a:pPr>
            <a:fld id="{00000000-1234-1234-1234-123412341234}" type="slidenum">
              <a:rPr lang="en" sz="1100"/>
              <a:t>12</a:t>
            </a:fld>
            <a:endParaRPr sz="1100"/>
          </a:p>
        </p:txBody>
      </p:sp>
      <p:sp>
        <p:nvSpPr>
          <p:cNvPr id="485" name="Google Shape;485;p49"/>
          <p:cNvSpPr/>
          <p:nvPr/>
        </p:nvSpPr>
        <p:spPr>
          <a:xfrm>
            <a:off x="49427" y="49427"/>
            <a:ext cx="9038967" cy="89876"/>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486" name="Google Shape;486;p49"/>
          <p:cNvSpPr/>
          <p:nvPr/>
        </p:nvSpPr>
        <p:spPr>
          <a:xfrm>
            <a:off x="49427" y="5004196"/>
            <a:ext cx="579223" cy="89876"/>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487" name="Google Shape;487;p49"/>
          <p:cNvSpPr/>
          <p:nvPr/>
        </p:nvSpPr>
        <p:spPr>
          <a:xfrm>
            <a:off x="1513702" y="5004196"/>
            <a:ext cx="7574692" cy="89876"/>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488" name="Google Shape;488;p49"/>
          <p:cNvSpPr/>
          <p:nvPr/>
        </p:nvSpPr>
        <p:spPr>
          <a:xfrm rot="-5400000">
            <a:off x="6612699" y="2528501"/>
            <a:ext cx="4864893" cy="86496"/>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489" name="Google Shape;489;p49"/>
          <p:cNvSpPr/>
          <p:nvPr/>
        </p:nvSpPr>
        <p:spPr>
          <a:xfrm rot="-5400000">
            <a:off x="-2339772" y="2528501"/>
            <a:ext cx="4864893" cy="86496"/>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graphicFrame>
        <p:nvGraphicFramePr>
          <p:cNvPr id="490" name="Google Shape;490;p49"/>
          <p:cNvGraphicFramePr/>
          <p:nvPr/>
        </p:nvGraphicFramePr>
        <p:xfrm>
          <a:off x="190884" y="905153"/>
          <a:ext cx="3000000" cy="3000000"/>
        </p:xfrm>
        <a:graphic>
          <a:graphicData uri="http://schemas.openxmlformats.org/drawingml/2006/table">
            <a:tbl>
              <a:tblPr firstRow="1" bandRow="1">
                <a:noFill/>
                <a:tableStyleId>{BD46F658-39F4-4A76-8726-31F6EFDBF01F}</a:tableStyleId>
              </a:tblPr>
              <a:tblGrid>
                <a:gridCol w="957225">
                  <a:extLst>
                    <a:ext uri="{9D8B030D-6E8A-4147-A177-3AD203B41FA5}">
                      <a16:colId xmlns:a16="http://schemas.microsoft.com/office/drawing/2014/main" val="20000"/>
                    </a:ext>
                  </a:extLst>
                </a:gridCol>
                <a:gridCol w="7805000">
                  <a:extLst>
                    <a:ext uri="{9D8B030D-6E8A-4147-A177-3AD203B41FA5}">
                      <a16:colId xmlns:a16="http://schemas.microsoft.com/office/drawing/2014/main" val="20001"/>
                    </a:ext>
                  </a:extLst>
                </a:gridCol>
              </a:tblGrid>
              <a:tr h="281825">
                <a:tc>
                  <a:txBody>
                    <a:bodyPr/>
                    <a:lstStyle/>
                    <a:p>
                      <a:pPr marL="0" marR="0" lvl="0" indent="0" algn="l" rtl="0">
                        <a:lnSpc>
                          <a:spcPct val="100000"/>
                        </a:lnSpc>
                        <a:spcBef>
                          <a:spcPts val="0"/>
                        </a:spcBef>
                        <a:spcAft>
                          <a:spcPts val="0"/>
                        </a:spcAft>
                        <a:buClr>
                          <a:srgbClr val="000000"/>
                        </a:buClr>
                        <a:buSzPts val="1400"/>
                        <a:buFont typeface="Arial"/>
                        <a:buNone/>
                      </a:pPr>
                      <a:r>
                        <a:rPr lang="en" sz="1300" u="none" strike="noStrike" cap="none">
                          <a:latin typeface="Open Sans"/>
                          <a:ea typeface="Open Sans"/>
                          <a:cs typeface="Open Sans"/>
                          <a:sym typeface="Open Sans"/>
                        </a:rPr>
                        <a:t>Stage</a:t>
                      </a:r>
                      <a:endParaRPr sz="1000" u="none" strike="noStrike" cap="none">
                        <a:latin typeface="Open Sans"/>
                        <a:ea typeface="Open Sans"/>
                        <a:cs typeface="Open Sans"/>
                        <a:sym typeface="Open Sans"/>
                      </a:endParaRPr>
                    </a:p>
                  </a:txBody>
                  <a:tcPr marL="68600" marR="68600" marT="34300" marB="34300">
                    <a:solidFill>
                      <a:srgbClr val="595959"/>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300" u="none" strike="noStrike" cap="none">
                          <a:latin typeface="Open Sans"/>
                          <a:ea typeface="Open Sans"/>
                          <a:cs typeface="Open Sans"/>
                          <a:sym typeface="Open Sans"/>
                        </a:rPr>
                        <a:t>Fundamentals that must be evident to support business Growth</a:t>
                      </a:r>
                      <a:endParaRPr sz="1000" u="none" strike="noStrike" cap="none">
                        <a:latin typeface="Open Sans"/>
                        <a:ea typeface="Open Sans"/>
                        <a:cs typeface="Open Sans"/>
                        <a:sym typeface="Open Sans"/>
                      </a:endParaRPr>
                    </a:p>
                  </a:txBody>
                  <a:tcPr marL="68600" marR="68600" marT="34300" marB="34300">
                    <a:solidFill>
                      <a:srgbClr val="595959"/>
                    </a:solidFill>
                  </a:tcPr>
                </a:tc>
                <a:extLst>
                  <a:ext uri="{0D108BD9-81ED-4DB2-BD59-A6C34878D82A}">
                    <a16:rowId xmlns:a16="http://schemas.microsoft.com/office/drawing/2014/main" val="10000"/>
                  </a:ext>
                </a:extLst>
              </a:tr>
              <a:tr h="841575">
                <a:tc>
                  <a:txBody>
                    <a:bodyPr/>
                    <a:lstStyle/>
                    <a:p>
                      <a:pPr marL="0" marR="0" lvl="0" indent="0" algn="l" rtl="0">
                        <a:lnSpc>
                          <a:spcPct val="100000"/>
                        </a:lnSpc>
                        <a:spcBef>
                          <a:spcPts val="0"/>
                        </a:spcBef>
                        <a:spcAft>
                          <a:spcPts val="0"/>
                        </a:spcAft>
                        <a:buClr>
                          <a:srgbClr val="000000"/>
                        </a:buClr>
                        <a:buSzPts val="1000"/>
                        <a:buFont typeface="Arial"/>
                        <a:buNone/>
                      </a:pPr>
                      <a:r>
                        <a:rPr lang="en" sz="900" u="none" strike="noStrike" cap="none">
                          <a:solidFill>
                            <a:schemeClr val="dk1"/>
                          </a:solidFill>
                          <a:latin typeface="Open Sans"/>
                          <a:ea typeface="Open Sans"/>
                          <a:cs typeface="Open Sans"/>
                          <a:sym typeface="Open Sans"/>
                        </a:rPr>
                        <a:t>Exit                   </a:t>
                      </a:r>
                      <a:endParaRPr sz="1000" u="none" strike="noStrike" cap="none">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1000"/>
                        <a:buFont typeface="Arial"/>
                        <a:buNone/>
                      </a:pPr>
                      <a:endParaRPr sz="900" u="none" strike="noStrike" cap="none">
                        <a:solidFill>
                          <a:schemeClr val="dk1"/>
                        </a:solidFill>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1000"/>
                        <a:buFont typeface="Arial"/>
                        <a:buNone/>
                      </a:pPr>
                      <a:endParaRPr sz="900" u="none" strike="noStrike" cap="none">
                        <a:solidFill>
                          <a:schemeClr val="dk1"/>
                        </a:solidFill>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1000"/>
                        <a:buFont typeface="Arial"/>
                        <a:buNone/>
                      </a:pPr>
                      <a:endParaRPr sz="900" u="none" strike="noStrike" cap="none">
                        <a:solidFill>
                          <a:schemeClr val="dk1"/>
                        </a:solidFill>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1000"/>
                        <a:buFont typeface="Arial"/>
                        <a:buNone/>
                      </a:pPr>
                      <a:r>
                        <a:rPr lang="en" sz="900" u="none" strike="noStrike" cap="none">
                          <a:solidFill>
                            <a:schemeClr val="dk1"/>
                          </a:solidFill>
                          <a:latin typeface="Open Sans"/>
                          <a:ea typeface="Open Sans"/>
                          <a:cs typeface="Open Sans"/>
                          <a:sym typeface="Open Sans"/>
                        </a:rPr>
                        <a:t>Decline</a:t>
                      </a:r>
                      <a:endParaRPr sz="1000" u="none" strike="noStrike" cap="none">
                        <a:latin typeface="Open Sans"/>
                        <a:ea typeface="Open Sans"/>
                        <a:cs typeface="Open Sans"/>
                        <a:sym typeface="Open Sans"/>
                      </a:endParaRPr>
                    </a:p>
                  </a:txBody>
                  <a:tcPr marL="68600" marR="68600" marT="34300" marB="34300">
                    <a:solidFill>
                      <a:srgbClr val="BFBFBF"/>
                    </a:solidFill>
                  </a:tcPr>
                </a:tc>
                <a:tc>
                  <a:txBody>
                    <a:bodyPr/>
                    <a:lstStyle/>
                    <a:p>
                      <a:pPr marL="0" marR="0" lvl="0" indent="0" algn="just" rtl="0">
                        <a:lnSpc>
                          <a:spcPct val="100000"/>
                        </a:lnSpc>
                        <a:spcBef>
                          <a:spcPts val="0"/>
                        </a:spcBef>
                        <a:spcAft>
                          <a:spcPts val="0"/>
                        </a:spcAft>
                        <a:buClr>
                          <a:srgbClr val="000000"/>
                        </a:buClr>
                        <a:buSzPts val="1000"/>
                        <a:buFont typeface="Arial"/>
                        <a:buNone/>
                      </a:pPr>
                      <a:r>
                        <a:rPr lang="en" sz="900" u="none" strike="noStrike" cap="none">
                          <a:solidFill>
                            <a:schemeClr val="dk1"/>
                          </a:solidFill>
                          <a:latin typeface="Open Sans"/>
                          <a:ea typeface="Open Sans"/>
                          <a:cs typeface="Open Sans"/>
                          <a:sym typeface="Open Sans"/>
                        </a:rPr>
                        <a:t>Able to demonstrate strong, repeatable profits that are not reliant on direct input from business owners. Practised in ‘getting out of the way’ and allowing key staff to make decisions and correct mistakes. Cognisant of market ‘timing cycles’ and financially able to wait if required for optimal sale. Well versed in ‘translating wishes to action plans’...</a:t>
                      </a:r>
                      <a:endParaRPr sz="1000" u="none" strike="noStrike" cap="none">
                        <a:latin typeface="Open Sans"/>
                        <a:ea typeface="Open Sans"/>
                        <a:cs typeface="Open Sans"/>
                        <a:sym typeface="Open Sans"/>
                      </a:endParaRPr>
                    </a:p>
                    <a:p>
                      <a:pPr marL="0" marR="0" lvl="0" indent="0" algn="just" rtl="0">
                        <a:lnSpc>
                          <a:spcPct val="100000"/>
                        </a:lnSpc>
                        <a:spcBef>
                          <a:spcPts val="0"/>
                        </a:spcBef>
                        <a:spcAft>
                          <a:spcPts val="0"/>
                        </a:spcAft>
                        <a:buClr>
                          <a:srgbClr val="000000"/>
                        </a:buClr>
                        <a:buSzPts val="1000"/>
                        <a:buFont typeface="Arial"/>
                        <a:buNone/>
                      </a:pPr>
                      <a:endParaRPr sz="900" u="none" strike="noStrike" cap="none">
                        <a:solidFill>
                          <a:schemeClr val="dk1"/>
                        </a:solidFill>
                        <a:latin typeface="Open Sans"/>
                        <a:ea typeface="Open Sans"/>
                        <a:cs typeface="Open Sans"/>
                        <a:sym typeface="Open Sans"/>
                      </a:endParaRPr>
                    </a:p>
                    <a:p>
                      <a:pPr marL="0" marR="0" lvl="0" indent="0" algn="just" rtl="0">
                        <a:lnSpc>
                          <a:spcPct val="100000"/>
                        </a:lnSpc>
                        <a:spcBef>
                          <a:spcPts val="0"/>
                        </a:spcBef>
                        <a:spcAft>
                          <a:spcPts val="0"/>
                        </a:spcAft>
                        <a:buClr>
                          <a:srgbClr val="000000"/>
                        </a:buClr>
                        <a:buSzPts val="1000"/>
                        <a:buFont typeface="Arial"/>
                        <a:buNone/>
                      </a:pPr>
                      <a:r>
                        <a:rPr lang="en" sz="900" u="none" strike="noStrike" cap="none">
                          <a:solidFill>
                            <a:schemeClr val="dk1"/>
                          </a:solidFill>
                          <a:latin typeface="Open Sans"/>
                          <a:ea typeface="Open Sans"/>
                          <a:cs typeface="Open Sans"/>
                          <a:sym typeface="Open Sans"/>
                        </a:rPr>
                        <a:t>What you’re left with if you’ve failed to learn and practice the business fundamentals...</a:t>
                      </a:r>
                      <a:endParaRPr sz="900" u="none" strike="noStrike" cap="none">
                        <a:solidFill>
                          <a:schemeClr val="dk1"/>
                        </a:solidFill>
                        <a:latin typeface="Open Sans"/>
                        <a:ea typeface="Open Sans"/>
                        <a:cs typeface="Open Sans"/>
                        <a:sym typeface="Open Sans"/>
                      </a:endParaRPr>
                    </a:p>
                  </a:txBody>
                  <a:tcPr marL="68600" marR="68600" marT="34300" marB="34300">
                    <a:solidFill>
                      <a:srgbClr val="BFBFBF"/>
                    </a:solidFill>
                  </a:tcPr>
                </a:tc>
                <a:extLst>
                  <a:ext uri="{0D108BD9-81ED-4DB2-BD59-A6C34878D82A}">
                    <a16:rowId xmlns:a16="http://schemas.microsoft.com/office/drawing/2014/main" val="10001"/>
                  </a:ext>
                </a:extLst>
              </a:tr>
              <a:tr h="736225">
                <a:tc>
                  <a:txBody>
                    <a:bodyPr/>
                    <a:lstStyle/>
                    <a:p>
                      <a:pPr marL="0" marR="0" lvl="0" indent="0" algn="l" rtl="0">
                        <a:lnSpc>
                          <a:spcPct val="100000"/>
                        </a:lnSpc>
                        <a:spcBef>
                          <a:spcPts val="0"/>
                        </a:spcBef>
                        <a:spcAft>
                          <a:spcPts val="0"/>
                        </a:spcAft>
                        <a:buClr>
                          <a:srgbClr val="000000"/>
                        </a:buClr>
                        <a:buSzPts val="1000"/>
                        <a:buFont typeface="Arial"/>
                        <a:buNone/>
                      </a:pPr>
                      <a:r>
                        <a:rPr lang="en" sz="900" u="none" strike="noStrike" cap="none">
                          <a:solidFill>
                            <a:schemeClr val="lt1"/>
                          </a:solidFill>
                          <a:latin typeface="Open Sans"/>
                          <a:ea typeface="Open Sans"/>
                          <a:cs typeface="Open Sans"/>
                          <a:sym typeface="Open Sans"/>
                        </a:rPr>
                        <a:t>Leapfrog &amp; Maturity</a:t>
                      </a:r>
                      <a:endParaRPr sz="1000" u="none" strike="noStrike" cap="none">
                        <a:latin typeface="Open Sans"/>
                        <a:ea typeface="Open Sans"/>
                        <a:cs typeface="Open Sans"/>
                        <a:sym typeface="Open Sans"/>
                      </a:endParaRPr>
                    </a:p>
                  </a:txBody>
                  <a:tcPr marL="68600" marR="68600" marT="34300" marB="34300">
                    <a:solidFill>
                      <a:srgbClr val="FF0000"/>
                    </a:solidFill>
                  </a:tcPr>
                </a:tc>
                <a:tc>
                  <a:txBody>
                    <a:bodyPr/>
                    <a:lstStyle/>
                    <a:p>
                      <a:pPr marL="0" marR="0" lvl="0" indent="0" algn="just" rtl="0">
                        <a:lnSpc>
                          <a:spcPct val="100000"/>
                        </a:lnSpc>
                        <a:spcBef>
                          <a:spcPts val="0"/>
                        </a:spcBef>
                        <a:spcAft>
                          <a:spcPts val="0"/>
                        </a:spcAft>
                        <a:buClr>
                          <a:srgbClr val="000000"/>
                        </a:buClr>
                        <a:buSzPts val="1000"/>
                        <a:buFont typeface="Arial"/>
                        <a:buNone/>
                      </a:pPr>
                      <a:r>
                        <a:rPr lang="en" sz="900" u="none" strike="noStrike" cap="none">
                          <a:solidFill>
                            <a:schemeClr val="lt1"/>
                          </a:solidFill>
                          <a:latin typeface="Open Sans"/>
                          <a:ea typeface="Open Sans"/>
                          <a:cs typeface="Open Sans"/>
                          <a:sym typeface="Open Sans"/>
                        </a:rPr>
                        <a:t>Solid understanding of Leadership tactics &amp; Basic Personality Types. Sound knowledge of underlying industry profit drivers (scenario analysis), strong benchmark data awareness and reasonable knowledge of valuation ‘variables’ and Modern Systems Theory. Experienced in ‘putting Ego aside’ when receiving advice from professional advisers within a Governance framework (advisory or board structure). Experienced in ‘business dating’ concept, Jo-Hari Window and in achieving formal structure (expectations) with sub-contractors and/or C.O.I’s. </a:t>
                      </a:r>
                      <a:endParaRPr sz="900" u="none" strike="noStrike" cap="none">
                        <a:solidFill>
                          <a:schemeClr val="lt1"/>
                        </a:solidFill>
                        <a:latin typeface="Open Sans"/>
                        <a:ea typeface="Open Sans"/>
                        <a:cs typeface="Open Sans"/>
                        <a:sym typeface="Open Sans"/>
                      </a:endParaRPr>
                    </a:p>
                  </a:txBody>
                  <a:tcPr marL="68600" marR="68600" marT="34300" marB="34300">
                    <a:solidFill>
                      <a:srgbClr val="FF0000"/>
                    </a:solidFill>
                  </a:tcPr>
                </a:tc>
                <a:extLst>
                  <a:ext uri="{0D108BD9-81ED-4DB2-BD59-A6C34878D82A}">
                    <a16:rowId xmlns:a16="http://schemas.microsoft.com/office/drawing/2014/main" val="10002"/>
                  </a:ext>
                </a:extLst>
              </a:tr>
              <a:tr h="736225">
                <a:tc>
                  <a:txBody>
                    <a:bodyPr/>
                    <a:lstStyle/>
                    <a:p>
                      <a:pPr marL="0" marR="0" lvl="0" indent="0" algn="l" rtl="0">
                        <a:lnSpc>
                          <a:spcPct val="100000"/>
                        </a:lnSpc>
                        <a:spcBef>
                          <a:spcPts val="0"/>
                        </a:spcBef>
                        <a:spcAft>
                          <a:spcPts val="0"/>
                        </a:spcAft>
                        <a:buClr>
                          <a:srgbClr val="000000"/>
                        </a:buClr>
                        <a:buSzPts val="1000"/>
                        <a:buFont typeface="Arial"/>
                        <a:buNone/>
                      </a:pPr>
                      <a:r>
                        <a:rPr lang="en" sz="900" u="none" strike="noStrike" cap="none">
                          <a:solidFill>
                            <a:srgbClr val="002060"/>
                          </a:solidFill>
                          <a:latin typeface="Open Sans"/>
                          <a:ea typeface="Open Sans"/>
                          <a:cs typeface="Open Sans"/>
                          <a:sym typeface="Open Sans"/>
                        </a:rPr>
                        <a:t>Leverage &amp; Reach</a:t>
                      </a:r>
                      <a:endParaRPr sz="1000" u="none" strike="noStrike" cap="none">
                        <a:latin typeface="Open Sans"/>
                        <a:ea typeface="Open Sans"/>
                        <a:cs typeface="Open Sans"/>
                        <a:sym typeface="Open Sans"/>
                      </a:endParaRPr>
                    </a:p>
                  </a:txBody>
                  <a:tcPr marL="68600" marR="68600" marT="34300" marB="34300">
                    <a:solidFill>
                      <a:srgbClr val="548135"/>
                    </a:solidFill>
                  </a:tcPr>
                </a:tc>
                <a:tc>
                  <a:txBody>
                    <a:bodyPr/>
                    <a:lstStyle/>
                    <a:p>
                      <a:pPr marL="0" marR="0" lvl="0" indent="0" algn="just" rtl="0">
                        <a:lnSpc>
                          <a:spcPct val="100000"/>
                        </a:lnSpc>
                        <a:spcBef>
                          <a:spcPts val="0"/>
                        </a:spcBef>
                        <a:spcAft>
                          <a:spcPts val="0"/>
                        </a:spcAft>
                        <a:buClr>
                          <a:srgbClr val="000000"/>
                        </a:buClr>
                        <a:buSzPts val="1000"/>
                        <a:buFont typeface="Arial"/>
                        <a:buNone/>
                      </a:pPr>
                      <a:r>
                        <a:rPr lang="en" sz="900" u="none" strike="noStrike" cap="none">
                          <a:solidFill>
                            <a:srgbClr val="002060"/>
                          </a:solidFill>
                          <a:latin typeface="Open Sans"/>
                          <a:ea typeface="Open Sans"/>
                          <a:cs typeface="Open Sans"/>
                          <a:sym typeface="Open Sans"/>
                        </a:rPr>
                        <a:t>Solid understanding of process improvement (without ‘dumbing down’ the employees), Formal Risk Management &amp; Governance ethos is dominant, strong recognition of what drives employees, sound delegation/review techniques combined with well practised ‘problem solving’ and communication/meeting tools (such as De Bono’s 6 hats). Willingness to explore employee diversification &amp; challenge std hierarchy's. Clear understanding of Revenue Streams and financial value to client reflected in pricing and client retention. Knowledge bank is seen as a priority.</a:t>
                      </a:r>
                      <a:endParaRPr sz="900" u="none" strike="noStrike" cap="none">
                        <a:solidFill>
                          <a:srgbClr val="002060"/>
                        </a:solidFill>
                        <a:latin typeface="Open Sans"/>
                        <a:ea typeface="Open Sans"/>
                        <a:cs typeface="Open Sans"/>
                        <a:sym typeface="Open Sans"/>
                      </a:endParaRPr>
                    </a:p>
                  </a:txBody>
                  <a:tcPr marL="68600" marR="68600" marT="34300" marB="34300">
                    <a:solidFill>
                      <a:srgbClr val="548135"/>
                    </a:solidFill>
                  </a:tcPr>
                </a:tc>
                <a:extLst>
                  <a:ext uri="{0D108BD9-81ED-4DB2-BD59-A6C34878D82A}">
                    <a16:rowId xmlns:a16="http://schemas.microsoft.com/office/drawing/2014/main" val="10003"/>
                  </a:ext>
                </a:extLst>
              </a:tr>
              <a:tr h="736225">
                <a:tc>
                  <a:txBody>
                    <a:bodyPr/>
                    <a:lstStyle/>
                    <a:p>
                      <a:pPr marL="0" marR="0" lvl="0" indent="0" algn="l" rtl="0">
                        <a:lnSpc>
                          <a:spcPct val="100000"/>
                        </a:lnSpc>
                        <a:spcBef>
                          <a:spcPts val="0"/>
                        </a:spcBef>
                        <a:spcAft>
                          <a:spcPts val="0"/>
                        </a:spcAft>
                        <a:buClr>
                          <a:srgbClr val="000000"/>
                        </a:buClr>
                        <a:buSzPts val="1000"/>
                        <a:buFont typeface="Arial"/>
                        <a:buNone/>
                      </a:pPr>
                      <a:r>
                        <a:rPr lang="en" sz="900" u="none" strike="noStrike" cap="none">
                          <a:solidFill>
                            <a:srgbClr val="FF0000"/>
                          </a:solidFill>
                          <a:latin typeface="Open Sans"/>
                          <a:ea typeface="Open Sans"/>
                          <a:cs typeface="Open Sans"/>
                          <a:sym typeface="Open Sans"/>
                        </a:rPr>
                        <a:t>Lifestyle</a:t>
                      </a:r>
                      <a:endParaRPr sz="1000" u="none" strike="noStrike" cap="none">
                        <a:latin typeface="Open Sans"/>
                        <a:ea typeface="Open Sans"/>
                        <a:cs typeface="Open Sans"/>
                        <a:sym typeface="Open Sans"/>
                      </a:endParaRPr>
                    </a:p>
                  </a:txBody>
                  <a:tcPr marL="68600" marR="68600" marT="34300" marB="34300">
                    <a:solidFill>
                      <a:srgbClr val="FFFF66"/>
                    </a:solidFill>
                  </a:tcPr>
                </a:tc>
                <a:tc>
                  <a:txBody>
                    <a:bodyPr/>
                    <a:lstStyle/>
                    <a:p>
                      <a:pPr marL="0" marR="0" lvl="0" indent="0" algn="just" rtl="0">
                        <a:lnSpc>
                          <a:spcPct val="100000"/>
                        </a:lnSpc>
                        <a:spcBef>
                          <a:spcPts val="0"/>
                        </a:spcBef>
                        <a:spcAft>
                          <a:spcPts val="0"/>
                        </a:spcAft>
                        <a:buClr>
                          <a:srgbClr val="000000"/>
                        </a:buClr>
                        <a:buSzPts val="1000"/>
                        <a:buFont typeface="Arial"/>
                        <a:buNone/>
                      </a:pPr>
                      <a:r>
                        <a:rPr lang="en" sz="900" u="none" strike="noStrike" cap="none">
                          <a:solidFill>
                            <a:srgbClr val="FF0000"/>
                          </a:solidFill>
                          <a:latin typeface="Open Sans"/>
                          <a:ea typeface="Open Sans"/>
                          <a:cs typeface="Open Sans"/>
                          <a:sym typeface="Open Sans"/>
                        </a:rPr>
                        <a:t>Relevant Sales Process for Industry. (Point of sale, Consultancy or Territory Style) Combined with a Marketing Plan that caters to customer profile, message, medium, frequency, budget. Understanding of Marketing Fundamentals (Progression of Value &amp; Technology Opportunity Points) Financial understanding of Volatility and Liquidation values, KPI’s (lead &amp; Lag), Debt/Tax structure. Well versed in conducting S.W.O.T &amp; P.E.S.T reviews resulting in Well Defined Operational Objectives, Understanding of the business Value Chain (incorporating Vertical &amp; Horizontal Integration)</a:t>
                      </a:r>
                      <a:endParaRPr sz="900" u="none" strike="noStrike" cap="none">
                        <a:solidFill>
                          <a:srgbClr val="FF0000"/>
                        </a:solidFill>
                        <a:latin typeface="Open Sans"/>
                        <a:ea typeface="Open Sans"/>
                        <a:cs typeface="Open Sans"/>
                        <a:sym typeface="Open Sans"/>
                      </a:endParaRPr>
                    </a:p>
                  </a:txBody>
                  <a:tcPr marL="68600" marR="68600" marT="34300" marB="34300">
                    <a:solidFill>
                      <a:srgbClr val="FFFF66"/>
                    </a:solidFill>
                  </a:tcPr>
                </a:tc>
                <a:extLst>
                  <a:ext uri="{0D108BD9-81ED-4DB2-BD59-A6C34878D82A}">
                    <a16:rowId xmlns:a16="http://schemas.microsoft.com/office/drawing/2014/main" val="10004"/>
                  </a:ext>
                </a:extLst>
              </a:tr>
              <a:tr h="736800">
                <a:tc>
                  <a:txBody>
                    <a:bodyPr/>
                    <a:lstStyle/>
                    <a:p>
                      <a:pPr marL="0" marR="0" lvl="0" indent="0" algn="l" rtl="0">
                        <a:lnSpc>
                          <a:spcPct val="100000"/>
                        </a:lnSpc>
                        <a:spcBef>
                          <a:spcPts val="0"/>
                        </a:spcBef>
                        <a:spcAft>
                          <a:spcPts val="0"/>
                        </a:spcAft>
                        <a:buClr>
                          <a:srgbClr val="000000"/>
                        </a:buClr>
                        <a:buSzPts val="1000"/>
                        <a:buFont typeface="Arial"/>
                        <a:buNone/>
                      </a:pPr>
                      <a:r>
                        <a:rPr lang="en" sz="900" u="none" strike="noStrike" cap="none">
                          <a:solidFill>
                            <a:srgbClr val="262626"/>
                          </a:solidFill>
                          <a:latin typeface="Open Sans"/>
                          <a:ea typeface="Open Sans"/>
                          <a:cs typeface="Open Sans"/>
                          <a:sym typeface="Open Sans"/>
                        </a:rPr>
                        <a:t>Design to Break-even</a:t>
                      </a:r>
                      <a:endParaRPr sz="1000" u="none" strike="noStrike" cap="none">
                        <a:latin typeface="Open Sans"/>
                        <a:ea typeface="Open Sans"/>
                        <a:cs typeface="Open Sans"/>
                        <a:sym typeface="Open Sans"/>
                      </a:endParaRPr>
                    </a:p>
                  </a:txBody>
                  <a:tcPr marL="68600" marR="68600" marT="34300" marB="34300">
                    <a:solidFill>
                      <a:srgbClr val="92D050"/>
                    </a:solidFill>
                  </a:tcPr>
                </a:tc>
                <a:tc>
                  <a:txBody>
                    <a:bodyPr/>
                    <a:lstStyle/>
                    <a:p>
                      <a:pPr marL="0" marR="0" lvl="0" indent="0" algn="just" rtl="0">
                        <a:lnSpc>
                          <a:spcPct val="100000"/>
                        </a:lnSpc>
                        <a:spcBef>
                          <a:spcPts val="0"/>
                        </a:spcBef>
                        <a:spcAft>
                          <a:spcPts val="0"/>
                        </a:spcAft>
                        <a:buClr>
                          <a:srgbClr val="000000"/>
                        </a:buClr>
                        <a:buSzPts val="1000"/>
                        <a:buFont typeface="Arial"/>
                        <a:buNone/>
                      </a:pPr>
                      <a:r>
                        <a:rPr lang="en" sz="900" u="none" strike="noStrike" cap="none">
                          <a:solidFill>
                            <a:srgbClr val="262626"/>
                          </a:solidFill>
                          <a:latin typeface="Open Sans"/>
                          <a:ea typeface="Open Sans"/>
                          <a:cs typeface="Open Sans"/>
                          <a:sym typeface="Open Sans"/>
                        </a:rPr>
                        <a:t>The 8 Profit Levers – Mthly Break even point and Lifestyle targets (Capacity Model) - Working Capital Cycle (Developing Cash flow forecasts) and Fixed Capital Needs (Developing Expense Budgets) - ROI (investment) and ROA (assets) Mentality - Market Diffusion Theory, Product Life-cycle - The Effects of Discounting – Organising your P&amp;L Categories for Management vs. Job Costing Reports – The 3 Business Divisions (Get Organised, Get the Job, Do the Job) &amp; 6 Business Focus Areas as Systems (Planning, $ &amp; Data Management, Marketing, Sales, People, Process)</a:t>
                      </a:r>
                      <a:endParaRPr sz="900" u="none" strike="noStrike" cap="none">
                        <a:solidFill>
                          <a:srgbClr val="262626"/>
                        </a:solidFill>
                        <a:latin typeface="Open Sans"/>
                        <a:ea typeface="Open Sans"/>
                        <a:cs typeface="Open Sans"/>
                        <a:sym typeface="Open Sans"/>
                      </a:endParaRPr>
                    </a:p>
                  </a:txBody>
                  <a:tcPr marL="68600" marR="68600" marT="34300" marB="34300">
                    <a:solidFill>
                      <a:srgbClr val="92D050"/>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94"/>
        <p:cNvGrpSpPr/>
        <p:nvPr/>
      </p:nvGrpSpPr>
      <p:grpSpPr>
        <a:xfrm>
          <a:off x="0" y="0"/>
          <a:ext cx="0" cy="0"/>
          <a:chOff x="0" y="0"/>
          <a:chExt cx="0" cy="0"/>
        </a:xfrm>
      </p:grpSpPr>
      <p:sp>
        <p:nvSpPr>
          <p:cNvPr id="495" name="Google Shape;495;p50"/>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SzPts val="900"/>
              <a:buNone/>
            </a:pPr>
            <a:fld id="{00000000-1234-1234-1234-123412341234}" type="slidenum">
              <a:rPr lang="en" sz="1100"/>
              <a:t>13</a:t>
            </a:fld>
            <a:endParaRPr sz="1100"/>
          </a:p>
        </p:txBody>
      </p:sp>
      <p:sp>
        <p:nvSpPr>
          <p:cNvPr id="496" name="Google Shape;496;p50"/>
          <p:cNvSpPr/>
          <p:nvPr/>
        </p:nvSpPr>
        <p:spPr>
          <a:xfrm>
            <a:off x="49427" y="49427"/>
            <a:ext cx="90390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497" name="Google Shape;497;p50"/>
          <p:cNvSpPr/>
          <p:nvPr/>
        </p:nvSpPr>
        <p:spPr>
          <a:xfrm>
            <a:off x="49427" y="5004196"/>
            <a:ext cx="5793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498" name="Google Shape;498;p50"/>
          <p:cNvSpPr/>
          <p:nvPr/>
        </p:nvSpPr>
        <p:spPr>
          <a:xfrm>
            <a:off x="1513702" y="5004196"/>
            <a:ext cx="75747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499" name="Google Shape;499;p50"/>
          <p:cNvSpPr/>
          <p:nvPr/>
        </p:nvSpPr>
        <p:spPr>
          <a:xfrm rot="-5400000">
            <a:off x="6612697"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500" name="Google Shape;500;p50"/>
          <p:cNvSpPr/>
          <p:nvPr/>
        </p:nvSpPr>
        <p:spPr>
          <a:xfrm rot="-5400000">
            <a:off x="-2339773"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501" name="Google Shape;501;p50"/>
          <p:cNvSpPr txBox="1">
            <a:spLocks noGrp="1"/>
          </p:cNvSpPr>
          <p:nvPr>
            <p:ph type="title"/>
          </p:nvPr>
        </p:nvSpPr>
        <p:spPr>
          <a:xfrm>
            <a:off x="257175" y="139311"/>
            <a:ext cx="8094000" cy="6360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lt1"/>
              </a:buClr>
              <a:buSzPts val="2400"/>
              <a:buFont typeface="Architects Daughter"/>
              <a:buNone/>
            </a:pPr>
            <a:r>
              <a:rPr lang="en" sz="2400">
                <a:solidFill>
                  <a:srgbClr val="002B64"/>
                </a:solidFill>
                <a:latin typeface="Open Sans"/>
                <a:ea typeface="Open Sans"/>
                <a:cs typeface="Open Sans"/>
                <a:sym typeface="Open Sans"/>
              </a:rPr>
              <a:t>Flowcharting Your Sales Process</a:t>
            </a:r>
            <a:r>
              <a:rPr lang="en" sz="2400" i="0" u="none" strike="noStrike" cap="none">
                <a:solidFill>
                  <a:srgbClr val="002B64"/>
                </a:solidFill>
                <a:latin typeface="Open Sans"/>
                <a:ea typeface="Open Sans"/>
                <a:cs typeface="Open Sans"/>
                <a:sym typeface="Open Sans"/>
              </a:rPr>
              <a:t> </a:t>
            </a:r>
            <a:endParaRPr sz="2400" i="0" u="none" strike="noStrike" cap="none">
              <a:solidFill>
                <a:srgbClr val="002B64"/>
              </a:solidFill>
              <a:latin typeface="Open Sans"/>
              <a:ea typeface="Open Sans"/>
              <a:cs typeface="Open Sans"/>
              <a:sym typeface="Open Sans"/>
            </a:endParaRPr>
          </a:p>
        </p:txBody>
      </p:sp>
      <p:sp>
        <p:nvSpPr>
          <p:cNvPr id="502" name="Google Shape;502;p50"/>
          <p:cNvSpPr/>
          <p:nvPr/>
        </p:nvSpPr>
        <p:spPr>
          <a:xfrm>
            <a:off x="257175" y="1068775"/>
            <a:ext cx="1597200" cy="9777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50"/>
          <p:cNvSpPr/>
          <p:nvPr/>
        </p:nvSpPr>
        <p:spPr>
          <a:xfrm>
            <a:off x="2007663" y="1068775"/>
            <a:ext cx="1597200" cy="9777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50"/>
          <p:cNvSpPr/>
          <p:nvPr/>
        </p:nvSpPr>
        <p:spPr>
          <a:xfrm>
            <a:off x="3758138" y="1068775"/>
            <a:ext cx="1597200" cy="9777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50"/>
          <p:cNvSpPr/>
          <p:nvPr/>
        </p:nvSpPr>
        <p:spPr>
          <a:xfrm>
            <a:off x="5540550" y="1068775"/>
            <a:ext cx="1597200" cy="9777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50"/>
          <p:cNvSpPr/>
          <p:nvPr/>
        </p:nvSpPr>
        <p:spPr>
          <a:xfrm>
            <a:off x="7271225" y="1068775"/>
            <a:ext cx="1597200" cy="9777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50"/>
          <p:cNvSpPr/>
          <p:nvPr/>
        </p:nvSpPr>
        <p:spPr>
          <a:xfrm>
            <a:off x="257175" y="2339950"/>
            <a:ext cx="1597200" cy="9777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50"/>
          <p:cNvSpPr/>
          <p:nvPr/>
        </p:nvSpPr>
        <p:spPr>
          <a:xfrm>
            <a:off x="2007675" y="2339950"/>
            <a:ext cx="1597200" cy="9777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50"/>
          <p:cNvSpPr/>
          <p:nvPr/>
        </p:nvSpPr>
        <p:spPr>
          <a:xfrm>
            <a:off x="3770263" y="2339950"/>
            <a:ext cx="1597200" cy="9777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50"/>
          <p:cNvSpPr/>
          <p:nvPr/>
        </p:nvSpPr>
        <p:spPr>
          <a:xfrm>
            <a:off x="5532875" y="2339950"/>
            <a:ext cx="1597200" cy="9777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50"/>
          <p:cNvSpPr/>
          <p:nvPr/>
        </p:nvSpPr>
        <p:spPr>
          <a:xfrm>
            <a:off x="7267388" y="2339950"/>
            <a:ext cx="1597200" cy="9777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50"/>
          <p:cNvSpPr/>
          <p:nvPr/>
        </p:nvSpPr>
        <p:spPr>
          <a:xfrm>
            <a:off x="257175" y="3611125"/>
            <a:ext cx="1597200" cy="9777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50"/>
          <p:cNvSpPr/>
          <p:nvPr/>
        </p:nvSpPr>
        <p:spPr>
          <a:xfrm>
            <a:off x="2007675" y="3611125"/>
            <a:ext cx="1597200" cy="9777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2849</Words>
  <Application>Microsoft Office PowerPoint</Application>
  <PresentationFormat>On-screen Show (16:9)</PresentationFormat>
  <Paragraphs>234</Paragraphs>
  <Slides>13</Slides>
  <Notes>13</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13</vt:i4>
      </vt:variant>
    </vt:vector>
  </HeadingPairs>
  <TitlesOfParts>
    <vt:vector size="21" baseType="lpstr">
      <vt:lpstr>Open Sans</vt:lpstr>
      <vt:lpstr>Arial</vt:lpstr>
      <vt:lpstr>Calibri</vt:lpstr>
      <vt:lpstr>Architects Daughter</vt:lpstr>
      <vt:lpstr>Lato Light</vt:lpstr>
      <vt:lpstr>Simple Light</vt:lpstr>
      <vt:lpstr>Office Theme</vt:lpstr>
      <vt:lpstr>Office Theme</vt:lpstr>
      <vt:lpstr>Your Sales Process Decision Tree</vt:lpstr>
      <vt:lpstr>Just So We’re Clear...</vt:lpstr>
      <vt:lpstr>Decisions, decisions...</vt:lpstr>
      <vt:lpstr>Decisions, decisions...</vt:lpstr>
      <vt:lpstr>Where to Start as a NEW Advisor?</vt:lpstr>
      <vt:lpstr>(Confident &amp; Experienced Advisor) Approach &amp; Sales Process Decision Tree</vt:lpstr>
      <vt:lpstr>Prepare Your (Campaign) Approach </vt:lpstr>
      <vt:lpstr>The (Honey &amp; Mumford) 4 Processing Styles</vt:lpstr>
      <vt:lpstr>The Logical (Campaign) Decision Points</vt:lpstr>
      <vt:lpstr>The Logical (Total Needs) Decision Points</vt:lpstr>
      <vt:lpstr>5 CRITICAL Sales Process Reminders</vt:lpstr>
      <vt:lpstr>Your ‘Behind the Scenes’ Toolbox Suitability</vt:lpstr>
      <vt:lpstr>Flowcharting Your Sales Process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Mike Barnes</dc:creator>
  <cp:lastModifiedBy>Mike Barnes</cp:lastModifiedBy>
  <cp:revision>1</cp:revision>
  <dcterms:modified xsi:type="dcterms:W3CDTF">2026-04-01T21:53:12Z</dcterms:modified>
</cp:coreProperties>
</file>