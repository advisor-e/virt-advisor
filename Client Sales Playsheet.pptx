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Open Sans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font" Target="fonts/OpenSans-regular.fntdata"/><Relationship Id="rId7" Type="http://schemas.openxmlformats.org/officeDocument/2006/relationships/font" Target="fonts/OpenSans-bold.fntdata"/><Relationship Id="rId8" Type="http://schemas.openxmlformats.org/officeDocument/2006/relationships/font" Target="fonts/Open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NZ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879" y="6162985"/>
            <a:ext cx="1179995" cy="622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5903" y="65903"/>
            <a:ext cx="12051956" cy="119835"/>
          </a:xfrm>
          <a:prstGeom prst="rect">
            <a:avLst/>
          </a:prstGeom>
          <a:solidFill>
            <a:srgbClr val="174DA9"/>
          </a:solidFill>
          <a:ln cap="flat" cmpd="sng" w="9525">
            <a:solidFill>
              <a:srgbClr val="000000">
                <a:alpha val="1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5903" y="6672262"/>
            <a:ext cx="772297" cy="119835"/>
          </a:xfrm>
          <a:prstGeom prst="rect">
            <a:avLst/>
          </a:prstGeom>
          <a:solidFill>
            <a:srgbClr val="174DA9"/>
          </a:solidFill>
          <a:ln cap="flat" cmpd="sng" w="9525">
            <a:solidFill>
              <a:srgbClr val="000000">
                <a:alpha val="1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2018269" y="6672262"/>
            <a:ext cx="10099589" cy="119835"/>
          </a:xfrm>
          <a:prstGeom prst="rect">
            <a:avLst/>
          </a:prstGeom>
          <a:solidFill>
            <a:srgbClr val="174DA9"/>
          </a:solidFill>
          <a:ln cap="flat" cmpd="sng" w="9525">
            <a:solidFill>
              <a:srgbClr val="000000">
                <a:alpha val="1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rot="-5400000">
            <a:off x="8816932" y="3371335"/>
            <a:ext cx="6486524" cy="115328"/>
          </a:xfrm>
          <a:prstGeom prst="rect">
            <a:avLst/>
          </a:prstGeom>
          <a:solidFill>
            <a:srgbClr val="174DA9"/>
          </a:solidFill>
          <a:ln cap="flat" cmpd="sng" w="9525">
            <a:solidFill>
              <a:srgbClr val="000000">
                <a:alpha val="1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 rot="-5400000">
            <a:off x="-3119696" y="3371335"/>
            <a:ext cx="6486524" cy="115328"/>
          </a:xfrm>
          <a:prstGeom prst="rect">
            <a:avLst/>
          </a:prstGeom>
          <a:solidFill>
            <a:srgbClr val="174DA9"/>
          </a:solidFill>
          <a:ln cap="flat" cmpd="sng" w="9525">
            <a:solidFill>
              <a:srgbClr val="000000">
                <a:alpha val="1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4707924" y="449002"/>
            <a:ext cx="2767800" cy="815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“I’m not making enough Sales”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707924" y="1432550"/>
            <a:ext cx="2767913" cy="815546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“Do you mean the number of Sales or do you mean the Profit left over afterwards?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38200" y="2248096"/>
            <a:ext cx="2767913" cy="81554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“I mean the number of sales”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577648" y="2248096"/>
            <a:ext cx="2767913" cy="81554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“I mean the profit left over”</a:t>
            </a:r>
            <a:endParaRPr/>
          </a:p>
        </p:txBody>
      </p:sp>
      <p:cxnSp>
        <p:nvCxnSpPr>
          <p:cNvPr id="98" name="Google Shape;98;p13"/>
          <p:cNvCxnSpPr/>
          <p:nvPr/>
        </p:nvCxnSpPr>
        <p:spPr>
          <a:xfrm flipH="1">
            <a:off x="3715297" y="2360827"/>
            <a:ext cx="1705200" cy="225900"/>
          </a:xfrm>
          <a:prstGeom prst="bentConnector3">
            <a:avLst>
              <a:gd fmla="val 241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/>
          <p:nvPr/>
        </p:nvCxnSpPr>
        <p:spPr>
          <a:xfrm>
            <a:off x="6771505" y="2360827"/>
            <a:ext cx="1683600" cy="203100"/>
          </a:xfrm>
          <a:prstGeom prst="bentConnector3">
            <a:avLst>
              <a:gd fmla="val 90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829961" y="3486579"/>
            <a:ext cx="2767913" cy="815546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Start with the Customer Journey.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(Is it Marketing or Selling?)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4026951" y="3486579"/>
            <a:ext cx="1705232" cy="815546"/>
          </a:xfrm>
          <a:prstGeom prst="roundRect">
            <a:avLst>
              <a:gd fmla="val 16667" name="adj"/>
            </a:avLst>
          </a:prstGeom>
          <a:solidFill>
            <a:srgbClr val="00B0F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Support with a Revenue Model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6380913" y="3486579"/>
            <a:ext cx="1705232" cy="815546"/>
          </a:xfrm>
          <a:prstGeom prst="roundRect">
            <a:avLst>
              <a:gd fmla="val 16667" name="adj"/>
            </a:avLst>
          </a:prstGeom>
          <a:solidFill>
            <a:srgbClr val="00B0F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Support with a Revenue Model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8577648" y="3486579"/>
            <a:ext cx="2767913" cy="815546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Start with the 8 Profit Levers </a:t>
            </a:r>
            <a:r>
              <a:rPr b="0" i="0" lang="en-NZ" sz="135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or Profit Levers &amp; Blue Ocean*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(Is it Variable, Activity or Fixed Expenses?)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354222" y="4729097"/>
            <a:ext cx="1705232" cy="815546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Lite Fundamentals Marketing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2341606" y="4729097"/>
            <a:ext cx="1705232" cy="815546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Lite Fundamentals Selling</a:t>
            </a:r>
            <a:endParaRPr/>
          </a:p>
        </p:txBody>
      </p:sp>
      <p:cxnSp>
        <p:nvCxnSpPr>
          <p:cNvPr id="106" name="Google Shape;106;p13"/>
          <p:cNvCxnSpPr/>
          <p:nvPr/>
        </p:nvCxnSpPr>
        <p:spPr>
          <a:xfrm rot="10800000">
            <a:off x="3715265" y="3894352"/>
            <a:ext cx="244369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/>
          <p:nvPr/>
        </p:nvCxnSpPr>
        <p:spPr>
          <a:xfrm rot="10800000">
            <a:off x="8210681" y="3880067"/>
            <a:ext cx="244369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3"/>
          <p:cNvCxnSpPr/>
          <p:nvPr/>
        </p:nvCxnSpPr>
        <p:spPr>
          <a:xfrm flipH="1">
            <a:off x="1206838" y="4391170"/>
            <a:ext cx="1" cy="248753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3"/>
          <p:cNvCxnSpPr/>
          <p:nvPr/>
        </p:nvCxnSpPr>
        <p:spPr>
          <a:xfrm flipH="1">
            <a:off x="3194222" y="4391170"/>
            <a:ext cx="1" cy="248753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3"/>
          <p:cNvCxnSpPr/>
          <p:nvPr/>
        </p:nvCxnSpPr>
        <p:spPr>
          <a:xfrm flipH="1">
            <a:off x="2178521" y="3148781"/>
            <a:ext cx="1" cy="248753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3"/>
          <p:cNvCxnSpPr/>
          <p:nvPr/>
        </p:nvCxnSpPr>
        <p:spPr>
          <a:xfrm flipH="1">
            <a:off x="10005238" y="3150839"/>
            <a:ext cx="1" cy="248753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3"/>
          <p:cNvSpPr/>
          <p:nvPr/>
        </p:nvSpPr>
        <p:spPr>
          <a:xfrm>
            <a:off x="10296592" y="4519846"/>
            <a:ext cx="853323" cy="415349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Not Sure?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10124306" y="5157810"/>
            <a:ext cx="1705232" cy="815546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Rubbish in Rubbish Out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8844322" y="4522293"/>
            <a:ext cx="853323" cy="415349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Variable Activity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6154856" y="5591999"/>
            <a:ext cx="1605701" cy="815546"/>
          </a:xfrm>
          <a:prstGeom prst="roundRect">
            <a:avLst>
              <a:gd fmla="val 16667" name="adj"/>
            </a:avLst>
          </a:prstGeom>
          <a:solidFill>
            <a:srgbClr val="DE50CD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Pricing, Packaging, Bundling &amp; Distribution Pages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4442526" y="5591999"/>
            <a:ext cx="1605701" cy="815546"/>
          </a:xfrm>
          <a:prstGeom prst="roundRect">
            <a:avLst>
              <a:gd fmla="val 16667" name="adj"/>
            </a:avLst>
          </a:prstGeom>
          <a:solidFill>
            <a:srgbClr val="DE50CD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AIDCRA, Branding Digital Funnel &amp; </a:t>
            </a:r>
            <a:r>
              <a:rPr lang="en-NZ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Storyboard</a:t>
            </a:r>
            <a:r>
              <a:rPr b="0" i="0" lang="en-NZ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Pages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4472791" y="5129362"/>
            <a:ext cx="3287766" cy="415349"/>
          </a:xfrm>
          <a:prstGeom prst="roundRect">
            <a:avLst>
              <a:gd fmla="val 16667" name="adj"/>
            </a:avLst>
          </a:prstGeom>
          <a:solidFill>
            <a:srgbClr val="DE50CD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Advanced Sales &amp; Marketing Review</a:t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3199370" y="5736161"/>
            <a:ext cx="1031700" cy="263700"/>
          </a:xfrm>
          <a:prstGeom prst="bentConnector3">
            <a:avLst>
              <a:gd fmla="val -300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2169950" y="5983550"/>
            <a:ext cx="2101800" cy="178200"/>
          </a:xfrm>
          <a:prstGeom prst="bentConnector3">
            <a:avLst>
              <a:gd fmla="val 26195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13"/>
          <p:cNvCxnSpPr/>
          <p:nvPr/>
        </p:nvCxnSpPr>
        <p:spPr>
          <a:xfrm flipH="1">
            <a:off x="7924883" y="5117866"/>
            <a:ext cx="1346100" cy="882000"/>
          </a:xfrm>
          <a:prstGeom prst="bentConnector3">
            <a:avLst>
              <a:gd fmla="val 433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3"/>
          <p:cNvSpPr/>
          <p:nvPr/>
        </p:nvSpPr>
        <p:spPr>
          <a:xfrm>
            <a:off x="1379831" y="4391170"/>
            <a:ext cx="1532235" cy="248753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NZ" sz="9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Covid Win Bizz Agendas*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376875" y="445725"/>
            <a:ext cx="267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n-NZ" sz="900" u="none" cap="none" strike="noStrike">
                <a:solidFill>
                  <a:srgbClr val="002B64"/>
                </a:solidFill>
                <a:latin typeface="Open Sans"/>
                <a:ea typeface="Open Sans"/>
                <a:cs typeface="Open Sans"/>
                <a:sym typeface="Open Sans"/>
              </a:rPr>
              <a:t>*Covid Win Bizz Agendas combines the Customer Journey, Lite Fundamentals Marketing &amp; Selling as part of a comprehensive sales review and it includes ‘key learning points’ to make it easier for new advisors and clients alike.</a:t>
            </a:r>
            <a:endParaRPr>
              <a:solidFill>
                <a:srgbClr val="002B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9071924" y="445725"/>
            <a:ext cx="27432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n-NZ" sz="900" u="none" cap="none" strike="noStrike">
                <a:solidFill>
                  <a:srgbClr val="002B64"/>
                </a:solidFill>
                <a:latin typeface="Open Sans"/>
                <a:ea typeface="Open Sans"/>
                <a:cs typeface="Open Sans"/>
                <a:sym typeface="Open Sans"/>
              </a:rPr>
              <a:t>*Profit Levers &amp; Blue Ocean combines the review of incremental changes across marketing, selling, pricing, volume and structural costs with a strategic review of how the business competes. It suits more advanced advisors with more discerning clients.</a:t>
            </a:r>
            <a:endParaRPr>
              <a:solidFill>
                <a:srgbClr val="002B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376875" y="5804550"/>
            <a:ext cx="1641300" cy="815400"/>
          </a:xfrm>
          <a:prstGeom prst="roundRect">
            <a:avLst>
              <a:gd fmla="val 16667" name="adj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Is it knowing WHO to target or knowing WHAT to say &amp; Which Channel to say it on?</a:t>
            </a:r>
            <a:endParaRPr sz="1000"/>
          </a:p>
        </p:txBody>
      </p:sp>
      <p:cxnSp>
        <p:nvCxnSpPr>
          <p:cNvPr id="125" name="Google Shape;125;p13"/>
          <p:cNvCxnSpPr>
            <a:stCxn id="124" idx="0"/>
            <a:endCxn id="124" idx="0"/>
          </p:cNvCxnSpPr>
          <p:nvPr/>
        </p:nvCxnSpPr>
        <p:spPr>
          <a:xfrm>
            <a:off x="1197525" y="58045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1206250" y="5616250"/>
            <a:ext cx="1200" cy="116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