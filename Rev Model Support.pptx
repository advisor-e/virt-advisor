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9144000" cy="5143500" type="screen16x9"/>
  <p:notesSz cx="6858000" cy="9144000"/>
  <p:embeddedFontLst>
    <p:embeddedFont>
      <p:font typeface="Lato Light" panose="020F0302020204030203" pitchFamily="34" charset="0"/>
      <p:regular r:id="rId22"/>
      <p:bold r:id="rId23"/>
      <p:italic r:id="rId24"/>
      <p:boldItalic r:id="rId25"/>
    </p:embeddedFont>
    <p:embeddedFont>
      <p:font typeface="Open Sans" panose="020B0606030504020204" pitchFamily="34" charset="0"/>
      <p:regular r:id="rId26"/>
      <p:bold r:id="rId27"/>
      <p:italic r:id="rId28"/>
      <p:boldItalic r:id="rId29"/>
    </p:embeddedFont>
    <p:embeddedFont>
      <p:font typeface="Poppins" panose="000005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3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E8448B-2F4E-448D-A25C-A4C34A121B3E}">
  <a:tblStyle styleId="{CDE8448B-2F4E-448D-A25C-A4C34A121B3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F4D771BD-5F72-4EE7-8156-97EEAA8D108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336" y="144"/>
      </p:cViewPr>
      <p:guideLst>
        <p:guide orient="horz" pos="1620"/>
        <p:guide pos="2880"/>
        <p:guide orient="horz" pos="3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4ff58eee2_2_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28" name="Google Shape;128;g44ff58eee2_2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e5cb3a2e05_0_2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 name="Google Shape;139;ge5cb3a2e05_0_2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61c9c5d52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161c9c5d52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61c9c5d52e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161c9c5d52e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61c9c5d52e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161c9c5d52e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f9511b7388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2f9511b738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066b8d74c4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g1066b8d74c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161c9c5d52e_0_11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161c9c5d52e_0_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26fcfe4a2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126fcfe4a2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066b8d74c4_0_1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g1066b8d74c4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1575d9c1fa8_0_1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g1575d9c1fa8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e5cb3a2e05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283" name="Google Shape;283;ge5cb3a2e05_0_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e5cb3a2e05_0_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ge5cb3a2e05_0_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e5cb3a2e05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e5cb3a2e05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119a9ba536_1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1119a9ba536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119a9ba536_1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g1119a9ba536_1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119a9ba536_1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g1119a9ba536_1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1066b8d74c4_0_9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g1066b8d74c4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marR="0" lvl="0" algn="ctr"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Autofit/>
          </a:bodyPr>
          <a:lstStyle>
            <a:lvl1pPr marR="0" lvl="0" algn="ctr" rtl="0">
              <a:lnSpc>
                <a:spcPct val="90000"/>
              </a:lnSpc>
              <a:spcBef>
                <a:spcPts val="8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3pPr>
            <a:lvl4pPr marR="0" lvl="3"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4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86125" y="146100"/>
            <a:ext cx="8229300" cy="6087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64" name="Google Shape;64;p15"/>
          <p:cNvSpPr txBox="1">
            <a:spLocks noGrp="1"/>
          </p:cNvSpPr>
          <p:nvPr>
            <p:ph type="body" idx="1"/>
          </p:nvPr>
        </p:nvSpPr>
        <p:spPr>
          <a:xfrm>
            <a:off x="255700" y="873875"/>
            <a:ext cx="8657100" cy="36477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67" name="Google Shape;67;p15"/>
          <p:cNvPicPr preferRelativeResize="0"/>
          <p:nvPr/>
        </p:nvPicPr>
        <p:blipFill rotWithShape="1">
          <a:blip r:embed="rId2">
            <a:alphaModFix/>
          </a:blip>
          <a:srcRect t="2417" b="2417"/>
          <a:stretch/>
        </p:blipFill>
        <p:spPr>
          <a:xfrm>
            <a:off x="628649" y="4632716"/>
            <a:ext cx="885048" cy="45732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marR="0" lvl="0" indent="-228600" algn="l" rtl="0">
              <a:lnSpc>
                <a:spcPct val="90000"/>
              </a:lnSpc>
              <a:spcBef>
                <a:spcPts val="8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1"/>
              </a:buClr>
              <a:buSzPts val="1500"/>
              <a:buFont typeface="Arial"/>
              <a:buNone/>
              <a:defRPr sz="15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1400"/>
              <a:buFont typeface="Arial"/>
              <a:buNone/>
              <a:defRPr sz="14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12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1"/>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marR="0" lvl="0" algn="l" rtl="0">
              <a:lnSpc>
                <a:spcPct val="90000"/>
              </a:lnSpc>
              <a:spcBef>
                <a:spcPts val="0"/>
              </a:spcBef>
              <a:spcAft>
                <a:spcPts val="0"/>
              </a:spcAft>
              <a:buClr>
                <a:schemeClr val="dk1"/>
              </a:buClr>
              <a:buSzPts val="2400"/>
              <a:buFont typeface="Calibri"/>
              <a:buNone/>
              <a:defRPr sz="2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8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marR="0" lvl="0" indent="-228600" algn="l" rtl="0">
              <a:lnSpc>
                <a:spcPct val="90000"/>
              </a:lnSpc>
              <a:spcBef>
                <a:spcPts val="8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1"/>
              </a:buClr>
              <a:buSzPts val="1100"/>
              <a:buFont typeface="Arial"/>
              <a:buNone/>
              <a:defRPr sz="11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400"/>
              </a:spcBef>
              <a:spcAft>
                <a:spcPts val="0"/>
              </a:spcAft>
              <a:buClr>
                <a:schemeClr val="dk1"/>
              </a:buClr>
              <a:buSzPts val="800"/>
              <a:buFont typeface="Arial"/>
              <a:buNone/>
              <a:defRPr sz="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1" name="Google Shape;121;p24"/>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1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9"/>
        <p:cNvGrpSpPr/>
        <p:nvPr/>
      </p:nvGrpSpPr>
      <p:grpSpPr>
        <a:xfrm>
          <a:off x="0" y="0"/>
          <a:ext cx="0" cy="0"/>
          <a:chOff x="0" y="0"/>
          <a:chExt cx="0" cy="0"/>
        </a:xfrm>
      </p:grpSpPr>
      <p:sp>
        <p:nvSpPr>
          <p:cNvPr id="130" name="Google Shape;130;p26"/>
          <p:cNvSpPr txBox="1">
            <a:spLocks noGrp="1"/>
          </p:cNvSpPr>
          <p:nvPr>
            <p:ph type="ctrTitle"/>
          </p:nvPr>
        </p:nvSpPr>
        <p:spPr>
          <a:xfrm>
            <a:off x="1143000" y="2314201"/>
            <a:ext cx="6858000" cy="11835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chemeClr val="lt1"/>
              </a:buClr>
              <a:buSzPts val="4500"/>
              <a:buFont typeface="Architects Daughter"/>
              <a:buNone/>
            </a:pPr>
            <a:r>
              <a:rPr lang="en">
                <a:solidFill>
                  <a:srgbClr val="002B64"/>
                </a:solidFill>
                <a:latin typeface="Open Sans"/>
                <a:ea typeface="Open Sans"/>
                <a:cs typeface="Open Sans"/>
                <a:sym typeface="Open Sans"/>
              </a:rPr>
              <a:t>Revenue Model Support</a:t>
            </a:r>
            <a:endParaRPr sz="4500" i="0" u="none" strike="noStrike" cap="none">
              <a:solidFill>
                <a:srgbClr val="002B64"/>
              </a:solidFill>
              <a:latin typeface="Open Sans"/>
              <a:ea typeface="Open Sans"/>
              <a:cs typeface="Open Sans"/>
              <a:sym typeface="Open Sans"/>
            </a:endParaRPr>
          </a:p>
        </p:txBody>
      </p:sp>
      <p:sp>
        <p:nvSpPr>
          <p:cNvPr id="131" name="Google Shape;131;p26"/>
          <p:cNvSpPr txBox="1">
            <a:spLocks noGrp="1"/>
          </p:cNvSpPr>
          <p:nvPr>
            <p:ph type="subTitle" idx="1"/>
          </p:nvPr>
        </p:nvSpPr>
        <p:spPr>
          <a:xfrm>
            <a:off x="1143000" y="3837900"/>
            <a:ext cx="6858000" cy="5421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lt1"/>
              </a:buClr>
              <a:buSzPts val="1800"/>
              <a:buFont typeface="Arial"/>
              <a:buNone/>
            </a:pPr>
            <a:r>
              <a:rPr lang="en" sz="1800" i="0" u="none" strike="noStrike" cap="none">
                <a:solidFill>
                  <a:srgbClr val="434343"/>
                </a:solidFill>
                <a:latin typeface="Open Sans"/>
                <a:ea typeface="Open Sans"/>
                <a:cs typeface="Open Sans"/>
                <a:sym typeface="Open Sans"/>
              </a:rPr>
              <a:t>(What</a:t>
            </a:r>
            <a:r>
              <a:rPr lang="en">
                <a:solidFill>
                  <a:srgbClr val="434343"/>
                </a:solidFill>
                <a:latin typeface="Open Sans"/>
                <a:ea typeface="Open Sans"/>
                <a:cs typeface="Open Sans"/>
                <a:sym typeface="Open Sans"/>
              </a:rPr>
              <a:t> the models are ‘all about’...</a:t>
            </a:r>
            <a:r>
              <a:rPr lang="en" sz="1800" i="0" u="none" strike="noStrike" cap="none">
                <a:solidFill>
                  <a:srgbClr val="434343"/>
                </a:solidFill>
                <a:latin typeface="Open Sans"/>
                <a:ea typeface="Open Sans"/>
                <a:cs typeface="Open Sans"/>
                <a:sym typeface="Open Sans"/>
              </a:rPr>
              <a:t>)</a:t>
            </a:r>
            <a:endParaRPr sz="1800" i="0" u="none" strike="noStrike" cap="none">
              <a:solidFill>
                <a:srgbClr val="434343"/>
              </a:solidFill>
              <a:latin typeface="Open Sans"/>
              <a:ea typeface="Open Sans"/>
              <a:cs typeface="Open Sans"/>
              <a:sym typeface="Open Sans"/>
            </a:endParaRPr>
          </a:p>
        </p:txBody>
      </p:sp>
      <p:sp>
        <p:nvSpPr>
          <p:cNvPr id="132" name="Google Shape;132;p26"/>
          <p:cNvSpPr/>
          <p:nvPr/>
        </p:nvSpPr>
        <p:spPr>
          <a:xfrm>
            <a:off x="49427" y="49427"/>
            <a:ext cx="9038967" cy="8987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3" name="Google Shape;133;p26"/>
          <p:cNvSpPr/>
          <p:nvPr/>
        </p:nvSpPr>
        <p:spPr>
          <a:xfrm rot="-5400000">
            <a:off x="-2339772"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4" name="Google Shape;134;p26"/>
          <p:cNvSpPr/>
          <p:nvPr/>
        </p:nvSpPr>
        <p:spPr>
          <a:xfrm rot="-5400000">
            <a:off x="6612699" y="2528501"/>
            <a:ext cx="4864893" cy="86496"/>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35" name="Google Shape;135;p26"/>
          <p:cNvSpPr/>
          <p:nvPr/>
        </p:nvSpPr>
        <p:spPr>
          <a:xfrm>
            <a:off x="49426" y="5004196"/>
            <a:ext cx="9038968" cy="89877"/>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136" name="Google Shape;136;p26"/>
          <p:cNvPicPr preferRelativeResize="0"/>
          <p:nvPr/>
        </p:nvPicPr>
        <p:blipFill rotWithShape="1">
          <a:blip r:embed="rId3">
            <a:alphaModFix/>
          </a:blip>
          <a:srcRect t="2417" b="2417"/>
          <a:stretch/>
        </p:blipFill>
        <p:spPr>
          <a:xfrm>
            <a:off x="3280875" y="722300"/>
            <a:ext cx="2576072" cy="1331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p27"/>
          <p:cNvSpPr txBox="1">
            <a:spLocks noGrp="1"/>
          </p:cNvSpPr>
          <p:nvPr>
            <p:ph type="title"/>
          </p:nvPr>
        </p:nvSpPr>
        <p:spPr>
          <a:xfrm>
            <a:off x="203600" y="115675"/>
            <a:ext cx="7739400" cy="6798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Our Session Objective</a:t>
            </a:r>
            <a:endParaRPr sz="2000" i="0" u="none" strike="noStrike" cap="none">
              <a:solidFill>
                <a:srgbClr val="002B64"/>
              </a:solidFill>
              <a:latin typeface="Open Sans"/>
              <a:ea typeface="Open Sans"/>
              <a:cs typeface="Open Sans"/>
              <a:sym typeface="Open Sans"/>
            </a:endParaRPr>
          </a:p>
        </p:txBody>
      </p:sp>
      <p:sp>
        <p:nvSpPr>
          <p:cNvPr id="142" name="Google Shape;142;p27"/>
          <p:cNvSpPr txBox="1">
            <a:spLocks noGrp="1"/>
          </p:cNvSpPr>
          <p:nvPr>
            <p:ph type="sldNum" idx="12"/>
          </p:nvPr>
        </p:nvSpPr>
        <p:spPr>
          <a:xfrm>
            <a:off x="8610600" y="6356350"/>
            <a:ext cx="2743200" cy="3651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2</a:t>
            </a:fld>
            <a:endParaRPr/>
          </a:p>
        </p:txBody>
      </p:sp>
      <p:sp>
        <p:nvSpPr>
          <p:cNvPr id="143" name="Google Shape;143;p27"/>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4" name="Google Shape;144;p27"/>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5" name="Google Shape;145;p27"/>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6" name="Google Shape;146;p2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7" name="Google Shape;147;p2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48" name="Google Shape;148;p27"/>
          <p:cNvSpPr txBox="1"/>
          <p:nvPr/>
        </p:nvSpPr>
        <p:spPr>
          <a:xfrm>
            <a:off x="394725" y="904825"/>
            <a:ext cx="8358300" cy="36069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None/>
            </a:pPr>
            <a:r>
              <a:rPr lang="en" sz="1200">
                <a:solidFill>
                  <a:srgbClr val="434343"/>
                </a:solidFill>
                <a:latin typeface="Open Sans"/>
                <a:ea typeface="Open Sans"/>
                <a:cs typeface="Open Sans"/>
                <a:sym typeface="Open Sans"/>
              </a:rPr>
              <a:t>Welcome, it’s all about you and your business today…</a:t>
            </a:r>
            <a:endParaRPr sz="1200">
              <a:solidFill>
                <a:srgbClr val="434343"/>
              </a:solidFill>
              <a:latin typeface="Open Sans"/>
              <a:ea typeface="Open Sans"/>
              <a:cs typeface="Open Sans"/>
              <a:sym typeface="Open Sans"/>
            </a:endParaRPr>
          </a:p>
          <a:p>
            <a:pPr marL="0" lvl="0" indent="0" algn="l" rtl="0">
              <a:lnSpc>
                <a:spcPct val="90000"/>
              </a:lnSpc>
              <a:spcBef>
                <a:spcPts val="0"/>
              </a:spcBef>
              <a:spcAft>
                <a:spcPts val="0"/>
              </a:spcAft>
              <a:buNone/>
            </a:pPr>
            <a:endParaRPr sz="1200">
              <a:solidFill>
                <a:srgbClr val="434343"/>
              </a:solidFill>
              <a:latin typeface="Open Sans"/>
              <a:ea typeface="Open Sans"/>
              <a:cs typeface="Open Sans"/>
              <a:sym typeface="Open Sans"/>
            </a:endParaRPr>
          </a:p>
          <a:p>
            <a:pPr marL="342900" lvl="0" indent="-304800" algn="l" rtl="0">
              <a:lnSpc>
                <a:spcPct val="90000"/>
              </a:lnSpc>
              <a:spcBef>
                <a:spcPts val="800"/>
              </a:spcBef>
              <a:spcAft>
                <a:spcPts val="0"/>
              </a:spcAft>
              <a:buClr>
                <a:srgbClr val="434343"/>
              </a:buClr>
              <a:buSzPts val="1200"/>
              <a:buFont typeface="Open Sans"/>
              <a:buChar char="•"/>
            </a:pPr>
            <a:r>
              <a:rPr lang="en" sz="1200">
                <a:solidFill>
                  <a:srgbClr val="434343"/>
                </a:solidFill>
                <a:latin typeface="Open Sans"/>
                <a:ea typeface="Open Sans"/>
                <a:cs typeface="Open Sans"/>
                <a:sym typeface="Open Sans"/>
              </a:rPr>
              <a:t>Everyone contributes to collaborative thinking.</a:t>
            </a:r>
            <a:endParaRPr sz="1000">
              <a:solidFill>
                <a:srgbClr val="434343"/>
              </a:solidFill>
              <a:latin typeface="Open Sans"/>
              <a:ea typeface="Open Sans"/>
              <a:cs typeface="Open Sans"/>
              <a:sym typeface="Open Sans"/>
            </a:endParaRPr>
          </a:p>
          <a:p>
            <a:pPr marL="342900" lvl="0" indent="-304800" algn="l" rtl="0">
              <a:lnSpc>
                <a:spcPct val="90000"/>
              </a:lnSpc>
              <a:spcBef>
                <a:spcPts val="800"/>
              </a:spcBef>
              <a:spcAft>
                <a:spcPts val="0"/>
              </a:spcAft>
              <a:buClr>
                <a:srgbClr val="434343"/>
              </a:buClr>
              <a:buSzPts val="1200"/>
              <a:buFont typeface="Open Sans"/>
              <a:buChar char="•"/>
            </a:pPr>
            <a:r>
              <a:rPr lang="en" sz="1200">
                <a:solidFill>
                  <a:srgbClr val="434343"/>
                </a:solidFill>
                <a:latin typeface="Open Sans"/>
                <a:ea typeface="Open Sans"/>
                <a:cs typeface="Open Sans"/>
                <a:sym typeface="Open Sans"/>
              </a:rPr>
              <a:t>Planned Breaks &amp; Housekeeping</a:t>
            </a:r>
            <a:endParaRPr sz="1200">
              <a:solidFill>
                <a:srgbClr val="434343"/>
              </a:solidFill>
              <a:latin typeface="Open Sans"/>
              <a:ea typeface="Open Sans"/>
              <a:cs typeface="Open Sans"/>
              <a:sym typeface="Open Sans"/>
            </a:endParaRPr>
          </a:p>
          <a:p>
            <a:pPr marL="0" lvl="0" indent="0" algn="l" rtl="0">
              <a:lnSpc>
                <a:spcPct val="90000"/>
              </a:lnSpc>
              <a:spcBef>
                <a:spcPts val="800"/>
              </a:spcBef>
              <a:spcAft>
                <a:spcPts val="0"/>
              </a:spcAft>
              <a:buNone/>
            </a:pPr>
            <a:endParaRPr sz="1200">
              <a:solidFill>
                <a:srgbClr val="434343"/>
              </a:solidFill>
              <a:latin typeface="Open Sans"/>
              <a:ea typeface="Open Sans"/>
              <a:cs typeface="Open Sans"/>
              <a:sym typeface="Open Sans"/>
            </a:endParaRPr>
          </a:p>
          <a:p>
            <a:pPr marL="342900" lvl="0" indent="-304800" algn="l" rtl="0">
              <a:lnSpc>
                <a:spcPct val="200000"/>
              </a:lnSpc>
              <a:spcBef>
                <a:spcPts val="800"/>
              </a:spcBef>
              <a:spcAft>
                <a:spcPts val="0"/>
              </a:spcAft>
              <a:buClr>
                <a:srgbClr val="002B64"/>
              </a:buClr>
              <a:buSzPts val="1200"/>
              <a:buFont typeface="Open Sans"/>
              <a:buChar char="•"/>
            </a:pPr>
            <a:r>
              <a:rPr lang="en" sz="1200" b="1">
                <a:solidFill>
                  <a:srgbClr val="002B64"/>
                </a:solidFill>
                <a:latin typeface="Open Sans"/>
                <a:ea typeface="Open Sans"/>
                <a:cs typeface="Open Sans"/>
                <a:sym typeface="Open Sans"/>
              </a:rPr>
              <a:t>My/Our Role in the Planning Session is to Challenge What You Believe To Be True!</a:t>
            </a:r>
            <a:endParaRPr sz="1200">
              <a:solidFill>
                <a:srgbClr val="434343"/>
              </a:solidFill>
              <a:latin typeface="Open Sans"/>
              <a:ea typeface="Open Sans"/>
              <a:cs typeface="Open Sans"/>
              <a:sym typeface="Open Sans"/>
            </a:endParaRPr>
          </a:p>
          <a:p>
            <a:pPr marL="342900" lvl="0" indent="-304800" algn="l" rtl="0">
              <a:lnSpc>
                <a:spcPct val="200000"/>
              </a:lnSpc>
              <a:spcBef>
                <a:spcPts val="0"/>
              </a:spcBef>
              <a:spcAft>
                <a:spcPts val="0"/>
              </a:spcAft>
              <a:buClr>
                <a:srgbClr val="002B64"/>
              </a:buClr>
              <a:buSzPts val="1200"/>
              <a:buFont typeface="Open Sans"/>
              <a:buChar char="•"/>
            </a:pPr>
            <a:r>
              <a:rPr lang="en" sz="1200" b="1">
                <a:solidFill>
                  <a:srgbClr val="002B64"/>
                </a:solidFill>
                <a:latin typeface="Open Sans"/>
                <a:ea typeface="Open Sans"/>
                <a:cs typeface="Open Sans"/>
                <a:sym typeface="Open Sans"/>
              </a:rPr>
              <a:t>Your Role is to be Ready To Explore Issues/ Ideas With an Open Heart and an Open Mind.</a:t>
            </a:r>
            <a:endParaRPr sz="1200" b="1">
              <a:solidFill>
                <a:srgbClr val="002B64"/>
              </a:solidFill>
              <a:latin typeface="Open Sans"/>
              <a:ea typeface="Open Sans"/>
              <a:cs typeface="Open Sans"/>
              <a:sym typeface="Open Sans"/>
            </a:endParaRPr>
          </a:p>
          <a:p>
            <a:pPr marL="342900" lvl="0" indent="-228600" algn="l" rtl="0">
              <a:lnSpc>
                <a:spcPct val="90000"/>
              </a:lnSpc>
              <a:spcBef>
                <a:spcPts val="800"/>
              </a:spcBef>
              <a:spcAft>
                <a:spcPts val="0"/>
              </a:spcAft>
              <a:buNone/>
            </a:pPr>
            <a:endParaRPr sz="1200">
              <a:solidFill>
                <a:srgbClr val="434343"/>
              </a:solidFill>
              <a:latin typeface="Open Sans"/>
              <a:ea typeface="Open Sans"/>
              <a:cs typeface="Open Sans"/>
              <a:sym typeface="Open Sans"/>
            </a:endParaRPr>
          </a:p>
          <a:p>
            <a:pPr marL="342900" lvl="0" indent="-304800" algn="l" rtl="0">
              <a:lnSpc>
                <a:spcPct val="90000"/>
              </a:lnSpc>
              <a:spcBef>
                <a:spcPts val="800"/>
              </a:spcBef>
              <a:spcAft>
                <a:spcPts val="0"/>
              </a:spcAft>
              <a:buClr>
                <a:srgbClr val="434343"/>
              </a:buClr>
              <a:buSzPts val="1200"/>
              <a:buFont typeface="Open Sans"/>
              <a:buChar char="•"/>
            </a:pPr>
            <a:r>
              <a:rPr lang="en" sz="1200">
                <a:solidFill>
                  <a:srgbClr val="434343"/>
                </a:solidFill>
                <a:latin typeface="Open Sans"/>
                <a:ea typeface="Open Sans"/>
                <a:cs typeface="Open Sans"/>
                <a:sym typeface="Open Sans"/>
              </a:rPr>
              <a:t>The Objective (expectations) for Today’s meeting is that we ‘Discover What We’ve Been Missing’!</a:t>
            </a:r>
            <a:endParaRPr sz="1200">
              <a:solidFill>
                <a:srgbClr val="434343"/>
              </a:solidFill>
              <a:latin typeface="Open Sans"/>
              <a:ea typeface="Open Sans"/>
              <a:cs typeface="Open Sans"/>
              <a:sym typeface="Open Sans"/>
            </a:endParaRPr>
          </a:p>
          <a:p>
            <a:pPr marL="342900" lvl="0" indent="-304800" algn="l" rtl="0">
              <a:lnSpc>
                <a:spcPct val="90000"/>
              </a:lnSpc>
              <a:spcBef>
                <a:spcPts val="800"/>
              </a:spcBef>
              <a:spcAft>
                <a:spcPts val="0"/>
              </a:spcAft>
              <a:buClr>
                <a:srgbClr val="434343"/>
              </a:buClr>
              <a:buSzPts val="1200"/>
              <a:buFont typeface="Open Sans"/>
              <a:buChar char="•"/>
            </a:pPr>
            <a:r>
              <a:rPr lang="en" sz="1200">
                <a:solidFill>
                  <a:srgbClr val="434343"/>
                </a:solidFill>
                <a:latin typeface="Open Sans"/>
                <a:ea typeface="Open Sans"/>
                <a:cs typeface="Open Sans"/>
                <a:sym typeface="Open Sans"/>
              </a:rPr>
              <a:t>Record what we learn.</a:t>
            </a:r>
            <a:endParaRPr sz="1200">
              <a:solidFill>
                <a:srgbClr val="434343"/>
              </a:solidFill>
              <a:latin typeface="Open Sans"/>
              <a:ea typeface="Open Sans"/>
              <a:cs typeface="Open Sans"/>
              <a:sym typeface="Open Sans"/>
            </a:endParaRPr>
          </a:p>
          <a:p>
            <a:pPr marL="342900" lvl="0" indent="-304800" algn="l" rtl="0">
              <a:lnSpc>
                <a:spcPct val="90000"/>
              </a:lnSpc>
              <a:spcBef>
                <a:spcPts val="800"/>
              </a:spcBef>
              <a:spcAft>
                <a:spcPts val="0"/>
              </a:spcAft>
              <a:buClr>
                <a:srgbClr val="434343"/>
              </a:buClr>
              <a:buSzPts val="1200"/>
              <a:buFont typeface="Open Sans"/>
              <a:buChar char="•"/>
            </a:pPr>
            <a:r>
              <a:rPr lang="en" sz="1200">
                <a:solidFill>
                  <a:srgbClr val="434343"/>
                </a:solidFill>
                <a:latin typeface="Open Sans"/>
                <a:ea typeface="Open Sans"/>
                <a:cs typeface="Open Sans"/>
                <a:sym typeface="Open Sans"/>
              </a:rPr>
              <a:t>Build an action plan going forward.</a:t>
            </a:r>
            <a:endParaRPr sz="1200">
              <a:solidFill>
                <a:srgbClr val="434343"/>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sp>
        <p:nvSpPr>
          <p:cNvPr id="153" name="Google Shape;153;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3</a:t>
            </a:fld>
            <a:endParaRPr/>
          </a:p>
        </p:txBody>
      </p:sp>
      <p:sp>
        <p:nvSpPr>
          <p:cNvPr id="154" name="Google Shape;154;p2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5" name="Google Shape;155;p2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6" name="Google Shape;156;p2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7" name="Google Shape;157;p2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8" name="Google Shape;158;p2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59" name="Google Shape;159;p28"/>
          <p:cNvSpPr txBox="1">
            <a:spLocks noGrp="1"/>
          </p:cNvSpPr>
          <p:nvPr>
            <p:ph type="title"/>
          </p:nvPr>
        </p:nvSpPr>
        <p:spPr>
          <a:xfrm>
            <a:off x="236825" y="139400"/>
            <a:ext cx="8580600" cy="953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Over-Trading</a:t>
            </a:r>
            <a:endParaRPr sz="2400" i="0" u="none" strike="noStrike" cap="none">
              <a:solidFill>
                <a:srgbClr val="002B64"/>
              </a:solidFill>
              <a:latin typeface="Open Sans"/>
              <a:ea typeface="Open Sans"/>
              <a:cs typeface="Open Sans"/>
              <a:sym typeface="Open Sans"/>
            </a:endParaRPr>
          </a:p>
        </p:txBody>
      </p:sp>
      <p:sp>
        <p:nvSpPr>
          <p:cNvPr id="160" name="Google Shape;160;p28"/>
          <p:cNvSpPr txBox="1"/>
          <p:nvPr/>
        </p:nvSpPr>
        <p:spPr>
          <a:xfrm>
            <a:off x="712513" y="1208450"/>
            <a:ext cx="7712700" cy="26229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4800">
                <a:solidFill>
                  <a:srgbClr val="595959"/>
                </a:solidFill>
                <a:latin typeface="Open Sans"/>
                <a:ea typeface="Open Sans"/>
                <a:cs typeface="Open Sans"/>
                <a:sym typeface="Open Sans"/>
              </a:rPr>
              <a:t>The term used to describe funding growth primarily via debt.</a:t>
            </a:r>
            <a:endParaRPr sz="4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sp>
        <p:nvSpPr>
          <p:cNvPr id="165" name="Google Shape;165;p2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4</a:t>
            </a:fld>
            <a:endParaRPr/>
          </a:p>
        </p:txBody>
      </p:sp>
      <p:sp>
        <p:nvSpPr>
          <p:cNvPr id="166" name="Google Shape;166;p2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7" name="Google Shape;167;p2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8" name="Google Shape;168;p2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69" name="Google Shape;169;p2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0" name="Google Shape;170;p2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71" name="Google Shape;171;p29"/>
          <p:cNvSpPr txBox="1">
            <a:spLocks noGrp="1"/>
          </p:cNvSpPr>
          <p:nvPr>
            <p:ph type="title"/>
          </p:nvPr>
        </p:nvSpPr>
        <p:spPr>
          <a:xfrm>
            <a:off x="236825" y="139400"/>
            <a:ext cx="6752700" cy="953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Over-Trading Explained Easily</a:t>
            </a:r>
            <a:endParaRPr sz="2400" i="0" u="none" strike="noStrike" cap="none">
              <a:solidFill>
                <a:srgbClr val="002B64"/>
              </a:solidFill>
              <a:latin typeface="Open Sans"/>
              <a:ea typeface="Open Sans"/>
              <a:cs typeface="Open Sans"/>
              <a:sym typeface="Open Sans"/>
            </a:endParaRPr>
          </a:p>
        </p:txBody>
      </p:sp>
      <p:pic>
        <p:nvPicPr>
          <p:cNvPr id="172" name="Google Shape;172;p29"/>
          <p:cNvPicPr preferRelativeResize="0"/>
          <p:nvPr/>
        </p:nvPicPr>
        <p:blipFill>
          <a:blip r:embed="rId3">
            <a:alphaModFix/>
          </a:blip>
          <a:stretch>
            <a:fillRect/>
          </a:stretch>
        </p:blipFill>
        <p:spPr>
          <a:xfrm>
            <a:off x="288226" y="2994048"/>
            <a:ext cx="1861475" cy="1857750"/>
          </a:xfrm>
          <a:prstGeom prst="rect">
            <a:avLst/>
          </a:prstGeom>
          <a:noFill/>
          <a:ln>
            <a:noFill/>
          </a:ln>
        </p:spPr>
      </p:pic>
      <p:pic>
        <p:nvPicPr>
          <p:cNvPr id="173" name="Google Shape;173;p29"/>
          <p:cNvPicPr preferRelativeResize="0"/>
          <p:nvPr/>
        </p:nvPicPr>
        <p:blipFill>
          <a:blip r:embed="rId4">
            <a:alphaModFix/>
          </a:blip>
          <a:stretch>
            <a:fillRect/>
          </a:stretch>
        </p:blipFill>
        <p:spPr>
          <a:xfrm>
            <a:off x="2593713" y="1367575"/>
            <a:ext cx="2584800" cy="2621899"/>
          </a:xfrm>
          <a:prstGeom prst="rect">
            <a:avLst/>
          </a:prstGeom>
          <a:noFill/>
          <a:ln>
            <a:noFill/>
          </a:ln>
        </p:spPr>
      </p:pic>
      <p:pic>
        <p:nvPicPr>
          <p:cNvPr id="174" name="Google Shape;174;p29"/>
          <p:cNvPicPr preferRelativeResize="0"/>
          <p:nvPr/>
        </p:nvPicPr>
        <p:blipFill>
          <a:blip r:embed="rId5">
            <a:alphaModFix/>
          </a:blip>
          <a:stretch>
            <a:fillRect/>
          </a:stretch>
        </p:blipFill>
        <p:spPr>
          <a:xfrm>
            <a:off x="5622525" y="614575"/>
            <a:ext cx="3190475" cy="1615325"/>
          </a:xfrm>
          <a:prstGeom prst="rect">
            <a:avLst/>
          </a:prstGeom>
          <a:noFill/>
          <a:ln>
            <a:noFill/>
          </a:ln>
        </p:spPr>
      </p:pic>
      <p:sp>
        <p:nvSpPr>
          <p:cNvPr id="175" name="Google Shape;175;p29"/>
          <p:cNvSpPr txBox="1"/>
          <p:nvPr/>
        </p:nvSpPr>
        <p:spPr>
          <a:xfrm>
            <a:off x="2593725" y="4177950"/>
            <a:ext cx="25848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600" b="1">
                <a:highlight>
                  <a:srgbClr val="FFFF00"/>
                </a:highlight>
                <a:latin typeface="Open Sans"/>
                <a:ea typeface="Open Sans"/>
                <a:cs typeface="Open Sans"/>
                <a:sym typeface="Open Sans"/>
              </a:rPr>
              <a:t>Sweet Spot</a:t>
            </a:r>
            <a:endParaRPr sz="2600" b="1">
              <a:highlight>
                <a:srgbClr val="FFFF00"/>
              </a:highlight>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p3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5</a:t>
            </a:fld>
            <a:endParaRPr/>
          </a:p>
        </p:txBody>
      </p:sp>
      <p:sp>
        <p:nvSpPr>
          <p:cNvPr id="181" name="Google Shape;181;p30"/>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2" name="Google Shape;182;p30"/>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3" name="Google Shape;183;p30"/>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4" name="Google Shape;184;p30"/>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5" name="Google Shape;185;p30"/>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186" name="Google Shape;186;p30"/>
          <p:cNvSpPr txBox="1">
            <a:spLocks noGrp="1"/>
          </p:cNvSpPr>
          <p:nvPr>
            <p:ph type="title"/>
          </p:nvPr>
        </p:nvSpPr>
        <p:spPr>
          <a:xfrm>
            <a:off x="255050" y="139400"/>
            <a:ext cx="8562300" cy="9534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Sweet Spot</a:t>
            </a:r>
            <a:endParaRPr sz="2400" i="0" u="none" strike="noStrike" cap="none">
              <a:solidFill>
                <a:srgbClr val="002B64"/>
              </a:solidFill>
              <a:latin typeface="Open Sans"/>
              <a:ea typeface="Open Sans"/>
              <a:cs typeface="Open Sans"/>
              <a:sym typeface="Open Sans"/>
            </a:endParaRPr>
          </a:p>
        </p:txBody>
      </p:sp>
      <p:sp>
        <p:nvSpPr>
          <p:cNvPr id="187" name="Google Shape;187;p30"/>
          <p:cNvSpPr txBox="1"/>
          <p:nvPr/>
        </p:nvSpPr>
        <p:spPr>
          <a:xfrm>
            <a:off x="400800" y="1208450"/>
            <a:ext cx="8264700" cy="22395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3000">
                <a:solidFill>
                  <a:srgbClr val="595959"/>
                </a:solidFill>
                <a:latin typeface="Open Sans"/>
                <a:ea typeface="Open Sans"/>
                <a:cs typeface="Open Sans"/>
                <a:sym typeface="Open Sans"/>
              </a:rPr>
              <a:t>The balance of</a:t>
            </a:r>
            <a:endParaRPr sz="3000">
              <a:solidFill>
                <a:srgbClr val="595959"/>
              </a:solidFill>
              <a:latin typeface="Open Sans"/>
              <a:ea typeface="Open Sans"/>
              <a:cs typeface="Open Sans"/>
              <a:sym typeface="Open Sans"/>
            </a:endParaRPr>
          </a:p>
          <a:p>
            <a:pPr marL="685800" lvl="0" indent="-419100" algn="just" rtl="0">
              <a:lnSpc>
                <a:spcPct val="115000"/>
              </a:lnSpc>
              <a:spcBef>
                <a:spcPts val="0"/>
              </a:spcBef>
              <a:spcAft>
                <a:spcPts val="0"/>
              </a:spcAft>
              <a:buClr>
                <a:srgbClr val="595959"/>
              </a:buClr>
              <a:buSzPts val="3000"/>
              <a:buFont typeface="Open Sans"/>
              <a:buChar char="●"/>
            </a:pPr>
            <a:r>
              <a:rPr lang="en" sz="3000">
                <a:solidFill>
                  <a:srgbClr val="595959"/>
                </a:solidFill>
                <a:latin typeface="Open Sans"/>
                <a:ea typeface="Open Sans"/>
                <a:cs typeface="Open Sans"/>
                <a:sym typeface="Open Sans"/>
              </a:rPr>
              <a:t>Debt to Assets</a:t>
            </a:r>
            <a:endParaRPr sz="3000">
              <a:solidFill>
                <a:srgbClr val="595959"/>
              </a:solidFill>
              <a:latin typeface="Open Sans"/>
              <a:ea typeface="Open Sans"/>
              <a:cs typeface="Open Sans"/>
              <a:sym typeface="Open Sans"/>
            </a:endParaRPr>
          </a:p>
          <a:p>
            <a:pPr marL="685800" lvl="0" indent="-419100" algn="just" rtl="0">
              <a:lnSpc>
                <a:spcPct val="115000"/>
              </a:lnSpc>
              <a:spcBef>
                <a:spcPts val="0"/>
              </a:spcBef>
              <a:spcAft>
                <a:spcPts val="0"/>
              </a:spcAft>
              <a:buClr>
                <a:srgbClr val="595959"/>
              </a:buClr>
              <a:buSzPts val="3000"/>
              <a:buFont typeface="Open Sans"/>
              <a:buChar char="●"/>
            </a:pPr>
            <a:r>
              <a:rPr lang="en" sz="3000">
                <a:solidFill>
                  <a:srgbClr val="595959"/>
                </a:solidFill>
                <a:latin typeface="Open Sans"/>
                <a:ea typeface="Open Sans"/>
                <a:cs typeface="Open Sans"/>
                <a:sym typeface="Open Sans"/>
              </a:rPr>
              <a:t>Non Chargeable to Chargeable Staff</a:t>
            </a:r>
            <a:endParaRPr sz="3000">
              <a:solidFill>
                <a:srgbClr val="595959"/>
              </a:solidFill>
              <a:latin typeface="Open Sans"/>
              <a:ea typeface="Open Sans"/>
              <a:cs typeface="Open Sans"/>
              <a:sym typeface="Open Sans"/>
            </a:endParaRPr>
          </a:p>
          <a:p>
            <a:pPr marL="685800" lvl="0" indent="-419100" algn="just" rtl="0">
              <a:lnSpc>
                <a:spcPct val="115000"/>
              </a:lnSpc>
              <a:spcBef>
                <a:spcPts val="0"/>
              </a:spcBef>
              <a:spcAft>
                <a:spcPts val="0"/>
              </a:spcAft>
              <a:buClr>
                <a:srgbClr val="595959"/>
              </a:buClr>
              <a:buSzPts val="3000"/>
              <a:buFont typeface="Open Sans"/>
              <a:buChar char="●"/>
            </a:pPr>
            <a:r>
              <a:rPr lang="en" sz="3000">
                <a:solidFill>
                  <a:srgbClr val="595959"/>
                </a:solidFill>
                <a:latin typeface="Open Sans"/>
                <a:ea typeface="Open Sans"/>
                <a:cs typeface="Open Sans"/>
                <a:sym typeface="Open Sans"/>
              </a:rPr>
              <a:t>Fixed Capital to Working Capital</a:t>
            </a:r>
            <a:endParaRPr sz="3000">
              <a:solidFill>
                <a:srgbClr val="595959"/>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2" name="Google Shape;192;p31" descr="Logo&#10;&#10;Description automatically generated"/>
          <p:cNvPicPr preferRelativeResize="0"/>
          <p:nvPr/>
        </p:nvPicPr>
        <p:blipFill rotWithShape="1">
          <a:blip r:embed="rId3">
            <a:alphaModFix/>
          </a:blip>
          <a:srcRect/>
          <a:stretch/>
        </p:blipFill>
        <p:spPr>
          <a:xfrm>
            <a:off x="676041" y="4670310"/>
            <a:ext cx="780762" cy="423761"/>
          </a:xfrm>
          <a:prstGeom prst="rect">
            <a:avLst/>
          </a:prstGeom>
          <a:noFill/>
          <a:ln>
            <a:noFill/>
          </a:ln>
        </p:spPr>
      </p:pic>
      <p:sp>
        <p:nvSpPr>
          <p:cNvPr id="193" name="Google Shape;193;p31"/>
          <p:cNvSpPr/>
          <p:nvPr/>
        </p:nvSpPr>
        <p:spPr>
          <a:xfrm>
            <a:off x="6156286" y="1189188"/>
            <a:ext cx="2428500" cy="2396100"/>
          </a:xfrm>
          <a:prstGeom prst="leftArrowCallout">
            <a:avLst>
              <a:gd name="adj1" fmla="val 25000"/>
              <a:gd name="adj2" fmla="val 18055"/>
              <a:gd name="adj3" fmla="val 16318"/>
              <a:gd name="adj4" fmla="val 87657"/>
            </a:avLst>
          </a:prstGeom>
          <a:solidFill>
            <a:srgbClr val="F2F2F2"/>
          </a:solidFill>
          <a:ln>
            <a:noFill/>
          </a:ln>
        </p:spPr>
        <p:txBody>
          <a:bodyPr spcFirstLastPara="1" wrap="square" lIns="182825" tIns="182825" rIns="182825" bIns="182825" anchor="ctr" anchorCtr="0">
            <a:noAutofit/>
          </a:bodyPr>
          <a:lstStyle/>
          <a:p>
            <a:pPr marL="0" marR="0" lvl="0" indent="0" algn="l" rtl="0">
              <a:lnSpc>
                <a:spcPct val="89000"/>
              </a:lnSpc>
              <a:spcBef>
                <a:spcPts val="0"/>
              </a:spcBef>
              <a:spcAft>
                <a:spcPts val="0"/>
              </a:spcAft>
              <a:buNone/>
            </a:pPr>
            <a:endParaRPr sz="1100">
              <a:solidFill>
                <a:schemeClr val="dk1"/>
              </a:solidFill>
              <a:latin typeface="Lato Light"/>
              <a:ea typeface="Lato Light"/>
              <a:cs typeface="Lato Light"/>
              <a:sym typeface="Lato Light"/>
            </a:endParaRPr>
          </a:p>
        </p:txBody>
      </p:sp>
      <p:sp>
        <p:nvSpPr>
          <p:cNvPr id="194" name="Google Shape;194;p31"/>
          <p:cNvSpPr/>
          <p:nvPr/>
        </p:nvSpPr>
        <p:spPr>
          <a:xfrm flipH="1">
            <a:off x="548801" y="1189188"/>
            <a:ext cx="2428500" cy="2396100"/>
          </a:xfrm>
          <a:prstGeom prst="leftArrowCallout">
            <a:avLst>
              <a:gd name="adj1" fmla="val 25000"/>
              <a:gd name="adj2" fmla="val 18055"/>
              <a:gd name="adj3" fmla="val 16318"/>
              <a:gd name="adj4" fmla="val 87657"/>
            </a:avLst>
          </a:prstGeom>
          <a:solidFill>
            <a:srgbClr val="F2F2F2"/>
          </a:solidFill>
          <a:ln>
            <a:noFill/>
          </a:ln>
        </p:spPr>
        <p:txBody>
          <a:bodyPr spcFirstLastPara="1" wrap="square" lIns="182825" tIns="182825" rIns="182825" bIns="182825" anchor="ctr" anchorCtr="0">
            <a:noAutofit/>
          </a:bodyPr>
          <a:lstStyle/>
          <a:p>
            <a:pPr marL="0" marR="0" lvl="0" indent="0" algn="l" rtl="0">
              <a:lnSpc>
                <a:spcPct val="89000"/>
              </a:lnSpc>
              <a:spcBef>
                <a:spcPts val="0"/>
              </a:spcBef>
              <a:spcAft>
                <a:spcPts val="0"/>
              </a:spcAft>
              <a:buNone/>
            </a:pPr>
            <a:endParaRPr sz="1100">
              <a:solidFill>
                <a:schemeClr val="dk1"/>
              </a:solidFill>
              <a:latin typeface="Lato Light"/>
              <a:ea typeface="Lato Light"/>
              <a:cs typeface="Lato Light"/>
              <a:sym typeface="Lato Light"/>
            </a:endParaRPr>
          </a:p>
        </p:txBody>
      </p:sp>
      <p:sp>
        <p:nvSpPr>
          <p:cNvPr id="195" name="Google Shape;195;p31"/>
          <p:cNvSpPr txBox="1"/>
          <p:nvPr/>
        </p:nvSpPr>
        <p:spPr>
          <a:xfrm>
            <a:off x="676041" y="1494450"/>
            <a:ext cx="1817100" cy="1897200"/>
          </a:xfrm>
          <a:prstGeom prst="rect">
            <a:avLst/>
          </a:prstGeom>
          <a:noFill/>
          <a:ln>
            <a:noFill/>
          </a:ln>
        </p:spPr>
        <p:txBody>
          <a:bodyPr spcFirstLastPara="1" wrap="square" lIns="34275" tIns="17150" rIns="34275" bIns="17150" anchor="t" anchorCtr="0">
            <a:spAutoFit/>
          </a:bodyPr>
          <a:lstStyle/>
          <a:p>
            <a:pPr marL="0" marR="0" lvl="0" indent="0" algn="just" rtl="0">
              <a:lnSpc>
                <a:spcPct val="100000"/>
              </a:lnSpc>
              <a:spcBef>
                <a:spcPts val="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Most business owners fail to do the math. As simple as it sounds, it’s often at the heart of business failure.</a:t>
            </a:r>
            <a:endParaRPr sz="1100"/>
          </a:p>
          <a:p>
            <a:pPr marL="0" marR="0" lvl="0" indent="0" algn="just" rtl="0">
              <a:lnSpc>
                <a:spcPct val="100000"/>
              </a:lnSpc>
              <a:spcBef>
                <a:spcPts val="100"/>
              </a:spcBef>
              <a:spcAft>
                <a:spcPts val="0"/>
              </a:spcAft>
              <a:buClr>
                <a:schemeClr val="dk2"/>
              </a:buClr>
              <a:buSzPts val="600"/>
              <a:buFont typeface="Arial"/>
              <a:buNone/>
            </a:pPr>
            <a:endParaRPr sz="600">
              <a:solidFill>
                <a:schemeClr val="dk1"/>
              </a:solidFill>
              <a:latin typeface="Open Sans"/>
              <a:ea typeface="Open Sans"/>
              <a:cs typeface="Open Sans"/>
              <a:sym typeface="Open Sans"/>
            </a:endParaRPr>
          </a:p>
          <a:p>
            <a:pPr marL="0" marR="0" lvl="0" indent="0" algn="just" rtl="0">
              <a:lnSpc>
                <a:spcPct val="100000"/>
              </a:lnSpc>
              <a:spcBef>
                <a:spcPts val="20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Scenario planning, and the feasibility modelling that supports it, allows you to identify risks and opportunities and then assign a PROBABILITY to those observations.</a:t>
            </a:r>
            <a:endParaRPr sz="1100"/>
          </a:p>
          <a:p>
            <a:pPr marL="0" marR="0" lvl="0" indent="0" algn="just" rtl="0">
              <a:lnSpc>
                <a:spcPct val="100000"/>
              </a:lnSpc>
              <a:spcBef>
                <a:spcPts val="100"/>
              </a:spcBef>
              <a:spcAft>
                <a:spcPts val="0"/>
              </a:spcAft>
              <a:buClr>
                <a:schemeClr val="dk2"/>
              </a:buClr>
              <a:buSzPts val="600"/>
              <a:buFont typeface="Arial"/>
              <a:buNone/>
            </a:pPr>
            <a:endParaRPr sz="600">
              <a:solidFill>
                <a:schemeClr val="dk1"/>
              </a:solidFill>
              <a:latin typeface="Open Sans"/>
              <a:ea typeface="Open Sans"/>
              <a:cs typeface="Open Sans"/>
              <a:sym typeface="Open Sans"/>
            </a:endParaRPr>
          </a:p>
          <a:p>
            <a:pPr marL="0" marR="0" lvl="0" indent="0" algn="just" rtl="0">
              <a:lnSpc>
                <a:spcPct val="100000"/>
              </a:lnSpc>
              <a:spcBef>
                <a:spcPts val="20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This is why financial modelling is utilised by successful business owners and consultants around the world.</a:t>
            </a:r>
            <a:endParaRPr sz="1100"/>
          </a:p>
        </p:txBody>
      </p:sp>
      <p:sp>
        <p:nvSpPr>
          <p:cNvPr id="196" name="Google Shape;196;p31"/>
          <p:cNvSpPr txBox="1"/>
          <p:nvPr/>
        </p:nvSpPr>
        <p:spPr>
          <a:xfrm>
            <a:off x="6645107" y="1458334"/>
            <a:ext cx="1821900" cy="2071500"/>
          </a:xfrm>
          <a:prstGeom prst="rect">
            <a:avLst/>
          </a:prstGeom>
          <a:noFill/>
          <a:ln>
            <a:noFill/>
          </a:ln>
        </p:spPr>
        <p:txBody>
          <a:bodyPr spcFirstLastPara="1" wrap="square" lIns="34275" tIns="17150" rIns="34275" bIns="17150" anchor="t" anchorCtr="0">
            <a:spAutoFit/>
          </a:bodyPr>
          <a:lstStyle/>
          <a:p>
            <a:pPr marL="0" marR="0" lvl="0" indent="0" algn="just" rtl="0">
              <a:lnSpc>
                <a:spcPct val="100000"/>
              </a:lnSpc>
              <a:spcBef>
                <a:spcPts val="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(Quality) management reporting is about avoiding confirmation bias.</a:t>
            </a:r>
            <a:endParaRPr sz="1100"/>
          </a:p>
          <a:p>
            <a:pPr marL="0" marR="0" lvl="0" indent="0" algn="just" rtl="0">
              <a:lnSpc>
                <a:spcPct val="100000"/>
              </a:lnSpc>
              <a:spcBef>
                <a:spcPts val="100"/>
              </a:spcBef>
              <a:spcAft>
                <a:spcPts val="0"/>
              </a:spcAft>
              <a:buClr>
                <a:schemeClr val="dk2"/>
              </a:buClr>
              <a:buSzPts val="600"/>
              <a:buFont typeface="Arial"/>
              <a:buNone/>
            </a:pPr>
            <a:endParaRPr sz="600">
              <a:solidFill>
                <a:schemeClr val="dk1"/>
              </a:solidFill>
              <a:latin typeface="Open Sans"/>
              <a:ea typeface="Open Sans"/>
              <a:cs typeface="Open Sans"/>
              <a:sym typeface="Open Sans"/>
            </a:endParaRPr>
          </a:p>
          <a:p>
            <a:pPr marL="0" marR="0" lvl="0" indent="0" algn="just" rtl="0">
              <a:lnSpc>
                <a:spcPct val="100000"/>
              </a:lnSpc>
              <a:spcBef>
                <a:spcPts val="20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It’s about identifying what you don’t know, as much as confirming what you do.</a:t>
            </a:r>
            <a:endParaRPr sz="1100"/>
          </a:p>
          <a:p>
            <a:pPr marL="0" marR="0" lvl="0" indent="0" algn="just" rtl="0">
              <a:lnSpc>
                <a:spcPct val="100000"/>
              </a:lnSpc>
              <a:spcBef>
                <a:spcPts val="100"/>
              </a:spcBef>
              <a:spcAft>
                <a:spcPts val="0"/>
              </a:spcAft>
              <a:buClr>
                <a:schemeClr val="dk2"/>
              </a:buClr>
              <a:buSzPts val="600"/>
              <a:buFont typeface="Arial"/>
              <a:buNone/>
            </a:pPr>
            <a:endParaRPr sz="600">
              <a:solidFill>
                <a:schemeClr val="dk1"/>
              </a:solidFill>
              <a:latin typeface="Open Sans"/>
              <a:ea typeface="Open Sans"/>
              <a:cs typeface="Open Sans"/>
              <a:sym typeface="Open Sans"/>
            </a:endParaRPr>
          </a:p>
          <a:p>
            <a:pPr marL="0" marR="0" lvl="0" indent="0" algn="just" rtl="0">
              <a:lnSpc>
                <a:spcPct val="100000"/>
              </a:lnSpc>
              <a:spcBef>
                <a:spcPts val="20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If you don’t plan to make any changes or find a better way of doing things, you don’t need management reporting. What you need, is a whole heap of luck.</a:t>
            </a:r>
            <a:endParaRPr sz="1100"/>
          </a:p>
          <a:p>
            <a:pPr marL="0" marR="0" lvl="0" indent="0" algn="just" rtl="0">
              <a:lnSpc>
                <a:spcPct val="100000"/>
              </a:lnSpc>
              <a:spcBef>
                <a:spcPts val="200"/>
              </a:spcBef>
              <a:spcAft>
                <a:spcPts val="0"/>
              </a:spcAft>
              <a:buClr>
                <a:schemeClr val="dk2"/>
              </a:buClr>
              <a:buSzPts val="800"/>
              <a:buFont typeface="Arial"/>
              <a:buNone/>
            </a:pPr>
            <a:endParaRPr sz="800">
              <a:solidFill>
                <a:schemeClr val="dk1"/>
              </a:solidFill>
              <a:latin typeface="Open Sans"/>
              <a:ea typeface="Open Sans"/>
              <a:cs typeface="Open Sans"/>
              <a:sym typeface="Open Sans"/>
            </a:endParaRPr>
          </a:p>
          <a:p>
            <a:pPr marL="0" marR="0" lvl="0" indent="0" algn="just" rtl="0">
              <a:lnSpc>
                <a:spcPct val="100000"/>
              </a:lnSpc>
              <a:spcBef>
                <a:spcPts val="20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Remember, quality reporting relies on quality systems and quality systems, rely on quality models.</a:t>
            </a:r>
            <a:endParaRPr sz="1100"/>
          </a:p>
        </p:txBody>
      </p:sp>
      <p:sp>
        <p:nvSpPr>
          <p:cNvPr id="197" name="Google Shape;197;p31"/>
          <p:cNvSpPr txBox="1"/>
          <p:nvPr/>
        </p:nvSpPr>
        <p:spPr>
          <a:xfrm>
            <a:off x="587626" y="1231724"/>
            <a:ext cx="18729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100" b="1">
                <a:solidFill>
                  <a:schemeClr val="dk2"/>
                </a:solidFill>
                <a:latin typeface="Open Sans"/>
                <a:ea typeface="Open Sans"/>
                <a:cs typeface="Open Sans"/>
                <a:sym typeface="Open Sans"/>
              </a:rPr>
              <a:t>Assumptions/ Targets</a:t>
            </a:r>
            <a:endParaRPr sz="1100"/>
          </a:p>
        </p:txBody>
      </p:sp>
      <p:sp>
        <p:nvSpPr>
          <p:cNvPr id="198" name="Google Shape;198;p31"/>
          <p:cNvSpPr txBox="1"/>
          <p:nvPr/>
        </p:nvSpPr>
        <p:spPr>
          <a:xfrm>
            <a:off x="6610579" y="1227501"/>
            <a:ext cx="18561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100" b="1">
                <a:solidFill>
                  <a:schemeClr val="dk2"/>
                </a:solidFill>
                <a:latin typeface="Open Sans"/>
                <a:ea typeface="Open Sans"/>
                <a:cs typeface="Open Sans"/>
                <a:sym typeface="Open Sans"/>
              </a:rPr>
              <a:t>Performance/ Actual</a:t>
            </a:r>
            <a:endParaRPr sz="1100"/>
          </a:p>
        </p:txBody>
      </p:sp>
      <p:sp>
        <p:nvSpPr>
          <p:cNvPr id="199" name="Google Shape;199;p31"/>
          <p:cNvSpPr/>
          <p:nvPr/>
        </p:nvSpPr>
        <p:spPr>
          <a:xfrm>
            <a:off x="3445001" y="4078209"/>
            <a:ext cx="2254200" cy="249000"/>
          </a:xfrm>
          <a:prstGeom prst="rect">
            <a:avLst/>
          </a:prstGeom>
          <a:solidFill>
            <a:srgbClr val="75707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0" name="Google Shape;200;p31"/>
          <p:cNvSpPr/>
          <p:nvPr/>
        </p:nvSpPr>
        <p:spPr>
          <a:xfrm>
            <a:off x="6414263" y="4078209"/>
            <a:ext cx="2254200" cy="249000"/>
          </a:xfrm>
          <a:prstGeom prst="rect">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1" name="Google Shape;201;p31"/>
          <p:cNvSpPr/>
          <p:nvPr/>
        </p:nvSpPr>
        <p:spPr>
          <a:xfrm>
            <a:off x="475740" y="4078209"/>
            <a:ext cx="2254200" cy="249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2" name="Google Shape;202;p31"/>
          <p:cNvSpPr/>
          <p:nvPr/>
        </p:nvSpPr>
        <p:spPr>
          <a:xfrm>
            <a:off x="475740" y="4327220"/>
            <a:ext cx="2254200" cy="530700"/>
          </a:xfrm>
          <a:prstGeom prst="rect">
            <a:avLst/>
          </a:prstGeom>
          <a:solidFill>
            <a:srgbClr val="D8E2F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3" name="Google Shape;203;p31"/>
          <p:cNvSpPr/>
          <p:nvPr/>
        </p:nvSpPr>
        <p:spPr>
          <a:xfrm>
            <a:off x="3445001" y="4327220"/>
            <a:ext cx="2254200" cy="530700"/>
          </a:xfrm>
          <a:prstGeom prst="rect">
            <a:avLst/>
          </a:prstGeom>
          <a:solidFill>
            <a:srgbClr val="D0CECE"/>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4" name="Google Shape;204;p31"/>
          <p:cNvSpPr/>
          <p:nvPr/>
        </p:nvSpPr>
        <p:spPr>
          <a:xfrm>
            <a:off x="6414263" y="4327220"/>
            <a:ext cx="2254200" cy="530700"/>
          </a:xfrm>
          <a:prstGeom prst="rect">
            <a:avLst/>
          </a:prstGeom>
          <a:solidFill>
            <a:srgbClr val="FBE4D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00">
              <a:solidFill>
                <a:schemeClr val="lt1"/>
              </a:solidFill>
              <a:latin typeface="Lato Light"/>
              <a:ea typeface="Lato Light"/>
              <a:cs typeface="Lato Light"/>
              <a:sym typeface="Lato Light"/>
            </a:endParaRPr>
          </a:p>
        </p:txBody>
      </p:sp>
      <p:sp>
        <p:nvSpPr>
          <p:cNvPr id="205" name="Google Shape;205;p31"/>
          <p:cNvSpPr txBox="1"/>
          <p:nvPr/>
        </p:nvSpPr>
        <p:spPr>
          <a:xfrm>
            <a:off x="604734" y="4112091"/>
            <a:ext cx="1945372" cy="238497"/>
          </a:xfrm>
          <a:prstGeom prst="rect">
            <a:avLst/>
          </a:prstGeom>
          <a:noFill/>
          <a:ln>
            <a:noFill/>
          </a:ln>
        </p:spPr>
        <p:txBody>
          <a:bodyPr spcFirstLastPara="1" wrap="square" lIns="68575" tIns="34275" rIns="68575" bIns="34275" anchor="ctr" anchorCtr="0">
            <a:spAutoFit/>
          </a:bodyPr>
          <a:lstStyle/>
          <a:p>
            <a:pPr marL="0" marR="0" lvl="0" indent="0" algn="ctr" rtl="0">
              <a:spcBef>
                <a:spcPts val="0"/>
              </a:spcBef>
              <a:spcAft>
                <a:spcPts val="0"/>
              </a:spcAft>
              <a:buNone/>
            </a:pPr>
            <a:r>
              <a:rPr lang="en" sz="1100" b="1" dirty="0">
                <a:solidFill>
                  <a:schemeClr val="lt1"/>
                </a:solidFill>
                <a:latin typeface="Open Sans"/>
                <a:ea typeface="Open Sans"/>
                <a:cs typeface="Open Sans"/>
                <a:sym typeface="Open Sans"/>
              </a:rPr>
              <a:t>Scenario Model</a:t>
            </a:r>
            <a:endParaRPr sz="1100" dirty="0"/>
          </a:p>
        </p:txBody>
      </p:sp>
      <p:sp>
        <p:nvSpPr>
          <p:cNvPr id="206" name="Google Shape;206;p31"/>
          <p:cNvSpPr txBox="1"/>
          <p:nvPr/>
        </p:nvSpPr>
        <p:spPr>
          <a:xfrm>
            <a:off x="3444897" y="4083460"/>
            <a:ext cx="2246070" cy="238497"/>
          </a:xfrm>
          <a:prstGeom prst="rect">
            <a:avLst/>
          </a:prstGeom>
          <a:noFill/>
          <a:ln>
            <a:noFill/>
          </a:ln>
        </p:spPr>
        <p:txBody>
          <a:bodyPr spcFirstLastPara="1" wrap="square" lIns="68575" tIns="34275" rIns="68575" bIns="34275" anchor="ctr" anchorCtr="0">
            <a:spAutoFit/>
          </a:bodyPr>
          <a:lstStyle/>
          <a:p>
            <a:pPr marL="0" marR="0" lvl="0" indent="0" algn="ctr" rtl="0">
              <a:spcBef>
                <a:spcPts val="0"/>
              </a:spcBef>
              <a:spcAft>
                <a:spcPts val="0"/>
              </a:spcAft>
              <a:buNone/>
            </a:pPr>
            <a:r>
              <a:rPr lang="en" sz="1100" b="1" dirty="0">
                <a:solidFill>
                  <a:schemeClr val="lt1"/>
                </a:solidFill>
                <a:latin typeface="Open Sans"/>
                <a:ea typeface="Open Sans"/>
                <a:cs typeface="Open Sans"/>
                <a:sym typeface="Open Sans"/>
              </a:rPr>
              <a:t>Financial Systems &amp; Controls</a:t>
            </a:r>
            <a:endParaRPr sz="1100" dirty="0"/>
          </a:p>
        </p:txBody>
      </p:sp>
      <p:sp>
        <p:nvSpPr>
          <p:cNvPr id="207" name="Google Shape;207;p31"/>
          <p:cNvSpPr txBox="1"/>
          <p:nvPr/>
        </p:nvSpPr>
        <p:spPr>
          <a:xfrm>
            <a:off x="6764409" y="4078198"/>
            <a:ext cx="1534438" cy="238497"/>
          </a:xfrm>
          <a:prstGeom prst="rect">
            <a:avLst/>
          </a:prstGeom>
          <a:noFill/>
          <a:ln>
            <a:noFill/>
          </a:ln>
        </p:spPr>
        <p:txBody>
          <a:bodyPr spcFirstLastPara="1" wrap="square" lIns="68575" tIns="34275" rIns="68575" bIns="34275" anchor="ctr" anchorCtr="0">
            <a:spAutoFit/>
          </a:bodyPr>
          <a:lstStyle/>
          <a:p>
            <a:pPr marL="0" marR="0" lvl="0" indent="0" algn="ctr" rtl="0">
              <a:spcBef>
                <a:spcPts val="0"/>
              </a:spcBef>
              <a:spcAft>
                <a:spcPts val="0"/>
              </a:spcAft>
              <a:buNone/>
            </a:pPr>
            <a:r>
              <a:rPr lang="en" sz="1100" b="1" dirty="0">
                <a:solidFill>
                  <a:schemeClr val="lt1"/>
                </a:solidFill>
                <a:latin typeface="Open Sans"/>
                <a:ea typeface="Open Sans"/>
                <a:cs typeface="Open Sans"/>
                <a:sym typeface="Open Sans"/>
              </a:rPr>
              <a:t>Reporting</a:t>
            </a:r>
            <a:endParaRPr sz="1100" dirty="0"/>
          </a:p>
        </p:txBody>
      </p:sp>
      <p:sp>
        <p:nvSpPr>
          <p:cNvPr id="208" name="Google Shape;208;p31"/>
          <p:cNvSpPr txBox="1"/>
          <p:nvPr/>
        </p:nvSpPr>
        <p:spPr>
          <a:xfrm>
            <a:off x="562364" y="4397931"/>
            <a:ext cx="2080800" cy="353700"/>
          </a:xfrm>
          <a:prstGeom prst="rect">
            <a:avLst/>
          </a:prstGeom>
          <a:noFill/>
          <a:ln>
            <a:noFill/>
          </a:ln>
        </p:spPr>
        <p:txBody>
          <a:bodyPr spcFirstLastPara="1" wrap="square" lIns="34275" tIns="17150" rIns="34275" bIns="17150" anchor="ctr" anchorCtr="0">
            <a:spAutoFit/>
          </a:bodyPr>
          <a:lstStyle/>
          <a:p>
            <a:pPr marL="0" marR="0" lvl="0" indent="0" algn="just" rtl="0">
              <a:lnSpc>
                <a:spcPct val="159090"/>
              </a:lnSpc>
              <a:spcBef>
                <a:spcPts val="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This is your ‘What-if’ calculator; essential for Strategic &amp; Operational Planning.</a:t>
            </a:r>
            <a:endParaRPr sz="1100"/>
          </a:p>
        </p:txBody>
      </p:sp>
      <p:sp>
        <p:nvSpPr>
          <p:cNvPr id="209" name="Google Shape;209;p31"/>
          <p:cNvSpPr txBox="1"/>
          <p:nvPr/>
        </p:nvSpPr>
        <p:spPr>
          <a:xfrm>
            <a:off x="3531626" y="4397931"/>
            <a:ext cx="2080800" cy="353700"/>
          </a:xfrm>
          <a:prstGeom prst="rect">
            <a:avLst/>
          </a:prstGeom>
          <a:noFill/>
          <a:ln>
            <a:noFill/>
          </a:ln>
        </p:spPr>
        <p:txBody>
          <a:bodyPr spcFirstLastPara="1" wrap="square" lIns="34275" tIns="17150" rIns="34275" bIns="17150" anchor="ctr" anchorCtr="0">
            <a:spAutoFit/>
          </a:bodyPr>
          <a:lstStyle/>
          <a:p>
            <a:pPr marL="0" marR="0" lvl="0" indent="0" algn="just" rtl="0">
              <a:lnSpc>
                <a:spcPct val="159090"/>
              </a:lnSpc>
              <a:spcBef>
                <a:spcPts val="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These are your software platforms &amp; administration protocols.</a:t>
            </a:r>
            <a:endParaRPr sz="1100"/>
          </a:p>
        </p:txBody>
      </p:sp>
      <p:sp>
        <p:nvSpPr>
          <p:cNvPr id="210" name="Google Shape;210;p31"/>
          <p:cNvSpPr txBox="1"/>
          <p:nvPr/>
        </p:nvSpPr>
        <p:spPr>
          <a:xfrm>
            <a:off x="6500888" y="4397931"/>
            <a:ext cx="2080800" cy="353700"/>
          </a:xfrm>
          <a:prstGeom prst="rect">
            <a:avLst/>
          </a:prstGeom>
          <a:noFill/>
          <a:ln>
            <a:noFill/>
          </a:ln>
        </p:spPr>
        <p:txBody>
          <a:bodyPr spcFirstLastPara="1" wrap="square" lIns="34275" tIns="17150" rIns="34275" bIns="17150" anchor="ctr" anchorCtr="0">
            <a:spAutoFit/>
          </a:bodyPr>
          <a:lstStyle/>
          <a:p>
            <a:pPr marL="0" marR="0" lvl="0" indent="0" algn="just" rtl="0">
              <a:lnSpc>
                <a:spcPct val="159090"/>
              </a:lnSpc>
              <a:spcBef>
                <a:spcPts val="0"/>
              </a:spcBef>
              <a:spcAft>
                <a:spcPts val="0"/>
              </a:spcAft>
              <a:buClr>
                <a:schemeClr val="dk1"/>
              </a:buClr>
              <a:buSzPts val="800"/>
              <a:buFont typeface="Arial"/>
              <a:buNone/>
            </a:pPr>
            <a:r>
              <a:rPr lang="en" sz="800">
                <a:solidFill>
                  <a:schemeClr val="dk1"/>
                </a:solidFill>
                <a:latin typeface="Open Sans"/>
                <a:ea typeface="Open Sans"/>
                <a:cs typeface="Open Sans"/>
                <a:sym typeface="Open Sans"/>
              </a:rPr>
              <a:t>This is the information gained AFTER your business activities. This is proof!</a:t>
            </a:r>
            <a:endParaRPr sz="1100"/>
          </a:p>
        </p:txBody>
      </p:sp>
      <p:cxnSp>
        <p:nvCxnSpPr>
          <p:cNvPr id="211" name="Google Shape;211;p31"/>
          <p:cNvCxnSpPr>
            <a:stCxn id="212" idx="4"/>
            <a:endCxn id="199" idx="0"/>
          </p:cNvCxnSpPr>
          <p:nvPr/>
        </p:nvCxnSpPr>
        <p:spPr>
          <a:xfrm>
            <a:off x="4570601" y="3672609"/>
            <a:ext cx="1500" cy="405600"/>
          </a:xfrm>
          <a:prstGeom prst="straightConnector1">
            <a:avLst/>
          </a:prstGeom>
          <a:noFill/>
          <a:ln w="38100" cap="flat" cmpd="sng">
            <a:solidFill>
              <a:srgbClr val="BFBFBF"/>
            </a:solidFill>
            <a:prstDash val="solid"/>
            <a:miter lim="800000"/>
            <a:headEnd type="none" w="sm" len="sm"/>
            <a:tailEnd type="none" w="sm" len="sm"/>
          </a:ln>
        </p:spPr>
      </p:cxnSp>
      <p:cxnSp>
        <p:nvCxnSpPr>
          <p:cNvPr id="213" name="Google Shape;213;p31"/>
          <p:cNvCxnSpPr>
            <a:stCxn id="212" idx="4"/>
            <a:endCxn id="200" idx="0"/>
          </p:cNvCxnSpPr>
          <p:nvPr/>
        </p:nvCxnSpPr>
        <p:spPr>
          <a:xfrm>
            <a:off x="4570763" y="3672609"/>
            <a:ext cx="2970600" cy="405600"/>
          </a:xfrm>
          <a:prstGeom prst="bentConnector2">
            <a:avLst/>
          </a:prstGeom>
          <a:noFill/>
          <a:ln w="38100" cap="flat" cmpd="sng">
            <a:solidFill>
              <a:srgbClr val="BFBFBF"/>
            </a:solidFill>
            <a:prstDash val="solid"/>
            <a:miter lim="800000"/>
            <a:headEnd type="none" w="sm" len="sm"/>
            <a:tailEnd type="none" w="sm" len="sm"/>
          </a:ln>
        </p:spPr>
      </p:cxnSp>
      <p:cxnSp>
        <p:nvCxnSpPr>
          <p:cNvPr id="214" name="Google Shape;214;p31"/>
          <p:cNvCxnSpPr>
            <a:stCxn id="212" idx="4"/>
            <a:endCxn id="201" idx="0"/>
          </p:cNvCxnSpPr>
          <p:nvPr/>
        </p:nvCxnSpPr>
        <p:spPr>
          <a:xfrm flipH="1">
            <a:off x="1602840" y="3672609"/>
            <a:ext cx="2967900" cy="405600"/>
          </a:xfrm>
          <a:prstGeom prst="bentConnector2">
            <a:avLst/>
          </a:prstGeom>
          <a:noFill/>
          <a:ln w="38100" cap="flat" cmpd="sng">
            <a:solidFill>
              <a:srgbClr val="BFBFBF"/>
            </a:solidFill>
            <a:prstDash val="solid"/>
            <a:miter lim="800000"/>
            <a:headEnd type="none" w="sm" len="sm"/>
            <a:tailEnd type="none" w="sm" len="sm"/>
          </a:ln>
        </p:spPr>
      </p:cxnSp>
      <p:sp>
        <p:nvSpPr>
          <p:cNvPr id="215" name="Google Shape;215;p31"/>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lt1"/>
              </a:solidFill>
              <a:latin typeface="Calibri"/>
              <a:ea typeface="Calibri"/>
              <a:cs typeface="Calibri"/>
              <a:sym typeface="Calibri"/>
            </a:endParaRPr>
          </a:p>
        </p:txBody>
      </p:sp>
      <p:sp>
        <p:nvSpPr>
          <p:cNvPr id="216" name="Google Shape;216;p31"/>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lt1"/>
              </a:solidFill>
              <a:latin typeface="Calibri"/>
              <a:ea typeface="Calibri"/>
              <a:cs typeface="Calibri"/>
              <a:sym typeface="Calibri"/>
            </a:endParaRPr>
          </a:p>
        </p:txBody>
      </p:sp>
      <p:sp>
        <p:nvSpPr>
          <p:cNvPr id="217" name="Google Shape;217;p31"/>
          <p:cNvSpPr/>
          <p:nvPr/>
        </p:nvSpPr>
        <p:spPr>
          <a:xfrm rot="-5400000">
            <a:off x="6612698"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lt1"/>
              </a:solidFill>
              <a:latin typeface="Calibri"/>
              <a:ea typeface="Calibri"/>
              <a:cs typeface="Calibri"/>
              <a:sym typeface="Calibri"/>
            </a:endParaRPr>
          </a:p>
        </p:txBody>
      </p:sp>
      <p:sp>
        <p:nvSpPr>
          <p:cNvPr id="218" name="Google Shape;218;p31"/>
          <p:cNvSpPr/>
          <p:nvPr/>
        </p:nvSpPr>
        <p:spPr>
          <a:xfrm>
            <a:off x="49427" y="5004197"/>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lt1"/>
              </a:solidFill>
              <a:latin typeface="Calibri"/>
              <a:ea typeface="Calibri"/>
              <a:cs typeface="Calibri"/>
              <a:sym typeface="Calibri"/>
            </a:endParaRPr>
          </a:p>
        </p:txBody>
      </p:sp>
      <p:sp>
        <p:nvSpPr>
          <p:cNvPr id="219" name="Google Shape;219;p31"/>
          <p:cNvSpPr/>
          <p:nvPr/>
        </p:nvSpPr>
        <p:spPr>
          <a:xfrm>
            <a:off x="1513702" y="5004197"/>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Calibri"/>
              <a:buNone/>
            </a:pPr>
            <a:endParaRPr sz="1400" b="0" i="0" u="none" strike="noStrike" cap="none">
              <a:solidFill>
                <a:schemeClr val="lt1"/>
              </a:solidFill>
              <a:latin typeface="Calibri"/>
              <a:ea typeface="Calibri"/>
              <a:cs typeface="Calibri"/>
              <a:sym typeface="Calibri"/>
            </a:endParaRPr>
          </a:p>
        </p:txBody>
      </p:sp>
      <p:sp>
        <p:nvSpPr>
          <p:cNvPr id="220" name="Google Shape;220;p31"/>
          <p:cNvSpPr txBox="1"/>
          <p:nvPr/>
        </p:nvSpPr>
        <p:spPr>
          <a:xfrm>
            <a:off x="284207" y="210065"/>
            <a:ext cx="7535400" cy="6606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600">
                <a:solidFill>
                  <a:srgbClr val="002B64"/>
                </a:solidFill>
                <a:latin typeface="Open Sans"/>
                <a:ea typeface="Open Sans"/>
                <a:cs typeface="Open Sans"/>
                <a:sym typeface="Open Sans"/>
              </a:rPr>
              <a:t>The 3 Pillars of Financial Management</a:t>
            </a:r>
            <a:endParaRPr sz="1100"/>
          </a:p>
        </p:txBody>
      </p:sp>
      <p:cxnSp>
        <p:nvCxnSpPr>
          <p:cNvPr id="221" name="Google Shape;221;p31"/>
          <p:cNvCxnSpPr/>
          <p:nvPr/>
        </p:nvCxnSpPr>
        <p:spPr>
          <a:xfrm>
            <a:off x="4566113" y="3504792"/>
            <a:ext cx="1500" cy="405600"/>
          </a:xfrm>
          <a:prstGeom prst="straightConnector1">
            <a:avLst/>
          </a:prstGeom>
          <a:noFill/>
          <a:ln w="38100" cap="flat" cmpd="sng">
            <a:solidFill>
              <a:srgbClr val="BFBFBF"/>
            </a:solidFill>
            <a:prstDash val="solid"/>
            <a:miter lim="800000"/>
            <a:headEnd type="none" w="sm" len="sm"/>
            <a:tailEnd type="none" w="sm" len="sm"/>
          </a:ln>
        </p:spPr>
      </p:cxnSp>
      <p:pic>
        <p:nvPicPr>
          <p:cNvPr id="222" name="Google Shape;222;p31"/>
          <p:cNvPicPr preferRelativeResize="0"/>
          <p:nvPr/>
        </p:nvPicPr>
        <p:blipFill rotWithShape="1">
          <a:blip r:embed="rId4">
            <a:alphaModFix/>
          </a:blip>
          <a:srcRect l="34399" t="17936" r="33988" b="28410"/>
          <a:stretch/>
        </p:blipFill>
        <p:spPr>
          <a:xfrm>
            <a:off x="3199884" y="961809"/>
            <a:ext cx="2744227" cy="261995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p32"/>
          <p:cNvSpPr txBox="1">
            <a:spLocks noGrp="1"/>
          </p:cNvSpPr>
          <p:nvPr>
            <p:ph type="title"/>
          </p:nvPr>
        </p:nvSpPr>
        <p:spPr>
          <a:xfrm>
            <a:off x="230750" y="228850"/>
            <a:ext cx="8284800" cy="518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Meeting Objective:   To test the (revenue) model ‘fit’.</a:t>
            </a:r>
            <a:endParaRPr sz="2400">
              <a:solidFill>
                <a:srgbClr val="002B64"/>
              </a:solidFill>
              <a:latin typeface="Open Sans"/>
              <a:ea typeface="Open Sans"/>
              <a:cs typeface="Open Sans"/>
              <a:sym typeface="Open Sans"/>
            </a:endParaRPr>
          </a:p>
        </p:txBody>
      </p:sp>
      <p:sp>
        <p:nvSpPr>
          <p:cNvPr id="228" name="Google Shape;228;p32"/>
          <p:cNvSpPr txBox="1">
            <a:spLocks noGrp="1"/>
          </p:cNvSpPr>
          <p:nvPr>
            <p:ph type="sldNum" idx="12"/>
          </p:nvPr>
        </p:nvSpPr>
        <p:spPr>
          <a:xfrm>
            <a:off x="4843463" y="35754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7</a:t>
            </a:fld>
            <a:endParaRPr/>
          </a:p>
        </p:txBody>
      </p:sp>
      <p:sp>
        <p:nvSpPr>
          <p:cNvPr id="229" name="Google Shape;229;p32"/>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0" name="Google Shape;230;p32"/>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1" name="Google Shape;231;p32"/>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2" name="Google Shape;232;p32"/>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33" name="Google Shape;233;p32"/>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234" name="Google Shape;234;p32"/>
          <p:cNvPicPr preferRelativeResize="0"/>
          <p:nvPr/>
        </p:nvPicPr>
        <p:blipFill>
          <a:blip r:embed="rId3">
            <a:alphaModFix/>
          </a:blip>
          <a:stretch>
            <a:fillRect/>
          </a:stretch>
        </p:blipFill>
        <p:spPr>
          <a:xfrm>
            <a:off x="1199388" y="836675"/>
            <a:ext cx="6738941" cy="37906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8"/>
        <p:cNvGrpSpPr/>
        <p:nvPr/>
      </p:nvGrpSpPr>
      <p:grpSpPr>
        <a:xfrm>
          <a:off x="0" y="0"/>
          <a:ext cx="0" cy="0"/>
          <a:chOff x="0" y="0"/>
          <a:chExt cx="0" cy="0"/>
        </a:xfrm>
      </p:grpSpPr>
      <p:sp>
        <p:nvSpPr>
          <p:cNvPr id="239" name="Google Shape;239;p33"/>
          <p:cNvSpPr txBox="1">
            <a:spLocks noGrp="1"/>
          </p:cNvSpPr>
          <p:nvPr>
            <p:ph type="sldNum" idx="12"/>
          </p:nvPr>
        </p:nvSpPr>
        <p:spPr>
          <a:xfrm>
            <a:off x="7327163" y="47049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8</a:t>
            </a:fld>
            <a:endParaRPr/>
          </a:p>
        </p:txBody>
      </p:sp>
      <p:sp>
        <p:nvSpPr>
          <p:cNvPr id="240" name="Google Shape;240;p33"/>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1" name="Google Shape;241;p33"/>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2" name="Google Shape;242;p33"/>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3" name="Google Shape;243;p33"/>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4" name="Google Shape;244;p33"/>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45" name="Google Shape;245;p33"/>
          <p:cNvSpPr/>
          <p:nvPr/>
        </p:nvSpPr>
        <p:spPr>
          <a:xfrm>
            <a:off x="941250" y="825875"/>
            <a:ext cx="7231800" cy="3470400"/>
          </a:xfrm>
          <a:prstGeom prst="rect">
            <a:avLst/>
          </a:prstGeom>
          <a:solidFill>
            <a:srgbClr val="002B6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200" b="1">
                <a:solidFill>
                  <a:schemeClr val="lt1"/>
                </a:solidFill>
                <a:latin typeface="Open Sans"/>
                <a:ea typeface="Open Sans"/>
                <a:cs typeface="Open Sans"/>
                <a:sym typeface="Open Sans"/>
              </a:rPr>
              <a:t>More Detail</a:t>
            </a:r>
            <a:endParaRPr sz="7200" b="1">
              <a:solidFill>
                <a:schemeClr val="lt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9"/>
        <p:cNvGrpSpPr/>
        <p:nvPr/>
      </p:nvGrpSpPr>
      <p:grpSpPr>
        <a:xfrm>
          <a:off x="0" y="0"/>
          <a:ext cx="0" cy="0"/>
          <a:chOff x="0" y="0"/>
          <a:chExt cx="0" cy="0"/>
        </a:xfrm>
      </p:grpSpPr>
      <p:sp>
        <p:nvSpPr>
          <p:cNvPr id="250" name="Google Shape;250;p34"/>
          <p:cNvSpPr txBox="1">
            <a:spLocks noGrp="1"/>
          </p:cNvSpPr>
          <p:nvPr>
            <p:ph type="title"/>
          </p:nvPr>
        </p:nvSpPr>
        <p:spPr>
          <a:xfrm>
            <a:off x="358275" y="315769"/>
            <a:ext cx="8157300" cy="9351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Our Assumptions</a:t>
            </a:r>
            <a:endParaRPr sz="2400">
              <a:solidFill>
                <a:srgbClr val="002B64"/>
              </a:solidFill>
              <a:latin typeface="Open Sans"/>
              <a:ea typeface="Open Sans"/>
              <a:cs typeface="Open Sans"/>
              <a:sym typeface="Open Sans"/>
            </a:endParaRPr>
          </a:p>
        </p:txBody>
      </p:sp>
      <p:sp>
        <p:nvSpPr>
          <p:cNvPr id="251" name="Google Shape;251;p34"/>
          <p:cNvSpPr txBox="1">
            <a:spLocks noGrp="1"/>
          </p:cNvSpPr>
          <p:nvPr>
            <p:ph type="body" idx="1"/>
          </p:nvPr>
        </p:nvSpPr>
        <p:spPr>
          <a:xfrm>
            <a:off x="449381" y="1506000"/>
            <a:ext cx="8157300" cy="2538600"/>
          </a:xfrm>
          <a:prstGeom prst="rect">
            <a:avLst/>
          </a:prstGeom>
          <a:noFill/>
          <a:ln>
            <a:noFill/>
          </a:ln>
        </p:spPr>
        <p:txBody>
          <a:bodyPr spcFirstLastPara="1" wrap="square" lIns="68575" tIns="34275" rIns="68575" bIns="34275" anchor="t" anchorCtr="0">
            <a:noAutofit/>
          </a:bodyPr>
          <a:lstStyle/>
          <a:p>
            <a:pPr marL="177800" lvl="0" indent="-171450" algn="just" rtl="0">
              <a:lnSpc>
                <a:spcPct val="90000"/>
              </a:lnSpc>
              <a:spcBef>
                <a:spcPts val="0"/>
              </a:spcBef>
              <a:spcAft>
                <a:spcPts val="0"/>
              </a:spcAft>
              <a:buClr>
                <a:srgbClr val="434343"/>
              </a:buClr>
              <a:buSzPts val="1500"/>
              <a:buFont typeface="Open Sans"/>
              <a:buChar char="•"/>
            </a:pPr>
            <a:r>
              <a:rPr lang="en" sz="1500">
                <a:solidFill>
                  <a:srgbClr val="434343"/>
                </a:solidFill>
                <a:latin typeface="Open Sans"/>
                <a:ea typeface="Open Sans"/>
                <a:cs typeface="Open Sans"/>
                <a:sym typeface="Open Sans"/>
              </a:rPr>
              <a:t>Is it a ‘hunch’ we HOPE to be true?</a:t>
            </a:r>
            <a:endParaRPr>
              <a:solidFill>
                <a:srgbClr val="434343"/>
              </a:solidFill>
              <a:latin typeface="Open Sans"/>
              <a:ea typeface="Open Sans"/>
              <a:cs typeface="Open Sans"/>
              <a:sym typeface="Open Sans"/>
            </a:endParaRPr>
          </a:p>
          <a:p>
            <a:pPr marL="177800" lvl="0" indent="-76200" algn="just" rtl="0">
              <a:lnSpc>
                <a:spcPct val="90000"/>
              </a:lnSpc>
              <a:spcBef>
                <a:spcPts val="800"/>
              </a:spcBef>
              <a:spcAft>
                <a:spcPts val="0"/>
              </a:spcAft>
              <a:buClr>
                <a:schemeClr val="dk1"/>
              </a:buClr>
              <a:buSzPts val="1500"/>
              <a:buNone/>
            </a:pPr>
            <a:endParaRPr sz="1500">
              <a:solidFill>
                <a:srgbClr val="434343"/>
              </a:solidFill>
              <a:latin typeface="Open Sans"/>
              <a:ea typeface="Open Sans"/>
              <a:cs typeface="Open Sans"/>
              <a:sym typeface="Open Sans"/>
            </a:endParaRPr>
          </a:p>
          <a:p>
            <a:pPr marL="177800" lvl="0" indent="-171450" algn="just" rtl="0">
              <a:lnSpc>
                <a:spcPct val="90000"/>
              </a:lnSpc>
              <a:spcBef>
                <a:spcPts val="800"/>
              </a:spcBef>
              <a:spcAft>
                <a:spcPts val="0"/>
              </a:spcAft>
              <a:buClr>
                <a:srgbClr val="434343"/>
              </a:buClr>
              <a:buSzPts val="1500"/>
              <a:buFont typeface="Open Sans"/>
              <a:buChar char="•"/>
            </a:pPr>
            <a:r>
              <a:rPr lang="en" sz="1500">
                <a:solidFill>
                  <a:srgbClr val="434343"/>
                </a:solidFill>
                <a:latin typeface="Open Sans"/>
                <a:ea typeface="Open Sans"/>
                <a:cs typeface="Open Sans"/>
                <a:sym typeface="Open Sans"/>
              </a:rPr>
              <a:t>Is it a belief we have PROVEN to be true by passed OBSERVATION?</a:t>
            </a:r>
            <a:endParaRPr>
              <a:solidFill>
                <a:srgbClr val="434343"/>
              </a:solidFill>
              <a:latin typeface="Open Sans"/>
              <a:ea typeface="Open Sans"/>
              <a:cs typeface="Open Sans"/>
              <a:sym typeface="Open Sans"/>
            </a:endParaRPr>
          </a:p>
          <a:p>
            <a:pPr marL="177800" lvl="0" indent="-76200" algn="just" rtl="0">
              <a:lnSpc>
                <a:spcPct val="90000"/>
              </a:lnSpc>
              <a:spcBef>
                <a:spcPts val="800"/>
              </a:spcBef>
              <a:spcAft>
                <a:spcPts val="0"/>
              </a:spcAft>
              <a:buClr>
                <a:schemeClr val="dk1"/>
              </a:buClr>
              <a:buSzPts val="1500"/>
              <a:buNone/>
            </a:pPr>
            <a:endParaRPr sz="1500">
              <a:solidFill>
                <a:srgbClr val="434343"/>
              </a:solidFill>
              <a:latin typeface="Open Sans"/>
              <a:ea typeface="Open Sans"/>
              <a:cs typeface="Open Sans"/>
              <a:sym typeface="Open Sans"/>
            </a:endParaRPr>
          </a:p>
          <a:p>
            <a:pPr marL="177800" lvl="0" indent="-171450" algn="just" rtl="0">
              <a:lnSpc>
                <a:spcPct val="90000"/>
              </a:lnSpc>
              <a:spcBef>
                <a:spcPts val="800"/>
              </a:spcBef>
              <a:spcAft>
                <a:spcPts val="0"/>
              </a:spcAft>
              <a:buClr>
                <a:srgbClr val="434343"/>
              </a:buClr>
              <a:buSzPts val="1500"/>
              <a:buFont typeface="Open Sans"/>
              <a:buChar char="•"/>
            </a:pPr>
            <a:r>
              <a:rPr lang="en" sz="1500">
                <a:solidFill>
                  <a:srgbClr val="434343"/>
                </a:solidFill>
                <a:latin typeface="Open Sans"/>
                <a:ea typeface="Open Sans"/>
                <a:cs typeface="Open Sans"/>
                <a:sym typeface="Open Sans"/>
              </a:rPr>
              <a:t>Is it ACCEPTED as being true by others?</a:t>
            </a:r>
            <a:endParaRPr>
              <a:solidFill>
                <a:srgbClr val="434343"/>
              </a:solidFill>
              <a:latin typeface="Open Sans"/>
              <a:ea typeface="Open Sans"/>
              <a:cs typeface="Open Sans"/>
              <a:sym typeface="Open Sans"/>
            </a:endParaRPr>
          </a:p>
          <a:p>
            <a:pPr marL="177800" lvl="0" indent="-76200" algn="just" rtl="0">
              <a:lnSpc>
                <a:spcPct val="90000"/>
              </a:lnSpc>
              <a:spcBef>
                <a:spcPts val="800"/>
              </a:spcBef>
              <a:spcAft>
                <a:spcPts val="0"/>
              </a:spcAft>
              <a:buClr>
                <a:schemeClr val="dk1"/>
              </a:buClr>
              <a:buSzPts val="1500"/>
              <a:buNone/>
            </a:pPr>
            <a:endParaRPr sz="1500">
              <a:solidFill>
                <a:srgbClr val="434343"/>
              </a:solidFill>
              <a:latin typeface="Open Sans"/>
              <a:ea typeface="Open Sans"/>
              <a:cs typeface="Open Sans"/>
              <a:sym typeface="Open Sans"/>
            </a:endParaRPr>
          </a:p>
          <a:p>
            <a:pPr marL="177800" lvl="0" indent="-171450" algn="just" rtl="0">
              <a:lnSpc>
                <a:spcPct val="90000"/>
              </a:lnSpc>
              <a:spcBef>
                <a:spcPts val="800"/>
              </a:spcBef>
              <a:spcAft>
                <a:spcPts val="0"/>
              </a:spcAft>
              <a:buClr>
                <a:srgbClr val="434343"/>
              </a:buClr>
              <a:buSzPts val="1500"/>
              <a:buFont typeface="Open Sans"/>
              <a:buChar char="•"/>
            </a:pPr>
            <a:r>
              <a:rPr lang="en" sz="1500">
                <a:solidFill>
                  <a:srgbClr val="434343"/>
                </a:solidFill>
                <a:latin typeface="Open Sans"/>
                <a:ea typeface="Open Sans"/>
                <a:cs typeface="Open Sans"/>
                <a:sym typeface="Open Sans"/>
              </a:rPr>
              <a:t>Is it a FACT we have VALIDATED WITH EVIDENCE or TESTING?</a:t>
            </a:r>
            <a:endParaRPr>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p:txBody>
      </p:sp>
      <p:sp>
        <p:nvSpPr>
          <p:cNvPr id="252" name="Google Shape;252;p34"/>
          <p:cNvSpPr txBox="1">
            <a:spLocks noGrp="1"/>
          </p:cNvSpPr>
          <p:nvPr>
            <p:ph type="sldNum" idx="12"/>
          </p:nvPr>
        </p:nvSpPr>
        <p:spPr>
          <a:xfrm>
            <a:off x="4843463" y="35754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9</a:t>
            </a:fld>
            <a:endParaRPr/>
          </a:p>
        </p:txBody>
      </p:sp>
      <p:sp>
        <p:nvSpPr>
          <p:cNvPr id="253" name="Google Shape;253;p34"/>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4" name="Google Shape;254;p34"/>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5" name="Google Shape;255;p34"/>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6" name="Google Shape;256;p34"/>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57" name="Google Shape;257;p34"/>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1"/>
        <p:cNvGrpSpPr/>
        <p:nvPr/>
      </p:nvGrpSpPr>
      <p:grpSpPr>
        <a:xfrm>
          <a:off x="0" y="0"/>
          <a:ext cx="0" cy="0"/>
          <a:chOff x="0" y="0"/>
          <a:chExt cx="0" cy="0"/>
        </a:xfrm>
      </p:grpSpPr>
      <p:sp>
        <p:nvSpPr>
          <p:cNvPr id="262" name="Google Shape;262;p35"/>
          <p:cNvSpPr txBox="1">
            <a:spLocks noGrp="1"/>
          </p:cNvSpPr>
          <p:nvPr>
            <p:ph type="title"/>
          </p:nvPr>
        </p:nvSpPr>
        <p:spPr>
          <a:xfrm>
            <a:off x="364350" y="352219"/>
            <a:ext cx="7857900" cy="1217400"/>
          </a:xfrm>
          <a:prstGeom prst="rect">
            <a:avLst/>
          </a:prstGeom>
          <a:noFill/>
          <a:ln>
            <a:noFill/>
          </a:ln>
        </p:spPr>
        <p:txBody>
          <a:bodyPr spcFirstLastPara="1" wrap="square" lIns="68575" tIns="34275" rIns="68575" bIns="34275" anchor="ctr" anchorCtr="0">
            <a:noAutofit/>
          </a:bodyPr>
          <a:lstStyle/>
          <a:p>
            <a:pPr marL="0" lvl="0" indent="0" algn="l" rtl="0">
              <a:lnSpc>
                <a:spcPct val="150000"/>
              </a:lnSpc>
              <a:spcBef>
                <a:spcPts val="0"/>
              </a:spcBef>
              <a:spcAft>
                <a:spcPts val="0"/>
              </a:spcAft>
              <a:buClr>
                <a:srgbClr val="FFFF00"/>
              </a:buClr>
              <a:buSzPts val="2200"/>
              <a:buFont typeface="Architects Daughter"/>
              <a:buNone/>
            </a:pPr>
            <a:r>
              <a:rPr lang="en" sz="2200">
                <a:solidFill>
                  <a:srgbClr val="002B64"/>
                </a:solidFill>
                <a:latin typeface="Open Sans"/>
                <a:ea typeface="Open Sans"/>
                <a:cs typeface="Open Sans"/>
                <a:sym typeface="Open Sans"/>
              </a:rPr>
              <a:t>Concept: </a:t>
            </a:r>
            <a:br>
              <a:rPr lang="en" sz="2200">
                <a:solidFill>
                  <a:srgbClr val="002B64"/>
                </a:solidFill>
                <a:latin typeface="Open Sans"/>
                <a:ea typeface="Open Sans"/>
                <a:cs typeface="Open Sans"/>
                <a:sym typeface="Open Sans"/>
              </a:rPr>
            </a:br>
            <a:r>
              <a:rPr lang="en" sz="2200">
                <a:solidFill>
                  <a:srgbClr val="002B64"/>
                </a:solidFill>
                <a:latin typeface="Open Sans"/>
                <a:ea typeface="Open Sans"/>
                <a:cs typeface="Open Sans"/>
                <a:sym typeface="Open Sans"/>
              </a:rPr>
              <a:t>	Assumptions MUST be challenged constantly.</a:t>
            </a:r>
            <a:endParaRPr sz="2200">
              <a:solidFill>
                <a:srgbClr val="002B64"/>
              </a:solidFill>
              <a:latin typeface="Open Sans"/>
              <a:ea typeface="Open Sans"/>
              <a:cs typeface="Open Sans"/>
              <a:sym typeface="Open Sans"/>
            </a:endParaRPr>
          </a:p>
        </p:txBody>
      </p:sp>
      <p:sp>
        <p:nvSpPr>
          <p:cNvPr id="263" name="Google Shape;263;p35"/>
          <p:cNvSpPr txBox="1">
            <a:spLocks noGrp="1"/>
          </p:cNvSpPr>
          <p:nvPr>
            <p:ph type="sldNum" idx="12"/>
          </p:nvPr>
        </p:nvSpPr>
        <p:spPr>
          <a:xfrm>
            <a:off x="4843463" y="35754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10</a:t>
            </a:fld>
            <a:endParaRPr/>
          </a:p>
        </p:txBody>
      </p:sp>
      <p:sp>
        <p:nvSpPr>
          <p:cNvPr id="264" name="Google Shape;264;p35"/>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5" name="Google Shape;265;p35"/>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6" name="Google Shape;266;p35"/>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7" name="Google Shape;267;p35"/>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8" name="Google Shape;268;p35"/>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69" name="Google Shape;269;p35"/>
          <p:cNvSpPr txBox="1"/>
          <p:nvPr/>
        </p:nvSpPr>
        <p:spPr>
          <a:xfrm>
            <a:off x="364350" y="1909988"/>
            <a:ext cx="8508000" cy="2513700"/>
          </a:xfrm>
          <a:prstGeom prst="rect">
            <a:avLst/>
          </a:prstGeom>
          <a:no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A5A5A5"/>
              </a:buClr>
              <a:buSzPts val="2300"/>
              <a:buFont typeface="Architects Daughter"/>
              <a:buNone/>
            </a:pPr>
            <a:r>
              <a:rPr lang="en" sz="2300" i="0" u="none" strike="noStrike" cap="none">
                <a:solidFill>
                  <a:srgbClr val="434343"/>
                </a:solidFill>
                <a:latin typeface="Open Sans"/>
                <a:ea typeface="Open Sans"/>
                <a:cs typeface="Open Sans"/>
                <a:sym typeface="Open Sans"/>
              </a:rPr>
              <a:t>Principles: </a:t>
            </a:r>
            <a:endParaRPr sz="1100">
              <a:solidFill>
                <a:srgbClr val="434343"/>
              </a:solidFill>
              <a:latin typeface="Open Sans"/>
              <a:ea typeface="Open Sans"/>
              <a:cs typeface="Open Sans"/>
              <a:sym typeface="Open Sans"/>
            </a:endParaRPr>
          </a:p>
          <a:p>
            <a:pPr marL="685800" marR="0" lvl="0" indent="-431800" algn="l" rtl="0">
              <a:lnSpc>
                <a:spcPct val="150000"/>
              </a:lnSpc>
              <a:spcBef>
                <a:spcPts val="0"/>
              </a:spcBef>
              <a:spcAft>
                <a:spcPts val="0"/>
              </a:spcAft>
              <a:buClr>
                <a:srgbClr val="434343"/>
              </a:buClr>
              <a:buSzPts val="1800"/>
              <a:buFont typeface="Open Sans"/>
              <a:buAutoNum type="arabicPeriod"/>
            </a:pPr>
            <a:r>
              <a:rPr lang="en" sz="1800" i="0" u="none" strike="noStrike" cap="none">
                <a:solidFill>
                  <a:srgbClr val="434343"/>
                </a:solidFill>
                <a:latin typeface="Open Sans"/>
                <a:ea typeface="Open Sans"/>
                <a:cs typeface="Open Sans"/>
                <a:sym typeface="Open Sans"/>
              </a:rPr>
              <a:t>Foundation assumptions are often invisible.</a:t>
            </a:r>
            <a:endParaRPr sz="1100">
              <a:solidFill>
                <a:srgbClr val="434343"/>
              </a:solidFill>
              <a:latin typeface="Open Sans"/>
              <a:ea typeface="Open Sans"/>
              <a:cs typeface="Open Sans"/>
              <a:sym typeface="Open Sans"/>
            </a:endParaRPr>
          </a:p>
          <a:p>
            <a:pPr marL="685800" marR="0" lvl="0" indent="-431800" algn="l" rtl="0">
              <a:lnSpc>
                <a:spcPct val="150000"/>
              </a:lnSpc>
              <a:spcBef>
                <a:spcPts val="0"/>
              </a:spcBef>
              <a:spcAft>
                <a:spcPts val="0"/>
              </a:spcAft>
              <a:buClr>
                <a:srgbClr val="434343"/>
              </a:buClr>
              <a:buSzPts val="1800"/>
              <a:buFont typeface="Open Sans"/>
              <a:buAutoNum type="arabicPeriod"/>
            </a:pPr>
            <a:r>
              <a:rPr lang="en" sz="1800" i="0" u="none" strike="noStrike" cap="none">
                <a:solidFill>
                  <a:srgbClr val="434343"/>
                </a:solidFill>
                <a:latin typeface="Open Sans"/>
                <a:ea typeface="Open Sans"/>
                <a:cs typeface="Open Sans"/>
                <a:sym typeface="Open Sans"/>
              </a:rPr>
              <a:t>We must relate business model assumptions to the financials.</a:t>
            </a:r>
            <a:endParaRPr sz="1100">
              <a:solidFill>
                <a:srgbClr val="434343"/>
              </a:solidFill>
              <a:latin typeface="Open Sans"/>
              <a:ea typeface="Open Sans"/>
              <a:cs typeface="Open Sans"/>
              <a:sym typeface="Open Sans"/>
            </a:endParaRPr>
          </a:p>
          <a:p>
            <a:pPr marL="685800" marR="0" lvl="0" indent="-431800" algn="l" rtl="0">
              <a:lnSpc>
                <a:spcPct val="150000"/>
              </a:lnSpc>
              <a:spcBef>
                <a:spcPts val="0"/>
              </a:spcBef>
              <a:spcAft>
                <a:spcPts val="0"/>
              </a:spcAft>
              <a:buClr>
                <a:srgbClr val="434343"/>
              </a:buClr>
              <a:buSzPts val="1800"/>
              <a:buFont typeface="Open Sans"/>
              <a:buAutoNum type="arabicPeriod"/>
            </a:pPr>
            <a:r>
              <a:rPr lang="en" sz="1800" i="0" u="none" strike="noStrike" cap="none">
                <a:solidFill>
                  <a:srgbClr val="434343"/>
                </a:solidFill>
                <a:latin typeface="Open Sans"/>
                <a:ea typeface="Open Sans"/>
                <a:cs typeface="Open Sans"/>
                <a:sym typeface="Open Sans"/>
              </a:rPr>
              <a:t>Confirmation bias is a killer! (everything changes over time)</a:t>
            </a:r>
            <a:br>
              <a:rPr lang="en" sz="2300" i="0" u="none" strike="noStrike" cap="none">
                <a:solidFill>
                  <a:srgbClr val="434343"/>
                </a:solidFill>
                <a:latin typeface="Open Sans"/>
                <a:ea typeface="Open Sans"/>
                <a:cs typeface="Open Sans"/>
                <a:sym typeface="Open Sans"/>
              </a:rPr>
            </a:br>
            <a:endParaRPr sz="2300" i="0" u="none" strike="noStrike" cap="none">
              <a:solidFill>
                <a:srgbClr val="434343"/>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3"/>
        <p:cNvGrpSpPr/>
        <p:nvPr/>
      </p:nvGrpSpPr>
      <p:grpSpPr>
        <a:xfrm>
          <a:off x="0" y="0"/>
          <a:ext cx="0" cy="0"/>
          <a:chOff x="0" y="0"/>
          <a:chExt cx="0" cy="0"/>
        </a:xfrm>
      </p:grpSpPr>
      <p:sp>
        <p:nvSpPr>
          <p:cNvPr id="274" name="Google Shape;274;p36"/>
          <p:cNvSpPr txBox="1">
            <a:spLocks noGrp="1"/>
          </p:cNvSpPr>
          <p:nvPr>
            <p:ph type="title"/>
          </p:nvPr>
        </p:nvSpPr>
        <p:spPr>
          <a:xfrm>
            <a:off x="353250" y="443325"/>
            <a:ext cx="8431200" cy="4171800"/>
          </a:xfrm>
          <a:prstGeom prst="rect">
            <a:avLst/>
          </a:prstGeom>
          <a:noFill/>
          <a:ln>
            <a:noFill/>
          </a:ln>
        </p:spPr>
        <p:txBody>
          <a:bodyPr spcFirstLastPara="1" wrap="square" lIns="68575" tIns="34275" rIns="68575" bIns="3427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3000">
                <a:solidFill>
                  <a:srgbClr val="002B64"/>
                </a:solidFill>
                <a:latin typeface="Open Sans"/>
                <a:ea typeface="Open Sans"/>
                <a:cs typeface="Open Sans"/>
                <a:sym typeface="Open Sans"/>
              </a:rPr>
              <a:t>A Double Blind (Placebo) Study is a Scientific Method to Avoid Confirmation Bias</a:t>
            </a:r>
            <a:endParaRPr sz="3000">
              <a:solidFill>
                <a:srgbClr val="002B64"/>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 sz="3000">
                <a:solidFill>
                  <a:srgbClr val="002B64"/>
                </a:solidFill>
                <a:latin typeface="Open Sans"/>
                <a:ea typeface="Open Sans"/>
                <a:cs typeface="Open Sans"/>
                <a:sym typeface="Open Sans"/>
              </a:rPr>
              <a:t>for the Researcher.</a:t>
            </a:r>
            <a:endParaRPr sz="3000">
              <a:solidFill>
                <a:srgbClr val="002B64"/>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endParaRPr sz="1600">
              <a:solidFill>
                <a:srgbClr val="002B64"/>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 sz="3000">
                <a:solidFill>
                  <a:srgbClr val="002B64"/>
                </a:solidFill>
                <a:latin typeface="Open Sans"/>
                <a:ea typeface="Open Sans"/>
                <a:cs typeface="Open Sans"/>
                <a:sym typeface="Open Sans"/>
              </a:rPr>
              <a:t>A Revenue Model</a:t>
            </a:r>
            <a:endParaRPr sz="3000">
              <a:solidFill>
                <a:srgbClr val="002B64"/>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 sz="3000">
                <a:solidFill>
                  <a:srgbClr val="767171"/>
                </a:solidFill>
                <a:latin typeface="Open Sans"/>
                <a:ea typeface="Open Sans"/>
                <a:cs typeface="Open Sans"/>
                <a:sym typeface="Open Sans"/>
              </a:rPr>
              <a:t>(Combined With The 6 Hats Framework)</a:t>
            </a:r>
            <a:endParaRPr sz="3000">
              <a:solidFill>
                <a:srgbClr val="767171"/>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 sz="3000">
                <a:solidFill>
                  <a:srgbClr val="002B64"/>
                </a:solidFill>
                <a:latin typeface="Open Sans"/>
                <a:ea typeface="Open Sans"/>
                <a:cs typeface="Open Sans"/>
                <a:sym typeface="Open Sans"/>
              </a:rPr>
              <a:t>is the Strategic Equivalent for</a:t>
            </a:r>
            <a:endParaRPr sz="3000">
              <a:solidFill>
                <a:srgbClr val="002B64"/>
              </a:solidFill>
              <a:latin typeface="Open Sans"/>
              <a:ea typeface="Open Sans"/>
              <a:cs typeface="Open Sans"/>
              <a:sym typeface="Open Sans"/>
            </a:endParaRPr>
          </a:p>
          <a:p>
            <a:pPr marL="0" lvl="0" indent="0" algn="ctr" rtl="0">
              <a:lnSpc>
                <a:spcPct val="115000"/>
              </a:lnSpc>
              <a:spcBef>
                <a:spcPts val="0"/>
              </a:spcBef>
              <a:spcAft>
                <a:spcPts val="0"/>
              </a:spcAft>
              <a:buClr>
                <a:schemeClr val="dk1"/>
              </a:buClr>
              <a:buSzPts val="1100"/>
              <a:buFont typeface="Arial"/>
              <a:buNone/>
            </a:pPr>
            <a:r>
              <a:rPr lang="en" sz="3000">
                <a:solidFill>
                  <a:srgbClr val="002B64"/>
                </a:solidFill>
                <a:latin typeface="Open Sans"/>
                <a:ea typeface="Open Sans"/>
                <a:cs typeface="Open Sans"/>
                <a:sym typeface="Open Sans"/>
              </a:rPr>
              <a:t>Business Owners.</a:t>
            </a:r>
            <a:endParaRPr sz="2500">
              <a:solidFill>
                <a:srgbClr val="002B64"/>
              </a:solidFill>
              <a:latin typeface="Open Sans"/>
              <a:ea typeface="Open Sans"/>
              <a:cs typeface="Open Sans"/>
              <a:sym typeface="Open Sans"/>
            </a:endParaRPr>
          </a:p>
        </p:txBody>
      </p:sp>
      <p:sp>
        <p:nvSpPr>
          <p:cNvPr id="275" name="Google Shape;275;p36"/>
          <p:cNvSpPr txBox="1">
            <a:spLocks noGrp="1"/>
          </p:cNvSpPr>
          <p:nvPr>
            <p:ph type="sldNum" idx="12"/>
          </p:nvPr>
        </p:nvSpPr>
        <p:spPr>
          <a:xfrm>
            <a:off x="4843463" y="35754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11</a:t>
            </a:fld>
            <a:endParaRPr/>
          </a:p>
        </p:txBody>
      </p:sp>
      <p:sp>
        <p:nvSpPr>
          <p:cNvPr id="276" name="Google Shape;276;p36"/>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7" name="Google Shape;277;p36"/>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8" name="Google Shape;278;p36"/>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79" name="Google Shape;279;p36"/>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280" name="Google Shape;280;p36"/>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4"/>
        <p:cNvGrpSpPr/>
        <p:nvPr/>
      </p:nvGrpSpPr>
      <p:grpSpPr>
        <a:xfrm>
          <a:off x="0" y="0"/>
          <a:ext cx="0" cy="0"/>
          <a:chOff x="0" y="0"/>
          <a:chExt cx="0" cy="0"/>
        </a:xfrm>
      </p:grpSpPr>
      <p:sp>
        <p:nvSpPr>
          <p:cNvPr id="285" name="Google Shape;285;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12</a:t>
            </a:fld>
            <a:endParaRPr/>
          </a:p>
        </p:txBody>
      </p:sp>
      <p:sp>
        <p:nvSpPr>
          <p:cNvPr id="286" name="Google Shape;286;p37"/>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7" name="Google Shape;287;p37"/>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8" name="Google Shape;288;p37"/>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89" name="Google Shape;289;p37"/>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0" name="Google Shape;290;p37"/>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1" name="Google Shape;291;p37"/>
          <p:cNvSpPr txBox="1"/>
          <p:nvPr/>
        </p:nvSpPr>
        <p:spPr>
          <a:xfrm>
            <a:off x="242900" y="819875"/>
            <a:ext cx="8594400" cy="3727200"/>
          </a:xfrm>
          <a:prstGeom prst="rect">
            <a:avLst/>
          </a:prstGeom>
          <a:noFill/>
          <a:ln>
            <a:noFill/>
          </a:ln>
        </p:spPr>
        <p:txBody>
          <a:bodyPr spcFirstLastPara="1" wrap="square" lIns="68575" tIns="34275" rIns="68575" bIns="34275" anchor="t" anchorCtr="0">
            <a:noAutofit/>
          </a:bodyPr>
          <a:lstStyle/>
          <a:p>
            <a:pPr marL="28575" marR="0" lvl="0" indent="0" algn="just" rtl="0">
              <a:lnSpc>
                <a:spcPct val="115000"/>
              </a:lnSpc>
              <a:spcBef>
                <a:spcPts val="0"/>
              </a:spcBef>
              <a:spcAft>
                <a:spcPts val="0"/>
              </a:spcAft>
              <a:buClr>
                <a:srgbClr val="000000"/>
              </a:buClr>
              <a:buSzPts val="1100"/>
              <a:buFont typeface="Arial"/>
              <a:buNone/>
            </a:pPr>
            <a:r>
              <a:rPr lang="en" sz="2300" i="0" u="none" strike="noStrike" cap="none">
                <a:solidFill>
                  <a:srgbClr val="434343"/>
                </a:solidFill>
                <a:latin typeface="Open Sans"/>
                <a:ea typeface="Open Sans"/>
                <a:cs typeface="Open Sans"/>
                <a:sym typeface="Open Sans"/>
              </a:rPr>
              <a:t>The term used to describe funding growth primarily via debt</a:t>
            </a:r>
            <a:r>
              <a:rPr lang="en" sz="2300">
                <a:solidFill>
                  <a:srgbClr val="434343"/>
                </a:solidFill>
                <a:latin typeface="Open Sans"/>
                <a:ea typeface="Open Sans"/>
                <a:cs typeface="Open Sans"/>
                <a:sym typeface="Open Sans"/>
              </a:rPr>
              <a:t>.</a:t>
            </a:r>
            <a:r>
              <a:rPr lang="en" sz="2300" i="0" u="none" strike="noStrike" cap="none">
                <a:solidFill>
                  <a:srgbClr val="434343"/>
                </a:solidFill>
                <a:latin typeface="Open Sans"/>
                <a:ea typeface="Open Sans"/>
                <a:cs typeface="Open Sans"/>
                <a:sym typeface="Open Sans"/>
              </a:rPr>
              <a:t> </a:t>
            </a:r>
            <a:endParaRPr sz="2300" i="0" u="none" strike="noStrike" cap="none">
              <a:solidFill>
                <a:srgbClr val="434343"/>
              </a:solidFill>
              <a:latin typeface="Open Sans"/>
              <a:ea typeface="Open Sans"/>
              <a:cs typeface="Open Sans"/>
              <a:sym typeface="Open Sans"/>
            </a:endParaRPr>
          </a:p>
          <a:p>
            <a:pPr marL="28575" marR="0" lvl="0" indent="0" algn="just" rtl="0">
              <a:lnSpc>
                <a:spcPct val="115000"/>
              </a:lnSpc>
              <a:spcBef>
                <a:spcPts val="0"/>
              </a:spcBef>
              <a:spcAft>
                <a:spcPts val="0"/>
              </a:spcAft>
              <a:buClr>
                <a:srgbClr val="000000"/>
              </a:buClr>
              <a:buSzPts val="1100"/>
              <a:buFont typeface="Arial"/>
              <a:buNone/>
            </a:pPr>
            <a:endParaRPr sz="1500">
              <a:solidFill>
                <a:srgbClr val="434343"/>
              </a:solidFill>
              <a:latin typeface="Open Sans"/>
              <a:ea typeface="Open Sans"/>
              <a:cs typeface="Open Sans"/>
              <a:sym typeface="Open Sans"/>
            </a:endParaRPr>
          </a:p>
          <a:p>
            <a:pPr marL="28575" marR="0" lvl="0" indent="0" algn="just" rtl="0">
              <a:lnSpc>
                <a:spcPct val="115000"/>
              </a:lnSpc>
              <a:spcBef>
                <a:spcPts val="0"/>
              </a:spcBef>
              <a:spcAft>
                <a:spcPts val="0"/>
              </a:spcAft>
              <a:buClr>
                <a:srgbClr val="000000"/>
              </a:buClr>
              <a:buSzPts val="1100"/>
              <a:buFont typeface="Arial"/>
              <a:buNone/>
            </a:pPr>
            <a:r>
              <a:rPr lang="en" sz="2300">
                <a:solidFill>
                  <a:srgbClr val="434343"/>
                </a:solidFill>
                <a:latin typeface="Open Sans"/>
                <a:ea typeface="Open Sans"/>
                <a:cs typeface="Open Sans"/>
                <a:sym typeface="Open Sans"/>
              </a:rPr>
              <a:t>T</a:t>
            </a:r>
            <a:r>
              <a:rPr lang="en" sz="2300" i="0" u="none" strike="noStrike" cap="none">
                <a:solidFill>
                  <a:srgbClr val="434343"/>
                </a:solidFill>
                <a:latin typeface="Open Sans"/>
                <a:ea typeface="Open Sans"/>
                <a:cs typeface="Open Sans"/>
                <a:sym typeface="Open Sans"/>
              </a:rPr>
              <a:t>he problem is not so much the </a:t>
            </a:r>
            <a:r>
              <a:rPr lang="en" sz="2300" i="0" u="sng" strike="noStrike" cap="none">
                <a:solidFill>
                  <a:srgbClr val="434343"/>
                </a:solidFill>
                <a:latin typeface="Open Sans"/>
                <a:ea typeface="Open Sans"/>
                <a:cs typeface="Open Sans"/>
                <a:sym typeface="Open Sans"/>
              </a:rPr>
              <a:t>use</a:t>
            </a:r>
            <a:r>
              <a:rPr lang="en" sz="2300" i="0" u="none" strike="noStrike" cap="none">
                <a:solidFill>
                  <a:srgbClr val="434343"/>
                </a:solidFill>
                <a:latin typeface="Open Sans"/>
                <a:ea typeface="Open Sans"/>
                <a:cs typeface="Open Sans"/>
                <a:sym typeface="Open Sans"/>
              </a:rPr>
              <a:t> of debt but rather, the lack of previously retained profits </a:t>
            </a:r>
            <a:r>
              <a:rPr lang="en" sz="2300" b="1" i="1" u="none" strike="noStrike" cap="none">
                <a:solidFill>
                  <a:srgbClr val="434343"/>
                </a:solidFill>
                <a:latin typeface="Open Sans"/>
                <a:ea typeface="Open Sans"/>
                <a:cs typeface="Open Sans"/>
                <a:sym typeface="Open Sans"/>
              </a:rPr>
              <a:t>(resulting in the debt/ equity ratio get</a:t>
            </a:r>
            <a:r>
              <a:rPr lang="en" sz="2300" b="1" i="1">
                <a:solidFill>
                  <a:srgbClr val="434343"/>
                </a:solidFill>
                <a:latin typeface="Open Sans"/>
                <a:ea typeface="Open Sans"/>
                <a:cs typeface="Open Sans"/>
                <a:sym typeface="Open Sans"/>
              </a:rPr>
              <a:t>ting</a:t>
            </a:r>
            <a:r>
              <a:rPr lang="en" sz="2300" b="1" i="1" u="none" strike="noStrike" cap="none">
                <a:solidFill>
                  <a:srgbClr val="434343"/>
                </a:solidFill>
                <a:latin typeface="Open Sans"/>
                <a:ea typeface="Open Sans"/>
                <a:cs typeface="Open Sans"/>
                <a:sym typeface="Open Sans"/>
              </a:rPr>
              <a:t> out of balance)</a:t>
            </a:r>
            <a:r>
              <a:rPr lang="en" sz="2300" i="0" u="none" strike="noStrike" cap="none">
                <a:solidFill>
                  <a:srgbClr val="434343"/>
                </a:solidFill>
                <a:latin typeface="Open Sans"/>
                <a:ea typeface="Open Sans"/>
                <a:cs typeface="Open Sans"/>
                <a:sym typeface="Open Sans"/>
              </a:rPr>
              <a:t> or (and) the debt is used to fund fixed assets </a:t>
            </a:r>
            <a:r>
              <a:rPr lang="en" sz="2300" b="1" i="0" u="none" strike="noStrike" cap="none">
                <a:solidFill>
                  <a:srgbClr val="002B64"/>
                </a:solidFill>
                <a:latin typeface="Open Sans"/>
                <a:ea typeface="Open Sans"/>
                <a:cs typeface="Open Sans"/>
                <a:sym typeface="Open Sans"/>
              </a:rPr>
              <a:t>in the hope</a:t>
            </a:r>
            <a:r>
              <a:rPr lang="en" sz="2300" i="0" u="none" strike="noStrike" cap="none">
                <a:solidFill>
                  <a:srgbClr val="434343"/>
                </a:solidFill>
                <a:latin typeface="Open Sans"/>
                <a:ea typeface="Open Sans"/>
                <a:cs typeface="Open Sans"/>
                <a:sym typeface="Open Sans"/>
              </a:rPr>
              <a:t> that it leads to increased work / sales in future. </a:t>
            </a:r>
            <a:endParaRPr sz="2300" i="0" u="none" strike="noStrike" cap="none">
              <a:solidFill>
                <a:srgbClr val="434343"/>
              </a:solidFill>
              <a:latin typeface="Open Sans"/>
              <a:ea typeface="Open Sans"/>
              <a:cs typeface="Open Sans"/>
              <a:sym typeface="Open Sans"/>
            </a:endParaRPr>
          </a:p>
          <a:p>
            <a:pPr marL="28575" marR="0" lvl="0" indent="0" algn="just" rtl="0">
              <a:lnSpc>
                <a:spcPct val="115000"/>
              </a:lnSpc>
              <a:spcBef>
                <a:spcPts val="0"/>
              </a:spcBef>
              <a:spcAft>
                <a:spcPts val="0"/>
              </a:spcAft>
              <a:buClr>
                <a:srgbClr val="000000"/>
              </a:buClr>
              <a:buSzPts val="1100"/>
              <a:buFont typeface="Arial"/>
              <a:buNone/>
            </a:pPr>
            <a:endParaRPr sz="1500">
              <a:solidFill>
                <a:srgbClr val="434343"/>
              </a:solidFill>
              <a:latin typeface="Open Sans"/>
              <a:ea typeface="Open Sans"/>
              <a:cs typeface="Open Sans"/>
              <a:sym typeface="Open Sans"/>
            </a:endParaRPr>
          </a:p>
          <a:p>
            <a:pPr marL="28575" marR="0" lvl="0" indent="0" algn="just" rtl="0">
              <a:lnSpc>
                <a:spcPct val="115000"/>
              </a:lnSpc>
              <a:spcBef>
                <a:spcPts val="0"/>
              </a:spcBef>
              <a:spcAft>
                <a:spcPts val="0"/>
              </a:spcAft>
              <a:buClr>
                <a:srgbClr val="000000"/>
              </a:buClr>
              <a:buSzPts val="1100"/>
              <a:buFont typeface="Arial"/>
              <a:buNone/>
            </a:pPr>
            <a:r>
              <a:rPr lang="en" sz="2300" i="0" u="none" strike="noStrike" cap="none">
                <a:solidFill>
                  <a:srgbClr val="434343"/>
                </a:solidFill>
                <a:latin typeface="Open Sans"/>
                <a:ea typeface="Open Sans"/>
                <a:cs typeface="Open Sans"/>
                <a:sym typeface="Open Sans"/>
              </a:rPr>
              <a:t>(All goes well until you hit a market downturn)</a:t>
            </a:r>
            <a:endParaRPr sz="2300" i="0" u="none" strike="noStrike" cap="none">
              <a:solidFill>
                <a:srgbClr val="434343"/>
              </a:solidFill>
              <a:latin typeface="Open Sans"/>
              <a:ea typeface="Open Sans"/>
              <a:cs typeface="Open Sans"/>
              <a:sym typeface="Open Sans"/>
            </a:endParaRPr>
          </a:p>
          <a:p>
            <a:pPr marL="1371600" marR="0" lvl="0" indent="-1371600" algn="just" rtl="0">
              <a:lnSpc>
                <a:spcPct val="115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100"/>
              <a:buFont typeface="Arial"/>
              <a:buNone/>
            </a:pPr>
            <a:endParaRPr sz="1100" i="0" u="none" strike="noStrike" cap="none">
              <a:solidFill>
                <a:srgbClr val="434343"/>
              </a:solidFill>
              <a:latin typeface="Open Sans"/>
              <a:ea typeface="Open Sans"/>
              <a:cs typeface="Open Sans"/>
              <a:sym typeface="Open Sans"/>
            </a:endParaRPr>
          </a:p>
        </p:txBody>
      </p:sp>
      <p:sp>
        <p:nvSpPr>
          <p:cNvPr id="292" name="Google Shape;292;p37"/>
          <p:cNvSpPr txBox="1">
            <a:spLocks noGrp="1"/>
          </p:cNvSpPr>
          <p:nvPr>
            <p:ph type="title"/>
          </p:nvPr>
        </p:nvSpPr>
        <p:spPr>
          <a:xfrm>
            <a:off x="242900" y="146100"/>
            <a:ext cx="8112900" cy="5463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Over Trading:</a:t>
            </a:r>
            <a:endParaRPr sz="2400" i="0" u="none" strike="noStrike" cap="none">
              <a:solidFill>
                <a:srgbClr val="002B64"/>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6"/>
        <p:cNvGrpSpPr/>
        <p:nvPr/>
      </p:nvGrpSpPr>
      <p:grpSpPr>
        <a:xfrm>
          <a:off x="0" y="0"/>
          <a:ext cx="0" cy="0"/>
          <a:chOff x="0" y="0"/>
          <a:chExt cx="0" cy="0"/>
        </a:xfrm>
      </p:grpSpPr>
      <p:sp>
        <p:nvSpPr>
          <p:cNvPr id="297" name="Google Shape;297;p3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13</a:t>
            </a:fld>
            <a:endParaRPr/>
          </a:p>
        </p:txBody>
      </p:sp>
      <p:sp>
        <p:nvSpPr>
          <p:cNvPr id="298" name="Google Shape;298;p38"/>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299" name="Google Shape;299;p38"/>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0" name="Google Shape;300;p38"/>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1" name="Google Shape;301;p38"/>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02" name="Google Shape;302;p38"/>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pic>
        <p:nvPicPr>
          <p:cNvPr id="303" name="Google Shape;303;p38"/>
          <p:cNvPicPr preferRelativeResize="0"/>
          <p:nvPr/>
        </p:nvPicPr>
        <p:blipFill rotWithShape="1">
          <a:blip r:embed="rId3">
            <a:alphaModFix/>
          </a:blip>
          <a:srcRect/>
          <a:stretch/>
        </p:blipFill>
        <p:spPr>
          <a:xfrm>
            <a:off x="269153" y="3106342"/>
            <a:ext cx="1549496" cy="1549496"/>
          </a:xfrm>
          <a:prstGeom prst="rect">
            <a:avLst/>
          </a:prstGeom>
          <a:noFill/>
          <a:ln>
            <a:noFill/>
          </a:ln>
        </p:spPr>
      </p:pic>
      <p:pic>
        <p:nvPicPr>
          <p:cNvPr id="304" name="Google Shape;304;p38"/>
          <p:cNvPicPr preferRelativeResize="0"/>
          <p:nvPr/>
        </p:nvPicPr>
        <p:blipFill rotWithShape="1">
          <a:blip r:embed="rId4">
            <a:alphaModFix/>
          </a:blip>
          <a:srcRect/>
          <a:stretch/>
        </p:blipFill>
        <p:spPr>
          <a:xfrm>
            <a:off x="2665492" y="1556843"/>
            <a:ext cx="1668188" cy="1549497"/>
          </a:xfrm>
          <a:prstGeom prst="rect">
            <a:avLst/>
          </a:prstGeom>
          <a:noFill/>
          <a:ln>
            <a:noFill/>
          </a:ln>
        </p:spPr>
      </p:pic>
      <p:pic>
        <p:nvPicPr>
          <p:cNvPr id="305" name="Google Shape;305;p38"/>
          <p:cNvPicPr preferRelativeResize="0"/>
          <p:nvPr/>
        </p:nvPicPr>
        <p:blipFill rotWithShape="1">
          <a:blip r:embed="rId5">
            <a:alphaModFix/>
          </a:blip>
          <a:srcRect/>
          <a:stretch/>
        </p:blipFill>
        <p:spPr>
          <a:xfrm>
            <a:off x="5186689" y="208308"/>
            <a:ext cx="3707944" cy="1551069"/>
          </a:xfrm>
          <a:prstGeom prst="rect">
            <a:avLst/>
          </a:prstGeom>
          <a:noFill/>
          <a:ln>
            <a:noFill/>
          </a:ln>
        </p:spPr>
      </p:pic>
      <p:sp>
        <p:nvSpPr>
          <p:cNvPr id="306" name="Google Shape;306;p38"/>
          <p:cNvSpPr txBox="1"/>
          <p:nvPr/>
        </p:nvSpPr>
        <p:spPr>
          <a:xfrm>
            <a:off x="241075" y="1438375"/>
            <a:ext cx="1571400" cy="15495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Clr>
                <a:srgbClr val="000000"/>
              </a:buClr>
              <a:buSzPts val="1000"/>
              <a:buFont typeface="Arial"/>
              <a:buNone/>
            </a:pPr>
            <a:r>
              <a:rPr lang="en" sz="1000" i="0" u="none" strike="noStrike" cap="none">
                <a:solidFill>
                  <a:srgbClr val="434343"/>
                </a:solidFill>
                <a:latin typeface="Open Sans"/>
                <a:ea typeface="Open Sans"/>
                <a:cs typeface="Open Sans"/>
                <a:sym typeface="Open Sans"/>
              </a:rPr>
              <a:t>Business owner has  a small profitable business; current trading cycles and forecasts predict a worthwhile return on financial investment net of personal time ‘cost’.</a:t>
            </a:r>
            <a:endParaRPr sz="1000" i="0" u="none" strike="noStrike" cap="none">
              <a:solidFill>
                <a:srgbClr val="434343"/>
              </a:solidFill>
              <a:latin typeface="Open Sans"/>
              <a:ea typeface="Open Sans"/>
              <a:cs typeface="Open Sans"/>
              <a:sym typeface="Open Sans"/>
            </a:endParaRPr>
          </a:p>
        </p:txBody>
      </p:sp>
      <p:sp>
        <p:nvSpPr>
          <p:cNvPr id="307" name="Google Shape;307;p38"/>
          <p:cNvSpPr txBox="1"/>
          <p:nvPr/>
        </p:nvSpPr>
        <p:spPr>
          <a:xfrm>
            <a:off x="2618600" y="3197600"/>
            <a:ext cx="1761900" cy="16059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Clr>
                <a:srgbClr val="000000"/>
              </a:buClr>
              <a:buSzPts val="1000"/>
              <a:buFont typeface="Arial"/>
              <a:buNone/>
            </a:pPr>
            <a:r>
              <a:rPr lang="en" sz="1000" i="0" u="none" strike="noStrike" cap="none">
                <a:solidFill>
                  <a:srgbClr val="434343"/>
                </a:solidFill>
                <a:latin typeface="Open Sans"/>
                <a:ea typeface="Open Sans"/>
                <a:cs typeface="Open Sans"/>
                <a:sym typeface="Open Sans"/>
              </a:rPr>
              <a:t>Business owner has evidence of market demand and increases ‘working scale’ via extra labour unit; not requiring significant assets. In effect, is meeting demand and better utilising existing assets.</a:t>
            </a:r>
            <a:endParaRPr sz="1000" i="0" u="none" strike="noStrike" cap="none">
              <a:solidFill>
                <a:srgbClr val="434343"/>
              </a:solidFill>
              <a:latin typeface="Open Sans"/>
              <a:ea typeface="Open Sans"/>
              <a:cs typeface="Open Sans"/>
              <a:sym typeface="Open Sans"/>
            </a:endParaRPr>
          </a:p>
        </p:txBody>
      </p:sp>
      <p:sp>
        <p:nvSpPr>
          <p:cNvPr id="308" name="Google Shape;308;p38"/>
          <p:cNvSpPr txBox="1"/>
          <p:nvPr/>
        </p:nvSpPr>
        <p:spPr>
          <a:xfrm>
            <a:off x="5143500" y="1828400"/>
            <a:ext cx="3817800" cy="3175800"/>
          </a:xfrm>
          <a:prstGeom prst="rect">
            <a:avLst/>
          </a:prstGeom>
          <a:noFill/>
          <a:ln>
            <a:noFill/>
          </a:ln>
        </p:spPr>
        <p:txBody>
          <a:bodyPr spcFirstLastPara="1" wrap="square" lIns="68575" tIns="34275" rIns="68575" bIns="34275" anchor="t" anchorCtr="0">
            <a:noAutofit/>
          </a:bodyPr>
          <a:lstStyle/>
          <a:p>
            <a:pPr marL="0" marR="0" lvl="0" indent="0" algn="just" rtl="0">
              <a:lnSpc>
                <a:spcPct val="115000"/>
              </a:lnSpc>
              <a:spcBef>
                <a:spcPts val="0"/>
              </a:spcBef>
              <a:spcAft>
                <a:spcPts val="0"/>
              </a:spcAft>
              <a:buClr>
                <a:srgbClr val="000000"/>
              </a:buClr>
              <a:buSzPts val="1000"/>
              <a:buFont typeface="Arial"/>
              <a:buNone/>
            </a:pPr>
            <a:r>
              <a:rPr lang="en" sz="1000" i="0" u="none" strike="noStrike" cap="none">
                <a:solidFill>
                  <a:srgbClr val="434343"/>
                </a:solidFill>
                <a:latin typeface="Open Sans"/>
                <a:ea typeface="Open Sans"/>
                <a:cs typeface="Open Sans"/>
                <a:sym typeface="Open Sans"/>
              </a:rPr>
              <a:t>Business owner has predicted increased demand and used debt to fund additional equipment (as well as increasing monthly expenses) in the hope that demand prevails and increased sales will eliminate the debt.</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endParaRPr sz="10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r>
              <a:rPr lang="en" sz="1000" b="1" i="0" u="none" strike="noStrike" cap="none">
                <a:solidFill>
                  <a:srgbClr val="002B64"/>
                </a:solidFill>
                <a:latin typeface="Open Sans"/>
                <a:ea typeface="Open Sans"/>
                <a:cs typeface="Open Sans"/>
                <a:sym typeface="Open Sans"/>
              </a:rPr>
              <a:t>PROBLEM:</a:t>
            </a:r>
            <a:r>
              <a:rPr lang="en" sz="1000" i="0" u="none" strike="noStrike" cap="none">
                <a:solidFill>
                  <a:srgbClr val="434343"/>
                </a:solidFill>
                <a:latin typeface="Open Sans"/>
                <a:ea typeface="Open Sans"/>
                <a:cs typeface="Open Sans"/>
                <a:sym typeface="Open Sans"/>
              </a:rPr>
              <a:t> The increased debt was applied to shop fitout (</a:t>
            </a:r>
            <a:r>
              <a:rPr lang="en" sz="1000">
                <a:solidFill>
                  <a:srgbClr val="434343"/>
                </a:solidFill>
                <a:latin typeface="Open Sans"/>
                <a:ea typeface="Open Sans"/>
                <a:cs typeface="Open Sans"/>
                <a:sym typeface="Open Sans"/>
              </a:rPr>
              <a:t>leasehold</a:t>
            </a:r>
            <a:r>
              <a:rPr lang="en" sz="1000" i="0" u="none" strike="noStrike" cap="none">
                <a:solidFill>
                  <a:srgbClr val="434343"/>
                </a:solidFill>
                <a:latin typeface="Open Sans"/>
                <a:ea typeface="Open Sans"/>
                <a:cs typeface="Open Sans"/>
                <a:sym typeface="Open Sans"/>
              </a:rPr>
              <a:t> improvements) and ‘low-recoverable’ assets. Whilst they appear positively on the balance sheet, they mislead the owner in assessing </a:t>
            </a:r>
            <a:r>
              <a:rPr lang="en" sz="1000">
                <a:solidFill>
                  <a:srgbClr val="434343"/>
                </a:solidFill>
                <a:latin typeface="Open Sans"/>
                <a:ea typeface="Open Sans"/>
                <a:cs typeface="Open Sans"/>
                <a:sym typeface="Open Sans"/>
              </a:rPr>
              <a:t>true financial position. (if negative sales)</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endParaRPr sz="10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r>
              <a:rPr lang="en" sz="1000" i="0" u="none" strike="noStrike" cap="none">
                <a:solidFill>
                  <a:srgbClr val="434343"/>
                </a:solidFill>
                <a:latin typeface="Open Sans"/>
                <a:ea typeface="Open Sans"/>
                <a:cs typeface="Open Sans"/>
                <a:sym typeface="Open Sans"/>
              </a:rPr>
              <a:t>Easiest way to see if the debt is justifiable is to perform a ‘Liquidation Value Estimate’ on the proposed new business scale.</a:t>
            </a:r>
            <a:endParaRPr sz="11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endParaRPr sz="1000" i="0" u="none" strike="noStrike" cap="none">
              <a:solidFill>
                <a:srgbClr val="434343"/>
              </a:solidFill>
              <a:latin typeface="Open Sans"/>
              <a:ea typeface="Open Sans"/>
              <a:cs typeface="Open Sans"/>
              <a:sym typeface="Open Sans"/>
            </a:endParaRPr>
          </a:p>
          <a:p>
            <a:pPr marL="0" marR="0" lvl="0" indent="0" algn="just" rtl="0">
              <a:lnSpc>
                <a:spcPct val="115000"/>
              </a:lnSpc>
              <a:spcBef>
                <a:spcPts val="0"/>
              </a:spcBef>
              <a:spcAft>
                <a:spcPts val="0"/>
              </a:spcAft>
              <a:buClr>
                <a:srgbClr val="000000"/>
              </a:buClr>
              <a:buSzPts val="1000"/>
              <a:buFont typeface="Arial"/>
              <a:buNone/>
            </a:pPr>
            <a:r>
              <a:rPr lang="en" sz="1000" i="0" u="none" strike="noStrike" cap="none">
                <a:solidFill>
                  <a:srgbClr val="434343"/>
                </a:solidFill>
                <a:latin typeface="Open Sans"/>
                <a:ea typeface="Open Sans"/>
                <a:cs typeface="Open Sans"/>
                <a:sym typeface="Open Sans"/>
              </a:rPr>
              <a:t>Ask yourself “What increase in sales is required to pay back the debt?”, “How easy can I scale back down if necessary?” and “What existing equity am I placing at risk with the new scale?”</a:t>
            </a:r>
            <a:endParaRPr sz="1000" i="0" u="none" strike="noStrike" cap="none">
              <a:solidFill>
                <a:srgbClr val="434343"/>
              </a:solidFill>
              <a:latin typeface="Open Sans"/>
              <a:ea typeface="Open Sans"/>
              <a:cs typeface="Open Sans"/>
              <a:sym typeface="Open Sans"/>
            </a:endParaRPr>
          </a:p>
        </p:txBody>
      </p:sp>
      <p:sp>
        <p:nvSpPr>
          <p:cNvPr id="309" name="Google Shape;309;p38"/>
          <p:cNvSpPr txBox="1"/>
          <p:nvPr/>
        </p:nvSpPr>
        <p:spPr>
          <a:xfrm>
            <a:off x="269154" y="681174"/>
            <a:ext cx="3842700" cy="484800"/>
          </a:xfrm>
          <a:prstGeom prst="rect">
            <a:avLst/>
          </a:prstGeom>
          <a:noFill/>
          <a:ln>
            <a:noFill/>
          </a:ln>
        </p:spPr>
        <p:txBody>
          <a:bodyPr spcFirstLastPara="1" wrap="square" lIns="68575" tIns="34275" rIns="68575" bIns="34275" anchor="t" anchorCtr="0">
            <a:noAutofit/>
          </a:bodyPr>
          <a:lstStyle/>
          <a:p>
            <a:pPr marL="0" marR="0" lvl="0" indent="0" algn="just" rtl="0">
              <a:lnSpc>
                <a:spcPct val="100000"/>
              </a:lnSpc>
              <a:spcBef>
                <a:spcPts val="0"/>
              </a:spcBef>
              <a:spcAft>
                <a:spcPts val="0"/>
              </a:spcAft>
              <a:buClr>
                <a:srgbClr val="000000"/>
              </a:buClr>
              <a:buSzPts val="1400"/>
              <a:buFont typeface="Arial"/>
              <a:buNone/>
            </a:pPr>
            <a:r>
              <a:rPr lang="en" sz="1400" i="0" u="none" strike="noStrike" cap="none">
                <a:solidFill>
                  <a:srgbClr val="434343"/>
                </a:solidFill>
                <a:latin typeface="Open Sans"/>
                <a:ea typeface="Open Sans"/>
                <a:cs typeface="Open Sans"/>
                <a:sym typeface="Open Sans"/>
              </a:rPr>
              <a:t>“To understand financial management,</a:t>
            </a:r>
            <a:endParaRPr sz="1100" i="0" u="none" strike="noStrike" cap="none">
              <a:solidFill>
                <a:srgbClr val="434343"/>
              </a:solidFill>
              <a:latin typeface="Open Sans"/>
              <a:ea typeface="Open Sans"/>
              <a:cs typeface="Open Sans"/>
              <a:sym typeface="Open Sans"/>
            </a:endParaRPr>
          </a:p>
          <a:p>
            <a:pPr marL="0" marR="0" lvl="0" indent="0" algn="just" rtl="0">
              <a:lnSpc>
                <a:spcPct val="100000"/>
              </a:lnSpc>
              <a:spcBef>
                <a:spcPts val="0"/>
              </a:spcBef>
              <a:spcAft>
                <a:spcPts val="0"/>
              </a:spcAft>
              <a:buClr>
                <a:srgbClr val="000000"/>
              </a:buClr>
              <a:buSzPts val="1400"/>
              <a:buFont typeface="Arial"/>
              <a:buNone/>
            </a:pPr>
            <a:r>
              <a:rPr lang="en" sz="1400" i="0" u="none" strike="noStrike" cap="none">
                <a:solidFill>
                  <a:srgbClr val="434343"/>
                </a:solidFill>
                <a:latin typeface="Open Sans"/>
                <a:ea typeface="Open Sans"/>
                <a:cs typeface="Open Sans"/>
                <a:sym typeface="Open Sans"/>
              </a:rPr>
              <a:t>Is to understand business scale...”</a:t>
            </a:r>
            <a:endParaRPr sz="1400" i="0" u="none" strike="noStrike" cap="none">
              <a:solidFill>
                <a:srgbClr val="434343"/>
              </a:solidFill>
              <a:latin typeface="Open Sans"/>
              <a:ea typeface="Open Sans"/>
              <a:cs typeface="Open Sans"/>
              <a:sym typeface="Open Sans"/>
            </a:endParaRPr>
          </a:p>
        </p:txBody>
      </p:sp>
      <p:sp>
        <p:nvSpPr>
          <p:cNvPr id="310" name="Google Shape;310;p38"/>
          <p:cNvSpPr txBox="1">
            <a:spLocks noGrp="1"/>
          </p:cNvSpPr>
          <p:nvPr>
            <p:ph type="title"/>
          </p:nvPr>
        </p:nvSpPr>
        <p:spPr>
          <a:xfrm>
            <a:off x="194325" y="146100"/>
            <a:ext cx="4949100" cy="608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Profit </a:t>
            </a:r>
            <a:r>
              <a:rPr lang="en" sz="1600">
                <a:latin typeface="Open Sans"/>
                <a:ea typeface="Open Sans"/>
                <a:cs typeface="Open Sans"/>
                <a:sym typeface="Open Sans"/>
              </a:rPr>
              <a:t>(Sweet Spot)</a:t>
            </a:r>
            <a:r>
              <a:rPr lang="en" sz="2400">
                <a:solidFill>
                  <a:srgbClr val="002B64"/>
                </a:solidFill>
                <a:latin typeface="Open Sans"/>
                <a:ea typeface="Open Sans"/>
                <a:cs typeface="Open Sans"/>
                <a:sym typeface="Open Sans"/>
              </a:rPr>
              <a:t> Plateau Levels</a:t>
            </a:r>
            <a:endParaRPr sz="2400" i="0" u="none" strike="noStrike" cap="none">
              <a:solidFill>
                <a:srgbClr val="002B64"/>
              </a:solidFill>
              <a:latin typeface="Open Sans"/>
              <a:ea typeface="Open Sans"/>
              <a:cs typeface="Open Sans"/>
              <a:sym typeface="Open Sans"/>
            </a:endParaRPr>
          </a:p>
        </p:txBody>
      </p:sp>
      <p:pic>
        <p:nvPicPr>
          <p:cNvPr id="311" name="Google Shape;311;p38"/>
          <p:cNvPicPr preferRelativeResize="0"/>
          <p:nvPr/>
        </p:nvPicPr>
        <p:blipFill>
          <a:blip r:embed="rId6">
            <a:alphaModFix/>
          </a:blip>
          <a:stretch>
            <a:fillRect/>
          </a:stretch>
        </p:blipFill>
        <p:spPr>
          <a:xfrm>
            <a:off x="3063825" y="1282941"/>
            <a:ext cx="871500" cy="27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5"/>
        <p:cNvGrpSpPr/>
        <p:nvPr/>
      </p:nvGrpSpPr>
      <p:grpSpPr>
        <a:xfrm>
          <a:off x="0" y="0"/>
          <a:ext cx="0" cy="0"/>
          <a:chOff x="0" y="0"/>
          <a:chExt cx="0" cy="0"/>
        </a:xfrm>
      </p:grpSpPr>
      <p:sp>
        <p:nvSpPr>
          <p:cNvPr id="316" name="Google Shape;316;p39"/>
          <p:cNvSpPr txBox="1">
            <a:spLocks noGrp="1"/>
          </p:cNvSpPr>
          <p:nvPr>
            <p:ph type="title"/>
          </p:nvPr>
        </p:nvSpPr>
        <p:spPr>
          <a:xfrm>
            <a:off x="2162975" y="115675"/>
            <a:ext cx="6765900" cy="602700"/>
          </a:xfrm>
          <a:prstGeom prst="rect">
            <a:avLst/>
          </a:prstGeom>
          <a:noFill/>
          <a:ln>
            <a:noFill/>
          </a:ln>
        </p:spPr>
        <p:txBody>
          <a:bodyPr spcFirstLastPara="1" wrap="square" lIns="68575" tIns="34275" rIns="68575" bIns="34275" anchor="ctr" anchorCtr="0">
            <a:noAutofit/>
          </a:bodyPr>
          <a:lstStyle/>
          <a:p>
            <a:pPr marL="0" marR="0" lvl="0" indent="0" algn="ctr" rtl="0">
              <a:lnSpc>
                <a:spcPct val="90000"/>
              </a:lnSpc>
              <a:spcBef>
                <a:spcPts val="0"/>
              </a:spcBef>
              <a:spcAft>
                <a:spcPts val="0"/>
              </a:spcAft>
              <a:buClr>
                <a:srgbClr val="F4B081"/>
              </a:buClr>
              <a:buSzPts val="1300"/>
              <a:buFont typeface="Architects Daughter"/>
              <a:buNone/>
            </a:pPr>
            <a:r>
              <a:rPr lang="en" sz="1400" i="0" u="none" strike="noStrike" cap="none">
                <a:solidFill>
                  <a:srgbClr val="002B64"/>
                </a:solidFill>
                <a:highlight>
                  <a:srgbClr val="FFFF00"/>
                </a:highlight>
                <a:latin typeface="Open Sans"/>
                <a:ea typeface="Open Sans"/>
                <a:cs typeface="Open Sans"/>
                <a:sym typeface="Open Sans"/>
              </a:rPr>
              <a:t>Increased Sales Volume Required</a:t>
            </a:r>
            <a:r>
              <a:rPr lang="en" sz="1400" i="0" u="none" strike="noStrike" cap="none">
                <a:solidFill>
                  <a:srgbClr val="002B64"/>
                </a:solidFill>
                <a:latin typeface="Open Sans"/>
                <a:ea typeface="Open Sans"/>
                <a:cs typeface="Open Sans"/>
                <a:sym typeface="Open Sans"/>
              </a:rPr>
              <a:t> to </a:t>
            </a:r>
            <a:r>
              <a:rPr lang="en" sz="1400" i="0" u="none" strike="noStrike" cap="none">
                <a:solidFill>
                  <a:schemeClr val="lt1"/>
                </a:solidFill>
                <a:highlight>
                  <a:srgbClr val="002B64"/>
                </a:highlight>
                <a:latin typeface="Open Sans"/>
                <a:ea typeface="Open Sans"/>
                <a:cs typeface="Open Sans"/>
                <a:sym typeface="Open Sans"/>
              </a:rPr>
              <a:t>Generate Original Profit Levels</a:t>
            </a:r>
            <a:endParaRPr sz="1400" i="0" u="none" strike="noStrike" cap="none">
              <a:solidFill>
                <a:schemeClr val="lt1"/>
              </a:solidFill>
              <a:highlight>
                <a:srgbClr val="002B64"/>
              </a:highlight>
              <a:latin typeface="Open Sans"/>
              <a:ea typeface="Open Sans"/>
              <a:cs typeface="Open Sans"/>
              <a:sym typeface="Open Sans"/>
            </a:endParaRPr>
          </a:p>
        </p:txBody>
      </p:sp>
      <p:sp>
        <p:nvSpPr>
          <p:cNvPr id="317" name="Google Shape;317;p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Clr>
                <a:srgbClr val="000000"/>
              </a:buClr>
              <a:buSzPts val="900"/>
              <a:buFont typeface="Arial"/>
              <a:buNone/>
            </a:pPr>
            <a:fld id="{00000000-1234-1234-1234-123412341234}" type="slidenum">
              <a:rPr lang="en"/>
              <a:t>14</a:t>
            </a:fld>
            <a:endParaRPr/>
          </a:p>
        </p:txBody>
      </p:sp>
      <p:sp>
        <p:nvSpPr>
          <p:cNvPr id="318" name="Google Shape;318;p39"/>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19" name="Google Shape;319;p39"/>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0" name="Google Shape;320;p39"/>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1" name="Google Shape;321;p39"/>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22" name="Google Shape;322;p39"/>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graphicFrame>
        <p:nvGraphicFramePr>
          <p:cNvPr id="323" name="Google Shape;323;p39"/>
          <p:cNvGraphicFramePr/>
          <p:nvPr/>
        </p:nvGraphicFramePr>
        <p:xfrm>
          <a:off x="1293280" y="682402"/>
          <a:ext cx="3000000" cy="3000000"/>
        </p:xfrm>
        <a:graphic>
          <a:graphicData uri="http://schemas.openxmlformats.org/drawingml/2006/table">
            <a:tbl>
              <a:tblPr>
                <a:noFill/>
                <a:tableStyleId>{CDE8448B-2F4E-448D-A25C-A4C34A121B3E}</a:tableStyleId>
              </a:tblPr>
              <a:tblGrid>
                <a:gridCol w="498025">
                  <a:extLst>
                    <a:ext uri="{9D8B030D-6E8A-4147-A177-3AD203B41FA5}">
                      <a16:colId xmlns:a16="http://schemas.microsoft.com/office/drawing/2014/main" val="20000"/>
                    </a:ext>
                  </a:extLst>
                </a:gridCol>
                <a:gridCol w="650275">
                  <a:extLst>
                    <a:ext uri="{9D8B030D-6E8A-4147-A177-3AD203B41FA5}">
                      <a16:colId xmlns:a16="http://schemas.microsoft.com/office/drawing/2014/main" val="20001"/>
                    </a:ext>
                  </a:extLst>
                </a:gridCol>
                <a:gridCol w="650275">
                  <a:extLst>
                    <a:ext uri="{9D8B030D-6E8A-4147-A177-3AD203B41FA5}">
                      <a16:colId xmlns:a16="http://schemas.microsoft.com/office/drawing/2014/main" val="20002"/>
                    </a:ext>
                  </a:extLst>
                </a:gridCol>
                <a:gridCol w="650275">
                  <a:extLst>
                    <a:ext uri="{9D8B030D-6E8A-4147-A177-3AD203B41FA5}">
                      <a16:colId xmlns:a16="http://schemas.microsoft.com/office/drawing/2014/main" val="20003"/>
                    </a:ext>
                  </a:extLst>
                </a:gridCol>
                <a:gridCol w="650275">
                  <a:extLst>
                    <a:ext uri="{9D8B030D-6E8A-4147-A177-3AD203B41FA5}">
                      <a16:colId xmlns:a16="http://schemas.microsoft.com/office/drawing/2014/main" val="20004"/>
                    </a:ext>
                  </a:extLst>
                </a:gridCol>
                <a:gridCol w="650275">
                  <a:extLst>
                    <a:ext uri="{9D8B030D-6E8A-4147-A177-3AD203B41FA5}">
                      <a16:colId xmlns:a16="http://schemas.microsoft.com/office/drawing/2014/main" val="20005"/>
                    </a:ext>
                  </a:extLst>
                </a:gridCol>
                <a:gridCol w="650275">
                  <a:extLst>
                    <a:ext uri="{9D8B030D-6E8A-4147-A177-3AD203B41FA5}">
                      <a16:colId xmlns:a16="http://schemas.microsoft.com/office/drawing/2014/main" val="20006"/>
                    </a:ext>
                  </a:extLst>
                </a:gridCol>
                <a:gridCol w="650275">
                  <a:extLst>
                    <a:ext uri="{9D8B030D-6E8A-4147-A177-3AD203B41FA5}">
                      <a16:colId xmlns:a16="http://schemas.microsoft.com/office/drawing/2014/main" val="20007"/>
                    </a:ext>
                  </a:extLst>
                </a:gridCol>
                <a:gridCol w="650275">
                  <a:extLst>
                    <a:ext uri="{9D8B030D-6E8A-4147-A177-3AD203B41FA5}">
                      <a16:colId xmlns:a16="http://schemas.microsoft.com/office/drawing/2014/main" val="20008"/>
                    </a:ext>
                  </a:extLst>
                </a:gridCol>
                <a:gridCol w="650275">
                  <a:extLst>
                    <a:ext uri="{9D8B030D-6E8A-4147-A177-3AD203B41FA5}">
                      <a16:colId xmlns:a16="http://schemas.microsoft.com/office/drawing/2014/main" val="20009"/>
                    </a:ext>
                  </a:extLst>
                </a:gridCol>
                <a:gridCol w="650275">
                  <a:extLst>
                    <a:ext uri="{9D8B030D-6E8A-4147-A177-3AD203B41FA5}">
                      <a16:colId xmlns:a16="http://schemas.microsoft.com/office/drawing/2014/main" val="20010"/>
                    </a:ext>
                  </a:extLst>
                </a:gridCol>
                <a:gridCol w="650275">
                  <a:extLst>
                    <a:ext uri="{9D8B030D-6E8A-4147-A177-3AD203B41FA5}">
                      <a16:colId xmlns:a16="http://schemas.microsoft.com/office/drawing/2014/main" val="20011"/>
                    </a:ext>
                  </a:extLst>
                </a:gridCol>
              </a:tblGrid>
              <a:tr h="163525">
                <a:tc rowSpan="25">
                  <a:txBody>
                    <a:bodyPr/>
                    <a:lstStyle/>
                    <a:p>
                      <a:pPr marL="0" marR="0" lvl="0" indent="0" algn="l" rtl="0">
                        <a:lnSpc>
                          <a:spcPct val="100000"/>
                        </a:lnSpc>
                        <a:spcBef>
                          <a:spcPts val="0"/>
                        </a:spcBef>
                        <a:spcAft>
                          <a:spcPts val="0"/>
                        </a:spcAft>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gridSpan="10">
                  <a:txBody>
                    <a:bodyPr/>
                    <a:lstStyle/>
                    <a:p>
                      <a:pPr marL="0" marR="0" lvl="0" indent="0" algn="ctr" rtl="0">
                        <a:lnSpc>
                          <a:spcPct val="100000"/>
                        </a:lnSpc>
                        <a:spcBef>
                          <a:spcPts val="0"/>
                        </a:spcBef>
                        <a:spcAft>
                          <a:spcPts val="0"/>
                        </a:spcAft>
                        <a:buNone/>
                      </a:pPr>
                      <a:r>
                        <a:rPr lang="en" sz="1000">
                          <a:solidFill>
                            <a:schemeClr val="accent4"/>
                          </a:solidFill>
                          <a:latin typeface="Open Sans"/>
                          <a:ea typeface="Open Sans"/>
                          <a:cs typeface="Open Sans"/>
                          <a:sym typeface="Open Sans"/>
                        </a:rPr>
                        <a:t>Current Sales Margins</a:t>
                      </a:r>
                      <a:endParaRPr sz="100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6352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15%</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20%</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25%</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30%</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35%</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40%</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45%</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50%</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55%</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accent4"/>
                          </a:solidFill>
                          <a:latin typeface="Open Sans"/>
                          <a:ea typeface="Open Sans"/>
                          <a:cs typeface="Open Sans"/>
                          <a:sym typeface="Open Sans"/>
                        </a:rPr>
                        <a:t>60%</a:t>
                      </a:r>
                      <a:endParaRPr sz="1000" i="0" u="none" strike="noStrike" cap="none">
                        <a:solidFill>
                          <a:schemeClr val="accent4"/>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1"/>
                  </a:ext>
                </a:extLst>
              </a:tr>
              <a:tr h="160000">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6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2"/>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0.0%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3"/>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4"/>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2%</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5"/>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3%</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6"/>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4%</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7"/>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5%</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8"/>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6%</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09"/>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7%</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0"/>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8%</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1"/>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9%</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2"/>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3"/>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12%</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4"/>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14%</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1400%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233%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127%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5"/>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16%</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1600%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178%</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114%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84%</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6"/>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18%</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82%</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56%</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49%</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7"/>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20%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133%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8"/>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25%</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125%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71%</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19"/>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30%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600%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120%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20"/>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35%</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700%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233%</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175%</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140%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21"/>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40%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800%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267%</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200%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22"/>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45%</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900%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450%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300%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23"/>
                  </a:ext>
                </a:extLst>
              </a:tr>
              <a:tr h="163525">
                <a:tc vMerge="1">
                  <a:txBody>
                    <a:bodyPr/>
                    <a:lstStyle/>
                    <a:p>
                      <a:endParaRPr lang="en-US"/>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000" u="none" strike="noStrike" cap="none">
                          <a:solidFill>
                            <a:srgbClr val="00FFFF"/>
                          </a:solidFill>
                          <a:latin typeface="Open Sans"/>
                          <a:ea typeface="Open Sans"/>
                          <a:cs typeface="Open Sans"/>
                          <a:sym typeface="Open Sans"/>
                        </a:rPr>
                        <a:t>50%</a:t>
                      </a:r>
                      <a:endParaRPr sz="1000" i="0" u="none" strike="noStrike" cap="none">
                        <a:solidFill>
                          <a:srgbClr val="00FFFF"/>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1000%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tc>
                  <a:txBody>
                    <a:bodyPr/>
                    <a:lstStyle/>
                    <a:p>
                      <a:pPr marL="0" marR="0" lvl="0" indent="0" algn="r" rtl="0">
                        <a:lnSpc>
                          <a:spcPct val="100000"/>
                        </a:lnSpc>
                        <a:spcBef>
                          <a:spcPts val="0"/>
                        </a:spcBef>
                        <a:spcAft>
                          <a:spcPts val="0"/>
                        </a:spcAft>
                        <a:buClr>
                          <a:srgbClr val="000000"/>
                        </a:buClr>
                        <a:buSzPts val="1100"/>
                        <a:buFont typeface="Arial"/>
                        <a:buNone/>
                      </a:pPr>
                      <a:r>
                        <a:rPr lang="en" sz="1000" u="none" strike="noStrike" cap="none">
                          <a:solidFill>
                            <a:schemeClr val="lt1"/>
                          </a:solidFill>
                          <a:latin typeface="Open Sans"/>
                          <a:ea typeface="Open Sans"/>
                          <a:cs typeface="Open Sans"/>
                          <a:sym typeface="Open Sans"/>
                        </a:rPr>
                        <a:t>500%</a:t>
                      </a:r>
                      <a:endParaRPr sz="1000" i="0" u="none" strike="noStrike" cap="none">
                        <a:solidFill>
                          <a:schemeClr val="lt1"/>
                        </a:solidFill>
                        <a:latin typeface="Open Sans"/>
                        <a:ea typeface="Open Sans"/>
                        <a:cs typeface="Open Sans"/>
                        <a:sym typeface="Open Sans"/>
                      </a:endParaRPr>
                    </a:p>
                  </a:txBody>
                  <a:tcPr marL="4925" marR="4925" marT="4925" marB="0" anchor="b">
                    <a:solidFill>
                      <a:srgbClr val="434343"/>
                    </a:solidFill>
                  </a:tcPr>
                </a:tc>
                <a:extLst>
                  <a:ext uri="{0D108BD9-81ED-4DB2-BD59-A6C34878D82A}">
                    <a16:rowId xmlns:a16="http://schemas.microsoft.com/office/drawing/2014/main" val="10024"/>
                  </a:ext>
                </a:extLst>
              </a:tr>
            </a:tbl>
          </a:graphicData>
        </a:graphic>
      </p:graphicFrame>
      <p:sp>
        <p:nvSpPr>
          <p:cNvPr id="324" name="Google Shape;324;p39"/>
          <p:cNvSpPr txBox="1"/>
          <p:nvPr/>
        </p:nvSpPr>
        <p:spPr>
          <a:xfrm rot="-5400000">
            <a:off x="356325" y="2511544"/>
            <a:ext cx="2367600" cy="426300"/>
          </a:xfrm>
          <a:prstGeom prst="rect">
            <a:avLst/>
          </a:prstGeom>
          <a:noFill/>
          <a:ln>
            <a:noFill/>
          </a:ln>
        </p:spPr>
        <p:txBody>
          <a:bodyPr spcFirstLastPara="1" wrap="square" lIns="68575" tIns="34275" rIns="68575" bIns="34275" anchor="ctr" anchorCtr="0">
            <a:noAutofit/>
          </a:bodyPr>
          <a:lstStyle/>
          <a:p>
            <a:pPr marL="0" marR="0" lvl="0" indent="0" algn="ctr" rtl="0">
              <a:lnSpc>
                <a:spcPct val="70000"/>
              </a:lnSpc>
              <a:spcBef>
                <a:spcPts val="0"/>
              </a:spcBef>
              <a:spcAft>
                <a:spcPts val="0"/>
              </a:spcAft>
              <a:buClr>
                <a:srgbClr val="F4B081"/>
              </a:buClr>
              <a:buSzPts val="800"/>
              <a:buFont typeface="Architects Daughter"/>
              <a:buNone/>
            </a:pPr>
            <a:r>
              <a:rPr lang="en" sz="1400" b="1" i="0" u="none" strike="noStrike" cap="none">
                <a:solidFill>
                  <a:srgbClr val="00FFFF"/>
                </a:solidFill>
                <a:latin typeface="Open Sans"/>
                <a:ea typeface="Open Sans"/>
                <a:cs typeface="Open Sans"/>
                <a:sym typeface="Open Sans"/>
              </a:rPr>
              <a:t>Price Reduced By</a:t>
            </a:r>
            <a:endParaRPr sz="1400" b="1" i="0" u="none" strike="noStrike" cap="none">
              <a:solidFill>
                <a:srgbClr val="00FFFF"/>
              </a:solidFill>
              <a:latin typeface="Open Sans"/>
              <a:ea typeface="Open Sans"/>
              <a:cs typeface="Open Sans"/>
              <a:sym typeface="Open Sans"/>
            </a:endParaRPr>
          </a:p>
        </p:txBody>
      </p:sp>
      <p:sp>
        <p:nvSpPr>
          <p:cNvPr id="325" name="Google Shape;325;p39"/>
          <p:cNvSpPr txBox="1"/>
          <p:nvPr/>
        </p:nvSpPr>
        <p:spPr>
          <a:xfrm>
            <a:off x="170025" y="139300"/>
            <a:ext cx="2199300" cy="4989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9CC2E5"/>
              </a:buClr>
              <a:buSzPts val="2400"/>
              <a:buFont typeface="Architects Daughter"/>
              <a:buNone/>
            </a:pPr>
            <a:r>
              <a:rPr lang="en" sz="2400" b="1" i="0" u="none" strike="noStrike" cap="none">
                <a:solidFill>
                  <a:srgbClr val="002B64"/>
                </a:solidFill>
                <a:latin typeface="Open Sans"/>
                <a:ea typeface="Open Sans"/>
                <a:cs typeface="Open Sans"/>
                <a:sym typeface="Open Sans"/>
              </a:rPr>
              <a:t>Discounting</a:t>
            </a:r>
            <a:endParaRPr sz="1700" b="1" i="0" u="none" strike="noStrike" cap="none">
              <a:solidFill>
                <a:srgbClr val="002B64"/>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cxnSp>
        <p:nvCxnSpPr>
          <p:cNvPr id="330" name="Google Shape;330;p40"/>
          <p:cNvCxnSpPr>
            <a:endCxn id="331" idx="0"/>
          </p:cNvCxnSpPr>
          <p:nvPr/>
        </p:nvCxnSpPr>
        <p:spPr>
          <a:xfrm>
            <a:off x="2517975" y="2967796"/>
            <a:ext cx="1345800" cy="4200"/>
          </a:xfrm>
          <a:prstGeom prst="straightConnector1">
            <a:avLst/>
          </a:prstGeom>
          <a:noFill/>
          <a:ln w="38100" cap="flat" cmpd="sng">
            <a:solidFill>
              <a:srgbClr val="F4B081"/>
            </a:solidFill>
            <a:prstDash val="solid"/>
            <a:miter lim="800000"/>
            <a:headEnd type="oval" w="med" len="med"/>
            <a:tailEnd type="none" w="sm" len="sm"/>
          </a:ln>
        </p:spPr>
      </p:cxnSp>
      <p:cxnSp>
        <p:nvCxnSpPr>
          <p:cNvPr id="332" name="Google Shape;332;p40"/>
          <p:cNvCxnSpPr>
            <a:endCxn id="333" idx="0"/>
          </p:cNvCxnSpPr>
          <p:nvPr/>
        </p:nvCxnSpPr>
        <p:spPr>
          <a:xfrm flipH="1">
            <a:off x="5282927" y="2966300"/>
            <a:ext cx="1343100" cy="5700"/>
          </a:xfrm>
          <a:prstGeom prst="straightConnector1">
            <a:avLst/>
          </a:prstGeom>
          <a:noFill/>
          <a:ln w="38100" cap="flat" cmpd="sng">
            <a:solidFill>
              <a:schemeClr val="accent1"/>
            </a:solidFill>
            <a:prstDash val="solid"/>
            <a:miter lim="800000"/>
            <a:headEnd type="oval" w="med" len="med"/>
            <a:tailEnd type="none" w="sm" len="sm"/>
          </a:ln>
        </p:spPr>
      </p:cxnSp>
      <p:sp>
        <p:nvSpPr>
          <p:cNvPr id="334" name="Google Shape;334;p40"/>
          <p:cNvSpPr/>
          <p:nvPr/>
        </p:nvSpPr>
        <p:spPr>
          <a:xfrm>
            <a:off x="5247867" y="1728854"/>
            <a:ext cx="1378188" cy="185922"/>
          </a:xfrm>
          <a:custGeom>
            <a:avLst/>
            <a:gdLst/>
            <a:ahLst/>
            <a:cxnLst/>
            <a:rect l="l" t="t" r="r" b="b"/>
            <a:pathLst>
              <a:path w="21600" h="21600" extrusionOk="0">
                <a:moveTo>
                  <a:pt x="0" y="21600"/>
                </a:moveTo>
                <a:lnTo>
                  <a:pt x="2914" y="0"/>
                </a:lnTo>
                <a:lnTo>
                  <a:pt x="21600" y="0"/>
                </a:lnTo>
              </a:path>
            </a:pathLst>
          </a:custGeom>
          <a:noFill/>
          <a:ln w="38100" cap="flat" cmpd="sng">
            <a:solidFill>
              <a:srgbClr val="92D05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5" name="Google Shape;335;p40"/>
          <p:cNvSpPr/>
          <p:nvPr/>
        </p:nvSpPr>
        <p:spPr>
          <a:xfrm rot="10800000" flipH="1">
            <a:off x="5247867" y="4070565"/>
            <a:ext cx="1378188" cy="185922"/>
          </a:xfrm>
          <a:custGeom>
            <a:avLst/>
            <a:gdLst/>
            <a:ahLst/>
            <a:cxnLst/>
            <a:rect l="l" t="t" r="r" b="b"/>
            <a:pathLst>
              <a:path w="21600" h="21600" extrusionOk="0">
                <a:moveTo>
                  <a:pt x="0" y="21600"/>
                </a:moveTo>
                <a:lnTo>
                  <a:pt x="2914" y="0"/>
                </a:lnTo>
                <a:lnTo>
                  <a:pt x="21600" y="0"/>
                </a:lnTo>
              </a:path>
            </a:pathLst>
          </a:custGeom>
          <a:noFill/>
          <a:ln w="38100" cap="flat" cmpd="sng">
            <a:solidFill>
              <a:srgbClr val="00B0F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6" name="Google Shape;336;p40"/>
          <p:cNvSpPr/>
          <p:nvPr/>
        </p:nvSpPr>
        <p:spPr>
          <a:xfrm>
            <a:off x="2517975" y="1728854"/>
            <a:ext cx="1378188" cy="185922"/>
          </a:xfrm>
          <a:custGeom>
            <a:avLst/>
            <a:gdLst/>
            <a:ahLst/>
            <a:cxnLst/>
            <a:rect l="l" t="t" r="r" b="b"/>
            <a:pathLst>
              <a:path w="21600" h="21600" extrusionOk="0">
                <a:moveTo>
                  <a:pt x="21600" y="21600"/>
                </a:moveTo>
                <a:lnTo>
                  <a:pt x="18686" y="0"/>
                </a:lnTo>
                <a:lnTo>
                  <a:pt x="0" y="0"/>
                </a:lnTo>
              </a:path>
            </a:pathLst>
          </a:custGeom>
          <a:noFill/>
          <a:ln w="38100" cap="flat" cmpd="sng">
            <a:solidFill>
              <a:srgbClr val="00B050"/>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7" name="Google Shape;337;p40"/>
          <p:cNvSpPr/>
          <p:nvPr/>
        </p:nvSpPr>
        <p:spPr>
          <a:xfrm>
            <a:off x="2517975" y="4070577"/>
            <a:ext cx="1378188" cy="185922"/>
          </a:xfrm>
          <a:custGeom>
            <a:avLst/>
            <a:gdLst/>
            <a:ahLst/>
            <a:cxnLst/>
            <a:rect l="l" t="t" r="r" b="b"/>
            <a:pathLst>
              <a:path w="21600" h="21600" extrusionOk="0">
                <a:moveTo>
                  <a:pt x="21600" y="0"/>
                </a:moveTo>
                <a:lnTo>
                  <a:pt x="18686" y="21600"/>
                </a:lnTo>
                <a:lnTo>
                  <a:pt x="0" y="21600"/>
                </a:lnTo>
              </a:path>
            </a:pathLst>
          </a:custGeom>
          <a:noFill/>
          <a:ln w="38100" cap="flat" cmpd="sng">
            <a:solidFill>
              <a:schemeClr val="accent2"/>
            </a:solidFill>
            <a:prstDash val="solid"/>
            <a:miter lim="400000"/>
            <a:headEnd type="none" w="sm" len="sm"/>
            <a:tailEnd type="oval" w="med" len="med"/>
          </a:ln>
        </p:spPr>
        <p:txBody>
          <a:bodyPr spcFirstLastPara="1" wrap="square" lIns="38075" tIns="38075" rIns="38075" bIns="38075" anchor="ctr"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8" name="Google Shape;338;p40"/>
          <p:cNvSpPr/>
          <p:nvPr/>
        </p:nvSpPr>
        <p:spPr>
          <a:xfrm>
            <a:off x="3148805" y="1335413"/>
            <a:ext cx="1422630" cy="1643004"/>
          </a:xfrm>
          <a:custGeom>
            <a:avLst/>
            <a:gdLst/>
            <a:ahLst/>
            <a:cxnLst/>
            <a:rect l="l" t="t" r="r" b="b"/>
            <a:pathLst>
              <a:path w="21600" h="21600" extrusionOk="0">
                <a:moveTo>
                  <a:pt x="21600" y="0"/>
                </a:moveTo>
                <a:lnTo>
                  <a:pt x="0" y="10802"/>
                </a:lnTo>
                <a:lnTo>
                  <a:pt x="21600" y="21600"/>
                </a:lnTo>
                <a:lnTo>
                  <a:pt x="21600" y="0"/>
                </a:lnTo>
                <a:close/>
              </a:path>
            </a:pathLst>
          </a:custGeom>
          <a:solidFill>
            <a:srgbClr val="00B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1" name="Google Shape;331;p40"/>
          <p:cNvSpPr/>
          <p:nvPr/>
        </p:nvSpPr>
        <p:spPr>
          <a:xfrm>
            <a:off x="3152305" y="2150740"/>
            <a:ext cx="1422900" cy="1642842"/>
          </a:xfrm>
          <a:custGeom>
            <a:avLst/>
            <a:gdLst/>
            <a:ahLst/>
            <a:cxnLst/>
            <a:rect l="l" t="t" r="r" b="b"/>
            <a:pathLst>
              <a:path w="21600" h="21600" extrusionOk="0">
                <a:moveTo>
                  <a:pt x="0" y="0"/>
                </a:moveTo>
                <a:lnTo>
                  <a:pt x="4" y="21600"/>
                </a:lnTo>
                <a:lnTo>
                  <a:pt x="21600" y="10801"/>
                </a:lnTo>
                <a:lnTo>
                  <a:pt x="0" y="0"/>
                </a:lnTo>
                <a:close/>
              </a:path>
            </a:pathLst>
          </a:custGeom>
          <a:solidFill>
            <a:srgbClr val="F4B08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9" name="Google Shape;339;p40"/>
          <p:cNvSpPr/>
          <p:nvPr/>
        </p:nvSpPr>
        <p:spPr>
          <a:xfrm>
            <a:off x="3148805" y="2969374"/>
            <a:ext cx="1422630" cy="1643004"/>
          </a:xfrm>
          <a:custGeom>
            <a:avLst/>
            <a:gdLst/>
            <a:ahLst/>
            <a:cxnLst/>
            <a:rect l="l" t="t" r="r" b="b"/>
            <a:pathLst>
              <a:path w="21600" h="21600" extrusionOk="0">
                <a:moveTo>
                  <a:pt x="21600" y="21600"/>
                </a:moveTo>
                <a:lnTo>
                  <a:pt x="0" y="10798"/>
                </a:lnTo>
                <a:lnTo>
                  <a:pt x="21600" y="0"/>
                </a:lnTo>
                <a:lnTo>
                  <a:pt x="21600" y="21600"/>
                </a:lnTo>
                <a:close/>
              </a:path>
            </a:pathLst>
          </a:custGeom>
          <a:solidFill>
            <a:schemeClr val="accent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40" name="Google Shape;340;p40"/>
          <p:cNvSpPr/>
          <p:nvPr/>
        </p:nvSpPr>
        <p:spPr>
          <a:xfrm>
            <a:off x="4575176" y="1335413"/>
            <a:ext cx="1422630" cy="1643004"/>
          </a:xfrm>
          <a:custGeom>
            <a:avLst/>
            <a:gdLst/>
            <a:ahLst/>
            <a:cxnLst/>
            <a:rect l="l" t="t" r="r" b="b"/>
            <a:pathLst>
              <a:path w="21600" h="21600" extrusionOk="0">
                <a:moveTo>
                  <a:pt x="0" y="0"/>
                </a:moveTo>
                <a:lnTo>
                  <a:pt x="21600" y="10802"/>
                </a:lnTo>
                <a:lnTo>
                  <a:pt x="0" y="21600"/>
                </a:lnTo>
                <a:lnTo>
                  <a:pt x="0" y="0"/>
                </a:lnTo>
                <a:close/>
              </a:path>
            </a:pathLst>
          </a:custGeom>
          <a:solidFill>
            <a:srgbClr val="92D05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33" name="Google Shape;333;p40"/>
          <p:cNvSpPr/>
          <p:nvPr/>
        </p:nvSpPr>
        <p:spPr>
          <a:xfrm>
            <a:off x="4571431" y="2150740"/>
            <a:ext cx="1422900" cy="1642842"/>
          </a:xfrm>
          <a:custGeom>
            <a:avLst/>
            <a:gdLst/>
            <a:ahLst/>
            <a:cxnLst/>
            <a:rect l="l" t="t" r="r" b="b"/>
            <a:pathLst>
              <a:path w="21600" h="21600" extrusionOk="0">
                <a:moveTo>
                  <a:pt x="21600" y="0"/>
                </a:moveTo>
                <a:lnTo>
                  <a:pt x="21596" y="21600"/>
                </a:lnTo>
                <a:lnTo>
                  <a:pt x="0" y="10801"/>
                </a:lnTo>
                <a:lnTo>
                  <a:pt x="21600" y="0"/>
                </a:lnTo>
                <a:close/>
              </a:path>
            </a:pathLst>
          </a:custGeom>
          <a:solidFill>
            <a:schemeClr val="accent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41" name="Google Shape;341;p40"/>
          <p:cNvSpPr/>
          <p:nvPr/>
        </p:nvSpPr>
        <p:spPr>
          <a:xfrm>
            <a:off x="4575176" y="2969374"/>
            <a:ext cx="1422630" cy="1643004"/>
          </a:xfrm>
          <a:custGeom>
            <a:avLst/>
            <a:gdLst/>
            <a:ahLst/>
            <a:cxnLst/>
            <a:rect l="l" t="t" r="r" b="b"/>
            <a:pathLst>
              <a:path w="21600" h="21600" extrusionOk="0">
                <a:moveTo>
                  <a:pt x="0" y="21600"/>
                </a:moveTo>
                <a:lnTo>
                  <a:pt x="21600" y="10798"/>
                </a:lnTo>
                <a:lnTo>
                  <a:pt x="0" y="0"/>
                </a:lnTo>
                <a:lnTo>
                  <a:pt x="0" y="21600"/>
                </a:lnTo>
                <a:close/>
              </a:path>
            </a:pathLst>
          </a:custGeom>
          <a:solidFill>
            <a:srgbClr val="00B0F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42" name="Google Shape;342;p40"/>
          <p:cNvSpPr/>
          <p:nvPr/>
        </p:nvSpPr>
        <p:spPr>
          <a:xfrm>
            <a:off x="3859995" y="2156908"/>
            <a:ext cx="1422900" cy="1643004"/>
          </a:xfrm>
          <a:custGeom>
            <a:avLst/>
            <a:gdLst/>
            <a:ahLst/>
            <a:cxnLst/>
            <a:rect l="l" t="t" r="r" b="b"/>
            <a:pathLst>
              <a:path w="21600" h="21600" extrusionOk="0">
                <a:moveTo>
                  <a:pt x="10800" y="0"/>
                </a:moveTo>
                <a:lnTo>
                  <a:pt x="21600" y="5400"/>
                </a:lnTo>
                <a:lnTo>
                  <a:pt x="21600" y="16200"/>
                </a:lnTo>
                <a:lnTo>
                  <a:pt x="10800" y="21600"/>
                </a:lnTo>
                <a:lnTo>
                  <a:pt x="0" y="16200"/>
                </a:lnTo>
                <a:lnTo>
                  <a:pt x="0" y="5400"/>
                </a:lnTo>
                <a:close/>
              </a:path>
            </a:pathLst>
          </a:custGeom>
          <a:solidFill>
            <a:srgbClr val="FFFFFF">
              <a:alpha val="49800"/>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2700" b="0" i="0" u="none" strike="noStrike" cap="none">
              <a:solidFill>
                <a:schemeClr val="dk1"/>
              </a:solidFill>
              <a:latin typeface="Lato Light"/>
              <a:ea typeface="Lato Light"/>
              <a:cs typeface="Lato Light"/>
              <a:sym typeface="Lato Light"/>
            </a:endParaRPr>
          </a:p>
        </p:txBody>
      </p:sp>
      <p:sp>
        <p:nvSpPr>
          <p:cNvPr id="343" name="Google Shape;343;p40"/>
          <p:cNvSpPr txBox="1"/>
          <p:nvPr/>
        </p:nvSpPr>
        <p:spPr>
          <a:xfrm>
            <a:off x="6711324" y="1596399"/>
            <a:ext cx="1683000" cy="190500"/>
          </a:xfrm>
          <a:prstGeom prst="rect">
            <a:avLst/>
          </a:prstGeom>
          <a:noFill/>
          <a:ln>
            <a:noFill/>
          </a:ln>
        </p:spPr>
        <p:txBody>
          <a:bodyPr spcFirstLastPara="1" wrap="square" lIns="34275" tIns="17150" rIns="34275" bIns="17150" anchor="t" anchorCtr="0">
            <a:noAutofit/>
          </a:bodyPr>
          <a:lstStyle/>
          <a:p>
            <a:pPr marL="0" marR="0" lvl="0" indent="0" algn="l" rtl="0">
              <a:lnSpc>
                <a:spcPct val="145833"/>
              </a:lnSpc>
              <a:spcBef>
                <a:spcPts val="0"/>
              </a:spcBef>
              <a:spcAft>
                <a:spcPts val="0"/>
              </a:spcAft>
              <a:buClr>
                <a:srgbClr val="92D050"/>
              </a:buClr>
              <a:buSzPts val="900"/>
              <a:buFont typeface="Arial"/>
              <a:buNone/>
            </a:pPr>
            <a:r>
              <a:rPr lang="en" sz="900" i="0" u="none" strike="noStrike" cap="none">
                <a:solidFill>
                  <a:srgbClr val="92D050"/>
                </a:solidFill>
                <a:latin typeface="Open Sans"/>
                <a:ea typeface="Open Sans"/>
                <a:cs typeface="Open Sans"/>
                <a:sym typeface="Open Sans"/>
              </a:rPr>
              <a:t>Knowing What Matters.</a:t>
            </a:r>
            <a:endParaRPr sz="900" i="0" u="none" strike="noStrike" cap="none">
              <a:solidFill>
                <a:srgbClr val="92D050"/>
              </a:solidFill>
              <a:latin typeface="Open Sans"/>
              <a:ea typeface="Open Sans"/>
              <a:cs typeface="Open Sans"/>
              <a:sym typeface="Open Sans"/>
            </a:endParaRPr>
          </a:p>
        </p:txBody>
      </p:sp>
      <p:sp>
        <p:nvSpPr>
          <p:cNvPr id="344" name="Google Shape;344;p40"/>
          <p:cNvSpPr txBox="1"/>
          <p:nvPr/>
        </p:nvSpPr>
        <p:spPr>
          <a:xfrm>
            <a:off x="6715837" y="1354069"/>
            <a:ext cx="15078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i="0" u="none" strike="noStrike" cap="none">
                <a:solidFill>
                  <a:srgbClr val="92D050"/>
                </a:solidFill>
                <a:latin typeface="Poppins"/>
                <a:ea typeface="Poppins"/>
                <a:cs typeface="Poppins"/>
                <a:sym typeface="Poppins"/>
              </a:rPr>
              <a:t>Lite Data</a:t>
            </a:r>
            <a:endParaRPr sz="1100"/>
          </a:p>
        </p:txBody>
      </p:sp>
      <p:sp>
        <p:nvSpPr>
          <p:cNvPr id="345" name="Google Shape;345;p40"/>
          <p:cNvSpPr txBox="1"/>
          <p:nvPr/>
        </p:nvSpPr>
        <p:spPr>
          <a:xfrm>
            <a:off x="6711324" y="2823880"/>
            <a:ext cx="1683000" cy="379500"/>
          </a:xfrm>
          <a:prstGeom prst="rect">
            <a:avLst/>
          </a:prstGeom>
          <a:noFill/>
          <a:ln>
            <a:noFill/>
          </a:ln>
        </p:spPr>
        <p:txBody>
          <a:bodyPr spcFirstLastPara="1" wrap="square" lIns="34275" tIns="17150" rIns="34275" bIns="17150" anchor="t" anchorCtr="0">
            <a:noAutofit/>
          </a:bodyPr>
          <a:lstStyle/>
          <a:p>
            <a:pPr marL="0" marR="0" lvl="0" indent="0" algn="l" rtl="0">
              <a:lnSpc>
                <a:spcPct val="120000"/>
              </a:lnSpc>
              <a:spcBef>
                <a:spcPts val="0"/>
              </a:spcBef>
              <a:spcAft>
                <a:spcPts val="0"/>
              </a:spcAft>
              <a:buClr>
                <a:srgbClr val="0070C0"/>
              </a:buClr>
              <a:buSzPts val="900"/>
              <a:buFont typeface="Arial"/>
              <a:buNone/>
            </a:pPr>
            <a:r>
              <a:rPr lang="en" sz="900" u="none">
                <a:solidFill>
                  <a:srgbClr val="4A86E8"/>
                </a:solidFill>
                <a:latin typeface="Open Sans"/>
                <a:ea typeface="Open Sans"/>
                <a:cs typeface="Open Sans"/>
                <a:sym typeface="Open Sans"/>
              </a:rPr>
              <a:t>Who You Want to Speak to, </a:t>
            </a:r>
            <a:endParaRPr sz="1100">
              <a:solidFill>
                <a:srgbClr val="4A86E8"/>
              </a:solidFill>
              <a:latin typeface="Open Sans"/>
              <a:ea typeface="Open Sans"/>
              <a:cs typeface="Open Sans"/>
              <a:sym typeface="Open Sans"/>
            </a:endParaRPr>
          </a:p>
          <a:p>
            <a:pPr marL="0" marR="0" lvl="0" indent="0" algn="l" rtl="0">
              <a:lnSpc>
                <a:spcPct val="120000"/>
              </a:lnSpc>
              <a:spcBef>
                <a:spcPts val="200"/>
              </a:spcBef>
              <a:spcAft>
                <a:spcPts val="0"/>
              </a:spcAft>
              <a:buClr>
                <a:srgbClr val="0070C0"/>
              </a:buClr>
              <a:buSzPts val="900"/>
              <a:buFont typeface="Arial"/>
              <a:buNone/>
            </a:pPr>
            <a:r>
              <a:rPr lang="en" sz="900" u="none">
                <a:solidFill>
                  <a:srgbClr val="4A86E8"/>
                </a:solidFill>
                <a:latin typeface="Open Sans"/>
                <a:ea typeface="Open Sans"/>
                <a:cs typeface="Open Sans"/>
                <a:sym typeface="Open Sans"/>
              </a:rPr>
              <a:t>What You Want to Say.</a:t>
            </a:r>
            <a:endParaRPr sz="900" u="none">
              <a:solidFill>
                <a:srgbClr val="4A86E8"/>
              </a:solidFill>
              <a:latin typeface="Open Sans"/>
              <a:ea typeface="Open Sans"/>
              <a:cs typeface="Open Sans"/>
              <a:sym typeface="Open Sans"/>
            </a:endParaRPr>
          </a:p>
        </p:txBody>
      </p:sp>
      <p:sp>
        <p:nvSpPr>
          <p:cNvPr id="346" name="Google Shape;346;p40"/>
          <p:cNvSpPr txBox="1"/>
          <p:nvPr/>
        </p:nvSpPr>
        <p:spPr>
          <a:xfrm>
            <a:off x="6715839" y="2581556"/>
            <a:ext cx="16830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a:solidFill>
                  <a:schemeClr val="accent1"/>
                </a:solidFill>
                <a:latin typeface="Poppins"/>
                <a:ea typeface="Poppins"/>
                <a:cs typeface="Poppins"/>
                <a:sym typeface="Poppins"/>
              </a:rPr>
              <a:t>Lite Marketing</a:t>
            </a:r>
            <a:endParaRPr sz="1100"/>
          </a:p>
        </p:txBody>
      </p:sp>
      <p:sp>
        <p:nvSpPr>
          <p:cNvPr id="347" name="Google Shape;347;p40"/>
          <p:cNvSpPr txBox="1"/>
          <p:nvPr/>
        </p:nvSpPr>
        <p:spPr>
          <a:xfrm>
            <a:off x="6711324" y="4135503"/>
            <a:ext cx="1683000" cy="190500"/>
          </a:xfrm>
          <a:prstGeom prst="rect">
            <a:avLst/>
          </a:prstGeom>
          <a:noFill/>
          <a:ln>
            <a:noFill/>
          </a:ln>
        </p:spPr>
        <p:txBody>
          <a:bodyPr spcFirstLastPara="1" wrap="square" lIns="34275" tIns="17150" rIns="34275" bIns="17150" anchor="t" anchorCtr="0">
            <a:noAutofit/>
          </a:bodyPr>
          <a:lstStyle/>
          <a:p>
            <a:pPr marL="0" marR="0" lvl="0" indent="0" algn="l" rtl="0">
              <a:lnSpc>
                <a:spcPct val="145833"/>
              </a:lnSpc>
              <a:spcBef>
                <a:spcPts val="0"/>
              </a:spcBef>
              <a:spcAft>
                <a:spcPts val="0"/>
              </a:spcAft>
              <a:buClr>
                <a:srgbClr val="00B0F0"/>
              </a:buClr>
              <a:buSzPts val="900"/>
              <a:buFont typeface="Arial"/>
              <a:buNone/>
            </a:pPr>
            <a:r>
              <a:rPr lang="en" sz="900" u="none">
                <a:solidFill>
                  <a:srgbClr val="00B0F0"/>
                </a:solidFill>
                <a:latin typeface="Open Sans"/>
                <a:ea typeface="Open Sans"/>
                <a:cs typeface="Open Sans"/>
                <a:sym typeface="Open Sans"/>
              </a:rPr>
              <a:t>Winning Business</a:t>
            </a:r>
            <a:endParaRPr sz="900" u="none">
              <a:solidFill>
                <a:srgbClr val="00B0F0"/>
              </a:solidFill>
              <a:latin typeface="Open Sans"/>
              <a:ea typeface="Open Sans"/>
              <a:cs typeface="Open Sans"/>
              <a:sym typeface="Open Sans"/>
            </a:endParaRPr>
          </a:p>
        </p:txBody>
      </p:sp>
      <p:sp>
        <p:nvSpPr>
          <p:cNvPr id="348" name="Google Shape;348;p40"/>
          <p:cNvSpPr txBox="1"/>
          <p:nvPr/>
        </p:nvSpPr>
        <p:spPr>
          <a:xfrm>
            <a:off x="6715839" y="3893175"/>
            <a:ext cx="1281900" cy="254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200" b="1">
                <a:solidFill>
                  <a:srgbClr val="00B0F0"/>
                </a:solidFill>
                <a:latin typeface="Poppins"/>
                <a:ea typeface="Poppins"/>
                <a:cs typeface="Poppins"/>
                <a:sym typeface="Poppins"/>
              </a:rPr>
              <a:t>Lite Sales</a:t>
            </a:r>
            <a:endParaRPr sz="1100"/>
          </a:p>
        </p:txBody>
      </p:sp>
      <p:sp>
        <p:nvSpPr>
          <p:cNvPr id="349" name="Google Shape;349;p40"/>
          <p:cNvSpPr txBox="1"/>
          <p:nvPr/>
        </p:nvSpPr>
        <p:spPr>
          <a:xfrm>
            <a:off x="628424" y="1596400"/>
            <a:ext cx="1805400" cy="3636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rgbClr val="00B050"/>
              </a:buClr>
              <a:buSzPts val="900"/>
              <a:buFont typeface="Arial"/>
              <a:buNone/>
            </a:pPr>
            <a:r>
              <a:rPr lang="en" sz="900" u="none">
                <a:solidFill>
                  <a:srgbClr val="00B050"/>
                </a:solidFill>
                <a:latin typeface="Open Sans"/>
                <a:ea typeface="Open Sans"/>
                <a:cs typeface="Open Sans"/>
                <a:sym typeface="Open Sans"/>
              </a:rPr>
              <a:t>Aligning Owner Expectations with the Business Model</a:t>
            </a:r>
            <a:r>
              <a:rPr lang="en" sz="900" u="none">
                <a:solidFill>
                  <a:schemeClr val="dk2"/>
                </a:solidFill>
                <a:latin typeface="Open Sans"/>
                <a:ea typeface="Open Sans"/>
                <a:cs typeface="Open Sans"/>
                <a:sym typeface="Open Sans"/>
              </a:rPr>
              <a:t>.</a:t>
            </a:r>
            <a:endParaRPr sz="900" u="none">
              <a:solidFill>
                <a:schemeClr val="dk2"/>
              </a:solidFill>
              <a:latin typeface="Open Sans"/>
              <a:ea typeface="Open Sans"/>
              <a:cs typeface="Open Sans"/>
              <a:sym typeface="Open Sans"/>
            </a:endParaRPr>
          </a:p>
        </p:txBody>
      </p:sp>
      <p:sp>
        <p:nvSpPr>
          <p:cNvPr id="350" name="Google Shape;350;p40"/>
          <p:cNvSpPr txBox="1"/>
          <p:nvPr/>
        </p:nvSpPr>
        <p:spPr>
          <a:xfrm>
            <a:off x="929099" y="1354069"/>
            <a:ext cx="15078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rgbClr val="00B050"/>
                </a:solidFill>
                <a:latin typeface="Poppins"/>
                <a:ea typeface="Poppins"/>
                <a:cs typeface="Poppins"/>
                <a:sym typeface="Poppins"/>
              </a:rPr>
              <a:t>Lite Planning</a:t>
            </a:r>
            <a:endParaRPr sz="1100"/>
          </a:p>
        </p:txBody>
      </p:sp>
      <p:sp>
        <p:nvSpPr>
          <p:cNvPr id="351" name="Google Shape;351;p40"/>
          <p:cNvSpPr txBox="1"/>
          <p:nvPr/>
        </p:nvSpPr>
        <p:spPr>
          <a:xfrm>
            <a:off x="750835" y="2823880"/>
            <a:ext cx="1683000" cy="3915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rgbClr val="F4B081"/>
              </a:buClr>
              <a:buSzPts val="900"/>
              <a:buFont typeface="Arial"/>
              <a:buNone/>
            </a:pPr>
            <a:r>
              <a:rPr lang="en" sz="900" u="none">
                <a:solidFill>
                  <a:srgbClr val="E69138"/>
                </a:solidFill>
                <a:latin typeface="Open Sans"/>
                <a:ea typeface="Open Sans"/>
                <a:cs typeface="Open Sans"/>
                <a:sym typeface="Open Sans"/>
              </a:rPr>
              <a:t>Making Improvements, </a:t>
            </a:r>
            <a:endParaRPr sz="1100">
              <a:solidFill>
                <a:srgbClr val="E69138"/>
              </a:solidFill>
              <a:latin typeface="Open Sans"/>
              <a:ea typeface="Open Sans"/>
              <a:cs typeface="Open Sans"/>
              <a:sym typeface="Open Sans"/>
            </a:endParaRPr>
          </a:p>
          <a:p>
            <a:pPr marL="0" marR="0" lvl="0" indent="0" algn="r" rtl="0">
              <a:lnSpc>
                <a:spcPct val="145833"/>
              </a:lnSpc>
              <a:spcBef>
                <a:spcPts val="200"/>
              </a:spcBef>
              <a:spcAft>
                <a:spcPts val="0"/>
              </a:spcAft>
              <a:buClr>
                <a:srgbClr val="F4B081"/>
              </a:buClr>
              <a:buSzPts val="900"/>
              <a:buFont typeface="Arial"/>
              <a:buNone/>
            </a:pPr>
            <a:r>
              <a:rPr lang="en" sz="900" u="none">
                <a:solidFill>
                  <a:srgbClr val="E69138"/>
                </a:solidFill>
                <a:latin typeface="Open Sans"/>
                <a:ea typeface="Open Sans"/>
                <a:cs typeface="Open Sans"/>
                <a:sym typeface="Open Sans"/>
              </a:rPr>
              <a:t>Step by Step.</a:t>
            </a:r>
            <a:endParaRPr sz="900" u="none">
              <a:solidFill>
                <a:srgbClr val="E69138"/>
              </a:solidFill>
              <a:latin typeface="Open Sans"/>
              <a:ea typeface="Open Sans"/>
              <a:cs typeface="Open Sans"/>
              <a:sym typeface="Open Sans"/>
            </a:endParaRPr>
          </a:p>
        </p:txBody>
      </p:sp>
      <p:sp>
        <p:nvSpPr>
          <p:cNvPr id="352" name="Google Shape;352;p40"/>
          <p:cNvSpPr txBox="1"/>
          <p:nvPr/>
        </p:nvSpPr>
        <p:spPr>
          <a:xfrm>
            <a:off x="1013849" y="2581556"/>
            <a:ext cx="14229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rgbClr val="F4B081"/>
                </a:solidFill>
                <a:latin typeface="Poppins"/>
                <a:ea typeface="Poppins"/>
                <a:cs typeface="Poppins"/>
                <a:sym typeface="Poppins"/>
              </a:rPr>
              <a:t>Lite Process</a:t>
            </a:r>
            <a:endParaRPr sz="1100"/>
          </a:p>
        </p:txBody>
      </p:sp>
      <p:sp>
        <p:nvSpPr>
          <p:cNvPr id="353" name="Google Shape;353;p40"/>
          <p:cNvSpPr txBox="1"/>
          <p:nvPr/>
        </p:nvSpPr>
        <p:spPr>
          <a:xfrm>
            <a:off x="750835" y="4135503"/>
            <a:ext cx="1683000" cy="363600"/>
          </a:xfrm>
          <a:prstGeom prst="rect">
            <a:avLst/>
          </a:prstGeom>
          <a:noFill/>
          <a:ln>
            <a:noFill/>
          </a:ln>
        </p:spPr>
        <p:txBody>
          <a:bodyPr spcFirstLastPara="1" wrap="square" lIns="34275" tIns="17150" rIns="34275" bIns="17150" anchor="t" anchorCtr="0">
            <a:noAutofit/>
          </a:bodyPr>
          <a:lstStyle/>
          <a:p>
            <a:pPr marL="0" marR="0" lvl="0" indent="0" algn="r" rtl="0">
              <a:lnSpc>
                <a:spcPct val="145833"/>
              </a:lnSpc>
              <a:spcBef>
                <a:spcPts val="0"/>
              </a:spcBef>
              <a:spcAft>
                <a:spcPts val="0"/>
              </a:spcAft>
              <a:buClr>
                <a:schemeClr val="accent2"/>
              </a:buClr>
              <a:buSzPts val="900"/>
              <a:buFont typeface="Arial"/>
              <a:buNone/>
            </a:pPr>
            <a:r>
              <a:rPr lang="en" sz="900" u="none">
                <a:solidFill>
                  <a:srgbClr val="B45F06"/>
                </a:solidFill>
                <a:latin typeface="Open Sans"/>
                <a:ea typeface="Open Sans"/>
                <a:cs typeface="Open Sans"/>
                <a:sym typeface="Open Sans"/>
              </a:rPr>
              <a:t>Getting the Most Out of the People You’ve Got.</a:t>
            </a:r>
            <a:endParaRPr sz="900" u="none">
              <a:solidFill>
                <a:srgbClr val="B45F06"/>
              </a:solidFill>
              <a:latin typeface="Open Sans"/>
              <a:ea typeface="Open Sans"/>
              <a:cs typeface="Open Sans"/>
              <a:sym typeface="Open Sans"/>
            </a:endParaRPr>
          </a:p>
        </p:txBody>
      </p:sp>
      <p:sp>
        <p:nvSpPr>
          <p:cNvPr id="354" name="Google Shape;354;p40"/>
          <p:cNvSpPr txBox="1"/>
          <p:nvPr/>
        </p:nvSpPr>
        <p:spPr>
          <a:xfrm>
            <a:off x="953398" y="3893175"/>
            <a:ext cx="1483500" cy="254100"/>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r>
              <a:rPr lang="en" sz="1200" b="1">
                <a:solidFill>
                  <a:schemeClr val="accent2"/>
                </a:solidFill>
                <a:latin typeface="Poppins"/>
                <a:ea typeface="Poppins"/>
                <a:cs typeface="Poppins"/>
                <a:sym typeface="Poppins"/>
              </a:rPr>
              <a:t>Lite People</a:t>
            </a:r>
            <a:endParaRPr sz="1100"/>
          </a:p>
        </p:txBody>
      </p:sp>
      <p:sp>
        <p:nvSpPr>
          <p:cNvPr id="355" name="Google Shape;355;p40"/>
          <p:cNvSpPr/>
          <p:nvPr/>
        </p:nvSpPr>
        <p:spPr>
          <a:xfrm>
            <a:off x="49427" y="5004196"/>
            <a:ext cx="57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56" name="Google Shape;356;p40"/>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57" name="Google Shape;357;p40"/>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58" name="Google Shape;358;p40"/>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59" name="Google Shape;359;p40"/>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60" name="Google Shape;360;p40"/>
          <p:cNvSpPr txBox="1"/>
          <p:nvPr/>
        </p:nvSpPr>
        <p:spPr>
          <a:xfrm>
            <a:off x="135825" y="4604200"/>
            <a:ext cx="8839500" cy="3915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chemeClr val="lt1"/>
              </a:buClr>
              <a:buSzPts val="2400"/>
              <a:buFont typeface="Architects Daughter"/>
              <a:buNone/>
            </a:pPr>
            <a:r>
              <a:rPr lang="en" sz="2400" u="none">
                <a:solidFill>
                  <a:srgbClr val="002B64"/>
                </a:solidFill>
                <a:latin typeface="Open Sans"/>
                <a:ea typeface="Open Sans"/>
                <a:cs typeface="Open Sans"/>
                <a:sym typeface="Open Sans"/>
              </a:rPr>
              <a:t>The Lite Fundamentals Components</a:t>
            </a:r>
            <a:endParaRPr sz="2400" u="none">
              <a:solidFill>
                <a:srgbClr val="002B64"/>
              </a:solidFill>
              <a:latin typeface="Open Sans"/>
              <a:ea typeface="Open Sans"/>
              <a:cs typeface="Open Sans"/>
              <a:sym typeface="Open Sans"/>
            </a:endParaRPr>
          </a:p>
        </p:txBody>
      </p:sp>
      <p:sp>
        <p:nvSpPr>
          <p:cNvPr id="361" name="Google Shape;361;p40"/>
          <p:cNvSpPr/>
          <p:nvPr/>
        </p:nvSpPr>
        <p:spPr>
          <a:xfrm rot="-1841210">
            <a:off x="3627225" y="1157337"/>
            <a:ext cx="1075154" cy="22288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a:solidFill>
                  <a:schemeClr val="lt1"/>
                </a:solidFill>
                <a:latin typeface="Poppins"/>
                <a:ea typeface="Poppins"/>
                <a:cs typeface="Poppins"/>
                <a:sym typeface="Poppins"/>
              </a:rPr>
              <a:t>Get Organised</a:t>
            </a:r>
            <a:endParaRPr sz="1100"/>
          </a:p>
        </p:txBody>
      </p:sp>
      <p:sp>
        <p:nvSpPr>
          <p:cNvPr id="362" name="Google Shape;362;p40"/>
          <p:cNvSpPr/>
          <p:nvPr/>
        </p:nvSpPr>
        <p:spPr>
          <a:xfrm rot="1822123">
            <a:off x="4445871" y="1165707"/>
            <a:ext cx="1079985" cy="222942"/>
          </a:xfrm>
          <a:prstGeom prst="rect">
            <a:avLst/>
          </a:prstGeom>
          <a:solidFill>
            <a:schemeClr val="accent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Organised</a:t>
            </a:r>
            <a:endParaRPr sz="1100"/>
          </a:p>
        </p:txBody>
      </p:sp>
      <p:sp>
        <p:nvSpPr>
          <p:cNvPr id="363" name="Google Shape;363;p40"/>
          <p:cNvSpPr/>
          <p:nvPr/>
        </p:nvSpPr>
        <p:spPr>
          <a:xfrm rot="-5400000">
            <a:off x="5693436" y="3347997"/>
            <a:ext cx="1080300" cy="222900"/>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the Job</a:t>
            </a:r>
            <a:endParaRPr sz="1100"/>
          </a:p>
        </p:txBody>
      </p:sp>
      <p:sp>
        <p:nvSpPr>
          <p:cNvPr id="364" name="Google Shape;364;p40"/>
          <p:cNvSpPr/>
          <p:nvPr/>
        </p:nvSpPr>
        <p:spPr>
          <a:xfrm rot="-1784811">
            <a:off x="5282701" y="4068403"/>
            <a:ext cx="1080479" cy="222928"/>
          </a:xfrm>
          <a:prstGeom prst="rect">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Get the Job</a:t>
            </a:r>
            <a:endParaRPr sz="1100"/>
          </a:p>
        </p:txBody>
      </p:sp>
      <p:sp>
        <p:nvSpPr>
          <p:cNvPr id="365" name="Google Shape;365;p40"/>
          <p:cNvSpPr/>
          <p:nvPr/>
        </p:nvSpPr>
        <p:spPr>
          <a:xfrm rot="1792982">
            <a:off x="2781547" y="4062023"/>
            <a:ext cx="1080222" cy="222817"/>
          </a:xfrm>
          <a:prstGeom prst="rect">
            <a:avLst/>
          </a:prstGeom>
          <a:solidFill>
            <a:srgbClr val="C55A1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Do the Job</a:t>
            </a:r>
            <a:endParaRPr sz="1100"/>
          </a:p>
        </p:txBody>
      </p:sp>
      <p:sp>
        <p:nvSpPr>
          <p:cNvPr id="366" name="Google Shape;366;p40"/>
          <p:cNvSpPr/>
          <p:nvPr/>
        </p:nvSpPr>
        <p:spPr>
          <a:xfrm rot="5400000">
            <a:off x="2372796" y="3350194"/>
            <a:ext cx="1080300" cy="222900"/>
          </a:xfrm>
          <a:prstGeom prst="rect">
            <a:avLst/>
          </a:prstGeom>
          <a:solidFill>
            <a:srgbClr val="C55A1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a:solidFill>
                  <a:schemeClr val="lt1"/>
                </a:solidFill>
                <a:latin typeface="Poppins"/>
                <a:ea typeface="Poppins"/>
                <a:cs typeface="Poppins"/>
                <a:sym typeface="Poppins"/>
              </a:rPr>
              <a:t>Do the Job</a:t>
            </a:r>
            <a:endParaRPr sz="1100"/>
          </a:p>
        </p:txBody>
      </p:sp>
      <p:sp>
        <p:nvSpPr>
          <p:cNvPr id="367" name="Google Shape;367;p40"/>
          <p:cNvSpPr/>
          <p:nvPr/>
        </p:nvSpPr>
        <p:spPr>
          <a:xfrm>
            <a:off x="3371999" y="2844897"/>
            <a:ext cx="267001" cy="267012"/>
          </a:xfrm>
          <a:custGeom>
            <a:avLst/>
            <a:gdLst/>
            <a:ahLst/>
            <a:cxnLst/>
            <a:rect l="l" t="t" r="r" b="b"/>
            <a:pathLst>
              <a:path w="589" h="590" extrusionOk="0">
                <a:moveTo>
                  <a:pt x="294" y="192"/>
                </a:moveTo>
                <a:lnTo>
                  <a:pt x="294" y="192"/>
                </a:lnTo>
                <a:cubicBezTo>
                  <a:pt x="235" y="192"/>
                  <a:pt x="191" y="236"/>
                  <a:pt x="191" y="295"/>
                </a:cubicBezTo>
                <a:cubicBezTo>
                  <a:pt x="191" y="339"/>
                  <a:pt x="235" y="383"/>
                  <a:pt x="294" y="383"/>
                </a:cubicBezTo>
                <a:cubicBezTo>
                  <a:pt x="353" y="383"/>
                  <a:pt x="397" y="339"/>
                  <a:pt x="397" y="295"/>
                </a:cubicBezTo>
                <a:cubicBezTo>
                  <a:pt x="397" y="236"/>
                  <a:pt x="353" y="192"/>
                  <a:pt x="294" y="192"/>
                </a:cubicBezTo>
                <a:close/>
                <a:moveTo>
                  <a:pt x="294" y="354"/>
                </a:moveTo>
                <a:lnTo>
                  <a:pt x="294" y="354"/>
                </a:lnTo>
                <a:cubicBezTo>
                  <a:pt x="265" y="354"/>
                  <a:pt x="235" y="324"/>
                  <a:pt x="235" y="295"/>
                </a:cubicBezTo>
                <a:cubicBezTo>
                  <a:pt x="235" y="251"/>
                  <a:pt x="265" y="236"/>
                  <a:pt x="294" y="236"/>
                </a:cubicBezTo>
                <a:cubicBezTo>
                  <a:pt x="324" y="236"/>
                  <a:pt x="353" y="251"/>
                  <a:pt x="353" y="295"/>
                </a:cubicBezTo>
                <a:cubicBezTo>
                  <a:pt x="353" y="324"/>
                  <a:pt x="324" y="354"/>
                  <a:pt x="294" y="354"/>
                </a:cubicBezTo>
                <a:close/>
                <a:moveTo>
                  <a:pt x="574" y="354"/>
                </a:moveTo>
                <a:lnTo>
                  <a:pt x="574" y="354"/>
                </a:lnTo>
                <a:cubicBezTo>
                  <a:pt x="529" y="339"/>
                  <a:pt x="529" y="339"/>
                  <a:pt x="529" y="339"/>
                </a:cubicBezTo>
                <a:cubicBezTo>
                  <a:pt x="529" y="324"/>
                  <a:pt x="529" y="309"/>
                  <a:pt x="529" y="295"/>
                </a:cubicBezTo>
                <a:cubicBezTo>
                  <a:pt x="529" y="280"/>
                  <a:pt x="529" y="265"/>
                  <a:pt x="529" y="251"/>
                </a:cubicBezTo>
                <a:cubicBezTo>
                  <a:pt x="574" y="221"/>
                  <a:pt x="574" y="221"/>
                  <a:pt x="574" y="221"/>
                </a:cubicBezTo>
                <a:cubicBezTo>
                  <a:pt x="588" y="206"/>
                  <a:pt x="588" y="192"/>
                  <a:pt x="588" y="163"/>
                </a:cubicBezTo>
                <a:cubicBezTo>
                  <a:pt x="544" y="104"/>
                  <a:pt x="544" y="104"/>
                  <a:pt x="544" y="104"/>
                </a:cubicBezTo>
                <a:cubicBezTo>
                  <a:pt x="529" y="74"/>
                  <a:pt x="515" y="74"/>
                  <a:pt x="485" y="89"/>
                </a:cubicBezTo>
                <a:cubicBezTo>
                  <a:pt x="441" y="118"/>
                  <a:pt x="441" y="118"/>
                  <a:pt x="441" y="118"/>
                </a:cubicBezTo>
                <a:cubicBezTo>
                  <a:pt x="426" y="89"/>
                  <a:pt x="397" y="74"/>
                  <a:pt x="367" y="74"/>
                </a:cubicBezTo>
                <a:cubicBezTo>
                  <a:pt x="367" y="30"/>
                  <a:pt x="367" y="30"/>
                  <a:pt x="367" y="30"/>
                </a:cubicBezTo>
                <a:cubicBezTo>
                  <a:pt x="367" y="15"/>
                  <a:pt x="353" y="0"/>
                  <a:pt x="338" y="0"/>
                </a:cubicBezTo>
                <a:cubicBezTo>
                  <a:pt x="250" y="0"/>
                  <a:pt x="250" y="0"/>
                  <a:pt x="250" y="0"/>
                </a:cubicBezTo>
                <a:cubicBezTo>
                  <a:pt x="235" y="0"/>
                  <a:pt x="220" y="15"/>
                  <a:pt x="220" y="30"/>
                </a:cubicBezTo>
                <a:cubicBezTo>
                  <a:pt x="220" y="74"/>
                  <a:pt x="220" y="74"/>
                  <a:pt x="220" y="74"/>
                </a:cubicBezTo>
                <a:cubicBezTo>
                  <a:pt x="191" y="74"/>
                  <a:pt x="162" y="89"/>
                  <a:pt x="147" y="118"/>
                </a:cubicBezTo>
                <a:cubicBezTo>
                  <a:pt x="103" y="89"/>
                  <a:pt x="103" y="89"/>
                  <a:pt x="103" y="89"/>
                </a:cubicBezTo>
                <a:cubicBezTo>
                  <a:pt x="73" y="74"/>
                  <a:pt x="58" y="74"/>
                  <a:pt x="44" y="104"/>
                </a:cubicBezTo>
                <a:cubicBezTo>
                  <a:pt x="0" y="163"/>
                  <a:pt x="0" y="163"/>
                  <a:pt x="0" y="163"/>
                </a:cubicBezTo>
                <a:cubicBezTo>
                  <a:pt x="0" y="192"/>
                  <a:pt x="0" y="206"/>
                  <a:pt x="14" y="221"/>
                </a:cubicBezTo>
                <a:cubicBezTo>
                  <a:pt x="58" y="251"/>
                  <a:pt x="58" y="251"/>
                  <a:pt x="58" y="251"/>
                </a:cubicBezTo>
                <a:cubicBezTo>
                  <a:pt x="58" y="265"/>
                  <a:pt x="58" y="280"/>
                  <a:pt x="58" y="295"/>
                </a:cubicBezTo>
                <a:cubicBezTo>
                  <a:pt x="58" y="309"/>
                  <a:pt x="58" y="324"/>
                  <a:pt x="58" y="339"/>
                </a:cubicBezTo>
                <a:cubicBezTo>
                  <a:pt x="14" y="354"/>
                  <a:pt x="14" y="354"/>
                  <a:pt x="14" y="354"/>
                </a:cubicBezTo>
                <a:cubicBezTo>
                  <a:pt x="0" y="368"/>
                  <a:pt x="0" y="398"/>
                  <a:pt x="0" y="413"/>
                </a:cubicBezTo>
                <a:cubicBezTo>
                  <a:pt x="44" y="486"/>
                  <a:pt x="44" y="486"/>
                  <a:pt x="44" y="486"/>
                </a:cubicBezTo>
                <a:cubicBezTo>
                  <a:pt x="58" y="501"/>
                  <a:pt x="73" y="501"/>
                  <a:pt x="103" y="501"/>
                </a:cubicBezTo>
                <a:cubicBezTo>
                  <a:pt x="147" y="472"/>
                  <a:pt x="147" y="472"/>
                  <a:pt x="147" y="472"/>
                </a:cubicBezTo>
                <a:cubicBezTo>
                  <a:pt x="162" y="486"/>
                  <a:pt x="191" y="501"/>
                  <a:pt x="220" y="516"/>
                </a:cubicBezTo>
                <a:cubicBezTo>
                  <a:pt x="220" y="545"/>
                  <a:pt x="220" y="545"/>
                  <a:pt x="220" y="545"/>
                </a:cubicBezTo>
                <a:cubicBezTo>
                  <a:pt x="220" y="560"/>
                  <a:pt x="235" y="589"/>
                  <a:pt x="250" y="589"/>
                </a:cubicBezTo>
                <a:cubicBezTo>
                  <a:pt x="338" y="589"/>
                  <a:pt x="338" y="589"/>
                  <a:pt x="338" y="589"/>
                </a:cubicBezTo>
                <a:cubicBezTo>
                  <a:pt x="353" y="589"/>
                  <a:pt x="367" y="560"/>
                  <a:pt x="367" y="545"/>
                </a:cubicBezTo>
                <a:cubicBezTo>
                  <a:pt x="367" y="516"/>
                  <a:pt x="367" y="516"/>
                  <a:pt x="367" y="516"/>
                </a:cubicBezTo>
                <a:cubicBezTo>
                  <a:pt x="397" y="501"/>
                  <a:pt x="426" y="486"/>
                  <a:pt x="441" y="472"/>
                </a:cubicBezTo>
                <a:cubicBezTo>
                  <a:pt x="485" y="501"/>
                  <a:pt x="485" y="501"/>
                  <a:pt x="485" y="501"/>
                </a:cubicBezTo>
                <a:cubicBezTo>
                  <a:pt x="515" y="501"/>
                  <a:pt x="529" y="501"/>
                  <a:pt x="544" y="486"/>
                </a:cubicBezTo>
                <a:cubicBezTo>
                  <a:pt x="588" y="413"/>
                  <a:pt x="588" y="413"/>
                  <a:pt x="588" y="413"/>
                </a:cubicBezTo>
                <a:cubicBezTo>
                  <a:pt x="588" y="398"/>
                  <a:pt x="588" y="368"/>
                  <a:pt x="574" y="354"/>
                </a:cubicBezTo>
                <a:close/>
                <a:moveTo>
                  <a:pt x="544" y="413"/>
                </a:moveTo>
                <a:lnTo>
                  <a:pt x="544" y="413"/>
                </a:lnTo>
                <a:cubicBezTo>
                  <a:pt x="515" y="442"/>
                  <a:pt x="515" y="442"/>
                  <a:pt x="515" y="442"/>
                </a:cubicBezTo>
                <a:cubicBezTo>
                  <a:pt x="515" y="457"/>
                  <a:pt x="500" y="457"/>
                  <a:pt x="500" y="457"/>
                </a:cubicBezTo>
                <a:cubicBezTo>
                  <a:pt x="441" y="427"/>
                  <a:pt x="441" y="427"/>
                  <a:pt x="441" y="427"/>
                </a:cubicBezTo>
                <a:cubicBezTo>
                  <a:pt x="412" y="457"/>
                  <a:pt x="382" y="472"/>
                  <a:pt x="338" y="486"/>
                </a:cubicBezTo>
                <a:cubicBezTo>
                  <a:pt x="338" y="530"/>
                  <a:pt x="338" y="530"/>
                  <a:pt x="338" y="530"/>
                </a:cubicBezTo>
                <a:cubicBezTo>
                  <a:pt x="338" y="530"/>
                  <a:pt x="324" y="545"/>
                  <a:pt x="309" y="545"/>
                </a:cubicBezTo>
                <a:cubicBezTo>
                  <a:pt x="279" y="545"/>
                  <a:pt x="279" y="545"/>
                  <a:pt x="279" y="545"/>
                </a:cubicBezTo>
                <a:cubicBezTo>
                  <a:pt x="265" y="545"/>
                  <a:pt x="250" y="530"/>
                  <a:pt x="250" y="530"/>
                </a:cubicBezTo>
                <a:cubicBezTo>
                  <a:pt x="250" y="486"/>
                  <a:pt x="250" y="486"/>
                  <a:pt x="250" y="486"/>
                </a:cubicBezTo>
                <a:cubicBezTo>
                  <a:pt x="206" y="472"/>
                  <a:pt x="176" y="457"/>
                  <a:pt x="147" y="427"/>
                </a:cubicBezTo>
                <a:cubicBezTo>
                  <a:pt x="88" y="457"/>
                  <a:pt x="88" y="457"/>
                  <a:pt x="88" y="457"/>
                </a:cubicBezTo>
                <a:cubicBezTo>
                  <a:pt x="88" y="457"/>
                  <a:pt x="73" y="457"/>
                  <a:pt x="73" y="442"/>
                </a:cubicBezTo>
                <a:cubicBezTo>
                  <a:pt x="44" y="413"/>
                  <a:pt x="44" y="413"/>
                  <a:pt x="44" y="413"/>
                </a:cubicBezTo>
                <a:cubicBezTo>
                  <a:pt x="44" y="398"/>
                  <a:pt x="44" y="383"/>
                  <a:pt x="58" y="383"/>
                </a:cubicBezTo>
                <a:cubicBezTo>
                  <a:pt x="103" y="354"/>
                  <a:pt x="103" y="354"/>
                  <a:pt x="103" y="354"/>
                </a:cubicBezTo>
                <a:cubicBezTo>
                  <a:pt x="103" y="339"/>
                  <a:pt x="103" y="309"/>
                  <a:pt x="103" y="295"/>
                </a:cubicBezTo>
                <a:cubicBezTo>
                  <a:pt x="103" y="265"/>
                  <a:pt x="103" y="251"/>
                  <a:pt x="103" y="221"/>
                </a:cubicBezTo>
                <a:cubicBezTo>
                  <a:pt x="58" y="192"/>
                  <a:pt x="58" y="192"/>
                  <a:pt x="58" y="192"/>
                </a:cubicBezTo>
                <a:cubicBezTo>
                  <a:pt x="44" y="192"/>
                  <a:pt x="44" y="177"/>
                  <a:pt x="44" y="163"/>
                </a:cubicBezTo>
                <a:cubicBezTo>
                  <a:pt x="73" y="133"/>
                  <a:pt x="73" y="133"/>
                  <a:pt x="73" y="133"/>
                </a:cubicBezTo>
                <a:cubicBezTo>
                  <a:pt x="73" y="133"/>
                  <a:pt x="88" y="118"/>
                  <a:pt x="88" y="133"/>
                </a:cubicBezTo>
                <a:cubicBezTo>
                  <a:pt x="147" y="163"/>
                  <a:pt x="147" y="163"/>
                  <a:pt x="147" y="163"/>
                </a:cubicBezTo>
                <a:cubicBezTo>
                  <a:pt x="176" y="133"/>
                  <a:pt x="206" y="104"/>
                  <a:pt x="250" y="104"/>
                </a:cubicBezTo>
                <a:cubicBezTo>
                  <a:pt x="250" y="59"/>
                  <a:pt x="250" y="59"/>
                  <a:pt x="250" y="59"/>
                </a:cubicBezTo>
                <a:cubicBezTo>
                  <a:pt x="250" y="45"/>
                  <a:pt x="265" y="30"/>
                  <a:pt x="279" y="30"/>
                </a:cubicBezTo>
                <a:cubicBezTo>
                  <a:pt x="309" y="30"/>
                  <a:pt x="309" y="30"/>
                  <a:pt x="309" y="30"/>
                </a:cubicBezTo>
                <a:cubicBezTo>
                  <a:pt x="324" y="30"/>
                  <a:pt x="338" y="45"/>
                  <a:pt x="338" y="59"/>
                </a:cubicBezTo>
                <a:cubicBezTo>
                  <a:pt x="338" y="104"/>
                  <a:pt x="338" y="104"/>
                  <a:pt x="338" y="104"/>
                </a:cubicBezTo>
                <a:cubicBezTo>
                  <a:pt x="382" y="104"/>
                  <a:pt x="412" y="133"/>
                  <a:pt x="441" y="163"/>
                </a:cubicBezTo>
                <a:cubicBezTo>
                  <a:pt x="500" y="133"/>
                  <a:pt x="500" y="133"/>
                  <a:pt x="500" y="133"/>
                </a:cubicBezTo>
                <a:cubicBezTo>
                  <a:pt x="500" y="118"/>
                  <a:pt x="515" y="133"/>
                  <a:pt x="515" y="133"/>
                </a:cubicBezTo>
                <a:cubicBezTo>
                  <a:pt x="544" y="163"/>
                  <a:pt x="544" y="163"/>
                  <a:pt x="544" y="163"/>
                </a:cubicBezTo>
                <a:cubicBezTo>
                  <a:pt x="544" y="177"/>
                  <a:pt x="544" y="192"/>
                  <a:pt x="529" y="192"/>
                </a:cubicBezTo>
                <a:cubicBezTo>
                  <a:pt x="485" y="221"/>
                  <a:pt x="485" y="221"/>
                  <a:pt x="485" y="221"/>
                </a:cubicBezTo>
                <a:cubicBezTo>
                  <a:pt x="485" y="251"/>
                  <a:pt x="485" y="265"/>
                  <a:pt x="485" y="295"/>
                </a:cubicBezTo>
                <a:cubicBezTo>
                  <a:pt x="485" y="309"/>
                  <a:pt x="485" y="339"/>
                  <a:pt x="485" y="354"/>
                </a:cubicBezTo>
                <a:cubicBezTo>
                  <a:pt x="529" y="383"/>
                  <a:pt x="529" y="383"/>
                  <a:pt x="529" y="383"/>
                </a:cubicBezTo>
                <a:cubicBezTo>
                  <a:pt x="544" y="383"/>
                  <a:pt x="544" y="398"/>
                  <a:pt x="544" y="413"/>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8" name="Google Shape;368;p40"/>
          <p:cNvSpPr/>
          <p:nvPr/>
        </p:nvSpPr>
        <p:spPr>
          <a:xfrm>
            <a:off x="4986012" y="3748150"/>
            <a:ext cx="286928" cy="286937"/>
          </a:xfrm>
          <a:custGeom>
            <a:avLst/>
            <a:gdLst/>
            <a:ahLst/>
            <a:cxnLst/>
            <a:rect l="l" t="t" r="r" b="b"/>
            <a:pathLst>
              <a:path w="634" h="634" extrusionOk="0">
                <a:moveTo>
                  <a:pt x="309" y="398"/>
                </a:moveTo>
                <a:lnTo>
                  <a:pt x="309" y="398"/>
                </a:lnTo>
                <a:cubicBezTo>
                  <a:pt x="324" y="398"/>
                  <a:pt x="338" y="383"/>
                  <a:pt x="338" y="368"/>
                </a:cubicBezTo>
                <a:cubicBezTo>
                  <a:pt x="338" y="132"/>
                  <a:pt x="338" y="132"/>
                  <a:pt x="338" y="132"/>
                </a:cubicBezTo>
                <a:cubicBezTo>
                  <a:pt x="338" y="132"/>
                  <a:pt x="324" y="118"/>
                  <a:pt x="309" y="118"/>
                </a:cubicBezTo>
                <a:lnTo>
                  <a:pt x="294" y="132"/>
                </a:lnTo>
                <a:cubicBezTo>
                  <a:pt x="294" y="368"/>
                  <a:pt x="294" y="368"/>
                  <a:pt x="294" y="368"/>
                </a:cubicBezTo>
                <a:cubicBezTo>
                  <a:pt x="294" y="383"/>
                  <a:pt x="309" y="398"/>
                  <a:pt x="309" y="398"/>
                </a:cubicBezTo>
                <a:close/>
                <a:moveTo>
                  <a:pt x="426" y="398"/>
                </a:moveTo>
                <a:lnTo>
                  <a:pt x="426" y="398"/>
                </a:lnTo>
                <a:cubicBezTo>
                  <a:pt x="442" y="398"/>
                  <a:pt x="456" y="383"/>
                  <a:pt x="456" y="368"/>
                </a:cubicBezTo>
                <a:cubicBezTo>
                  <a:pt x="456" y="191"/>
                  <a:pt x="456" y="191"/>
                  <a:pt x="456" y="191"/>
                </a:cubicBezTo>
                <a:cubicBezTo>
                  <a:pt x="456" y="191"/>
                  <a:pt x="442" y="177"/>
                  <a:pt x="426" y="177"/>
                </a:cubicBezTo>
                <a:lnTo>
                  <a:pt x="412" y="191"/>
                </a:lnTo>
                <a:cubicBezTo>
                  <a:pt x="412" y="368"/>
                  <a:pt x="412" y="368"/>
                  <a:pt x="412" y="368"/>
                </a:cubicBezTo>
                <a:cubicBezTo>
                  <a:pt x="412" y="383"/>
                  <a:pt x="426" y="398"/>
                  <a:pt x="426" y="398"/>
                </a:cubicBezTo>
                <a:close/>
                <a:moveTo>
                  <a:pt x="191" y="398"/>
                </a:moveTo>
                <a:lnTo>
                  <a:pt x="191" y="398"/>
                </a:lnTo>
                <a:cubicBezTo>
                  <a:pt x="206" y="398"/>
                  <a:pt x="221" y="383"/>
                  <a:pt x="221" y="368"/>
                </a:cubicBezTo>
                <a:cubicBezTo>
                  <a:pt x="221" y="294"/>
                  <a:pt x="221" y="294"/>
                  <a:pt x="221" y="294"/>
                </a:cubicBezTo>
                <a:cubicBezTo>
                  <a:pt x="221" y="280"/>
                  <a:pt x="206" y="280"/>
                  <a:pt x="191" y="280"/>
                </a:cubicBezTo>
                <a:cubicBezTo>
                  <a:pt x="191" y="280"/>
                  <a:pt x="176" y="280"/>
                  <a:pt x="176" y="294"/>
                </a:cubicBezTo>
                <a:cubicBezTo>
                  <a:pt x="176" y="368"/>
                  <a:pt x="176" y="368"/>
                  <a:pt x="176" y="368"/>
                </a:cubicBezTo>
                <a:cubicBezTo>
                  <a:pt x="176" y="383"/>
                  <a:pt x="191" y="398"/>
                  <a:pt x="191" y="398"/>
                </a:cubicBezTo>
                <a:close/>
                <a:moveTo>
                  <a:pt x="0" y="0"/>
                </a:moveTo>
                <a:lnTo>
                  <a:pt x="0" y="0"/>
                </a:lnTo>
                <a:cubicBezTo>
                  <a:pt x="0" y="44"/>
                  <a:pt x="0" y="44"/>
                  <a:pt x="0" y="44"/>
                </a:cubicBezTo>
                <a:cubicBezTo>
                  <a:pt x="44" y="44"/>
                  <a:pt x="44" y="44"/>
                  <a:pt x="44" y="44"/>
                </a:cubicBezTo>
                <a:cubicBezTo>
                  <a:pt x="44" y="73"/>
                  <a:pt x="44" y="412"/>
                  <a:pt x="44" y="412"/>
                </a:cubicBezTo>
                <a:cubicBezTo>
                  <a:pt x="44" y="456"/>
                  <a:pt x="73" y="486"/>
                  <a:pt x="117" y="486"/>
                </a:cubicBezTo>
                <a:cubicBezTo>
                  <a:pt x="235" y="486"/>
                  <a:pt x="235" y="486"/>
                  <a:pt x="235" y="486"/>
                </a:cubicBezTo>
                <a:cubicBezTo>
                  <a:pt x="162" y="633"/>
                  <a:pt x="162" y="633"/>
                  <a:pt x="162" y="633"/>
                </a:cubicBezTo>
                <a:cubicBezTo>
                  <a:pt x="221" y="633"/>
                  <a:pt x="221" y="633"/>
                  <a:pt x="221" y="633"/>
                </a:cubicBezTo>
                <a:cubicBezTo>
                  <a:pt x="294" y="486"/>
                  <a:pt x="294" y="486"/>
                  <a:pt x="294" y="486"/>
                </a:cubicBezTo>
                <a:cubicBezTo>
                  <a:pt x="338" y="486"/>
                  <a:pt x="338" y="486"/>
                  <a:pt x="338" y="486"/>
                </a:cubicBezTo>
                <a:cubicBezTo>
                  <a:pt x="412" y="633"/>
                  <a:pt x="412" y="633"/>
                  <a:pt x="412" y="633"/>
                </a:cubicBezTo>
                <a:cubicBezTo>
                  <a:pt x="471" y="633"/>
                  <a:pt x="471" y="633"/>
                  <a:pt x="471" y="633"/>
                </a:cubicBezTo>
                <a:cubicBezTo>
                  <a:pt x="397" y="486"/>
                  <a:pt x="397" y="486"/>
                  <a:pt x="397" y="486"/>
                </a:cubicBezTo>
                <a:cubicBezTo>
                  <a:pt x="515" y="486"/>
                  <a:pt x="515" y="486"/>
                  <a:pt x="515" y="486"/>
                </a:cubicBezTo>
                <a:cubicBezTo>
                  <a:pt x="559" y="486"/>
                  <a:pt x="588" y="456"/>
                  <a:pt x="588" y="412"/>
                </a:cubicBezTo>
                <a:cubicBezTo>
                  <a:pt x="588" y="412"/>
                  <a:pt x="588" y="73"/>
                  <a:pt x="588" y="44"/>
                </a:cubicBezTo>
                <a:cubicBezTo>
                  <a:pt x="633" y="44"/>
                  <a:pt x="633" y="44"/>
                  <a:pt x="633" y="44"/>
                </a:cubicBezTo>
                <a:cubicBezTo>
                  <a:pt x="633" y="0"/>
                  <a:pt x="633" y="0"/>
                  <a:pt x="633" y="0"/>
                </a:cubicBezTo>
                <a:lnTo>
                  <a:pt x="0" y="0"/>
                </a:lnTo>
                <a:close/>
                <a:moveTo>
                  <a:pt x="544" y="412"/>
                </a:moveTo>
                <a:lnTo>
                  <a:pt x="544" y="412"/>
                </a:lnTo>
                <a:cubicBezTo>
                  <a:pt x="544" y="442"/>
                  <a:pt x="530" y="456"/>
                  <a:pt x="515" y="456"/>
                </a:cubicBezTo>
                <a:cubicBezTo>
                  <a:pt x="117" y="456"/>
                  <a:pt x="117" y="456"/>
                  <a:pt x="117" y="456"/>
                </a:cubicBezTo>
                <a:cubicBezTo>
                  <a:pt x="88" y="456"/>
                  <a:pt x="73" y="442"/>
                  <a:pt x="73" y="412"/>
                </a:cubicBezTo>
                <a:cubicBezTo>
                  <a:pt x="73" y="412"/>
                  <a:pt x="73" y="59"/>
                  <a:pt x="73" y="44"/>
                </a:cubicBezTo>
                <a:cubicBezTo>
                  <a:pt x="544" y="44"/>
                  <a:pt x="544" y="44"/>
                  <a:pt x="544" y="44"/>
                </a:cubicBezTo>
                <a:cubicBezTo>
                  <a:pt x="544" y="73"/>
                  <a:pt x="544" y="412"/>
                  <a:pt x="544" y="412"/>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9" name="Google Shape;369;p40"/>
          <p:cNvSpPr/>
          <p:nvPr/>
        </p:nvSpPr>
        <p:spPr>
          <a:xfrm>
            <a:off x="3891214" y="1880814"/>
            <a:ext cx="292905" cy="292915"/>
          </a:xfrm>
          <a:custGeom>
            <a:avLst/>
            <a:gdLst/>
            <a:ahLst/>
            <a:cxnLst/>
            <a:rect l="l" t="t" r="r" b="b"/>
            <a:pathLst>
              <a:path w="649" h="649" extrusionOk="0">
                <a:moveTo>
                  <a:pt x="633" y="30"/>
                </a:moveTo>
                <a:lnTo>
                  <a:pt x="633" y="30"/>
                </a:lnTo>
                <a:cubicBezTo>
                  <a:pt x="603" y="0"/>
                  <a:pt x="559" y="15"/>
                  <a:pt x="530" y="30"/>
                </a:cubicBezTo>
                <a:cubicBezTo>
                  <a:pt x="412" y="163"/>
                  <a:pt x="412" y="163"/>
                  <a:pt x="412" y="163"/>
                </a:cubicBezTo>
                <a:cubicBezTo>
                  <a:pt x="177" y="74"/>
                  <a:pt x="177" y="74"/>
                  <a:pt x="177" y="74"/>
                </a:cubicBezTo>
                <a:cubicBezTo>
                  <a:pt x="162" y="74"/>
                  <a:pt x="132" y="59"/>
                  <a:pt x="103" y="89"/>
                </a:cubicBezTo>
                <a:cubicBezTo>
                  <a:pt x="88" y="104"/>
                  <a:pt x="59" y="133"/>
                  <a:pt x="103" y="177"/>
                </a:cubicBezTo>
                <a:cubicBezTo>
                  <a:pt x="265" y="310"/>
                  <a:pt x="265" y="310"/>
                  <a:pt x="265" y="310"/>
                </a:cubicBezTo>
                <a:cubicBezTo>
                  <a:pt x="162" y="413"/>
                  <a:pt x="162" y="413"/>
                  <a:pt x="162" y="413"/>
                </a:cubicBezTo>
                <a:cubicBezTo>
                  <a:pt x="59" y="383"/>
                  <a:pt x="59" y="383"/>
                  <a:pt x="59" y="383"/>
                </a:cubicBezTo>
                <a:cubicBezTo>
                  <a:pt x="44" y="383"/>
                  <a:pt x="44" y="383"/>
                  <a:pt x="29" y="398"/>
                </a:cubicBezTo>
                <a:cubicBezTo>
                  <a:pt x="29" y="398"/>
                  <a:pt x="0" y="413"/>
                  <a:pt x="15" y="442"/>
                </a:cubicBezTo>
                <a:cubicBezTo>
                  <a:pt x="132" y="530"/>
                  <a:pt x="132" y="530"/>
                  <a:pt x="132" y="530"/>
                </a:cubicBezTo>
                <a:cubicBezTo>
                  <a:pt x="221" y="634"/>
                  <a:pt x="221" y="634"/>
                  <a:pt x="221" y="634"/>
                </a:cubicBezTo>
                <a:cubicBezTo>
                  <a:pt x="236" y="648"/>
                  <a:pt x="250" y="648"/>
                  <a:pt x="265" y="619"/>
                </a:cubicBezTo>
                <a:cubicBezTo>
                  <a:pt x="280" y="619"/>
                  <a:pt x="280" y="604"/>
                  <a:pt x="265" y="589"/>
                </a:cubicBezTo>
                <a:cubicBezTo>
                  <a:pt x="250" y="501"/>
                  <a:pt x="250" y="501"/>
                  <a:pt x="250" y="501"/>
                </a:cubicBezTo>
                <a:cubicBezTo>
                  <a:pt x="353" y="398"/>
                  <a:pt x="353" y="398"/>
                  <a:pt x="353" y="398"/>
                </a:cubicBezTo>
                <a:cubicBezTo>
                  <a:pt x="486" y="560"/>
                  <a:pt x="486" y="560"/>
                  <a:pt x="486" y="560"/>
                </a:cubicBezTo>
                <a:cubicBezTo>
                  <a:pt x="530" y="589"/>
                  <a:pt x="559" y="560"/>
                  <a:pt x="574" y="560"/>
                </a:cubicBezTo>
                <a:cubicBezTo>
                  <a:pt x="589" y="530"/>
                  <a:pt x="589" y="501"/>
                  <a:pt x="589" y="486"/>
                </a:cubicBezTo>
                <a:cubicBezTo>
                  <a:pt x="500" y="251"/>
                  <a:pt x="500" y="251"/>
                  <a:pt x="500" y="251"/>
                </a:cubicBezTo>
                <a:cubicBezTo>
                  <a:pt x="618" y="118"/>
                  <a:pt x="618" y="118"/>
                  <a:pt x="618" y="118"/>
                </a:cubicBezTo>
                <a:cubicBezTo>
                  <a:pt x="648" y="104"/>
                  <a:pt x="648" y="59"/>
                  <a:pt x="633" y="30"/>
                </a:cubicBezTo>
                <a:close/>
                <a:moveTo>
                  <a:pt x="603" y="104"/>
                </a:moveTo>
                <a:lnTo>
                  <a:pt x="603" y="104"/>
                </a:lnTo>
                <a:cubicBezTo>
                  <a:pt x="456" y="251"/>
                  <a:pt x="456" y="251"/>
                  <a:pt x="456" y="251"/>
                </a:cubicBezTo>
                <a:cubicBezTo>
                  <a:pt x="545" y="486"/>
                  <a:pt x="545" y="486"/>
                  <a:pt x="545" y="486"/>
                </a:cubicBezTo>
                <a:cubicBezTo>
                  <a:pt x="545" y="501"/>
                  <a:pt x="545" y="516"/>
                  <a:pt x="545" y="530"/>
                </a:cubicBezTo>
                <a:cubicBezTo>
                  <a:pt x="530" y="545"/>
                  <a:pt x="515" y="530"/>
                  <a:pt x="500" y="530"/>
                </a:cubicBezTo>
                <a:cubicBezTo>
                  <a:pt x="368" y="339"/>
                  <a:pt x="368" y="339"/>
                  <a:pt x="368" y="339"/>
                </a:cubicBezTo>
                <a:cubicBezTo>
                  <a:pt x="206" y="486"/>
                  <a:pt x="206" y="486"/>
                  <a:pt x="206" y="486"/>
                </a:cubicBezTo>
                <a:cubicBezTo>
                  <a:pt x="236" y="589"/>
                  <a:pt x="236" y="589"/>
                  <a:pt x="236" y="589"/>
                </a:cubicBezTo>
                <a:cubicBezTo>
                  <a:pt x="221" y="589"/>
                  <a:pt x="162" y="501"/>
                  <a:pt x="162" y="501"/>
                </a:cubicBezTo>
                <a:cubicBezTo>
                  <a:pt x="162" y="501"/>
                  <a:pt x="73" y="427"/>
                  <a:pt x="59" y="427"/>
                </a:cubicBezTo>
                <a:cubicBezTo>
                  <a:pt x="162" y="457"/>
                  <a:pt x="162" y="457"/>
                  <a:pt x="162" y="457"/>
                </a:cubicBezTo>
                <a:cubicBezTo>
                  <a:pt x="324" y="295"/>
                  <a:pt x="324" y="295"/>
                  <a:pt x="324" y="295"/>
                </a:cubicBezTo>
                <a:cubicBezTo>
                  <a:pt x="132" y="147"/>
                  <a:pt x="132" y="147"/>
                  <a:pt x="132" y="147"/>
                </a:cubicBezTo>
                <a:cubicBezTo>
                  <a:pt x="132" y="147"/>
                  <a:pt x="118" y="133"/>
                  <a:pt x="132" y="118"/>
                </a:cubicBezTo>
                <a:cubicBezTo>
                  <a:pt x="147" y="118"/>
                  <a:pt x="162" y="118"/>
                  <a:pt x="177" y="118"/>
                </a:cubicBezTo>
                <a:cubicBezTo>
                  <a:pt x="412" y="206"/>
                  <a:pt x="412" y="206"/>
                  <a:pt x="412" y="206"/>
                </a:cubicBezTo>
                <a:cubicBezTo>
                  <a:pt x="559" y="59"/>
                  <a:pt x="559" y="59"/>
                  <a:pt x="559" y="59"/>
                </a:cubicBezTo>
                <a:cubicBezTo>
                  <a:pt x="574" y="45"/>
                  <a:pt x="589" y="45"/>
                  <a:pt x="603" y="59"/>
                </a:cubicBezTo>
                <a:cubicBezTo>
                  <a:pt x="603" y="74"/>
                  <a:pt x="618" y="89"/>
                  <a:pt x="603" y="104"/>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70" name="Google Shape;370;p40"/>
          <p:cNvSpPr/>
          <p:nvPr/>
        </p:nvSpPr>
        <p:spPr>
          <a:xfrm>
            <a:off x="4962638" y="1876815"/>
            <a:ext cx="267001" cy="286937"/>
          </a:xfrm>
          <a:custGeom>
            <a:avLst/>
            <a:gdLst/>
            <a:ahLst/>
            <a:cxnLst/>
            <a:rect l="l" t="t" r="r" b="b"/>
            <a:pathLst>
              <a:path w="589" h="634" extrusionOk="0">
                <a:moveTo>
                  <a:pt x="456" y="353"/>
                </a:moveTo>
                <a:lnTo>
                  <a:pt x="456" y="353"/>
                </a:lnTo>
                <a:cubicBezTo>
                  <a:pt x="485" y="353"/>
                  <a:pt x="515" y="324"/>
                  <a:pt x="515" y="294"/>
                </a:cubicBezTo>
                <a:cubicBezTo>
                  <a:pt x="515" y="265"/>
                  <a:pt x="485" y="236"/>
                  <a:pt x="456" y="236"/>
                </a:cubicBezTo>
                <a:cubicBezTo>
                  <a:pt x="412" y="236"/>
                  <a:pt x="397" y="265"/>
                  <a:pt x="397" y="294"/>
                </a:cubicBezTo>
                <a:cubicBezTo>
                  <a:pt x="397" y="324"/>
                  <a:pt x="412" y="353"/>
                  <a:pt x="456" y="353"/>
                </a:cubicBezTo>
                <a:close/>
                <a:moveTo>
                  <a:pt x="426" y="280"/>
                </a:moveTo>
                <a:lnTo>
                  <a:pt x="426" y="280"/>
                </a:lnTo>
                <a:cubicBezTo>
                  <a:pt x="471" y="280"/>
                  <a:pt x="471" y="280"/>
                  <a:pt x="471" y="280"/>
                </a:cubicBezTo>
                <a:cubicBezTo>
                  <a:pt x="471" y="309"/>
                  <a:pt x="471" y="309"/>
                  <a:pt x="471" y="309"/>
                </a:cubicBezTo>
                <a:cubicBezTo>
                  <a:pt x="426" y="309"/>
                  <a:pt x="426" y="309"/>
                  <a:pt x="426" y="309"/>
                </a:cubicBezTo>
                <a:lnTo>
                  <a:pt x="426" y="280"/>
                </a:lnTo>
                <a:close/>
                <a:moveTo>
                  <a:pt x="456" y="515"/>
                </a:moveTo>
                <a:lnTo>
                  <a:pt x="456" y="515"/>
                </a:lnTo>
                <a:cubicBezTo>
                  <a:pt x="485" y="515"/>
                  <a:pt x="515" y="486"/>
                  <a:pt x="515" y="456"/>
                </a:cubicBezTo>
                <a:cubicBezTo>
                  <a:pt x="515" y="412"/>
                  <a:pt x="485" y="398"/>
                  <a:pt x="456" y="398"/>
                </a:cubicBezTo>
                <a:cubicBezTo>
                  <a:pt x="412" y="398"/>
                  <a:pt x="397" y="412"/>
                  <a:pt x="397" y="456"/>
                </a:cubicBezTo>
                <a:cubicBezTo>
                  <a:pt x="397" y="486"/>
                  <a:pt x="412" y="515"/>
                  <a:pt x="456" y="515"/>
                </a:cubicBezTo>
                <a:close/>
                <a:moveTo>
                  <a:pt x="426" y="427"/>
                </a:moveTo>
                <a:lnTo>
                  <a:pt x="426" y="427"/>
                </a:lnTo>
                <a:cubicBezTo>
                  <a:pt x="471" y="427"/>
                  <a:pt x="471" y="427"/>
                  <a:pt x="471" y="427"/>
                </a:cubicBezTo>
                <a:cubicBezTo>
                  <a:pt x="471" y="471"/>
                  <a:pt x="471" y="471"/>
                  <a:pt x="471" y="471"/>
                </a:cubicBezTo>
                <a:cubicBezTo>
                  <a:pt x="426" y="471"/>
                  <a:pt x="426" y="471"/>
                  <a:pt x="426" y="471"/>
                </a:cubicBezTo>
                <a:lnTo>
                  <a:pt x="426" y="427"/>
                </a:lnTo>
                <a:close/>
                <a:moveTo>
                  <a:pt x="294" y="515"/>
                </a:moveTo>
                <a:lnTo>
                  <a:pt x="294" y="515"/>
                </a:lnTo>
                <a:cubicBezTo>
                  <a:pt x="324" y="515"/>
                  <a:pt x="353" y="486"/>
                  <a:pt x="353" y="456"/>
                </a:cubicBezTo>
                <a:cubicBezTo>
                  <a:pt x="353" y="412"/>
                  <a:pt x="324" y="398"/>
                  <a:pt x="294" y="398"/>
                </a:cubicBezTo>
                <a:cubicBezTo>
                  <a:pt x="265" y="398"/>
                  <a:pt x="235" y="412"/>
                  <a:pt x="235" y="456"/>
                </a:cubicBezTo>
                <a:cubicBezTo>
                  <a:pt x="235" y="486"/>
                  <a:pt x="265" y="515"/>
                  <a:pt x="294" y="515"/>
                </a:cubicBezTo>
                <a:close/>
                <a:moveTo>
                  <a:pt x="279" y="427"/>
                </a:moveTo>
                <a:lnTo>
                  <a:pt x="279" y="427"/>
                </a:lnTo>
                <a:cubicBezTo>
                  <a:pt x="309" y="427"/>
                  <a:pt x="309" y="427"/>
                  <a:pt x="309" y="427"/>
                </a:cubicBezTo>
                <a:cubicBezTo>
                  <a:pt x="309" y="471"/>
                  <a:pt x="309" y="471"/>
                  <a:pt x="309" y="471"/>
                </a:cubicBezTo>
                <a:cubicBezTo>
                  <a:pt x="279" y="471"/>
                  <a:pt x="279" y="471"/>
                  <a:pt x="279" y="471"/>
                </a:cubicBezTo>
                <a:lnTo>
                  <a:pt x="279" y="427"/>
                </a:lnTo>
                <a:close/>
                <a:moveTo>
                  <a:pt x="515" y="0"/>
                </a:moveTo>
                <a:lnTo>
                  <a:pt x="515" y="0"/>
                </a:lnTo>
                <a:cubicBezTo>
                  <a:pt x="73" y="0"/>
                  <a:pt x="73" y="0"/>
                  <a:pt x="73" y="0"/>
                </a:cubicBezTo>
                <a:cubicBezTo>
                  <a:pt x="29" y="0"/>
                  <a:pt x="0" y="30"/>
                  <a:pt x="0" y="73"/>
                </a:cubicBezTo>
                <a:cubicBezTo>
                  <a:pt x="0" y="545"/>
                  <a:pt x="0" y="545"/>
                  <a:pt x="0" y="545"/>
                </a:cubicBezTo>
                <a:cubicBezTo>
                  <a:pt x="0" y="589"/>
                  <a:pt x="29" y="633"/>
                  <a:pt x="73" y="633"/>
                </a:cubicBezTo>
                <a:cubicBezTo>
                  <a:pt x="515" y="633"/>
                  <a:pt x="515" y="633"/>
                  <a:pt x="515" y="633"/>
                </a:cubicBezTo>
                <a:cubicBezTo>
                  <a:pt x="559" y="633"/>
                  <a:pt x="588" y="589"/>
                  <a:pt x="588" y="545"/>
                </a:cubicBezTo>
                <a:cubicBezTo>
                  <a:pt x="588" y="73"/>
                  <a:pt x="588" y="73"/>
                  <a:pt x="588" y="73"/>
                </a:cubicBezTo>
                <a:cubicBezTo>
                  <a:pt x="588" y="30"/>
                  <a:pt x="559" y="0"/>
                  <a:pt x="515" y="0"/>
                </a:cubicBezTo>
                <a:close/>
                <a:moveTo>
                  <a:pt x="544" y="545"/>
                </a:moveTo>
                <a:lnTo>
                  <a:pt x="544" y="545"/>
                </a:lnTo>
                <a:cubicBezTo>
                  <a:pt x="544" y="574"/>
                  <a:pt x="530" y="589"/>
                  <a:pt x="515" y="589"/>
                </a:cubicBezTo>
                <a:cubicBezTo>
                  <a:pt x="73" y="589"/>
                  <a:pt x="73" y="589"/>
                  <a:pt x="73" y="589"/>
                </a:cubicBezTo>
                <a:cubicBezTo>
                  <a:pt x="59" y="589"/>
                  <a:pt x="44" y="574"/>
                  <a:pt x="44" y="545"/>
                </a:cubicBezTo>
                <a:cubicBezTo>
                  <a:pt x="44" y="162"/>
                  <a:pt x="44" y="162"/>
                  <a:pt x="44" y="162"/>
                </a:cubicBezTo>
                <a:cubicBezTo>
                  <a:pt x="544" y="162"/>
                  <a:pt x="544" y="162"/>
                  <a:pt x="544" y="162"/>
                </a:cubicBezTo>
                <a:lnTo>
                  <a:pt x="544" y="545"/>
                </a:lnTo>
                <a:close/>
                <a:moveTo>
                  <a:pt x="544" y="118"/>
                </a:moveTo>
                <a:lnTo>
                  <a:pt x="544" y="118"/>
                </a:lnTo>
                <a:cubicBezTo>
                  <a:pt x="44" y="118"/>
                  <a:pt x="44" y="118"/>
                  <a:pt x="44" y="118"/>
                </a:cubicBezTo>
                <a:cubicBezTo>
                  <a:pt x="44" y="73"/>
                  <a:pt x="44" y="73"/>
                  <a:pt x="44" y="73"/>
                </a:cubicBezTo>
                <a:cubicBezTo>
                  <a:pt x="44" y="59"/>
                  <a:pt x="59" y="44"/>
                  <a:pt x="73" y="44"/>
                </a:cubicBezTo>
                <a:cubicBezTo>
                  <a:pt x="515" y="44"/>
                  <a:pt x="515" y="44"/>
                  <a:pt x="515" y="44"/>
                </a:cubicBezTo>
                <a:cubicBezTo>
                  <a:pt x="530" y="44"/>
                  <a:pt x="544" y="59"/>
                  <a:pt x="544" y="73"/>
                </a:cubicBezTo>
                <a:lnTo>
                  <a:pt x="544" y="118"/>
                </a:lnTo>
                <a:close/>
                <a:moveTo>
                  <a:pt x="294" y="353"/>
                </a:moveTo>
                <a:lnTo>
                  <a:pt x="294" y="353"/>
                </a:lnTo>
                <a:cubicBezTo>
                  <a:pt x="324" y="353"/>
                  <a:pt x="353" y="324"/>
                  <a:pt x="353" y="294"/>
                </a:cubicBezTo>
                <a:cubicBezTo>
                  <a:pt x="353" y="265"/>
                  <a:pt x="324" y="236"/>
                  <a:pt x="294" y="236"/>
                </a:cubicBezTo>
                <a:cubicBezTo>
                  <a:pt x="265" y="236"/>
                  <a:pt x="235" y="265"/>
                  <a:pt x="235" y="294"/>
                </a:cubicBezTo>
                <a:cubicBezTo>
                  <a:pt x="235" y="324"/>
                  <a:pt x="265" y="353"/>
                  <a:pt x="294" y="353"/>
                </a:cubicBezTo>
                <a:close/>
                <a:moveTo>
                  <a:pt x="279" y="280"/>
                </a:moveTo>
                <a:lnTo>
                  <a:pt x="279" y="280"/>
                </a:lnTo>
                <a:cubicBezTo>
                  <a:pt x="309" y="280"/>
                  <a:pt x="309" y="280"/>
                  <a:pt x="309" y="280"/>
                </a:cubicBezTo>
                <a:cubicBezTo>
                  <a:pt x="309" y="309"/>
                  <a:pt x="309" y="309"/>
                  <a:pt x="309" y="309"/>
                </a:cubicBezTo>
                <a:cubicBezTo>
                  <a:pt x="279" y="309"/>
                  <a:pt x="279" y="309"/>
                  <a:pt x="279" y="309"/>
                </a:cubicBezTo>
                <a:lnTo>
                  <a:pt x="279" y="280"/>
                </a:lnTo>
                <a:close/>
                <a:moveTo>
                  <a:pt x="132" y="515"/>
                </a:moveTo>
                <a:lnTo>
                  <a:pt x="132" y="515"/>
                </a:lnTo>
                <a:cubicBezTo>
                  <a:pt x="176" y="515"/>
                  <a:pt x="191" y="486"/>
                  <a:pt x="191" y="456"/>
                </a:cubicBezTo>
                <a:cubicBezTo>
                  <a:pt x="191" y="412"/>
                  <a:pt x="176" y="398"/>
                  <a:pt x="132" y="398"/>
                </a:cubicBezTo>
                <a:cubicBezTo>
                  <a:pt x="103" y="398"/>
                  <a:pt x="73" y="412"/>
                  <a:pt x="73" y="456"/>
                </a:cubicBezTo>
                <a:cubicBezTo>
                  <a:pt x="73" y="486"/>
                  <a:pt x="103" y="515"/>
                  <a:pt x="132" y="515"/>
                </a:cubicBezTo>
                <a:close/>
                <a:moveTo>
                  <a:pt x="117" y="427"/>
                </a:moveTo>
                <a:lnTo>
                  <a:pt x="117" y="427"/>
                </a:lnTo>
                <a:cubicBezTo>
                  <a:pt x="162" y="427"/>
                  <a:pt x="162" y="427"/>
                  <a:pt x="162" y="427"/>
                </a:cubicBezTo>
                <a:cubicBezTo>
                  <a:pt x="162" y="471"/>
                  <a:pt x="162" y="471"/>
                  <a:pt x="162" y="471"/>
                </a:cubicBezTo>
                <a:cubicBezTo>
                  <a:pt x="117" y="471"/>
                  <a:pt x="117" y="471"/>
                  <a:pt x="117" y="471"/>
                </a:cubicBezTo>
                <a:lnTo>
                  <a:pt x="117" y="427"/>
                </a:lnTo>
                <a:close/>
                <a:moveTo>
                  <a:pt x="132" y="353"/>
                </a:moveTo>
                <a:lnTo>
                  <a:pt x="132" y="353"/>
                </a:lnTo>
                <a:cubicBezTo>
                  <a:pt x="176" y="353"/>
                  <a:pt x="191" y="324"/>
                  <a:pt x="191" y="294"/>
                </a:cubicBezTo>
                <a:cubicBezTo>
                  <a:pt x="191" y="265"/>
                  <a:pt x="176" y="236"/>
                  <a:pt x="132" y="236"/>
                </a:cubicBezTo>
                <a:cubicBezTo>
                  <a:pt x="103" y="236"/>
                  <a:pt x="73" y="265"/>
                  <a:pt x="73" y="294"/>
                </a:cubicBezTo>
                <a:cubicBezTo>
                  <a:pt x="73" y="324"/>
                  <a:pt x="103" y="353"/>
                  <a:pt x="132" y="353"/>
                </a:cubicBezTo>
                <a:close/>
                <a:moveTo>
                  <a:pt x="117" y="280"/>
                </a:moveTo>
                <a:lnTo>
                  <a:pt x="117" y="280"/>
                </a:lnTo>
                <a:cubicBezTo>
                  <a:pt x="162" y="280"/>
                  <a:pt x="162" y="280"/>
                  <a:pt x="162" y="280"/>
                </a:cubicBezTo>
                <a:cubicBezTo>
                  <a:pt x="162" y="309"/>
                  <a:pt x="162" y="309"/>
                  <a:pt x="162" y="309"/>
                </a:cubicBezTo>
                <a:cubicBezTo>
                  <a:pt x="117" y="309"/>
                  <a:pt x="117" y="309"/>
                  <a:pt x="117" y="309"/>
                </a:cubicBezTo>
                <a:lnTo>
                  <a:pt x="117" y="280"/>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71" name="Google Shape;371;p40"/>
          <p:cNvSpPr/>
          <p:nvPr/>
        </p:nvSpPr>
        <p:spPr>
          <a:xfrm>
            <a:off x="5496193" y="2834331"/>
            <a:ext cx="286928" cy="267012"/>
          </a:xfrm>
          <a:custGeom>
            <a:avLst/>
            <a:gdLst/>
            <a:ahLst/>
            <a:cxnLst/>
            <a:rect l="l" t="t" r="r" b="b"/>
            <a:pathLst>
              <a:path w="634" h="590" extrusionOk="0">
                <a:moveTo>
                  <a:pt x="589" y="0"/>
                </a:moveTo>
                <a:lnTo>
                  <a:pt x="589" y="0"/>
                </a:lnTo>
                <a:cubicBezTo>
                  <a:pt x="412" y="117"/>
                  <a:pt x="412" y="117"/>
                  <a:pt x="412" y="117"/>
                </a:cubicBezTo>
                <a:cubicBezTo>
                  <a:pt x="162" y="117"/>
                  <a:pt x="162" y="117"/>
                  <a:pt x="162" y="117"/>
                </a:cubicBezTo>
                <a:cubicBezTo>
                  <a:pt x="74" y="117"/>
                  <a:pt x="0" y="176"/>
                  <a:pt x="0" y="265"/>
                </a:cubicBezTo>
                <a:cubicBezTo>
                  <a:pt x="0" y="338"/>
                  <a:pt x="59" y="383"/>
                  <a:pt x="118" y="397"/>
                </a:cubicBezTo>
                <a:lnTo>
                  <a:pt x="118" y="559"/>
                </a:lnTo>
                <a:cubicBezTo>
                  <a:pt x="118" y="574"/>
                  <a:pt x="148" y="589"/>
                  <a:pt x="162" y="589"/>
                </a:cubicBezTo>
                <a:cubicBezTo>
                  <a:pt x="221" y="589"/>
                  <a:pt x="221" y="589"/>
                  <a:pt x="221" y="589"/>
                </a:cubicBezTo>
                <a:cubicBezTo>
                  <a:pt x="236" y="589"/>
                  <a:pt x="265" y="574"/>
                  <a:pt x="265" y="559"/>
                </a:cubicBezTo>
                <a:cubicBezTo>
                  <a:pt x="265" y="397"/>
                  <a:pt x="265" y="397"/>
                  <a:pt x="265" y="397"/>
                </a:cubicBezTo>
                <a:cubicBezTo>
                  <a:pt x="412" y="397"/>
                  <a:pt x="412" y="397"/>
                  <a:pt x="412" y="397"/>
                </a:cubicBezTo>
                <a:cubicBezTo>
                  <a:pt x="589" y="515"/>
                  <a:pt x="589" y="515"/>
                  <a:pt x="589" y="515"/>
                </a:cubicBezTo>
                <a:cubicBezTo>
                  <a:pt x="619" y="515"/>
                  <a:pt x="633" y="500"/>
                  <a:pt x="633" y="471"/>
                </a:cubicBezTo>
                <a:cubicBezTo>
                  <a:pt x="633" y="44"/>
                  <a:pt x="633" y="44"/>
                  <a:pt x="633" y="44"/>
                </a:cubicBezTo>
                <a:cubicBezTo>
                  <a:pt x="633" y="29"/>
                  <a:pt x="619" y="0"/>
                  <a:pt x="589" y="0"/>
                </a:cubicBezTo>
                <a:close/>
                <a:moveTo>
                  <a:pt x="221" y="530"/>
                </a:moveTo>
                <a:lnTo>
                  <a:pt x="221" y="530"/>
                </a:lnTo>
                <a:cubicBezTo>
                  <a:pt x="221" y="545"/>
                  <a:pt x="207" y="559"/>
                  <a:pt x="207" y="559"/>
                </a:cubicBezTo>
                <a:cubicBezTo>
                  <a:pt x="177" y="559"/>
                  <a:pt x="177" y="559"/>
                  <a:pt x="177" y="559"/>
                </a:cubicBezTo>
                <a:cubicBezTo>
                  <a:pt x="177" y="559"/>
                  <a:pt x="162" y="545"/>
                  <a:pt x="162" y="530"/>
                </a:cubicBezTo>
                <a:cubicBezTo>
                  <a:pt x="162" y="397"/>
                  <a:pt x="162" y="397"/>
                  <a:pt x="162" y="397"/>
                </a:cubicBezTo>
                <a:cubicBezTo>
                  <a:pt x="162" y="397"/>
                  <a:pt x="207" y="397"/>
                  <a:pt x="221" y="397"/>
                </a:cubicBezTo>
                <a:lnTo>
                  <a:pt x="221" y="530"/>
                </a:lnTo>
                <a:close/>
                <a:moveTo>
                  <a:pt x="324" y="353"/>
                </a:moveTo>
                <a:lnTo>
                  <a:pt x="324" y="353"/>
                </a:lnTo>
                <a:cubicBezTo>
                  <a:pt x="162" y="353"/>
                  <a:pt x="162" y="353"/>
                  <a:pt x="162" y="353"/>
                </a:cubicBezTo>
                <a:cubicBezTo>
                  <a:pt x="118" y="353"/>
                  <a:pt x="44" y="353"/>
                  <a:pt x="44" y="265"/>
                </a:cubicBezTo>
                <a:cubicBezTo>
                  <a:pt x="44" y="176"/>
                  <a:pt x="118" y="162"/>
                  <a:pt x="162" y="162"/>
                </a:cubicBezTo>
                <a:cubicBezTo>
                  <a:pt x="324" y="162"/>
                  <a:pt x="324" y="162"/>
                  <a:pt x="324" y="162"/>
                </a:cubicBezTo>
                <a:lnTo>
                  <a:pt x="324" y="353"/>
                </a:lnTo>
                <a:close/>
                <a:moveTo>
                  <a:pt x="412" y="353"/>
                </a:moveTo>
                <a:lnTo>
                  <a:pt x="412" y="353"/>
                </a:lnTo>
                <a:cubicBezTo>
                  <a:pt x="354" y="353"/>
                  <a:pt x="354" y="353"/>
                  <a:pt x="354" y="353"/>
                </a:cubicBezTo>
                <a:cubicBezTo>
                  <a:pt x="354" y="162"/>
                  <a:pt x="354" y="162"/>
                  <a:pt x="354" y="162"/>
                </a:cubicBezTo>
                <a:cubicBezTo>
                  <a:pt x="412" y="162"/>
                  <a:pt x="412" y="162"/>
                  <a:pt x="412" y="162"/>
                </a:cubicBezTo>
                <a:cubicBezTo>
                  <a:pt x="412" y="162"/>
                  <a:pt x="412" y="338"/>
                  <a:pt x="412" y="353"/>
                </a:cubicBezTo>
                <a:close/>
                <a:moveTo>
                  <a:pt x="589" y="471"/>
                </a:moveTo>
                <a:lnTo>
                  <a:pt x="589" y="471"/>
                </a:lnTo>
                <a:cubicBezTo>
                  <a:pt x="457" y="383"/>
                  <a:pt x="457" y="383"/>
                  <a:pt x="457" y="383"/>
                </a:cubicBezTo>
                <a:cubicBezTo>
                  <a:pt x="457" y="353"/>
                  <a:pt x="457" y="162"/>
                  <a:pt x="457" y="147"/>
                </a:cubicBezTo>
                <a:cubicBezTo>
                  <a:pt x="589" y="44"/>
                  <a:pt x="589" y="44"/>
                  <a:pt x="589" y="44"/>
                </a:cubicBezTo>
                <a:cubicBezTo>
                  <a:pt x="589" y="74"/>
                  <a:pt x="589" y="456"/>
                  <a:pt x="589" y="471"/>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72" name="Google Shape;372;p40"/>
          <p:cNvSpPr/>
          <p:nvPr/>
        </p:nvSpPr>
        <p:spPr>
          <a:xfrm>
            <a:off x="3876625" y="3745174"/>
            <a:ext cx="286928" cy="278968"/>
          </a:xfrm>
          <a:custGeom>
            <a:avLst/>
            <a:gdLst/>
            <a:ahLst/>
            <a:cxnLst/>
            <a:rect l="l" t="t" r="r" b="b"/>
            <a:pathLst>
              <a:path w="634" h="619" extrusionOk="0">
                <a:moveTo>
                  <a:pt x="412" y="324"/>
                </a:moveTo>
                <a:lnTo>
                  <a:pt x="412" y="324"/>
                </a:lnTo>
                <a:cubicBezTo>
                  <a:pt x="220" y="324"/>
                  <a:pt x="220" y="324"/>
                  <a:pt x="220" y="324"/>
                </a:cubicBezTo>
                <a:cubicBezTo>
                  <a:pt x="206" y="324"/>
                  <a:pt x="191" y="339"/>
                  <a:pt x="191" y="354"/>
                </a:cubicBezTo>
                <a:cubicBezTo>
                  <a:pt x="191" y="354"/>
                  <a:pt x="206" y="368"/>
                  <a:pt x="220" y="368"/>
                </a:cubicBezTo>
                <a:cubicBezTo>
                  <a:pt x="412" y="368"/>
                  <a:pt x="412" y="368"/>
                  <a:pt x="412" y="368"/>
                </a:cubicBezTo>
                <a:cubicBezTo>
                  <a:pt x="426" y="368"/>
                  <a:pt x="426" y="354"/>
                  <a:pt x="426" y="354"/>
                </a:cubicBezTo>
                <a:cubicBezTo>
                  <a:pt x="426" y="339"/>
                  <a:pt x="426" y="324"/>
                  <a:pt x="412" y="324"/>
                </a:cubicBezTo>
                <a:close/>
                <a:moveTo>
                  <a:pt x="456" y="206"/>
                </a:moveTo>
                <a:lnTo>
                  <a:pt x="456" y="206"/>
                </a:lnTo>
                <a:cubicBezTo>
                  <a:pt x="176" y="206"/>
                  <a:pt x="176" y="206"/>
                  <a:pt x="176" y="206"/>
                </a:cubicBezTo>
                <a:cubicBezTo>
                  <a:pt x="162" y="206"/>
                  <a:pt x="162" y="221"/>
                  <a:pt x="162" y="236"/>
                </a:cubicBezTo>
                <a:cubicBezTo>
                  <a:pt x="162" y="236"/>
                  <a:pt x="162" y="251"/>
                  <a:pt x="176" y="251"/>
                </a:cubicBezTo>
                <a:cubicBezTo>
                  <a:pt x="456" y="251"/>
                  <a:pt x="456" y="251"/>
                  <a:pt x="456" y="251"/>
                </a:cubicBezTo>
                <a:lnTo>
                  <a:pt x="471" y="236"/>
                </a:lnTo>
                <a:cubicBezTo>
                  <a:pt x="471" y="221"/>
                  <a:pt x="456" y="206"/>
                  <a:pt x="456" y="206"/>
                </a:cubicBezTo>
                <a:close/>
                <a:moveTo>
                  <a:pt x="309" y="0"/>
                </a:moveTo>
                <a:lnTo>
                  <a:pt x="309" y="0"/>
                </a:lnTo>
                <a:cubicBezTo>
                  <a:pt x="147" y="0"/>
                  <a:pt x="0" y="118"/>
                  <a:pt x="0" y="265"/>
                </a:cubicBezTo>
                <a:cubicBezTo>
                  <a:pt x="0" y="354"/>
                  <a:pt x="44" y="427"/>
                  <a:pt x="117" y="486"/>
                </a:cubicBezTo>
                <a:cubicBezTo>
                  <a:pt x="117" y="618"/>
                  <a:pt x="117" y="618"/>
                  <a:pt x="117" y="618"/>
                </a:cubicBezTo>
                <a:cubicBezTo>
                  <a:pt x="250" y="545"/>
                  <a:pt x="250" y="545"/>
                  <a:pt x="250" y="545"/>
                </a:cubicBezTo>
                <a:cubicBezTo>
                  <a:pt x="279" y="545"/>
                  <a:pt x="294" y="545"/>
                  <a:pt x="309" y="545"/>
                </a:cubicBezTo>
                <a:cubicBezTo>
                  <a:pt x="485" y="545"/>
                  <a:pt x="633" y="427"/>
                  <a:pt x="633" y="265"/>
                </a:cubicBezTo>
                <a:cubicBezTo>
                  <a:pt x="633" y="118"/>
                  <a:pt x="485" y="0"/>
                  <a:pt x="309" y="0"/>
                </a:cubicBezTo>
                <a:close/>
                <a:moveTo>
                  <a:pt x="309" y="501"/>
                </a:moveTo>
                <a:lnTo>
                  <a:pt x="309" y="501"/>
                </a:lnTo>
                <a:cubicBezTo>
                  <a:pt x="294" y="501"/>
                  <a:pt x="265" y="501"/>
                  <a:pt x="250" y="501"/>
                </a:cubicBezTo>
                <a:cubicBezTo>
                  <a:pt x="162" y="560"/>
                  <a:pt x="162" y="560"/>
                  <a:pt x="162" y="560"/>
                </a:cubicBezTo>
                <a:cubicBezTo>
                  <a:pt x="162" y="457"/>
                  <a:pt x="162" y="457"/>
                  <a:pt x="162" y="457"/>
                </a:cubicBezTo>
                <a:cubicBezTo>
                  <a:pt x="88" y="427"/>
                  <a:pt x="44" y="354"/>
                  <a:pt x="44" y="265"/>
                </a:cubicBezTo>
                <a:cubicBezTo>
                  <a:pt x="44" y="133"/>
                  <a:pt x="162" y="30"/>
                  <a:pt x="309" y="30"/>
                </a:cubicBezTo>
                <a:cubicBezTo>
                  <a:pt x="471" y="30"/>
                  <a:pt x="588" y="133"/>
                  <a:pt x="588" y="265"/>
                </a:cubicBezTo>
                <a:cubicBezTo>
                  <a:pt x="588" y="398"/>
                  <a:pt x="471" y="501"/>
                  <a:pt x="309" y="501"/>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aphicFrame>
        <p:nvGraphicFramePr>
          <p:cNvPr id="373" name="Google Shape;373;p40"/>
          <p:cNvGraphicFramePr/>
          <p:nvPr/>
        </p:nvGraphicFramePr>
        <p:xfrm>
          <a:off x="207050" y="190600"/>
          <a:ext cx="3000000" cy="3000000"/>
        </p:xfrm>
        <a:graphic>
          <a:graphicData uri="http://schemas.openxmlformats.org/drawingml/2006/table">
            <a:tbl>
              <a:tblPr>
                <a:noFill/>
                <a:tableStyleId>{F4D771BD-5F72-4EE7-8156-97EEAA8D1089}</a:tableStyleId>
              </a:tblPr>
              <a:tblGrid>
                <a:gridCol w="1452250">
                  <a:extLst>
                    <a:ext uri="{9D8B030D-6E8A-4147-A177-3AD203B41FA5}">
                      <a16:colId xmlns:a16="http://schemas.microsoft.com/office/drawing/2014/main" val="20000"/>
                    </a:ext>
                  </a:extLst>
                </a:gridCol>
                <a:gridCol w="1452250">
                  <a:extLst>
                    <a:ext uri="{9D8B030D-6E8A-4147-A177-3AD203B41FA5}">
                      <a16:colId xmlns:a16="http://schemas.microsoft.com/office/drawing/2014/main" val="20001"/>
                    </a:ext>
                  </a:extLst>
                </a:gridCol>
                <a:gridCol w="1452250">
                  <a:extLst>
                    <a:ext uri="{9D8B030D-6E8A-4147-A177-3AD203B41FA5}">
                      <a16:colId xmlns:a16="http://schemas.microsoft.com/office/drawing/2014/main" val="20002"/>
                    </a:ext>
                  </a:extLst>
                </a:gridCol>
                <a:gridCol w="1452250">
                  <a:extLst>
                    <a:ext uri="{9D8B030D-6E8A-4147-A177-3AD203B41FA5}">
                      <a16:colId xmlns:a16="http://schemas.microsoft.com/office/drawing/2014/main" val="20003"/>
                    </a:ext>
                  </a:extLst>
                </a:gridCol>
                <a:gridCol w="1452250">
                  <a:extLst>
                    <a:ext uri="{9D8B030D-6E8A-4147-A177-3AD203B41FA5}">
                      <a16:colId xmlns:a16="http://schemas.microsoft.com/office/drawing/2014/main" val="20004"/>
                    </a:ext>
                  </a:extLst>
                </a:gridCol>
                <a:gridCol w="1452250">
                  <a:extLst>
                    <a:ext uri="{9D8B030D-6E8A-4147-A177-3AD203B41FA5}">
                      <a16:colId xmlns:a16="http://schemas.microsoft.com/office/drawing/2014/main" val="20005"/>
                    </a:ext>
                  </a:extLst>
                </a:gridCol>
              </a:tblGrid>
              <a:tr h="364800">
                <a:tc gridSpan="2">
                  <a:txBody>
                    <a:bodyPr/>
                    <a:lstStyle/>
                    <a:p>
                      <a:pPr marL="0" lvl="0" indent="0" algn="ctr" rtl="0">
                        <a:spcBef>
                          <a:spcPts val="0"/>
                        </a:spcBef>
                        <a:spcAft>
                          <a:spcPts val="0"/>
                        </a:spcAft>
                        <a:buNone/>
                      </a:pPr>
                      <a:r>
                        <a:rPr lang="en" b="1">
                          <a:solidFill>
                            <a:srgbClr val="002B64"/>
                          </a:solidFill>
                        </a:rPr>
                        <a:t>Get Organised</a:t>
                      </a:r>
                      <a:endParaRPr b="1">
                        <a:solidFill>
                          <a:srgbClr val="002B64"/>
                        </a:solidFill>
                      </a:endParaRPr>
                    </a:p>
                  </a:txBody>
                  <a:tcPr marL="0" marR="0" marT="0" marB="0" anchor="ctr"/>
                </a:tc>
                <a:tc hMerge="1">
                  <a:txBody>
                    <a:bodyPr/>
                    <a:lstStyle/>
                    <a:p>
                      <a:endParaRPr lang="en-US"/>
                    </a:p>
                  </a:txBody>
                  <a:tcPr/>
                </a:tc>
                <a:tc gridSpan="2">
                  <a:txBody>
                    <a:bodyPr/>
                    <a:lstStyle/>
                    <a:p>
                      <a:pPr marL="0" lvl="0" indent="0" algn="ctr" rtl="0">
                        <a:spcBef>
                          <a:spcPts val="0"/>
                        </a:spcBef>
                        <a:spcAft>
                          <a:spcPts val="0"/>
                        </a:spcAft>
                        <a:buNone/>
                      </a:pPr>
                      <a:r>
                        <a:rPr lang="en" b="1">
                          <a:solidFill>
                            <a:srgbClr val="002B64"/>
                          </a:solidFill>
                        </a:rPr>
                        <a:t>Get the Job</a:t>
                      </a:r>
                      <a:endParaRPr b="1">
                        <a:solidFill>
                          <a:srgbClr val="002B64"/>
                        </a:solidFill>
                      </a:endParaRPr>
                    </a:p>
                  </a:txBody>
                  <a:tcPr marL="0" marR="0" marT="0" marB="0" anchor="ctr"/>
                </a:tc>
                <a:tc hMerge="1">
                  <a:txBody>
                    <a:bodyPr/>
                    <a:lstStyle/>
                    <a:p>
                      <a:endParaRPr lang="en-US"/>
                    </a:p>
                  </a:txBody>
                  <a:tcPr/>
                </a:tc>
                <a:tc gridSpan="2">
                  <a:txBody>
                    <a:bodyPr/>
                    <a:lstStyle/>
                    <a:p>
                      <a:pPr marL="0" lvl="0" indent="0" algn="ctr" rtl="0">
                        <a:spcBef>
                          <a:spcPts val="0"/>
                        </a:spcBef>
                        <a:spcAft>
                          <a:spcPts val="0"/>
                        </a:spcAft>
                        <a:buNone/>
                      </a:pPr>
                      <a:r>
                        <a:rPr lang="en" b="1">
                          <a:solidFill>
                            <a:srgbClr val="002B64"/>
                          </a:solidFill>
                        </a:rPr>
                        <a:t>Do the Job</a:t>
                      </a:r>
                      <a:endParaRPr b="1">
                        <a:solidFill>
                          <a:srgbClr val="002B64"/>
                        </a:solidFill>
                      </a:endParaRPr>
                    </a:p>
                  </a:txBody>
                  <a:tcPr marL="0" marR="0" marT="0" marB="0" anchor="ctr"/>
                </a:tc>
                <a:tc hMerge="1">
                  <a:txBody>
                    <a:bodyPr/>
                    <a:lstStyle/>
                    <a:p>
                      <a:endParaRPr lang="en-US"/>
                    </a:p>
                  </a:txBody>
                  <a:tcPr/>
                </a:tc>
                <a:extLst>
                  <a:ext uri="{0D108BD9-81ED-4DB2-BD59-A6C34878D82A}">
                    <a16:rowId xmlns:a16="http://schemas.microsoft.com/office/drawing/2014/main" val="10000"/>
                  </a:ext>
                </a:extLst>
              </a:tr>
              <a:tr h="364800">
                <a:tc>
                  <a:txBody>
                    <a:bodyPr/>
                    <a:lstStyle/>
                    <a:p>
                      <a:pPr marL="0" lvl="0" indent="0" algn="ctr" rtl="0">
                        <a:spcBef>
                          <a:spcPts val="0"/>
                        </a:spcBef>
                        <a:spcAft>
                          <a:spcPts val="0"/>
                        </a:spcAft>
                        <a:buNone/>
                      </a:pPr>
                      <a:r>
                        <a:rPr lang="en" b="1">
                          <a:solidFill>
                            <a:srgbClr val="00B050"/>
                          </a:solidFill>
                        </a:rPr>
                        <a:t>Planning</a:t>
                      </a:r>
                      <a:endParaRPr b="1">
                        <a:solidFill>
                          <a:srgbClr val="00B050"/>
                        </a:solidFill>
                      </a:endParaRPr>
                    </a:p>
                  </a:txBody>
                  <a:tcPr marL="0" marR="0" marT="0" marB="0" anchor="ctr"/>
                </a:tc>
                <a:tc>
                  <a:txBody>
                    <a:bodyPr/>
                    <a:lstStyle/>
                    <a:p>
                      <a:pPr marL="0" lvl="0" indent="0" algn="ctr" rtl="0">
                        <a:spcBef>
                          <a:spcPts val="0"/>
                        </a:spcBef>
                        <a:spcAft>
                          <a:spcPts val="0"/>
                        </a:spcAft>
                        <a:buNone/>
                      </a:pPr>
                      <a:r>
                        <a:rPr lang="en" b="1">
                          <a:solidFill>
                            <a:srgbClr val="92D050"/>
                          </a:solidFill>
                        </a:rPr>
                        <a:t>Data</a:t>
                      </a:r>
                      <a:endParaRPr b="1">
                        <a:solidFill>
                          <a:srgbClr val="92D050"/>
                        </a:solidFill>
                      </a:endParaRPr>
                    </a:p>
                  </a:txBody>
                  <a:tcPr marL="0" marR="0" marT="0" marB="0" anchor="ctr"/>
                </a:tc>
                <a:tc>
                  <a:txBody>
                    <a:bodyPr/>
                    <a:lstStyle/>
                    <a:p>
                      <a:pPr marL="0" lvl="0" indent="0" algn="ctr" rtl="0">
                        <a:spcBef>
                          <a:spcPts val="0"/>
                        </a:spcBef>
                        <a:spcAft>
                          <a:spcPts val="0"/>
                        </a:spcAft>
                        <a:buNone/>
                      </a:pPr>
                      <a:r>
                        <a:rPr lang="en" b="1">
                          <a:solidFill>
                            <a:srgbClr val="0070C0"/>
                          </a:solidFill>
                        </a:rPr>
                        <a:t>Marketing</a:t>
                      </a:r>
                      <a:endParaRPr b="1">
                        <a:solidFill>
                          <a:srgbClr val="0070C0"/>
                        </a:solidFill>
                      </a:endParaRPr>
                    </a:p>
                  </a:txBody>
                  <a:tcPr marL="0" marR="0" marT="0" marB="0" anchor="ctr"/>
                </a:tc>
                <a:tc>
                  <a:txBody>
                    <a:bodyPr/>
                    <a:lstStyle/>
                    <a:p>
                      <a:pPr marL="0" lvl="0" indent="0" algn="ctr" rtl="0">
                        <a:spcBef>
                          <a:spcPts val="0"/>
                        </a:spcBef>
                        <a:spcAft>
                          <a:spcPts val="0"/>
                        </a:spcAft>
                        <a:buNone/>
                      </a:pPr>
                      <a:r>
                        <a:rPr lang="en" b="1">
                          <a:solidFill>
                            <a:srgbClr val="00B0F0"/>
                          </a:solidFill>
                        </a:rPr>
                        <a:t>Selling</a:t>
                      </a:r>
                      <a:endParaRPr b="1">
                        <a:solidFill>
                          <a:srgbClr val="00B0F0"/>
                        </a:solidFill>
                      </a:endParaRPr>
                    </a:p>
                  </a:txBody>
                  <a:tcPr marL="0" marR="0" marT="0" marB="0" anchor="ctr"/>
                </a:tc>
                <a:tc>
                  <a:txBody>
                    <a:bodyPr/>
                    <a:lstStyle/>
                    <a:p>
                      <a:pPr marL="0" lvl="0" indent="0" algn="ctr" rtl="0">
                        <a:spcBef>
                          <a:spcPts val="0"/>
                        </a:spcBef>
                        <a:spcAft>
                          <a:spcPts val="0"/>
                        </a:spcAft>
                        <a:buNone/>
                      </a:pPr>
                      <a:r>
                        <a:rPr lang="en" b="1">
                          <a:solidFill>
                            <a:srgbClr val="C55A11"/>
                          </a:solidFill>
                        </a:rPr>
                        <a:t>People</a:t>
                      </a:r>
                      <a:endParaRPr b="1">
                        <a:solidFill>
                          <a:srgbClr val="C55A11"/>
                        </a:solidFill>
                      </a:endParaRPr>
                    </a:p>
                  </a:txBody>
                  <a:tcPr marL="0" marR="0" marT="0" marB="0" anchor="ctr"/>
                </a:tc>
                <a:tc>
                  <a:txBody>
                    <a:bodyPr/>
                    <a:lstStyle/>
                    <a:p>
                      <a:pPr marL="0" lvl="0" indent="0" algn="ctr" rtl="0">
                        <a:spcBef>
                          <a:spcPts val="0"/>
                        </a:spcBef>
                        <a:spcAft>
                          <a:spcPts val="0"/>
                        </a:spcAft>
                        <a:buNone/>
                      </a:pPr>
                      <a:r>
                        <a:rPr lang="en" b="1">
                          <a:solidFill>
                            <a:srgbClr val="F4B081"/>
                          </a:solidFill>
                        </a:rPr>
                        <a:t>Process</a:t>
                      </a:r>
                      <a:endParaRPr b="1">
                        <a:solidFill>
                          <a:srgbClr val="F4B081"/>
                        </a:solidFill>
                      </a:endParaRPr>
                    </a:p>
                  </a:txBody>
                  <a:tcPr marL="0" marR="0" marT="0" marB="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7"/>
        <p:cNvGrpSpPr/>
        <p:nvPr/>
      </p:nvGrpSpPr>
      <p:grpSpPr>
        <a:xfrm>
          <a:off x="0" y="0"/>
          <a:ext cx="0" cy="0"/>
          <a:chOff x="0" y="0"/>
          <a:chExt cx="0" cy="0"/>
        </a:xfrm>
      </p:grpSpPr>
      <p:sp>
        <p:nvSpPr>
          <p:cNvPr id="378" name="Google Shape;378;p41"/>
          <p:cNvSpPr/>
          <p:nvPr/>
        </p:nvSpPr>
        <p:spPr>
          <a:xfrm>
            <a:off x="7139003" y="2156637"/>
            <a:ext cx="16830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Client Segmentation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Focused messaging</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Brand recognition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Market Analytics</a:t>
            </a:r>
            <a:endParaRPr sz="1100" i="0" u="none" strike="noStrike" cap="none">
              <a:solidFill>
                <a:srgbClr val="434343"/>
              </a:solidFill>
              <a:latin typeface="Open Sans"/>
              <a:ea typeface="Open Sans"/>
              <a:cs typeface="Open Sans"/>
              <a:sym typeface="Open Sans"/>
            </a:endParaRPr>
          </a:p>
        </p:txBody>
      </p:sp>
      <p:sp>
        <p:nvSpPr>
          <p:cNvPr id="379" name="Google Shape;379;p41"/>
          <p:cNvSpPr/>
          <p:nvPr/>
        </p:nvSpPr>
        <p:spPr>
          <a:xfrm>
            <a:off x="7342471" y="2040426"/>
            <a:ext cx="1296600" cy="21600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Marketing</a:t>
            </a:r>
            <a:endParaRPr sz="1100" i="0" u="none" strike="noStrike" cap="none">
              <a:solidFill>
                <a:srgbClr val="000000"/>
              </a:solidFill>
              <a:latin typeface="Open Sans"/>
              <a:ea typeface="Open Sans"/>
              <a:cs typeface="Open Sans"/>
              <a:sym typeface="Open Sans"/>
            </a:endParaRPr>
          </a:p>
        </p:txBody>
      </p:sp>
      <p:sp>
        <p:nvSpPr>
          <p:cNvPr id="380" name="Google Shape;380;p41"/>
          <p:cNvSpPr/>
          <p:nvPr/>
        </p:nvSpPr>
        <p:spPr>
          <a:xfrm>
            <a:off x="1794010" y="435987"/>
            <a:ext cx="19518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Orientation / Desires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Revenue model / Scale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Bizz Threats/ Opportunity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Organisational structure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Values &amp; Risk appetite</a:t>
            </a:r>
            <a:endParaRPr sz="1100" i="0" u="none" strike="noStrike" cap="none">
              <a:solidFill>
                <a:srgbClr val="434343"/>
              </a:solidFill>
              <a:latin typeface="Open Sans"/>
              <a:ea typeface="Open Sans"/>
              <a:cs typeface="Open Sans"/>
              <a:sym typeface="Open Sans"/>
            </a:endParaRPr>
          </a:p>
        </p:txBody>
      </p:sp>
      <p:sp>
        <p:nvSpPr>
          <p:cNvPr id="381" name="Google Shape;381;p41"/>
          <p:cNvSpPr/>
          <p:nvPr/>
        </p:nvSpPr>
        <p:spPr>
          <a:xfrm>
            <a:off x="5461190" y="406295"/>
            <a:ext cx="18429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Collect, Compile, Verify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Assimilate, Report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Model, Forecast, Scenario planning &amp; Prediction</a:t>
            </a:r>
            <a:endParaRPr sz="1100" i="0" u="none" strike="noStrike" cap="none">
              <a:solidFill>
                <a:srgbClr val="434343"/>
              </a:solidFill>
              <a:latin typeface="Open Sans"/>
              <a:ea typeface="Open Sans"/>
              <a:cs typeface="Open Sans"/>
              <a:sym typeface="Open Sans"/>
            </a:endParaRPr>
          </a:p>
        </p:txBody>
      </p:sp>
      <p:sp>
        <p:nvSpPr>
          <p:cNvPr id="382" name="Google Shape;382;p41"/>
          <p:cNvSpPr/>
          <p:nvPr/>
        </p:nvSpPr>
        <p:spPr>
          <a:xfrm>
            <a:off x="5391168" y="3848467"/>
            <a:ext cx="18285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Enquiry conversion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Customer/Client relations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Point of sale feedback re- product/service appeal &amp; competitor perceptions.</a:t>
            </a:r>
            <a:endParaRPr sz="1100" i="0" u="none" strike="noStrike" cap="none">
              <a:solidFill>
                <a:srgbClr val="434343"/>
              </a:solidFill>
              <a:latin typeface="Open Sans"/>
              <a:ea typeface="Open Sans"/>
              <a:cs typeface="Open Sans"/>
              <a:sym typeface="Open Sans"/>
            </a:endParaRPr>
          </a:p>
        </p:txBody>
      </p:sp>
      <p:sp>
        <p:nvSpPr>
          <p:cNvPr id="383" name="Google Shape;383;p41"/>
          <p:cNvSpPr/>
          <p:nvPr/>
        </p:nvSpPr>
        <p:spPr>
          <a:xfrm>
            <a:off x="1857702" y="3848798"/>
            <a:ext cx="2012100" cy="8925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engagement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proximity / locations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Skills development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Leadership / Morale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Internal communication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Staffing numbers/divisions</a:t>
            </a:r>
            <a:endParaRPr sz="1100" i="0" u="none" strike="noStrike" cap="none">
              <a:solidFill>
                <a:srgbClr val="434343"/>
              </a:solidFill>
              <a:latin typeface="Open Sans"/>
              <a:ea typeface="Open Sans"/>
              <a:cs typeface="Open Sans"/>
              <a:sym typeface="Open Sans"/>
            </a:endParaRPr>
          </a:p>
        </p:txBody>
      </p:sp>
      <p:sp>
        <p:nvSpPr>
          <p:cNvPr id="384" name="Google Shape;384;p41"/>
          <p:cNvSpPr/>
          <p:nvPr/>
        </p:nvSpPr>
        <p:spPr>
          <a:xfrm>
            <a:off x="241338" y="2193708"/>
            <a:ext cx="17904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People Effectiveness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Reliability / Consistency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Systems interdependency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Business Improvements</a:t>
            </a:r>
            <a:endParaRPr sz="1100" i="0" u="none" strike="noStrike" cap="none">
              <a:solidFill>
                <a:srgbClr val="434343"/>
              </a:solidFill>
              <a:latin typeface="Open Sans"/>
              <a:ea typeface="Open Sans"/>
              <a:cs typeface="Open Sans"/>
              <a:sym typeface="Open Sans"/>
            </a:endParaRPr>
          </a:p>
        </p:txBody>
      </p:sp>
      <p:sp>
        <p:nvSpPr>
          <p:cNvPr id="385" name="Google Shape;385;p41"/>
          <p:cNvSpPr/>
          <p:nvPr/>
        </p:nvSpPr>
        <p:spPr>
          <a:xfrm>
            <a:off x="2165552" y="241316"/>
            <a:ext cx="1267800" cy="216000"/>
          </a:xfrm>
          <a:prstGeom prst="roundRect">
            <a:avLst>
              <a:gd name="adj" fmla="val 16667"/>
            </a:avLst>
          </a:prstGeom>
          <a:solidFill>
            <a:schemeClr val="accent5"/>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Planning</a:t>
            </a:r>
            <a:endParaRPr sz="1100" i="0" u="none" strike="noStrike" cap="none">
              <a:solidFill>
                <a:srgbClr val="000000"/>
              </a:solidFill>
              <a:latin typeface="Open Sans"/>
              <a:ea typeface="Open Sans"/>
              <a:cs typeface="Open Sans"/>
              <a:sym typeface="Open Sans"/>
            </a:endParaRPr>
          </a:p>
        </p:txBody>
      </p:sp>
      <p:sp>
        <p:nvSpPr>
          <p:cNvPr id="386" name="Google Shape;386;p41"/>
          <p:cNvSpPr/>
          <p:nvPr/>
        </p:nvSpPr>
        <p:spPr>
          <a:xfrm>
            <a:off x="5689610" y="230896"/>
            <a:ext cx="1243500" cy="2160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Data</a:t>
            </a:r>
            <a:endParaRPr sz="1100" i="0" u="none" strike="noStrike" cap="none">
              <a:solidFill>
                <a:srgbClr val="000000"/>
              </a:solidFill>
              <a:latin typeface="Open Sans"/>
              <a:ea typeface="Open Sans"/>
              <a:cs typeface="Open Sans"/>
              <a:sym typeface="Open Sans"/>
            </a:endParaRPr>
          </a:p>
        </p:txBody>
      </p:sp>
      <p:sp>
        <p:nvSpPr>
          <p:cNvPr id="387" name="Google Shape;387;p41"/>
          <p:cNvSpPr/>
          <p:nvPr/>
        </p:nvSpPr>
        <p:spPr>
          <a:xfrm>
            <a:off x="5689610" y="3675353"/>
            <a:ext cx="1267800" cy="21600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Sales</a:t>
            </a:r>
            <a:endParaRPr sz="1100" i="0" u="none" strike="noStrike" cap="none">
              <a:solidFill>
                <a:srgbClr val="000000"/>
              </a:solidFill>
              <a:latin typeface="Open Sans"/>
              <a:ea typeface="Open Sans"/>
              <a:cs typeface="Open Sans"/>
              <a:sym typeface="Open Sans"/>
            </a:endParaRPr>
          </a:p>
        </p:txBody>
      </p:sp>
      <p:sp>
        <p:nvSpPr>
          <p:cNvPr id="388" name="Google Shape;388;p41"/>
          <p:cNvSpPr/>
          <p:nvPr/>
        </p:nvSpPr>
        <p:spPr>
          <a:xfrm>
            <a:off x="2249423" y="3687928"/>
            <a:ext cx="1268100" cy="216000"/>
          </a:xfrm>
          <a:prstGeom prst="roundRect">
            <a:avLst>
              <a:gd name="adj" fmla="val 16667"/>
            </a:avLst>
          </a:prstGeom>
          <a:solidFill>
            <a:schemeClr val="accent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People</a:t>
            </a:r>
            <a:endParaRPr sz="1100" i="0" u="none" strike="noStrike" cap="none">
              <a:solidFill>
                <a:srgbClr val="000000"/>
              </a:solidFill>
              <a:latin typeface="Open Sans"/>
              <a:ea typeface="Open Sans"/>
              <a:cs typeface="Open Sans"/>
              <a:sym typeface="Open Sans"/>
            </a:endParaRPr>
          </a:p>
        </p:txBody>
      </p:sp>
      <p:sp>
        <p:nvSpPr>
          <p:cNvPr id="389" name="Google Shape;389;p41"/>
          <p:cNvSpPr/>
          <p:nvPr/>
        </p:nvSpPr>
        <p:spPr>
          <a:xfrm>
            <a:off x="504914" y="2034534"/>
            <a:ext cx="1275300" cy="216000"/>
          </a:xfrm>
          <a:prstGeom prst="roundRect">
            <a:avLst>
              <a:gd name="adj" fmla="val 16667"/>
            </a:avLst>
          </a:prstGeom>
          <a:solidFill>
            <a:srgbClr val="595959"/>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Process</a:t>
            </a:r>
            <a:endParaRPr sz="1100" i="0" u="none" strike="noStrike" cap="none">
              <a:solidFill>
                <a:srgbClr val="000000"/>
              </a:solidFill>
              <a:latin typeface="Open Sans"/>
              <a:ea typeface="Open Sans"/>
              <a:cs typeface="Open Sans"/>
              <a:sym typeface="Open Sans"/>
            </a:endParaRPr>
          </a:p>
        </p:txBody>
      </p:sp>
      <p:sp>
        <p:nvSpPr>
          <p:cNvPr id="390" name="Google Shape;390;p41"/>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1" name="Google Shape;391;p41"/>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2" name="Google Shape;392;p41"/>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3" name="Google Shape;393;p41"/>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394" name="Google Shape;394;p41"/>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sp>
        <p:nvSpPr>
          <p:cNvPr id="399" name="Google Shape;399;p42"/>
          <p:cNvSpPr/>
          <p:nvPr/>
        </p:nvSpPr>
        <p:spPr>
          <a:xfrm>
            <a:off x="7139003" y="2156637"/>
            <a:ext cx="16830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Client Segmentation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Focused messaging</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Brand recognition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Market Analytics</a:t>
            </a:r>
            <a:endParaRPr sz="1100" i="0" u="none" strike="noStrike" cap="none">
              <a:solidFill>
                <a:srgbClr val="434343"/>
              </a:solidFill>
              <a:latin typeface="Open Sans"/>
              <a:ea typeface="Open Sans"/>
              <a:cs typeface="Open Sans"/>
              <a:sym typeface="Open Sans"/>
            </a:endParaRPr>
          </a:p>
        </p:txBody>
      </p:sp>
      <p:sp>
        <p:nvSpPr>
          <p:cNvPr id="400" name="Google Shape;400;p42"/>
          <p:cNvSpPr/>
          <p:nvPr/>
        </p:nvSpPr>
        <p:spPr>
          <a:xfrm>
            <a:off x="7342471" y="2040426"/>
            <a:ext cx="1296600" cy="216000"/>
          </a:xfrm>
          <a:prstGeom prst="roundRect">
            <a:avLst>
              <a:gd name="adj" fmla="val 16667"/>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Marketing</a:t>
            </a:r>
            <a:endParaRPr sz="1100" i="0" u="none" strike="noStrike" cap="none">
              <a:solidFill>
                <a:srgbClr val="000000"/>
              </a:solidFill>
              <a:latin typeface="Open Sans"/>
              <a:ea typeface="Open Sans"/>
              <a:cs typeface="Open Sans"/>
              <a:sym typeface="Open Sans"/>
            </a:endParaRPr>
          </a:p>
        </p:txBody>
      </p:sp>
      <p:sp>
        <p:nvSpPr>
          <p:cNvPr id="401" name="Google Shape;401;p42"/>
          <p:cNvSpPr/>
          <p:nvPr/>
        </p:nvSpPr>
        <p:spPr>
          <a:xfrm>
            <a:off x="1794010" y="435987"/>
            <a:ext cx="19518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Orientation / Desires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Revenue model / Scale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Bizz Threats/ Opportunity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Organisational structure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Values &amp; Risk appetite</a:t>
            </a:r>
            <a:endParaRPr sz="1100" i="0" u="none" strike="noStrike" cap="none">
              <a:solidFill>
                <a:srgbClr val="434343"/>
              </a:solidFill>
              <a:latin typeface="Open Sans"/>
              <a:ea typeface="Open Sans"/>
              <a:cs typeface="Open Sans"/>
              <a:sym typeface="Open Sans"/>
            </a:endParaRPr>
          </a:p>
        </p:txBody>
      </p:sp>
      <p:sp>
        <p:nvSpPr>
          <p:cNvPr id="402" name="Google Shape;402;p42"/>
          <p:cNvSpPr/>
          <p:nvPr/>
        </p:nvSpPr>
        <p:spPr>
          <a:xfrm>
            <a:off x="5461190" y="406295"/>
            <a:ext cx="18429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Collect, Compile, Verify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Assimilate, Report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Model, Forecast, Scenario planning &amp; Prediction</a:t>
            </a:r>
            <a:endParaRPr sz="1100" i="0" u="none" strike="noStrike" cap="none">
              <a:solidFill>
                <a:srgbClr val="434343"/>
              </a:solidFill>
              <a:latin typeface="Open Sans"/>
              <a:ea typeface="Open Sans"/>
              <a:cs typeface="Open Sans"/>
              <a:sym typeface="Open Sans"/>
            </a:endParaRPr>
          </a:p>
        </p:txBody>
      </p:sp>
      <p:sp>
        <p:nvSpPr>
          <p:cNvPr id="403" name="Google Shape;403;p42"/>
          <p:cNvSpPr/>
          <p:nvPr/>
        </p:nvSpPr>
        <p:spPr>
          <a:xfrm>
            <a:off x="5391168" y="3848467"/>
            <a:ext cx="18285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Enquiry conversion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Customer/Client relations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Point of sale feedback re- product/service appeal &amp; competitor perceptions.</a:t>
            </a:r>
            <a:endParaRPr sz="1100" i="0" u="none" strike="noStrike" cap="none">
              <a:solidFill>
                <a:srgbClr val="434343"/>
              </a:solidFill>
              <a:latin typeface="Open Sans"/>
              <a:ea typeface="Open Sans"/>
              <a:cs typeface="Open Sans"/>
              <a:sym typeface="Open Sans"/>
            </a:endParaRPr>
          </a:p>
        </p:txBody>
      </p:sp>
      <p:sp>
        <p:nvSpPr>
          <p:cNvPr id="404" name="Google Shape;404;p42"/>
          <p:cNvSpPr/>
          <p:nvPr/>
        </p:nvSpPr>
        <p:spPr>
          <a:xfrm>
            <a:off x="1857702" y="3848798"/>
            <a:ext cx="2012100" cy="8925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engagement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 proximity / locations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Skills development</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Leadership / Morale</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Internal communication</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Staffing numbers/divisions</a:t>
            </a:r>
            <a:endParaRPr sz="1100" i="0" u="none" strike="noStrike" cap="none">
              <a:solidFill>
                <a:srgbClr val="434343"/>
              </a:solidFill>
              <a:latin typeface="Open Sans"/>
              <a:ea typeface="Open Sans"/>
              <a:cs typeface="Open Sans"/>
              <a:sym typeface="Open Sans"/>
            </a:endParaRPr>
          </a:p>
        </p:txBody>
      </p:sp>
      <p:sp>
        <p:nvSpPr>
          <p:cNvPr id="405" name="Google Shape;405;p42"/>
          <p:cNvSpPr/>
          <p:nvPr/>
        </p:nvSpPr>
        <p:spPr>
          <a:xfrm>
            <a:off x="241338" y="2193708"/>
            <a:ext cx="17904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People Effectiveness</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Reliability / Consistency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Systems interdependency</a:t>
            </a:r>
            <a:endParaRPr sz="1100" i="0" u="none" strike="noStrike" cap="none">
              <a:solidFill>
                <a:srgbClr val="434343"/>
              </a:solidFill>
              <a:latin typeface="Open Sans"/>
              <a:ea typeface="Open Sans"/>
              <a:cs typeface="Open Sans"/>
              <a:sym typeface="Open Sans"/>
            </a:endParaRPr>
          </a:p>
          <a:p>
            <a:pPr marL="127000" marR="0" lvl="0" indent="-127000" algn="l" rtl="0">
              <a:lnSpc>
                <a:spcPct val="100000"/>
              </a:lnSpc>
              <a:spcBef>
                <a:spcPts val="0"/>
              </a:spcBef>
              <a:spcAft>
                <a:spcPts val="0"/>
              </a:spcAft>
              <a:buClr>
                <a:srgbClr val="434343"/>
              </a:buClr>
              <a:buSzPts val="800"/>
              <a:buFont typeface="Open Sans"/>
              <a:buChar char="•"/>
            </a:pPr>
            <a:r>
              <a:rPr lang="en" sz="800" i="0" u="none" strike="noStrike" cap="none">
                <a:solidFill>
                  <a:srgbClr val="434343"/>
                </a:solidFill>
                <a:latin typeface="Open Sans"/>
                <a:ea typeface="Open Sans"/>
                <a:cs typeface="Open Sans"/>
                <a:sym typeface="Open Sans"/>
              </a:rPr>
              <a:t>Business Improvements</a:t>
            </a:r>
            <a:endParaRPr sz="1100" i="0" u="none" strike="noStrike" cap="none">
              <a:solidFill>
                <a:srgbClr val="434343"/>
              </a:solidFill>
              <a:latin typeface="Open Sans"/>
              <a:ea typeface="Open Sans"/>
              <a:cs typeface="Open Sans"/>
              <a:sym typeface="Open Sans"/>
            </a:endParaRPr>
          </a:p>
        </p:txBody>
      </p:sp>
      <p:sp>
        <p:nvSpPr>
          <p:cNvPr id="406" name="Google Shape;406;p42"/>
          <p:cNvSpPr/>
          <p:nvPr/>
        </p:nvSpPr>
        <p:spPr>
          <a:xfrm>
            <a:off x="2165552" y="241316"/>
            <a:ext cx="1267800" cy="216000"/>
          </a:xfrm>
          <a:prstGeom prst="roundRect">
            <a:avLst>
              <a:gd name="adj" fmla="val 16667"/>
            </a:avLst>
          </a:prstGeom>
          <a:solidFill>
            <a:schemeClr val="accent5"/>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Planning</a:t>
            </a:r>
            <a:endParaRPr sz="1100" i="0" u="none" strike="noStrike" cap="none">
              <a:solidFill>
                <a:srgbClr val="000000"/>
              </a:solidFill>
              <a:latin typeface="Open Sans"/>
              <a:ea typeface="Open Sans"/>
              <a:cs typeface="Open Sans"/>
              <a:sym typeface="Open Sans"/>
            </a:endParaRPr>
          </a:p>
        </p:txBody>
      </p:sp>
      <p:sp>
        <p:nvSpPr>
          <p:cNvPr id="407" name="Google Shape;407;p42"/>
          <p:cNvSpPr/>
          <p:nvPr/>
        </p:nvSpPr>
        <p:spPr>
          <a:xfrm>
            <a:off x="5689610" y="230896"/>
            <a:ext cx="1243500" cy="2160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Data</a:t>
            </a:r>
            <a:endParaRPr sz="1100" i="0" u="none" strike="noStrike" cap="none">
              <a:solidFill>
                <a:srgbClr val="000000"/>
              </a:solidFill>
              <a:latin typeface="Open Sans"/>
              <a:ea typeface="Open Sans"/>
              <a:cs typeface="Open Sans"/>
              <a:sym typeface="Open Sans"/>
            </a:endParaRPr>
          </a:p>
        </p:txBody>
      </p:sp>
      <p:sp>
        <p:nvSpPr>
          <p:cNvPr id="408" name="Google Shape;408;p42"/>
          <p:cNvSpPr/>
          <p:nvPr/>
        </p:nvSpPr>
        <p:spPr>
          <a:xfrm>
            <a:off x="5689610" y="3675353"/>
            <a:ext cx="1267800" cy="216000"/>
          </a:xfrm>
          <a:prstGeom prst="roundRect">
            <a:avLst>
              <a:gd name="adj" fmla="val 16667"/>
            </a:avLst>
          </a:prstGeom>
          <a:solidFill>
            <a:srgbClr val="00B05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Sales</a:t>
            </a:r>
            <a:endParaRPr sz="1100" i="0" u="none" strike="noStrike" cap="none">
              <a:solidFill>
                <a:srgbClr val="000000"/>
              </a:solidFill>
              <a:latin typeface="Open Sans"/>
              <a:ea typeface="Open Sans"/>
              <a:cs typeface="Open Sans"/>
              <a:sym typeface="Open Sans"/>
            </a:endParaRPr>
          </a:p>
        </p:txBody>
      </p:sp>
      <p:sp>
        <p:nvSpPr>
          <p:cNvPr id="409" name="Google Shape;409;p42"/>
          <p:cNvSpPr/>
          <p:nvPr/>
        </p:nvSpPr>
        <p:spPr>
          <a:xfrm>
            <a:off x="2249423" y="3687928"/>
            <a:ext cx="1268100" cy="216000"/>
          </a:xfrm>
          <a:prstGeom prst="roundRect">
            <a:avLst>
              <a:gd name="adj" fmla="val 16667"/>
            </a:avLst>
          </a:prstGeom>
          <a:solidFill>
            <a:schemeClr val="accent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People</a:t>
            </a:r>
            <a:endParaRPr sz="1100" i="0" u="none" strike="noStrike" cap="none">
              <a:solidFill>
                <a:srgbClr val="000000"/>
              </a:solidFill>
              <a:latin typeface="Open Sans"/>
              <a:ea typeface="Open Sans"/>
              <a:cs typeface="Open Sans"/>
              <a:sym typeface="Open Sans"/>
            </a:endParaRPr>
          </a:p>
        </p:txBody>
      </p:sp>
      <p:sp>
        <p:nvSpPr>
          <p:cNvPr id="410" name="Google Shape;410;p42"/>
          <p:cNvSpPr/>
          <p:nvPr/>
        </p:nvSpPr>
        <p:spPr>
          <a:xfrm>
            <a:off x="504914" y="2034534"/>
            <a:ext cx="1275300" cy="216000"/>
          </a:xfrm>
          <a:prstGeom prst="roundRect">
            <a:avLst>
              <a:gd name="adj" fmla="val 16667"/>
            </a:avLst>
          </a:prstGeom>
          <a:solidFill>
            <a:srgbClr val="595959"/>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i="0" u="none" strike="noStrike" cap="none">
                <a:solidFill>
                  <a:schemeClr val="lt1"/>
                </a:solidFill>
                <a:latin typeface="Open Sans"/>
                <a:ea typeface="Open Sans"/>
                <a:cs typeface="Open Sans"/>
                <a:sym typeface="Open Sans"/>
              </a:rPr>
              <a:t>Process</a:t>
            </a:r>
            <a:endParaRPr sz="1100" i="0" u="none" strike="noStrike" cap="none">
              <a:solidFill>
                <a:srgbClr val="000000"/>
              </a:solidFill>
              <a:latin typeface="Open Sans"/>
              <a:ea typeface="Open Sans"/>
              <a:cs typeface="Open Sans"/>
              <a:sym typeface="Open Sans"/>
            </a:endParaRPr>
          </a:p>
        </p:txBody>
      </p:sp>
      <p:sp>
        <p:nvSpPr>
          <p:cNvPr id="411" name="Google Shape;411;p42"/>
          <p:cNvSpPr/>
          <p:nvPr/>
        </p:nvSpPr>
        <p:spPr>
          <a:xfrm>
            <a:off x="4031941" y="869699"/>
            <a:ext cx="10800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Clarity of targets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Value chain/drivers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New actions to be tested</a:t>
            </a:r>
            <a:endParaRPr sz="1100" b="0" i="0" u="none" strike="noStrike" cap="none">
              <a:solidFill>
                <a:srgbClr val="000000"/>
              </a:solidFill>
              <a:latin typeface="Arial"/>
              <a:ea typeface="Arial"/>
              <a:cs typeface="Arial"/>
              <a:sym typeface="Arial"/>
            </a:endParaRPr>
          </a:p>
        </p:txBody>
      </p:sp>
      <p:sp>
        <p:nvSpPr>
          <p:cNvPr id="412" name="Google Shape;412;p42"/>
          <p:cNvSpPr/>
          <p:nvPr/>
        </p:nvSpPr>
        <p:spPr>
          <a:xfrm>
            <a:off x="551397" y="1129793"/>
            <a:ext cx="11610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Transactional Volume</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profitability</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Reduced overheads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Less wastage/errors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Leveraged activities</a:t>
            </a:r>
            <a:endParaRPr sz="1100" b="0" i="0" u="none" strike="noStrike" cap="none">
              <a:solidFill>
                <a:srgbClr val="000000"/>
              </a:solidFill>
              <a:latin typeface="Arial"/>
              <a:ea typeface="Arial"/>
              <a:cs typeface="Arial"/>
              <a:sym typeface="Arial"/>
            </a:endParaRPr>
          </a:p>
        </p:txBody>
      </p:sp>
      <p:sp>
        <p:nvSpPr>
          <p:cNvPr id="413" name="Google Shape;413;p42"/>
          <p:cNvSpPr/>
          <p:nvPr/>
        </p:nvSpPr>
        <p:spPr>
          <a:xfrm>
            <a:off x="7450474" y="1198864"/>
            <a:ext cx="12435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Prioritise actions</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Focus Marketing activity</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Quantify actions</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Confirm understanding</a:t>
            </a:r>
            <a:endParaRPr sz="1100" b="0" i="0" u="none" strike="noStrike" cap="none">
              <a:solidFill>
                <a:srgbClr val="000000"/>
              </a:solidFill>
              <a:latin typeface="Arial"/>
              <a:ea typeface="Arial"/>
              <a:cs typeface="Arial"/>
              <a:sym typeface="Arial"/>
            </a:endParaRPr>
          </a:p>
          <a:p>
            <a:pPr marL="88900" marR="0" lvl="0" indent="-825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Allocate resources</a:t>
            </a:r>
            <a:endParaRPr sz="1100" b="0" i="0" u="none" strike="noStrike" cap="none">
              <a:solidFill>
                <a:srgbClr val="000000"/>
              </a:solidFill>
              <a:latin typeface="Arial"/>
              <a:ea typeface="Arial"/>
              <a:cs typeface="Arial"/>
              <a:sym typeface="Arial"/>
            </a:endParaRPr>
          </a:p>
        </p:txBody>
      </p:sp>
      <p:sp>
        <p:nvSpPr>
          <p:cNvPr id="414" name="Google Shape;414;p42"/>
          <p:cNvSpPr/>
          <p:nvPr/>
        </p:nvSpPr>
        <p:spPr>
          <a:xfrm>
            <a:off x="7546793" y="3214223"/>
            <a:ext cx="1161000" cy="687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Phone enquiries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Customer walk ins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a:solidFill>
                  <a:schemeClr val="lt1"/>
                </a:solidFill>
                <a:latin typeface="Calibri"/>
                <a:ea typeface="Calibri"/>
                <a:cs typeface="Calibri"/>
                <a:sym typeface="Calibri"/>
              </a:rPr>
              <a:t>Online</a:t>
            </a:r>
            <a:r>
              <a:rPr lang="en" sz="700" b="0" i="0" u="none" strike="noStrike" cap="none">
                <a:solidFill>
                  <a:schemeClr val="lt1"/>
                </a:solidFill>
                <a:latin typeface="Calibri"/>
                <a:ea typeface="Calibri"/>
                <a:cs typeface="Calibri"/>
                <a:sym typeface="Calibri"/>
              </a:rPr>
              <a:t> requests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a:solidFill>
                  <a:schemeClr val="lt1"/>
                </a:solidFill>
                <a:latin typeface="Calibri"/>
                <a:ea typeface="Calibri"/>
                <a:cs typeface="Calibri"/>
                <a:sym typeface="Calibri"/>
              </a:rPr>
              <a:t>Online</a:t>
            </a:r>
            <a:r>
              <a:rPr lang="en" sz="700" b="0" i="0" u="none" strike="noStrike" cap="none">
                <a:solidFill>
                  <a:schemeClr val="lt1"/>
                </a:solidFill>
                <a:latin typeface="Calibri"/>
                <a:ea typeface="Calibri"/>
                <a:cs typeface="Calibri"/>
                <a:sym typeface="Calibri"/>
              </a:rPr>
              <a:t> purchases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Greater receptivity to sales activities</a:t>
            </a:r>
            <a:endParaRPr sz="1100" b="0" i="0" u="none" strike="noStrike" cap="none">
              <a:solidFill>
                <a:srgbClr val="000000"/>
              </a:solidFill>
              <a:latin typeface="Arial"/>
              <a:ea typeface="Arial"/>
              <a:cs typeface="Arial"/>
              <a:sym typeface="Arial"/>
            </a:endParaRPr>
          </a:p>
        </p:txBody>
      </p:sp>
      <p:sp>
        <p:nvSpPr>
          <p:cNvPr id="415" name="Google Shape;415;p42"/>
          <p:cNvSpPr/>
          <p:nvPr/>
        </p:nvSpPr>
        <p:spPr>
          <a:xfrm>
            <a:off x="4036950" y="4299942"/>
            <a:ext cx="1080000" cy="702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 of Sales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Avg’ Sale Value</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Repeat Purchases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Conversion ratios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Shortened sales time</a:t>
            </a:r>
            <a:endParaRPr sz="1100" b="0" i="0" u="none" strike="noStrike" cap="none">
              <a:solidFill>
                <a:srgbClr val="000000"/>
              </a:solidFill>
              <a:latin typeface="Arial"/>
              <a:ea typeface="Arial"/>
              <a:cs typeface="Arial"/>
              <a:sym typeface="Arial"/>
            </a:endParaRPr>
          </a:p>
        </p:txBody>
      </p:sp>
      <p:sp>
        <p:nvSpPr>
          <p:cNvPr id="416" name="Google Shape;416;p42"/>
          <p:cNvSpPr/>
          <p:nvPr/>
        </p:nvSpPr>
        <p:spPr>
          <a:xfrm>
            <a:off x="539833" y="3236851"/>
            <a:ext cx="1139100" cy="648000"/>
          </a:xfrm>
          <a:prstGeom prst="roundRect">
            <a:avLst>
              <a:gd name="adj" fmla="val 16667"/>
            </a:avLst>
          </a:prstGeom>
          <a:solidFill>
            <a:srgbClr val="002B64"/>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 Jobs completed</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timeliness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accuracy</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Job extensions</a:t>
            </a:r>
            <a:endParaRPr sz="1100" b="0" i="0" u="none" strike="noStrike" cap="none">
              <a:solidFill>
                <a:srgbClr val="000000"/>
              </a:solidFill>
              <a:latin typeface="Arial"/>
              <a:ea typeface="Arial"/>
              <a:cs typeface="Arial"/>
              <a:sym typeface="Arial"/>
            </a:endParaRPr>
          </a:p>
          <a:p>
            <a:pPr marL="127000" marR="0" lvl="0" indent="-120650" algn="l" rtl="0">
              <a:lnSpc>
                <a:spcPct val="100000"/>
              </a:lnSpc>
              <a:spcBef>
                <a:spcPts val="0"/>
              </a:spcBef>
              <a:spcAft>
                <a:spcPts val="0"/>
              </a:spcAft>
              <a:buClr>
                <a:schemeClr val="lt1"/>
              </a:buClr>
              <a:buSzPts val="700"/>
              <a:buFont typeface="Arial"/>
              <a:buChar char="•"/>
            </a:pPr>
            <a:r>
              <a:rPr lang="en" sz="700" b="0" i="0" u="none" strike="noStrike" cap="none">
                <a:solidFill>
                  <a:schemeClr val="lt1"/>
                </a:solidFill>
                <a:latin typeface="Calibri"/>
                <a:ea typeface="Calibri"/>
                <a:cs typeface="Calibri"/>
                <a:sym typeface="Calibri"/>
              </a:rPr>
              <a:t>Relationships secured</a:t>
            </a:r>
            <a:endParaRPr sz="1100" b="0" i="0" u="none" strike="noStrike" cap="none">
              <a:solidFill>
                <a:srgbClr val="000000"/>
              </a:solidFill>
              <a:latin typeface="Arial"/>
              <a:ea typeface="Arial"/>
              <a:cs typeface="Arial"/>
              <a:sym typeface="Arial"/>
            </a:endParaRPr>
          </a:p>
        </p:txBody>
      </p:sp>
      <p:sp>
        <p:nvSpPr>
          <p:cNvPr id="417" name="Google Shape;417;p42"/>
          <p:cNvSpPr/>
          <p:nvPr/>
        </p:nvSpPr>
        <p:spPr>
          <a:xfrm>
            <a:off x="4893532" y="491656"/>
            <a:ext cx="297900" cy="3228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18" name="Google Shape;418;p42"/>
          <p:cNvSpPr/>
          <p:nvPr/>
        </p:nvSpPr>
        <p:spPr>
          <a:xfrm rot="-5400000">
            <a:off x="833634" y="3012291"/>
            <a:ext cx="184500" cy="162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19" name="Google Shape;419;p42"/>
          <p:cNvSpPr/>
          <p:nvPr/>
        </p:nvSpPr>
        <p:spPr>
          <a:xfrm rot="5400000">
            <a:off x="7551652" y="2986201"/>
            <a:ext cx="197400" cy="162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20" name="Google Shape;420;p42"/>
          <p:cNvSpPr/>
          <p:nvPr/>
        </p:nvSpPr>
        <p:spPr>
          <a:xfrm rot="10800000">
            <a:off x="7327570" y="4002970"/>
            <a:ext cx="332100" cy="3228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1" name="Google Shape;421;p42"/>
          <p:cNvSpPr/>
          <p:nvPr/>
        </p:nvSpPr>
        <p:spPr>
          <a:xfrm rot="-5400000" flipH="1">
            <a:off x="4863758" y="3949965"/>
            <a:ext cx="275700" cy="3801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2" name="Google Shape;422;p42"/>
          <p:cNvSpPr/>
          <p:nvPr/>
        </p:nvSpPr>
        <p:spPr>
          <a:xfrm rot="-5400000">
            <a:off x="3364681" y="4339109"/>
            <a:ext cx="260700" cy="9171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3" name="Google Shape;423;p42"/>
          <p:cNvSpPr/>
          <p:nvPr/>
        </p:nvSpPr>
        <p:spPr>
          <a:xfrm rot="-5400000">
            <a:off x="1312186" y="3924440"/>
            <a:ext cx="282000" cy="3228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4" name="Google Shape;424;p42"/>
          <p:cNvSpPr/>
          <p:nvPr/>
        </p:nvSpPr>
        <p:spPr>
          <a:xfrm rot="5400000">
            <a:off x="3940506" y="507131"/>
            <a:ext cx="288900" cy="3222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5" name="Google Shape;425;p42"/>
          <p:cNvSpPr/>
          <p:nvPr/>
        </p:nvSpPr>
        <p:spPr>
          <a:xfrm>
            <a:off x="1320065" y="580900"/>
            <a:ext cx="392400" cy="540000"/>
          </a:xfrm>
          <a:prstGeom prst="bentArrow">
            <a:avLst>
              <a:gd name="adj1" fmla="val 25000"/>
              <a:gd name="adj2" fmla="val 25000"/>
              <a:gd name="adj3" fmla="val 25000"/>
              <a:gd name="adj4" fmla="val 4375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6" name="Google Shape;426;p42"/>
          <p:cNvSpPr/>
          <p:nvPr/>
        </p:nvSpPr>
        <p:spPr>
          <a:xfrm rot="5400000">
            <a:off x="7392239" y="876903"/>
            <a:ext cx="288900" cy="322200"/>
          </a:xfrm>
          <a:prstGeom prst="bentArrow">
            <a:avLst>
              <a:gd name="adj1" fmla="val 25000"/>
              <a:gd name="adj2" fmla="val 25000"/>
              <a:gd name="adj3" fmla="val 25000"/>
              <a:gd name="adj4" fmla="val 4375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427" name="Google Shape;427;p42"/>
          <p:cNvSpPr/>
          <p:nvPr/>
        </p:nvSpPr>
        <p:spPr>
          <a:xfrm rot="5400000">
            <a:off x="7584923" y="1873990"/>
            <a:ext cx="197400" cy="162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28" name="Google Shape;428;p42"/>
          <p:cNvSpPr/>
          <p:nvPr/>
        </p:nvSpPr>
        <p:spPr>
          <a:xfrm rot="-5400000">
            <a:off x="833633" y="1822183"/>
            <a:ext cx="184500" cy="162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29" name="Google Shape;429;p42"/>
          <p:cNvSpPr/>
          <p:nvPr/>
        </p:nvSpPr>
        <p:spPr>
          <a:xfrm>
            <a:off x="3433470" y="2193708"/>
            <a:ext cx="2072100" cy="756000"/>
          </a:xfrm>
          <a:prstGeom prst="roundRect">
            <a:avLst>
              <a:gd name="adj" fmla="val 9006"/>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 sz="800" i="0" u="none" strike="noStrike" cap="none">
                <a:solidFill>
                  <a:srgbClr val="434343"/>
                </a:solidFill>
                <a:latin typeface="Open Sans"/>
                <a:ea typeface="Open Sans"/>
                <a:cs typeface="Open Sans"/>
                <a:sym typeface="Open Sans"/>
              </a:rPr>
              <a:t>“A set of things working together as parts of a mechanism or an interconnecting network; a complex whole.”</a:t>
            </a:r>
            <a:endParaRPr sz="1100" i="0" u="none" strike="noStrike" cap="none">
              <a:solidFill>
                <a:srgbClr val="434343"/>
              </a:solidFill>
              <a:latin typeface="Open Sans"/>
              <a:ea typeface="Open Sans"/>
              <a:cs typeface="Open Sans"/>
              <a:sym typeface="Open Sans"/>
            </a:endParaRPr>
          </a:p>
        </p:txBody>
      </p:sp>
      <p:sp>
        <p:nvSpPr>
          <p:cNvPr id="430" name="Google Shape;430;p42"/>
          <p:cNvSpPr/>
          <p:nvPr/>
        </p:nvSpPr>
        <p:spPr>
          <a:xfrm>
            <a:off x="3869922" y="2019726"/>
            <a:ext cx="1267800" cy="216000"/>
          </a:xfrm>
          <a:prstGeom prst="roundRect">
            <a:avLst>
              <a:gd name="adj" fmla="val 16667"/>
            </a:avLst>
          </a:prstGeom>
          <a:solidFill>
            <a:srgbClr val="FFFF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Open Sans"/>
                <a:ea typeface="Open Sans"/>
                <a:cs typeface="Open Sans"/>
                <a:sym typeface="Open Sans"/>
              </a:rPr>
              <a:t>System</a:t>
            </a:r>
            <a:endParaRPr sz="1100" i="0" u="none" strike="noStrike" cap="none">
              <a:solidFill>
                <a:srgbClr val="000000"/>
              </a:solidFill>
              <a:latin typeface="Open Sans"/>
              <a:ea typeface="Open Sans"/>
              <a:cs typeface="Open Sans"/>
              <a:sym typeface="Open Sans"/>
            </a:endParaRPr>
          </a:p>
        </p:txBody>
      </p:sp>
      <p:sp>
        <p:nvSpPr>
          <p:cNvPr id="431" name="Google Shape;431;p42"/>
          <p:cNvSpPr/>
          <p:nvPr/>
        </p:nvSpPr>
        <p:spPr>
          <a:xfrm>
            <a:off x="5463099" y="2343836"/>
            <a:ext cx="705300" cy="378000"/>
          </a:xfrm>
          <a:prstGeom prst="rightArrow">
            <a:avLst>
              <a:gd name="adj1" fmla="val 50000"/>
              <a:gd name="adj2" fmla="val 50000"/>
            </a:avLst>
          </a:prstGeom>
          <a:solidFill>
            <a:srgbClr val="F4B08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i="0" u="none" strike="noStrike" cap="none">
                <a:solidFill>
                  <a:schemeClr val="dk1"/>
                </a:solidFill>
                <a:latin typeface="Open Sans"/>
                <a:ea typeface="Open Sans"/>
                <a:cs typeface="Open Sans"/>
                <a:sym typeface="Open Sans"/>
              </a:rPr>
              <a:t>Output</a:t>
            </a:r>
            <a:endParaRPr sz="1100" i="0" u="none" strike="noStrike" cap="none">
              <a:solidFill>
                <a:srgbClr val="000000"/>
              </a:solidFill>
              <a:latin typeface="Open Sans"/>
              <a:ea typeface="Open Sans"/>
              <a:cs typeface="Open Sans"/>
              <a:sym typeface="Open Sans"/>
            </a:endParaRPr>
          </a:p>
        </p:txBody>
      </p:sp>
      <p:sp>
        <p:nvSpPr>
          <p:cNvPr id="432" name="Google Shape;432;p42"/>
          <p:cNvSpPr/>
          <p:nvPr/>
        </p:nvSpPr>
        <p:spPr>
          <a:xfrm>
            <a:off x="2898281" y="2365158"/>
            <a:ext cx="594600" cy="378000"/>
          </a:xfrm>
          <a:prstGeom prst="rightArrow">
            <a:avLst>
              <a:gd name="adj1" fmla="val 50000"/>
              <a:gd name="adj2" fmla="val 50000"/>
            </a:avLst>
          </a:prstGeom>
          <a:solidFill>
            <a:schemeClr val="dk1"/>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i="0" u="none" strike="noStrike" cap="none">
                <a:solidFill>
                  <a:schemeClr val="lt1"/>
                </a:solidFill>
                <a:latin typeface="Open Sans"/>
                <a:ea typeface="Open Sans"/>
                <a:cs typeface="Open Sans"/>
                <a:sym typeface="Open Sans"/>
              </a:rPr>
              <a:t>Input</a:t>
            </a:r>
            <a:endParaRPr sz="1100" i="0" u="none" strike="noStrike" cap="none">
              <a:solidFill>
                <a:srgbClr val="000000"/>
              </a:solidFill>
              <a:latin typeface="Open Sans"/>
              <a:ea typeface="Open Sans"/>
              <a:cs typeface="Open Sans"/>
              <a:sym typeface="Open Sans"/>
            </a:endParaRPr>
          </a:p>
        </p:txBody>
      </p:sp>
      <p:sp>
        <p:nvSpPr>
          <p:cNvPr id="433" name="Google Shape;433;p42"/>
          <p:cNvSpPr/>
          <p:nvPr/>
        </p:nvSpPr>
        <p:spPr>
          <a:xfrm>
            <a:off x="2448517" y="1811515"/>
            <a:ext cx="4110600" cy="1417500"/>
          </a:xfrm>
          <a:prstGeom prst="roundRect">
            <a:avLst>
              <a:gd name="adj" fmla="val 16667"/>
            </a:avLst>
          </a:prstGeom>
          <a:noFill/>
          <a:ln w="12700" cap="flat" cmpd="sng">
            <a:solidFill>
              <a:srgbClr val="9CC2E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434343"/>
              </a:solidFill>
              <a:latin typeface="Open Sans"/>
              <a:ea typeface="Open Sans"/>
              <a:cs typeface="Open Sans"/>
              <a:sym typeface="Open Sans"/>
            </a:endParaRPr>
          </a:p>
        </p:txBody>
      </p:sp>
      <p:sp>
        <p:nvSpPr>
          <p:cNvPr id="434" name="Google Shape;434;p42"/>
          <p:cNvSpPr/>
          <p:nvPr/>
        </p:nvSpPr>
        <p:spPr>
          <a:xfrm>
            <a:off x="49427" y="49427"/>
            <a:ext cx="90390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5" name="Google Shape;435;p42"/>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6" name="Google Shape;436;p42"/>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7" name="Google Shape;437;p42"/>
          <p:cNvSpPr/>
          <p:nvPr/>
        </p:nvSpPr>
        <p:spPr>
          <a:xfrm>
            <a:off x="1513702" y="5004196"/>
            <a:ext cx="75747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
        <p:nvSpPr>
          <p:cNvPr id="438" name="Google Shape;438;p42"/>
          <p:cNvSpPr/>
          <p:nvPr/>
        </p:nvSpPr>
        <p:spPr>
          <a:xfrm>
            <a:off x="49427" y="5004196"/>
            <a:ext cx="579300" cy="900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2"/>
        <p:cNvGrpSpPr/>
        <p:nvPr/>
      </p:nvGrpSpPr>
      <p:grpSpPr>
        <a:xfrm>
          <a:off x="0" y="0"/>
          <a:ext cx="0" cy="0"/>
          <a:chOff x="0" y="0"/>
          <a:chExt cx="0" cy="0"/>
        </a:xfrm>
      </p:grpSpPr>
      <p:sp>
        <p:nvSpPr>
          <p:cNvPr id="443" name="Google Shape;443;p43"/>
          <p:cNvSpPr txBox="1">
            <a:spLocks noGrp="1"/>
          </p:cNvSpPr>
          <p:nvPr>
            <p:ph type="title"/>
          </p:nvPr>
        </p:nvSpPr>
        <p:spPr>
          <a:xfrm>
            <a:off x="309700" y="224675"/>
            <a:ext cx="8205900" cy="6378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lt1"/>
              </a:buClr>
              <a:buSzPts val="2400"/>
              <a:buFont typeface="Architects Daughter"/>
              <a:buNone/>
            </a:pPr>
            <a:r>
              <a:rPr lang="en" sz="2400">
                <a:solidFill>
                  <a:srgbClr val="002B64"/>
                </a:solidFill>
                <a:latin typeface="Open Sans"/>
                <a:ea typeface="Open Sans"/>
                <a:cs typeface="Open Sans"/>
                <a:sym typeface="Open Sans"/>
              </a:rPr>
              <a:t>Notes</a:t>
            </a:r>
            <a:endParaRPr sz="2400">
              <a:solidFill>
                <a:srgbClr val="002B64"/>
              </a:solidFill>
              <a:latin typeface="Open Sans"/>
              <a:ea typeface="Open Sans"/>
              <a:cs typeface="Open Sans"/>
              <a:sym typeface="Open Sans"/>
            </a:endParaRPr>
          </a:p>
        </p:txBody>
      </p:sp>
      <p:sp>
        <p:nvSpPr>
          <p:cNvPr id="444" name="Google Shape;444;p43"/>
          <p:cNvSpPr txBox="1">
            <a:spLocks noGrp="1"/>
          </p:cNvSpPr>
          <p:nvPr>
            <p:ph type="body" idx="1"/>
          </p:nvPr>
        </p:nvSpPr>
        <p:spPr>
          <a:xfrm>
            <a:off x="400775" y="949675"/>
            <a:ext cx="8337000" cy="3543900"/>
          </a:xfrm>
          <a:prstGeom prst="rect">
            <a:avLst/>
          </a:prstGeom>
          <a:noFill/>
          <a:ln>
            <a:noFill/>
          </a:ln>
        </p:spPr>
        <p:txBody>
          <a:bodyPr spcFirstLastPara="1" wrap="square" lIns="68575" tIns="34275" rIns="68575" bIns="34275" anchor="t" anchorCtr="0">
            <a:noAutofit/>
          </a:bodyPr>
          <a:lstStyle/>
          <a:p>
            <a:pPr marL="177800" lvl="0" indent="-171450" algn="just" rtl="0">
              <a:lnSpc>
                <a:spcPct val="90000"/>
              </a:lnSpc>
              <a:spcBef>
                <a:spcPts val="0"/>
              </a:spcBef>
              <a:spcAft>
                <a:spcPts val="0"/>
              </a:spcAft>
              <a:buClr>
                <a:srgbClr val="434343"/>
              </a:buClr>
              <a:buSzPts val="1500"/>
              <a:buFont typeface="Open Sans"/>
              <a:buChar char="•"/>
            </a:pPr>
            <a:r>
              <a:rPr lang="en" sz="1500">
                <a:solidFill>
                  <a:srgbClr val="434343"/>
                </a:solidFill>
                <a:latin typeface="Open Sans"/>
                <a:ea typeface="Open Sans"/>
                <a:cs typeface="Open Sans"/>
                <a:sym typeface="Open Sans"/>
              </a:rPr>
              <a:t>Record your revenue model thoughts here…</a:t>
            </a:r>
            <a:endParaRPr>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a:p>
            <a:pPr marL="0" lvl="0" indent="0" algn="just" rtl="0">
              <a:lnSpc>
                <a:spcPct val="90000"/>
              </a:lnSpc>
              <a:spcBef>
                <a:spcPts val="800"/>
              </a:spcBef>
              <a:spcAft>
                <a:spcPts val="0"/>
              </a:spcAft>
              <a:buClr>
                <a:schemeClr val="dk1"/>
              </a:buClr>
              <a:buSzPts val="1000"/>
              <a:buNone/>
            </a:pPr>
            <a:endParaRPr sz="1000">
              <a:solidFill>
                <a:srgbClr val="434343"/>
              </a:solidFill>
              <a:latin typeface="Open Sans"/>
              <a:ea typeface="Open Sans"/>
              <a:cs typeface="Open Sans"/>
              <a:sym typeface="Open Sans"/>
            </a:endParaRPr>
          </a:p>
        </p:txBody>
      </p:sp>
      <p:sp>
        <p:nvSpPr>
          <p:cNvPr id="445" name="Google Shape;445;p43"/>
          <p:cNvSpPr txBox="1">
            <a:spLocks noGrp="1"/>
          </p:cNvSpPr>
          <p:nvPr>
            <p:ph type="sldNum" idx="12"/>
          </p:nvPr>
        </p:nvSpPr>
        <p:spPr>
          <a:xfrm>
            <a:off x="4843463" y="3575447"/>
            <a:ext cx="1543200" cy="205500"/>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18</a:t>
            </a:fld>
            <a:endParaRPr/>
          </a:p>
        </p:txBody>
      </p:sp>
      <p:sp>
        <p:nvSpPr>
          <p:cNvPr id="446" name="Google Shape;446;p43"/>
          <p:cNvSpPr/>
          <p:nvPr/>
        </p:nvSpPr>
        <p:spPr>
          <a:xfrm>
            <a:off x="49427" y="49427"/>
            <a:ext cx="90390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447" name="Google Shape;447;p43"/>
          <p:cNvSpPr/>
          <p:nvPr/>
        </p:nvSpPr>
        <p:spPr>
          <a:xfrm>
            <a:off x="49427" y="5004196"/>
            <a:ext cx="5793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448" name="Google Shape;448;p43"/>
          <p:cNvSpPr/>
          <p:nvPr/>
        </p:nvSpPr>
        <p:spPr>
          <a:xfrm>
            <a:off x="1513702" y="5004196"/>
            <a:ext cx="7574700" cy="897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449" name="Google Shape;449;p43"/>
          <p:cNvSpPr/>
          <p:nvPr/>
        </p:nvSpPr>
        <p:spPr>
          <a:xfrm rot="-5400000">
            <a:off x="6612697"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
        <p:nvSpPr>
          <p:cNvPr id="450" name="Google Shape;450;p43"/>
          <p:cNvSpPr/>
          <p:nvPr/>
        </p:nvSpPr>
        <p:spPr>
          <a:xfrm rot="-5400000">
            <a:off x="-2339773" y="2528596"/>
            <a:ext cx="4864800" cy="86400"/>
          </a:xfrm>
          <a:prstGeom prst="rect">
            <a:avLst/>
          </a:prstGeom>
          <a:solidFill>
            <a:srgbClr val="00B1E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1635</Words>
  <Application>Microsoft Office PowerPoint</Application>
  <PresentationFormat>On-screen Show (16:9)</PresentationFormat>
  <Paragraphs>449</Paragraphs>
  <Slides>18</Slides>
  <Notes>18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Architects Daughter</vt:lpstr>
      <vt:lpstr>Poppins</vt:lpstr>
      <vt:lpstr>Open Sans</vt:lpstr>
      <vt:lpstr>Calibri</vt:lpstr>
      <vt:lpstr>Lato Light</vt:lpstr>
      <vt:lpstr>Arial</vt:lpstr>
      <vt:lpstr>Simple Light</vt:lpstr>
      <vt:lpstr>Office Theme</vt:lpstr>
      <vt:lpstr>Revenue Model Support</vt:lpstr>
      <vt:lpstr>Our Session Objective</vt:lpstr>
      <vt:lpstr>Over-Trading</vt:lpstr>
      <vt:lpstr>Over-Trading Explained Easily</vt:lpstr>
      <vt:lpstr>Sweet Spot</vt:lpstr>
      <vt:lpstr>PowerPoint Presentation</vt:lpstr>
      <vt:lpstr>Meeting Objective:   To test the (revenue) model ‘fit’.</vt:lpstr>
      <vt:lpstr>PowerPoint Presentation</vt:lpstr>
      <vt:lpstr>Our Assumptions</vt:lpstr>
      <vt:lpstr>Concept:   Assumptions MUST be challenged constantly.</vt:lpstr>
      <vt:lpstr>A Double Blind (Placebo) Study is a Scientific Method to Avoid Confirmation Bias for the Researcher.  A Revenue Model (Combined With The 6 Hats Framework) is the Strategic Equivalent for Business Owners.</vt:lpstr>
      <vt:lpstr>Over Trading:</vt:lpstr>
      <vt:lpstr>Profit (Sweet Spot) Plateau Levels</vt:lpstr>
      <vt:lpstr>Increased Sales Volume Required to Generate Original Profit Levels</vt:lpstr>
      <vt:lpstr>PowerPoint Presentation</vt:lpstr>
      <vt:lpstr>PowerPoint Presentation</vt:lpstr>
      <vt:lpstr>PowerPoint Presentation</vt:lpstr>
      <vt:lpstr>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Mike Barnes</dc:creator>
  <cp:lastModifiedBy>Mike Barnes</cp:lastModifiedBy>
  <cp:revision>1</cp:revision>
  <dcterms:modified xsi:type="dcterms:W3CDTF">2026-04-09T05:15:06Z</dcterms:modified>
</cp:coreProperties>
</file>