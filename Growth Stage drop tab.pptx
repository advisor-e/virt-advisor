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"/>
  </p:notesMasterIdLst>
  <p:sldIdLst>
    <p:sldId id="267" r:id="rId3"/>
  </p:sldIdLst>
  <p:sldSz cx="9144000" cy="5143500" type="screen16x9"/>
  <p:notesSz cx="6858000" cy="9144000"/>
  <p:embeddedFontLst>
    <p:embeddedFont>
      <p:font typeface="Abel" panose="02000506030000020004" pitchFamily="2" charset="0"/>
      <p:regular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5339CE-A403-4A82-A332-1DB77EED7D76}">
  <a:tblStyle styleId="{E45339CE-A403-4A82-A332-1DB77EED7D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4C406C8-F60A-4623-B513-9F8DCA56EF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ac611cbd90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gac611cbd9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 t="2417" b="2417"/>
          <a:stretch/>
        </p:blipFill>
        <p:spPr>
          <a:xfrm>
            <a:off x="628649" y="4632716"/>
            <a:ext cx="885048" cy="457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65" name="Google Shape;265;p36"/>
          <p:cNvSpPr/>
          <p:nvPr/>
        </p:nvSpPr>
        <p:spPr>
          <a:xfrm>
            <a:off x="49427" y="49427"/>
            <a:ext cx="9039000" cy="900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/>
          <p:nvPr/>
        </p:nvSpPr>
        <p:spPr>
          <a:xfrm>
            <a:off x="49427" y="5004196"/>
            <a:ext cx="579300" cy="900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1513702" y="5004196"/>
            <a:ext cx="7574700" cy="900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/>
          <p:nvPr/>
        </p:nvSpPr>
        <p:spPr>
          <a:xfrm rot="-5400000">
            <a:off x="6612697" y="2528596"/>
            <a:ext cx="4864800" cy="864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6"/>
          <p:cNvSpPr/>
          <p:nvPr/>
        </p:nvSpPr>
        <p:spPr>
          <a:xfrm rot="-5400000">
            <a:off x="-2339773" y="2528596"/>
            <a:ext cx="4864800" cy="86400"/>
          </a:xfrm>
          <a:prstGeom prst="rect">
            <a:avLst/>
          </a:prstGeom>
          <a:solidFill>
            <a:srgbClr val="00B1E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36"/>
          <p:cNvGraphicFramePr/>
          <p:nvPr>
            <p:extLst>
              <p:ext uri="{D42A27DB-BD31-4B8C-83A1-F6EECF244321}">
                <p14:modId xmlns:p14="http://schemas.microsoft.com/office/powerpoint/2010/main" val="1859206381"/>
              </p:ext>
            </p:extLst>
          </p:nvPr>
        </p:nvGraphicFramePr>
        <p:xfrm>
          <a:off x="193238" y="164755"/>
          <a:ext cx="8736576" cy="4816840"/>
        </p:xfrm>
        <a:graphic>
          <a:graphicData uri="http://schemas.openxmlformats.org/drawingml/2006/table">
            <a:tbl>
              <a:tblPr firstRow="1" bandRow="1">
                <a:noFill/>
                <a:tableStyleId>{E45339CE-A403-4A82-A332-1DB77EED7D76}</a:tableStyleId>
              </a:tblPr>
              <a:tblGrid>
                <a:gridCol w="846422">
                  <a:extLst>
                    <a:ext uri="{9D8B030D-6E8A-4147-A177-3AD203B41FA5}">
                      <a16:colId xmlns:a16="http://schemas.microsoft.com/office/drawing/2014/main" val="2226096494"/>
                    </a:ext>
                  </a:extLst>
                </a:gridCol>
                <a:gridCol w="125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NZ" sz="11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Checkbox</a:t>
                      </a:r>
                      <a:endParaRPr sz="11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Growth Stage</a:t>
                      </a:r>
                      <a:endParaRPr sz="11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Growth Stage Description</a:t>
                      </a:r>
                      <a:endParaRPr sz="11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be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Exit/Decline 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owners realise their capital gain via ‘going-concern’ sale or MBO to ‘groomed staff’/Succession to family members. (If successful) OR  The business dwindles as the owner/s seek retirement. (If they missed the mark)</a:t>
                      </a:r>
                      <a:endParaRPr sz="1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Maturity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now commands a sizeable market-share and creates a ‘barrier to entry’ for any business looking to compete against it.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Leapfrog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now enjoys the ability to purchase or merge with ‘like-minded’ competitors. Market share is now substantial...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Reach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is now enjoying multiple locations as the ‘brand’ is beginning to spread. New (additional) products are also part of your world!</a:t>
                      </a:r>
                      <a:endParaRPr sz="1200" u="none" strike="noStrike" cap="none">
                        <a:solidFill>
                          <a:srgbClr val="00206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Leverage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can sustain the lifestyle of the owner/s without the owner/s being directly ‘hands-on’ on a daily basis.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Lifestyle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makes enough profit to allow the owner/s to draw sufficient funds to meet their lifestyle and save money each month.</a:t>
                      </a:r>
                      <a:endParaRPr sz="1200" u="none" strike="noStrike" cap="none" dirty="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Break-even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business makes enough money to cover costs.</a:t>
                      </a:r>
                      <a:endParaRPr sz="1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Launch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Opening the doors and sharing your dream with the world!</a:t>
                      </a:r>
                      <a:endParaRPr sz="1200" u="none" strike="noStrike" cap="none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1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</a:t>
                      </a:r>
                      <a:endParaRPr sz="11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Developing your business concept, getting ready to</a:t>
                      </a:r>
                      <a:endParaRPr sz="11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Abe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leave your job!</a:t>
                      </a:r>
                      <a:endParaRPr sz="1200" u="none" strike="noStrike" cap="none" dirty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8600" marR="68600" marT="34300" marB="3430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223</Words>
  <Application>Microsoft Office PowerPoint</Application>
  <PresentationFormat>On-screen Show (16:9)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Arial</vt:lpstr>
      <vt:lpstr>Open Sans</vt:lpstr>
      <vt:lpstr>Abel</vt:lpstr>
      <vt:lpstr>Simple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Mike Barnes</dc:creator>
  <cp:lastModifiedBy>Mike Barnes</cp:lastModifiedBy>
  <cp:revision>5</cp:revision>
  <dcterms:modified xsi:type="dcterms:W3CDTF">2026-04-09T00:00:55Z</dcterms:modified>
</cp:coreProperties>
</file>